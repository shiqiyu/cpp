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1117" r:id="rId3"/>
    <p:sldId id="1118" r:id="rId4"/>
    <p:sldId id="1123" r:id="rId5"/>
    <p:sldId id="1136" r:id="rId6"/>
    <p:sldId id="1131" r:id="rId7"/>
    <p:sldId id="1130" r:id="rId8"/>
    <p:sldId id="1133" r:id="rId9"/>
    <p:sldId id="1137" r:id="rId10"/>
    <p:sldId id="1140" r:id="rId11"/>
    <p:sldId id="1135" r:id="rId12"/>
    <p:sldId id="1138" r:id="rId13"/>
    <p:sldId id="1142" r:id="rId14"/>
    <p:sldId id="1141" r:id="rId15"/>
    <p:sldId id="1119" r:id="rId16"/>
    <p:sldId id="1003" r:id="rId17"/>
    <p:sldId id="1005" r:id="rId18"/>
    <p:sldId id="483" r:id="rId19"/>
    <p:sldId id="1143"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05C14D3A-4426-4EC1-9045-6B114A165178}">
          <p14:sldIdLst>
            <p14:sldId id="256"/>
            <p14:sldId id="1117"/>
          </p14:sldIdLst>
        </p14:section>
        <p14:section name="指针使用注意事项" id="{982E89E5-FA0A-4825-896E-EDA88A1E97DC}">
          <p14:sldIdLst>
            <p14:sldId id="1118"/>
            <p14:sldId id="1123"/>
            <p14:sldId id="1136"/>
            <p14:sldId id="1131"/>
            <p14:sldId id="1130"/>
            <p14:sldId id="1133"/>
            <p14:sldId id="1137"/>
            <p14:sldId id="1140"/>
            <p14:sldId id="1135"/>
          </p14:sldIdLst>
        </p14:section>
        <p14:section name="内存管理" id="{54822676-A8ED-4282-BAE3-B63D420490BF}">
          <p14:sldIdLst>
            <p14:sldId id="1138"/>
            <p14:sldId id="1142"/>
            <p14:sldId id="1141"/>
            <p14:sldId id="1119"/>
          </p14:sldIdLst>
        </p14:section>
        <p14:section name="练习" id="{5594FBB0-47E5-4E59-A04A-1AC136960183}">
          <p14:sldIdLst>
            <p14:sldId id="1003"/>
            <p14:sldId id="1005"/>
            <p14:sldId id="483"/>
            <p14:sldId id="114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14" autoAdjust="0"/>
    <p:restoredTop sz="94660"/>
  </p:normalViewPr>
  <p:slideViewPr>
    <p:cSldViewPr snapToGrid="0">
      <p:cViewPr varScale="1">
        <p:scale>
          <a:sx n="207" d="100"/>
          <a:sy n="207" d="100"/>
        </p:scale>
        <p:origin x="176" y="5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237EF7-A117-46B7-88A8-1B7FB98FF0F2}" type="datetimeFigureOut">
              <a:rPr lang="zh-CN" altLang="en-US" smtClean="0"/>
              <a:t>2026/3/29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705520-EB74-4E10-9207-DDFEA7EA0F0E}"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ln>
        </p:spPr>
      </p:sp>
      <p:sp>
        <p:nvSpPr>
          <p:cNvPr id="3" name="Notes Placeholder 2"/>
          <p:cNvSpPr>
            <a:spLocks noGrp="1"/>
          </p:cNvSpPr>
          <p:nvPr>
            <p:ph type="body" idx="1"/>
          </p:nvPr>
        </p:nvSpPr>
        <p:spPr/>
        <p:txBody>
          <a:bodyPr wrap="square" numCol="1" anchor="t" anchorCtr="0" compatLnSpc="1"/>
          <a:lstStyle/>
          <a:p>
            <a:pPr marL="542925" indent="-542925" eaLnBrk="1" hangingPunct="1">
              <a:spcBef>
                <a:spcPct val="0"/>
              </a:spcBef>
            </a:pPr>
            <a:endParaRPr lang="en-US" altLang="zh-CN" dirty="0"/>
          </a:p>
        </p:txBody>
      </p:sp>
      <p:sp>
        <p:nvSpPr>
          <p:cNvPr id="247812"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r" defTabSz="1166495" rtl="0" eaLnBrk="1" fontAlgn="auto" latinLnBrk="0" hangingPunct="1">
              <a:lnSpc>
                <a:spcPct val="100000"/>
              </a:lnSpc>
              <a:spcBef>
                <a:spcPts val="0"/>
              </a:spcBef>
              <a:spcAft>
                <a:spcPts val="0"/>
              </a:spcAft>
              <a:buClrTx/>
              <a:buSzTx/>
              <a:buFontTx/>
              <a:buNone/>
              <a:defRPr/>
            </a:pPr>
            <a:fld id="{CD5C04F1-088D-43BB-BF6A-7E5350A2ABBF}" type="slidenum">
              <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16</a:t>
            </a:fld>
            <a:endPar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ln>
        </p:spPr>
      </p:sp>
      <p:sp>
        <p:nvSpPr>
          <p:cNvPr id="3" name="Notes Placeholder 2"/>
          <p:cNvSpPr>
            <a:spLocks noGrp="1"/>
          </p:cNvSpPr>
          <p:nvPr>
            <p:ph type="body" idx="1"/>
          </p:nvPr>
        </p:nvSpPr>
        <p:spPr/>
        <p:txBody>
          <a:bodyPr wrap="square" numCol="1" anchor="t" anchorCtr="0" compatLnSpc="1"/>
          <a:lstStyle/>
          <a:p>
            <a:pPr marL="542925" indent="-542925" eaLnBrk="1" hangingPunct="1">
              <a:spcBef>
                <a:spcPct val="0"/>
              </a:spcBef>
            </a:pPr>
            <a:endParaRPr lang="en-US" altLang="zh-CN" dirty="0"/>
          </a:p>
        </p:txBody>
      </p:sp>
      <p:sp>
        <p:nvSpPr>
          <p:cNvPr id="247812"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r" defTabSz="1166495" rtl="0" eaLnBrk="1" fontAlgn="auto" latinLnBrk="0" hangingPunct="1">
              <a:lnSpc>
                <a:spcPct val="100000"/>
              </a:lnSpc>
              <a:spcBef>
                <a:spcPts val="0"/>
              </a:spcBef>
              <a:spcAft>
                <a:spcPts val="0"/>
              </a:spcAft>
              <a:buClrTx/>
              <a:buSzTx/>
              <a:buFontTx/>
              <a:buNone/>
              <a:defRPr/>
            </a:pPr>
            <a:fld id="{CD5C04F1-088D-43BB-BF6A-7E5350A2ABBF}" type="slidenum">
              <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17</a:t>
            </a:fld>
            <a:endPar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ln>
        </p:spPr>
      </p:sp>
      <p:sp>
        <p:nvSpPr>
          <p:cNvPr id="3" name="Notes Placeholder 2"/>
          <p:cNvSpPr>
            <a:spLocks noGrp="1"/>
          </p:cNvSpPr>
          <p:nvPr>
            <p:ph type="body" idx="1"/>
          </p:nvPr>
        </p:nvSpPr>
        <p:spPr/>
        <p:txBody>
          <a:bodyPr wrap="square" numCol="1" anchor="t" anchorCtr="0" compatLnSpc="1"/>
          <a:lstStyle/>
          <a:p>
            <a:pPr marL="542925" indent="-542925" eaLnBrk="1" hangingPunct="1">
              <a:spcBef>
                <a:spcPct val="0"/>
              </a:spcBef>
            </a:pPr>
            <a:endParaRPr lang="en-US" altLang="zh-CN" dirty="0"/>
          </a:p>
        </p:txBody>
      </p:sp>
      <p:sp>
        <p:nvSpPr>
          <p:cNvPr id="247812"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r" defTabSz="1166495" rtl="0" eaLnBrk="1" fontAlgn="auto" latinLnBrk="0" hangingPunct="1">
              <a:lnSpc>
                <a:spcPct val="100000"/>
              </a:lnSpc>
              <a:spcBef>
                <a:spcPts val="0"/>
              </a:spcBef>
              <a:spcAft>
                <a:spcPts val="0"/>
              </a:spcAft>
              <a:buClrTx/>
              <a:buSzTx/>
              <a:buFontTx/>
              <a:buNone/>
              <a:defRPr/>
            </a:pPr>
            <a:fld id="{CD5C04F1-088D-43BB-BF6A-7E5350A2ABBF}" type="slidenum">
              <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18</a:t>
            </a:fld>
            <a:endPar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534740"/>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987522"/>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fld id="{FC19A4FA-3D9A-4114-B0D5-759CBD56F1AB}" type="datetimeFigureOut">
              <a:rPr lang="zh-CN" altLang="en-US" smtClean="0"/>
              <a:t>2026/3/29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6F4176-339E-4C4B-80E4-BBE9C4467EFE}" type="slidenum">
              <a:rPr lang="zh-CN" altLang="en-US" smtClean="0"/>
              <a:t>‹#›</a:t>
            </a:fld>
            <a:endParaRPr lang="zh-CN" altLang="en-US"/>
          </a:p>
        </p:txBody>
      </p:sp>
      <p:pic>
        <p:nvPicPr>
          <p:cNvPr id="8" name="图片 7"/>
          <p:cNvPicPr>
            <a:picLocks noChangeAspect="1"/>
          </p:cNvPicPr>
          <p:nvPr userDrawn="1"/>
        </p:nvPicPr>
        <p:blipFill rotWithShape="1">
          <a:blip r:embed="rId2" cstate="print">
            <a:extLst>
              <a:ext uri="{28A0092B-C50C-407E-A947-70E740481C1C}">
                <a14:useLocalDpi xmlns:a14="http://schemas.microsoft.com/office/drawing/2010/main" val="0"/>
              </a:ext>
            </a:extLst>
          </a:blip>
          <a:srcRect l="24618" t="38788" r="24589" b="40606"/>
          <a:stretch>
            <a:fillRect/>
          </a:stretch>
        </p:blipFill>
        <p:spPr>
          <a:xfrm>
            <a:off x="8610600" y="0"/>
            <a:ext cx="3515893" cy="100793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376479" y="264221"/>
            <a:ext cx="10515600" cy="833631"/>
          </a:xfrm>
        </p:spPr>
        <p:txBody>
          <a:bodyPr/>
          <a:lstStyle/>
          <a:p>
            <a:r>
              <a:rPr lang="zh-CN" altLang="en-US" dirty="0"/>
              <a:t>单击此处编辑母版标题样式</a:t>
            </a:r>
          </a:p>
        </p:txBody>
      </p:sp>
      <p:sp>
        <p:nvSpPr>
          <p:cNvPr id="3" name="内容占位符 2"/>
          <p:cNvSpPr>
            <a:spLocks noGrp="1"/>
          </p:cNvSpPr>
          <p:nvPr>
            <p:ph idx="1"/>
          </p:nvPr>
        </p:nvSpPr>
        <p:spPr>
          <a:xfrm>
            <a:off x="838199" y="1326995"/>
            <a:ext cx="11053879" cy="4849968"/>
          </a:xfrm>
        </p:spPr>
        <p:txBody>
          <a:bodyPr/>
          <a:lstStyle>
            <a:lvl2pPr marL="914400" indent="-457200">
              <a:buFont typeface="Wingdings" panose="05000000000000000000" pitchFamily="2" charset="2"/>
              <a:buChar char="Ø"/>
              <a:defRPr/>
            </a:lvl2pPr>
            <a:lvl3pPr marL="1143000" indent="-228600">
              <a:buFont typeface="Wingdings" panose="05000000000000000000" pitchFamily="2" charset="2"/>
              <a:buChar char="ü"/>
              <a:defRPr/>
            </a:lvl3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FC19A4FA-3D9A-4114-B0D5-759CBD56F1AB}" type="datetimeFigureOut">
              <a:rPr lang="zh-CN" altLang="en-US" smtClean="0"/>
              <a:t>2026/3/29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6F4176-339E-4C4B-80E4-BBE9C4467EFE}" type="slidenum">
              <a:rPr lang="zh-CN" altLang="en-US" smtClean="0"/>
              <a:t>‹#›</a:t>
            </a:fld>
            <a:endParaRPr lang="zh-CN" altLang="en-US"/>
          </a:p>
        </p:txBody>
      </p:sp>
      <p:pic>
        <p:nvPicPr>
          <p:cNvPr id="7" name="图片 6"/>
          <p:cNvPicPr/>
          <p:nvPr userDrawn="1"/>
        </p:nvPicPr>
        <p:blipFill>
          <a:blip r:embed="rId2" cstate="print">
            <a:extLst>
              <a:ext uri="{28A0092B-C50C-407E-A947-70E740481C1C}">
                <a14:useLocalDpi xmlns:a14="http://schemas.microsoft.com/office/drawing/2010/main" val="0"/>
              </a:ext>
            </a:extLst>
          </a:blip>
          <a:stretch>
            <a:fillRect/>
          </a:stretch>
        </p:blipFill>
        <p:spPr>
          <a:xfrm>
            <a:off x="113370" y="69174"/>
            <a:ext cx="1112400" cy="111168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2124634" y="365125"/>
            <a:ext cx="9229165" cy="1325563"/>
          </a:xfr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FC19A4FA-3D9A-4114-B0D5-759CBD56F1AB}" type="datetimeFigureOut">
              <a:rPr lang="zh-CN" altLang="en-US" smtClean="0"/>
              <a:t>2026/3/29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06F4176-339E-4C4B-80E4-BBE9C4467EFE}" type="slidenum">
              <a:rPr lang="zh-CN" altLang="en-US" smtClean="0"/>
              <a:t>‹#›</a:t>
            </a:fld>
            <a:endParaRPr lang="zh-CN" altLang="en-US"/>
          </a:p>
        </p:txBody>
      </p:sp>
      <p:pic>
        <p:nvPicPr>
          <p:cNvPr id="9" name="图片 8"/>
          <p:cNvPicPr/>
          <p:nvPr userDrawn="1"/>
        </p:nvPicPr>
        <p:blipFill>
          <a:blip r:embed="rId2" cstate="print">
            <a:extLst>
              <a:ext uri="{28A0092B-C50C-407E-A947-70E740481C1C}">
                <a14:useLocalDpi xmlns:a14="http://schemas.microsoft.com/office/drawing/2010/main" val="0"/>
              </a:ext>
            </a:extLst>
          </a:blip>
          <a:stretch>
            <a:fillRect/>
          </a:stretch>
        </p:blipFill>
        <p:spPr>
          <a:xfrm>
            <a:off x="113370" y="69174"/>
            <a:ext cx="1112400" cy="111168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2110320" y="365125"/>
            <a:ext cx="9245067"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C19A4FA-3D9A-4114-B0D5-759CBD56F1AB}" type="datetimeFigureOut">
              <a:rPr lang="zh-CN" altLang="en-US" smtClean="0"/>
              <a:t>2026/3/29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06F4176-339E-4C4B-80E4-BBE9C4467EFE}" type="slidenum">
              <a:rPr lang="zh-CN" altLang="en-US" smtClean="0"/>
              <a:t>‹#›</a:t>
            </a:fld>
            <a:endParaRPr lang="zh-CN" altLang="en-US"/>
          </a:p>
        </p:txBody>
      </p:sp>
      <p:pic>
        <p:nvPicPr>
          <p:cNvPr id="11" name="图片 10"/>
          <p:cNvPicPr/>
          <p:nvPr userDrawn="1"/>
        </p:nvPicPr>
        <p:blipFill>
          <a:blip r:embed="rId2" cstate="print">
            <a:extLst>
              <a:ext uri="{28A0092B-C50C-407E-A947-70E740481C1C}">
                <a14:useLocalDpi xmlns:a14="http://schemas.microsoft.com/office/drawing/2010/main" val="0"/>
              </a:ext>
            </a:extLst>
          </a:blip>
          <a:stretch>
            <a:fillRect/>
          </a:stretch>
        </p:blipFill>
        <p:spPr>
          <a:xfrm>
            <a:off x="113370" y="69174"/>
            <a:ext cx="1112400" cy="111168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C19A4FA-3D9A-4114-B0D5-759CBD56F1AB}" type="datetimeFigureOut">
              <a:rPr lang="zh-CN" altLang="en-US" smtClean="0"/>
              <a:t>2026/3/29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6F4176-339E-4C4B-80E4-BBE9C4467EFE}" type="slidenum">
              <a:rPr lang="zh-CN" altLang="en-US" smtClean="0"/>
              <a:t>‹#›</a:t>
            </a:fld>
            <a:endParaRPr lang="zh-CN" altLang="en-US"/>
          </a:p>
        </p:txBody>
      </p:sp>
      <p:pic>
        <p:nvPicPr>
          <p:cNvPr id="8" name="图片 7"/>
          <p:cNvPicPr/>
          <p:nvPr userDrawn="1"/>
        </p:nvPicPr>
        <p:blipFill>
          <a:blip r:embed="rId2" cstate="print">
            <a:extLst>
              <a:ext uri="{28A0092B-C50C-407E-A947-70E740481C1C}">
                <a14:useLocalDpi xmlns:a14="http://schemas.microsoft.com/office/drawing/2010/main" val="0"/>
              </a:ext>
            </a:extLst>
          </a:blip>
          <a:stretch>
            <a:fillRect/>
          </a:stretch>
        </p:blipFill>
        <p:spPr>
          <a:xfrm>
            <a:off x="113370" y="69174"/>
            <a:ext cx="1112400" cy="111168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C19A4FA-3D9A-4114-B0D5-759CBD56F1AB}" type="datetimeFigureOut">
              <a:rPr lang="zh-CN" altLang="en-US" smtClean="0"/>
              <a:t>2026/3/29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06F4176-339E-4C4B-80E4-BBE9C4467EFE}"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C19A4FA-3D9A-4114-B0D5-759CBD56F1AB}" type="datetimeFigureOut">
              <a:rPr lang="zh-CN" altLang="en-US" smtClean="0"/>
              <a:t>2026/3/29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06F4176-339E-4C4B-80E4-BBE9C4467EFE}"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C19A4FA-3D9A-4114-B0D5-759CBD56F1AB}" type="datetimeFigureOut">
              <a:rPr lang="zh-CN" altLang="en-US" smtClean="0"/>
              <a:t>2026/3/29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06F4176-339E-4C4B-80E4-BBE9C4467EFE}"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C19A4FA-3D9A-4114-B0D5-759CBD56F1AB}" type="datetimeFigureOut">
              <a:rPr lang="zh-CN" altLang="en-US" smtClean="0"/>
              <a:t>2026/3/29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06F4176-339E-4C4B-80E4-BBE9C4467EFE}"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C19A4FA-3D9A-4114-B0D5-759CBD56F1AB}" type="datetimeFigureOut">
              <a:rPr lang="zh-CN" altLang="en-US" smtClean="0"/>
              <a:t>2026/3/29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6F4176-339E-4C4B-80E4-BBE9C4467EFE}"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C19A4FA-3D9A-4114-B0D5-759CBD56F1AB}" type="datetimeFigureOut">
              <a:rPr lang="zh-CN" altLang="en-US" smtClean="0"/>
              <a:t>2026/3/29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6F4176-339E-4C4B-80E4-BBE9C4467EFE}"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298448" y="365125"/>
            <a:ext cx="10055352" cy="815731"/>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389888"/>
            <a:ext cx="10515600" cy="478707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1517904" y="6356350"/>
            <a:ext cx="2063496"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19A4FA-3D9A-4114-B0D5-759CBD56F1AB}" type="datetimeFigureOut">
              <a:rPr lang="zh-CN" altLang="en-US" smtClean="0"/>
              <a:t>2026/3/29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6F4176-339E-4C4B-80E4-BBE9C4467EFE}" type="slidenum">
              <a:rPr lang="zh-CN" altLang="en-US" smtClean="0"/>
              <a:t>‹#›</a:t>
            </a:fld>
            <a:endParaRPr lang="zh-CN" altLang="en-US"/>
          </a:p>
        </p:txBody>
      </p:sp>
      <p:pic>
        <p:nvPicPr>
          <p:cNvPr id="1026" name="Picture 2"/>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0" y="6452950"/>
            <a:ext cx="1152144" cy="405050"/>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Calibri" panose="020F0502020204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Ø"/>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307592"/>
            <a:ext cx="9144000" cy="1772603"/>
          </a:xfrm>
        </p:spPr>
        <p:txBody>
          <a:bodyPr>
            <a:noAutofit/>
          </a:bodyPr>
          <a:lstStyle/>
          <a:p>
            <a:r>
              <a:rPr lang="en-US" altLang="zh-CN" b="1" dirty="0">
                <a:latin typeface="Franklin Gothic Demi" panose="020B0703020102020204" pitchFamily="34" charset="0"/>
                <a:sym typeface="+mn-ea"/>
              </a:rPr>
              <a:t>Advanced</a:t>
            </a:r>
            <a:r>
              <a:rPr lang="zh-CN" altLang="en-US" b="1" dirty="0">
                <a:latin typeface="Franklin Gothic Demi" panose="020B0703020102020204" pitchFamily="34" charset="0"/>
                <a:sym typeface="+mn-ea"/>
              </a:rPr>
              <a:t> </a:t>
            </a:r>
            <a:r>
              <a:rPr lang="en-US" altLang="zh-CN" b="1" dirty="0">
                <a:latin typeface="Franklin Gothic Demi" panose="020B0703020102020204" pitchFamily="34" charset="0"/>
                <a:sym typeface="+mn-ea"/>
              </a:rPr>
              <a:t>Programming</a:t>
            </a:r>
            <a:endParaRPr lang="zh-CN" altLang="en-US" b="1" dirty="0">
              <a:latin typeface="Franklin Gothic Demi" panose="020B0703020102020204" pitchFamily="34" charset="0"/>
            </a:endParaRPr>
          </a:p>
        </p:txBody>
      </p:sp>
      <p:sp>
        <p:nvSpPr>
          <p:cNvPr id="3" name="副标题 2"/>
          <p:cNvSpPr>
            <a:spLocks noGrp="1"/>
          </p:cNvSpPr>
          <p:nvPr>
            <p:ph type="subTitle" idx="1"/>
          </p:nvPr>
        </p:nvSpPr>
        <p:spPr>
          <a:xfrm>
            <a:off x="1524000" y="3260035"/>
            <a:ext cx="9144000" cy="2767054"/>
          </a:xfrm>
        </p:spPr>
        <p:txBody>
          <a:bodyPr>
            <a:normAutofit/>
          </a:bodyPr>
          <a:lstStyle/>
          <a:p>
            <a:r>
              <a:rPr lang="en-US" altLang="zh-CN" sz="3600" dirty="0">
                <a:latin typeface="Franklin Gothic Medium" panose="020B0603020102020204" pitchFamily="34" charset="0"/>
                <a:sym typeface="+mn-ea"/>
              </a:rPr>
              <a:t>Lab 5. Precautions for pointer ,</a:t>
            </a:r>
          </a:p>
          <a:p>
            <a:r>
              <a:rPr lang="en-US" altLang="zh-CN" sz="3600" dirty="0">
                <a:latin typeface="Franklin Gothic Medium" panose="020B0603020102020204" pitchFamily="34" charset="0"/>
                <a:sym typeface="+mn-ea"/>
              </a:rPr>
              <a:t>Memory Management(1)</a:t>
            </a:r>
            <a:endParaRPr lang="en-US" altLang="zh-CN" sz="3600" dirty="0">
              <a:latin typeface="Franklin Gothic Medium" panose="020B0603020102020204" pitchFamily="34" charset="0"/>
            </a:endParaRPr>
          </a:p>
          <a:p>
            <a:endParaRPr lang="en-US" altLang="zh-CN" sz="3600" dirty="0">
              <a:latin typeface="Franklin Gothic Medium" panose="020B0603020102020204" pitchFamily="34" charset="0"/>
            </a:endParaRPr>
          </a:p>
          <a:p>
            <a:r>
              <a:rPr lang="zh-CN" altLang="en-US" dirty="0">
                <a:latin typeface="Franklin Gothic Medium" panose="020B0603020102020204" pitchFamily="34" charset="0"/>
              </a:rPr>
              <a:t>王薇，于仕琪，</a:t>
            </a:r>
            <a:r>
              <a:rPr lang="zh-CN" altLang="en-US" dirty="0">
                <a:latin typeface="Franklin Gothic Medium" panose="020B0603020102020204" pitchFamily="34" charset="0"/>
                <a:sym typeface="+mn-ea"/>
              </a:rPr>
              <a:t>廖琪梅</a:t>
            </a:r>
            <a:r>
              <a:rPr lang="en-US" altLang="zh-CN" dirty="0">
                <a:latin typeface="Franklin Gothic Medium" panose="020B0603020102020204" pitchFamily="34" charset="0"/>
                <a:sym typeface="+mn-ea"/>
              </a:rPr>
              <a:t>, </a:t>
            </a:r>
            <a:r>
              <a:rPr lang="zh-CN" altLang="en-US" dirty="0">
                <a:latin typeface="Franklin Gothic Medium" panose="020B0603020102020204" pitchFamily="34" charset="0"/>
                <a:sym typeface="+mn-ea"/>
              </a:rPr>
              <a:t>王大兴</a:t>
            </a:r>
            <a:endParaRPr lang="en-US" altLang="zh-CN" dirty="0">
              <a:latin typeface="Franklin Gothic Medium" panose="020B0603020102020204" pitchFamily="34" charset="0"/>
            </a:endParaRPr>
          </a:p>
          <a:p>
            <a:endParaRPr lang="en-US" altLang="zh-CN" dirty="0">
              <a:latin typeface="Franklin Gothic Medium" panose="020B06030201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Topic</a:t>
            </a:r>
          </a:p>
        </p:txBody>
      </p:sp>
      <p:sp>
        <p:nvSpPr>
          <p:cNvPr id="3" name="内容占位符 2"/>
          <p:cNvSpPr>
            <a:spLocks noGrp="1"/>
          </p:cNvSpPr>
          <p:nvPr>
            <p:ph idx="1"/>
          </p:nvPr>
        </p:nvSpPr>
        <p:spPr>
          <a:xfrm>
            <a:off x="838200" y="1183640"/>
            <a:ext cx="11054080" cy="5079365"/>
          </a:xfrm>
        </p:spPr>
        <p:txBody>
          <a:bodyPr>
            <a:normAutofit/>
          </a:bodyPr>
          <a:lstStyle/>
          <a:p>
            <a:r>
              <a:rPr lang="en-US" altLang="zh-CN"/>
              <a:t>Precautions for pointer </a:t>
            </a:r>
          </a:p>
          <a:p>
            <a:pPr lvl="1"/>
            <a:r>
              <a:rPr lang="en-US"/>
              <a:t>DON’TS </a:t>
            </a:r>
            <a:endParaRPr lang="zh-CN" altLang="en-US"/>
          </a:p>
          <a:p>
            <a:pPr lvl="1"/>
            <a:r>
              <a:rPr lang="en-US" altLang="zh-CN">
                <a:sym typeface="+mn-ea"/>
              </a:rPr>
              <a:t>Suggestion </a:t>
            </a:r>
            <a:endParaRPr lang="zh-CN" altLang="en-US">
              <a:sym typeface="+mn-ea"/>
            </a:endParaRPr>
          </a:p>
          <a:p>
            <a:pPr lvl="2"/>
            <a:r>
              <a:rPr lang="en-US" altLang="zh-CN">
                <a:sym typeface="+mn-ea"/>
              </a:rPr>
              <a:t>Coding specification</a:t>
            </a:r>
          </a:p>
          <a:p>
            <a:pPr lvl="2"/>
            <a:r>
              <a:rPr lang="en-US" altLang="zh-CN" sz="2000">
                <a:sym typeface="+mn-ea"/>
              </a:rPr>
              <a:t>Tool:  </a:t>
            </a:r>
            <a:r>
              <a:rPr lang="en-US" altLang="zh-CN">
                <a:sym typeface="+mn-ea"/>
              </a:rPr>
              <a:t>valgrind </a:t>
            </a:r>
          </a:p>
          <a:p>
            <a:pPr lvl="2"/>
            <a:endParaRPr lang="zh-CN" altLang="en-US"/>
          </a:p>
          <a:p>
            <a:r>
              <a:rPr lang="en-US" altLang="zh-CN"/>
              <a:t>Memory Management(1)</a:t>
            </a:r>
            <a:endParaRPr lang="zh-CN" altLang="en-US"/>
          </a:p>
          <a:p>
            <a:pPr lvl="1"/>
            <a:r>
              <a:rPr lang="en-US" altLang="zh-CN">
                <a:sym typeface="+mn-ea"/>
              </a:rPr>
              <a:t>Stack vs Heap</a:t>
            </a:r>
          </a:p>
          <a:p>
            <a:pPr lvl="2"/>
            <a:r>
              <a:rPr lang="en-US" altLang="zh-CN" sz="2000">
                <a:sym typeface="+mn-ea"/>
              </a:rPr>
              <a:t>compiler+system vs </a:t>
            </a:r>
            <a:r>
              <a:rPr lang="en-US" altLang="zh-CN">
                <a:sym typeface="+mn-ea"/>
              </a:rPr>
              <a:t>programmer </a:t>
            </a:r>
            <a:endParaRPr lang="zh-CN" altLang="en-US">
              <a:sym typeface="+mn-ea"/>
            </a:endParaRPr>
          </a:p>
          <a:p>
            <a:pPr lvl="1"/>
            <a:r>
              <a:rPr lang="en-US" altLang="zh-CN"/>
              <a:t>C/C++  vs Python</a:t>
            </a:r>
          </a:p>
          <a:p>
            <a:pPr lvl="2"/>
            <a:r>
              <a:rPr lang="en-US" altLang="zh-CN"/>
              <a:t>compiler vs interpreter</a:t>
            </a:r>
          </a:p>
          <a:p>
            <a:pPr lvl="2"/>
            <a:r>
              <a:rPr lang="en-US" altLang="zh-CN">
                <a:sym typeface="+mn-ea"/>
              </a:rPr>
              <a:t>compiler+system+programmer</a:t>
            </a:r>
            <a:r>
              <a:rPr lang="en-US" altLang="zh-CN"/>
              <a:t> vs interpreter+programmer</a:t>
            </a:r>
            <a:endParaRPr lang="zh-CN" altLang="en-US"/>
          </a:p>
          <a:p>
            <a:pPr marL="457200" lvl="1" indent="0">
              <a:buNone/>
            </a:pPr>
            <a:endParaRPr lang="en-US" altLang="zh-CN">
              <a:highlight>
                <a:srgbClr val="FFFF00"/>
              </a:highlight>
            </a:endParaRPr>
          </a:p>
          <a:p>
            <a:endParaRPr lang="en-US" altLang="zh-CN"/>
          </a:p>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Precautions for Pointer </a:t>
            </a:r>
          </a:p>
        </p:txBody>
      </p:sp>
      <p:sp>
        <p:nvSpPr>
          <p:cNvPr id="3" name="内容占位符 2"/>
          <p:cNvSpPr>
            <a:spLocks noGrp="1"/>
          </p:cNvSpPr>
          <p:nvPr>
            <p:ph idx="1"/>
          </p:nvPr>
        </p:nvSpPr>
        <p:spPr/>
        <p:txBody>
          <a:bodyPr>
            <a:normAutofit/>
          </a:bodyPr>
          <a:lstStyle/>
          <a:p>
            <a:r>
              <a:rPr lang="en-US" altLang="zh-CN"/>
              <a:t>DON’TS</a:t>
            </a:r>
          </a:p>
          <a:p>
            <a:pPr lvl="1"/>
            <a:r>
              <a:rPr lang="en-US" altLang="zh-CN"/>
              <a:t>1. whild pointer</a:t>
            </a:r>
            <a:endParaRPr lang="zh-CN" altLang="en-US"/>
          </a:p>
          <a:p>
            <a:pPr lvl="1"/>
            <a:r>
              <a:rPr lang="en-US" altLang="zh-CN"/>
              <a:t>2. memory leak </a:t>
            </a:r>
            <a:endParaRPr lang="zh-CN" altLang="en-US"/>
          </a:p>
          <a:p>
            <a:pPr lvl="1"/>
            <a:r>
              <a:rPr lang="en-US" altLang="zh-CN"/>
              <a:t>3. free less or free more</a:t>
            </a:r>
          </a:p>
          <a:p>
            <a:pPr lvl="1"/>
            <a:r>
              <a:rPr lang="en-US" altLang="zh-CN"/>
              <a:t>4. free stack</a:t>
            </a:r>
          </a:p>
          <a:p>
            <a:pPr lvl="1"/>
            <a:r>
              <a:rPr lang="en-US" altLang="zh-CN"/>
              <a:t>5. dangling pointer</a:t>
            </a:r>
          </a:p>
          <a:p>
            <a:pPr lvl="1"/>
            <a:endParaRPr lang="zh-CN" altLang="en-US"/>
          </a:p>
          <a:p>
            <a:r>
              <a:rPr lang="en-US" altLang="zh-CN">
                <a:sym typeface="+mn-ea"/>
              </a:rPr>
              <a:t>Suggestion </a:t>
            </a:r>
            <a:endParaRPr lang="zh-CN" altLang="en-US"/>
          </a:p>
          <a:p>
            <a:pPr lvl="1"/>
            <a:r>
              <a:rPr lang="en-US" altLang="zh-CN">
                <a:sym typeface="+mn-ea"/>
              </a:rPr>
              <a:t>Coding specification</a:t>
            </a:r>
          </a:p>
          <a:p>
            <a:pPr lvl="1"/>
            <a:r>
              <a:rPr lang="en-US" altLang="zh-CN">
                <a:sym typeface="+mn-ea"/>
              </a:rPr>
              <a:t>Tools</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sym typeface="+mn-ea"/>
              </a:rPr>
              <a:t>DON’TS : 1. wild pointer</a:t>
            </a:r>
            <a:r>
              <a:rPr lang="en-US" altLang="zh-CN">
                <a:sym typeface="+mn-ea"/>
              </a:rPr>
              <a:t> </a:t>
            </a:r>
            <a:endParaRPr lang="zh-CN" altLang="en-US"/>
          </a:p>
        </p:txBody>
      </p:sp>
      <p:pic>
        <p:nvPicPr>
          <p:cNvPr id="6" name="内容占位符 5"/>
          <p:cNvPicPr>
            <a:picLocks noGrp="1" noChangeAspect="1"/>
          </p:cNvPicPr>
          <p:nvPr>
            <p:ph idx="1"/>
          </p:nvPr>
        </p:nvPicPr>
        <p:blipFill>
          <a:blip r:embed="rId2"/>
          <a:stretch>
            <a:fillRect/>
          </a:stretch>
        </p:blipFill>
        <p:spPr>
          <a:xfrm>
            <a:off x="1859915" y="3840480"/>
            <a:ext cx="6753860" cy="635000"/>
          </a:xfrm>
          <a:prstGeom prst="rect">
            <a:avLst/>
          </a:prstGeom>
        </p:spPr>
      </p:pic>
      <p:sp>
        <p:nvSpPr>
          <p:cNvPr id="4" name="文本框 3"/>
          <p:cNvSpPr txBox="1"/>
          <p:nvPr/>
        </p:nvSpPr>
        <p:spPr>
          <a:xfrm>
            <a:off x="555625" y="1280795"/>
            <a:ext cx="4850765" cy="2332990"/>
          </a:xfrm>
          <a:prstGeom prst="rect">
            <a:avLst/>
          </a:prstGeom>
          <a:solidFill>
            <a:schemeClr val="accent1">
              <a:lumMod val="40000"/>
              <a:lumOff val="60000"/>
            </a:schemeClr>
          </a:solidFill>
        </p:spPr>
        <p:txBody>
          <a:bodyPr>
            <a:noAutofit/>
          </a:bodyPr>
          <a:lstStyle/>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#include&lt;</a:t>
            </a:r>
            <a:r>
              <a:rPr lang="en-US" altLang="zh-CN" sz="1400" b="0" dirty="0" err="1">
                <a:solidFill>
                  <a:schemeClr val="tx1"/>
                </a:solidFill>
                <a:latin typeface="Consolas" panose="020B0609020204030204"/>
                <a:ea typeface="Consolas" panose="020B0609020204030204"/>
              </a:rPr>
              <a:t>stdio.h</a:t>
            </a:r>
            <a:r>
              <a:rPr lang="en-US" altLang="zh-CN" sz="1400" b="0" dirty="0">
                <a:solidFill>
                  <a:schemeClr val="tx1"/>
                </a:solidFill>
                <a:latin typeface="Consolas" panose="020B0609020204030204"/>
                <a:ea typeface="Consolas" panose="020B0609020204030204"/>
              </a:rPr>
              <a:t>&gt;   </a:t>
            </a:r>
            <a:r>
              <a:rPr lang="en-US" altLang="zh-CN" sz="1400" b="0" dirty="0">
                <a:solidFill>
                  <a:schemeClr val="bg1">
                    <a:lumMod val="50000"/>
                  </a:schemeClr>
                </a:solidFill>
                <a:latin typeface="Consolas" panose="020B0609020204030204"/>
                <a:ea typeface="Consolas" panose="020B0609020204030204"/>
              </a:rPr>
              <a:t>//</a:t>
            </a:r>
            <a:r>
              <a:rPr lang="en-US" altLang="zh-CN" sz="1400" b="0" dirty="0" err="1">
                <a:solidFill>
                  <a:schemeClr val="bg1">
                    <a:lumMod val="50000"/>
                  </a:schemeClr>
                </a:solidFill>
                <a:latin typeface="Consolas" panose="020B0609020204030204"/>
                <a:ea typeface="Consolas" panose="020B0609020204030204"/>
              </a:rPr>
              <a:t>wild_pointer.c</a:t>
            </a:r>
            <a:endParaRPr lang="en-US" altLang="zh-CN" sz="1400" b="0" dirty="0">
              <a:solidFill>
                <a:schemeClr val="bg1">
                  <a:lumMod val="50000"/>
                </a:schemeClr>
              </a:solidFill>
              <a:latin typeface="Consolas" panose="020B0609020204030204"/>
              <a:ea typeface="Consolas" panose="020B0609020204030204"/>
            </a:endParaRP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#include&lt;</a:t>
            </a:r>
            <a:r>
              <a:rPr lang="en-US" altLang="zh-CN" sz="1400" b="0" dirty="0" err="1">
                <a:solidFill>
                  <a:schemeClr val="tx1"/>
                </a:solidFill>
                <a:latin typeface="Consolas" panose="020B0609020204030204"/>
                <a:ea typeface="Consolas" panose="020B0609020204030204"/>
              </a:rPr>
              <a:t>stdlib.h</a:t>
            </a:r>
            <a:r>
              <a:rPr lang="en-US" altLang="zh-CN" sz="1400" b="0" dirty="0">
                <a:solidFill>
                  <a:schemeClr val="tx1"/>
                </a:solidFill>
                <a:latin typeface="Consolas" panose="020B0609020204030204"/>
                <a:ea typeface="Consolas" panose="020B0609020204030204"/>
              </a:rPr>
              <a:t>&gt;</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int</a:t>
            </a:r>
            <a:r>
              <a:rPr lang="zh-CN" altLang="en-US" sz="1400" b="0" dirty="0">
                <a:solidFill>
                  <a:schemeClr val="tx1"/>
                </a:solidFill>
                <a:latin typeface="Consolas" panose="020B0609020204030204"/>
                <a:ea typeface="Consolas" panose="020B0609020204030204"/>
              </a:rPr>
              <a:t> </a:t>
            </a:r>
            <a:r>
              <a:rPr lang="en-US" altLang="zh-CN" sz="1400" b="0" dirty="0">
                <a:solidFill>
                  <a:schemeClr val="tx1"/>
                </a:solidFill>
                <a:latin typeface="Consolas" panose="020B0609020204030204"/>
                <a:ea typeface="Consolas" panose="020B0609020204030204"/>
              </a:rPr>
              <a:t>main(</a:t>
            </a:r>
            <a:r>
              <a:rPr lang="en-US" altLang="zh-CN" sz="1400" b="0" dirty="0" err="1">
                <a:solidFill>
                  <a:schemeClr val="tx1"/>
                </a:solidFill>
                <a:latin typeface="Consolas" panose="020B0609020204030204"/>
                <a:ea typeface="Consolas" panose="020B0609020204030204"/>
              </a:rPr>
              <a:t>intargc</a:t>
            </a:r>
            <a:r>
              <a:rPr lang="en-US" altLang="zh-CN" sz="1400" b="0" dirty="0">
                <a:solidFill>
                  <a:schemeClr val="tx1"/>
                </a:solidFill>
                <a:latin typeface="Consolas" panose="020B0609020204030204"/>
                <a:ea typeface="Consolas" panose="020B0609020204030204"/>
              </a:rPr>
              <a:t>, char*</a:t>
            </a:r>
            <a:r>
              <a:rPr lang="zh-CN" altLang="en-US" sz="1400" b="0" dirty="0">
                <a:solidFill>
                  <a:schemeClr val="tx1"/>
                </a:solidFill>
                <a:latin typeface="Consolas" panose="020B0609020204030204"/>
                <a:ea typeface="Consolas" panose="020B0609020204030204"/>
              </a:rPr>
              <a:t> </a:t>
            </a:r>
            <a:r>
              <a:rPr lang="en-US" altLang="zh-CN" sz="1400" b="0" dirty="0" err="1">
                <a:solidFill>
                  <a:schemeClr val="tx1"/>
                </a:solidFill>
                <a:latin typeface="Consolas" panose="020B0609020204030204"/>
                <a:ea typeface="Consolas" panose="020B0609020204030204"/>
              </a:rPr>
              <a:t>argv</a:t>
            </a:r>
            <a:r>
              <a:rPr lang="en-US" altLang="zh-CN" sz="1400" b="0" dirty="0">
                <a:solidFill>
                  <a:schemeClr val="tx1"/>
                </a:solidFill>
                <a:latin typeface="Consolas" panose="020B0609020204030204"/>
                <a:ea typeface="Consolas" panose="020B0609020204030204"/>
              </a:rPr>
              <a:t>[]){</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    </a:t>
            </a:r>
            <a:r>
              <a:rPr lang="en-US" altLang="zh-CN" sz="1400" b="0" dirty="0">
                <a:solidFill>
                  <a:schemeClr val="tx1"/>
                </a:solidFill>
                <a:highlight>
                  <a:srgbClr val="FFFF00"/>
                </a:highlight>
                <a:latin typeface="Consolas" panose="020B0609020204030204"/>
                <a:ea typeface="Consolas" panose="020B0609020204030204"/>
              </a:rPr>
              <a:t>int*p1;</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    *p1=0x12345678;</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    </a:t>
            </a:r>
            <a:r>
              <a:rPr lang="en-US" altLang="zh-CN" sz="1400" b="0" dirty="0" err="1">
                <a:solidFill>
                  <a:schemeClr val="tx1"/>
                </a:solidFill>
                <a:latin typeface="Consolas" panose="020B0609020204030204"/>
                <a:ea typeface="Consolas" panose="020B0609020204030204"/>
              </a:rPr>
              <a:t>printf</a:t>
            </a:r>
            <a:r>
              <a:rPr lang="en-US" altLang="zh-CN" sz="1400" b="0" dirty="0">
                <a:solidFill>
                  <a:schemeClr val="tx1"/>
                </a:solidFill>
                <a:latin typeface="Consolas" panose="020B0609020204030204"/>
                <a:ea typeface="Consolas" panose="020B0609020204030204"/>
              </a:rPr>
              <a:t>("address: %p\</a:t>
            </a:r>
            <a:r>
              <a:rPr lang="en-US" altLang="zh-CN" sz="1400" b="0" dirty="0" err="1">
                <a:solidFill>
                  <a:schemeClr val="tx1"/>
                </a:solidFill>
                <a:latin typeface="Consolas" panose="020B0609020204030204"/>
                <a:ea typeface="Consolas" panose="020B0609020204030204"/>
              </a:rPr>
              <a:t>tdata</a:t>
            </a:r>
            <a:r>
              <a:rPr lang="en-US" altLang="zh-CN" sz="1400" b="0" dirty="0">
                <a:solidFill>
                  <a:schemeClr val="tx1"/>
                </a:solidFill>
                <a:latin typeface="Consolas" panose="020B0609020204030204"/>
                <a:ea typeface="Consolas" panose="020B0609020204030204"/>
              </a:rPr>
              <a:t>: 0x%x\n",p1,*p1);</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    return0;</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a:t>
            </a:r>
          </a:p>
        </p:txBody>
      </p:sp>
      <p:sp>
        <p:nvSpPr>
          <p:cNvPr id="8" name="文本框 7"/>
          <p:cNvSpPr txBox="1"/>
          <p:nvPr/>
        </p:nvSpPr>
        <p:spPr>
          <a:xfrm>
            <a:off x="6035675" y="1280795"/>
            <a:ext cx="5107940" cy="2332990"/>
          </a:xfrm>
          <a:prstGeom prst="rect">
            <a:avLst/>
          </a:prstGeom>
          <a:solidFill>
            <a:schemeClr val="accent1">
              <a:lumMod val="40000"/>
              <a:lumOff val="60000"/>
            </a:schemeClr>
          </a:solidFill>
        </p:spPr>
        <p:txBody>
          <a:bodyPr>
            <a:noAutofit/>
          </a:bodyPr>
          <a:lstStyle/>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#include&lt;</a:t>
            </a:r>
            <a:r>
              <a:rPr lang="en-US" altLang="zh-CN" sz="1400" b="0" dirty="0" err="1">
                <a:solidFill>
                  <a:schemeClr val="tx1"/>
                </a:solidFill>
                <a:latin typeface="Consolas" panose="020B0609020204030204"/>
                <a:ea typeface="Consolas" panose="020B0609020204030204"/>
              </a:rPr>
              <a:t>stdio.h</a:t>
            </a:r>
            <a:r>
              <a:rPr lang="en-US" altLang="zh-CN" sz="1400" b="0" dirty="0">
                <a:solidFill>
                  <a:schemeClr val="tx1"/>
                </a:solidFill>
                <a:latin typeface="Consolas" panose="020B0609020204030204"/>
                <a:ea typeface="Consolas" panose="020B0609020204030204"/>
              </a:rPr>
              <a:t>&gt;   </a:t>
            </a:r>
            <a:r>
              <a:rPr lang="en-US" altLang="zh-CN" sz="1400" b="0" dirty="0">
                <a:solidFill>
                  <a:schemeClr val="bg1">
                    <a:lumMod val="50000"/>
                  </a:schemeClr>
                </a:solidFill>
                <a:latin typeface="Consolas" panose="020B0609020204030204"/>
                <a:ea typeface="Consolas" panose="020B0609020204030204"/>
              </a:rPr>
              <a:t>//</a:t>
            </a:r>
            <a:r>
              <a:rPr lang="en-US" altLang="zh-CN" sz="1400" b="0" dirty="0" err="1">
                <a:solidFill>
                  <a:schemeClr val="bg1">
                    <a:lumMod val="50000"/>
                  </a:schemeClr>
                </a:solidFill>
                <a:latin typeface="Consolas" panose="020B0609020204030204"/>
                <a:ea typeface="Consolas" panose="020B0609020204030204"/>
              </a:rPr>
              <a:t>wild_pointer.c</a:t>
            </a:r>
            <a:endParaRPr lang="en-US" altLang="zh-CN" sz="1400" b="0" dirty="0">
              <a:solidFill>
                <a:schemeClr val="bg1">
                  <a:lumMod val="50000"/>
                </a:schemeClr>
              </a:solidFill>
              <a:latin typeface="Consolas" panose="020B0609020204030204"/>
              <a:ea typeface="Consolas" panose="020B0609020204030204"/>
            </a:endParaRP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#include&lt;</a:t>
            </a:r>
            <a:r>
              <a:rPr lang="en-US" altLang="zh-CN" sz="1400" b="0" dirty="0" err="1">
                <a:solidFill>
                  <a:schemeClr val="tx1"/>
                </a:solidFill>
                <a:latin typeface="Consolas" panose="020B0609020204030204"/>
                <a:ea typeface="Consolas" panose="020B0609020204030204"/>
              </a:rPr>
              <a:t>stdlib.h</a:t>
            </a:r>
            <a:r>
              <a:rPr lang="en-US" altLang="zh-CN" sz="1400" b="0" dirty="0">
                <a:solidFill>
                  <a:schemeClr val="tx1"/>
                </a:solidFill>
                <a:latin typeface="Consolas" panose="020B0609020204030204"/>
                <a:ea typeface="Consolas" panose="020B0609020204030204"/>
              </a:rPr>
              <a:t>&gt;</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int</a:t>
            </a:r>
            <a:r>
              <a:rPr lang="zh-CN" altLang="en-US" sz="1400" b="0" dirty="0">
                <a:solidFill>
                  <a:schemeClr val="tx1"/>
                </a:solidFill>
                <a:latin typeface="Consolas" panose="020B0609020204030204"/>
                <a:ea typeface="Consolas" panose="020B0609020204030204"/>
              </a:rPr>
              <a:t> </a:t>
            </a:r>
            <a:r>
              <a:rPr lang="en-US" altLang="zh-CN" sz="1400" b="0" dirty="0">
                <a:solidFill>
                  <a:schemeClr val="tx1"/>
                </a:solidFill>
                <a:latin typeface="Consolas" panose="020B0609020204030204"/>
                <a:ea typeface="Consolas" panose="020B0609020204030204"/>
              </a:rPr>
              <a:t>main(int</a:t>
            </a:r>
            <a:r>
              <a:rPr lang="zh-CN" altLang="en-US" sz="1400" b="0" dirty="0">
                <a:solidFill>
                  <a:schemeClr val="tx1"/>
                </a:solidFill>
                <a:latin typeface="Consolas" panose="020B0609020204030204"/>
                <a:ea typeface="Consolas" panose="020B0609020204030204"/>
              </a:rPr>
              <a:t> </a:t>
            </a:r>
            <a:r>
              <a:rPr lang="en-US" altLang="zh-CN" sz="1400" b="0" dirty="0" err="1">
                <a:solidFill>
                  <a:schemeClr val="tx1"/>
                </a:solidFill>
                <a:latin typeface="Consolas" panose="020B0609020204030204"/>
                <a:ea typeface="Consolas" panose="020B0609020204030204"/>
              </a:rPr>
              <a:t>argc</a:t>
            </a:r>
            <a:r>
              <a:rPr lang="en-US" altLang="zh-CN" sz="1400" b="0" dirty="0">
                <a:solidFill>
                  <a:schemeClr val="tx1"/>
                </a:solidFill>
                <a:latin typeface="Consolas" panose="020B0609020204030204"/>
                <a:ea typeface="Consolas" panose="020B0609020204030204"/>
              </a:rPr>
              <a:t>, char*</a:t>
            </a:r>
            <a:r>
              <a:rPr lang="zh-CN" altLang="en-US" sz="1400" b="0" dirty="0">
                <a:solidFill>
                  <a:schemeClr val="tx1"/>
                </a:solidFill>
                <a:latin typeface="Consolas" panose="020B0609020204030204"/>
                <a:ea typeface="Consolas" panose="020B0609020204030204"/>
              </a:rPr>
              <a:t> </a:t>
            </a:r>
            <a:r>
              <a:rPr lang="en-US" altLang="zh-CN" sz="1400" b="0" dirty="0" err="1">
                <a:solidFill>
                  <a:schemeClr val="tx1"/>
                </a:solidFill>
                <a:latin typeface="Consolas" panose="020B0609020204030204"/>
                <a:ea typeface="Consolas" panose="020B0609020204030204"/>
              </a:rPr>
              <a:t>argv</a:t>
            </a:r>
            <a:r>
              <a:rPr lang="en-US" altLang="zh-CN" sz="1400" b="0" dirty="0">
                <a:solidFill>
                  <a:schemeClr val="tx1"/>
                </a:solidFill>
                <a:latin typeface="Consolas" panose="020B0609020204030204"/>
                <a:ea typeface="Consolas" panose="020B0609020204030204"/>
              </a:rPr>
              <a:t>[]){</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    </a:t>
            </a:r>
            <a:r>
              <a:rPr lang="en-US" altLang="zh-CN" sz="1400" b="0" dirty="0">
                <a:solidFill>
                  <a:schemeClr val="tx1"/>
                </a:solidFill>
                <a:highlight>
                  <a:srgbClr val="FFFF00"/>
                </a:highlight>
                <a:latin typeface="Consolas" panose="020B0609020204030204"/>
                <a:ea typeface="Consolas" panose="020B0609020204030204"/>
              </a:rPr>
              <a:t>int *p1=NULL;</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    *p1=0x12345678;</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    </a:t>
            </a:r>
            <a:r>
              <a:rPr lang="en-US" altLang="zh-CN" sz="1400" b="0" dirty="0" err="1">
                <a:solidFill>
                  <a:schemeClr val="tx1"/>
                </a:solidFill>
                <a:latin typeface="Consolas" panose="020B0609020204030204"/>
                <a:ea typeface="Consolas" panose="020B0609020204030204"/>
              </a:rPr>
              <a:t>printf</a:t>
            </a:r>
            <a:r>
              <a:rPr lang="en-US" altLang="zh-CN" sz="1400" b="0" dirty="0">
                <a:solidFill>
                  <a:schemeClr val="tx1"/>
                </a:solidFill>
                <a:latin typeface="Consolas" panose="020B0609020204030204"/>
                <a:ea typeface="Consolas" panose="020B0609020204030204"/>
              </a:rPr>
              <a:t>("address: %p\</a:t>
            </a:r>
            <a:r>
              <a:rPr lang="en-US" altLang="zh-CN" sz="1400" b="0" dirty="0" err="1">
                <a:solidFill>
                  <a:schemeClr val="tx1"/>
                </a:solidFill>
                <a:latin typeface="Consolas" panose="020B0609020204030204"/>
                <a:ea typeface="Consolas" panose="020B0609020204030204"/>
              </a:rPr>
              <a:t>tdata</a:t>
            </a:r>
            <a:r>
              <a:rPr lang="en-US" altLang="zh-CN" sz="1400" b="0" dirty="0">
                <a:solidFill>
                  <a:schemeClr val="tx1"/>
                </a:solidFill>
                <a:latin typeface="Consolas" panose="020B0609020204030204"/>
                <a:ea typeface="Consolas" panose="020B0609020204030204"/>
              </a:rPr>
              <a:t>: 0x%x\n",p1,*p1);</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    return0;</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a:t>
            </a:r>
          </a:p>
        </p:txBody>
      </p:sp>
      <p:sp>
        <p:nvSpPr>
          <p:cNvPr id="10" name="文本框 9"/>
          <p:cNvSpPr txBox="1"/>
          <p:nvPr/>
        </p:nvSpPr>
        <p:spPr>
          <a:xfrm>
            <a:off x="328295" y="4657725"/>
            <a:ext cx="11457940" cy="1467485"/>
          </a:xfrm>
          <a:prstGeom prst="rect">
            <a:avLst/>
          </a:prstGeom>
          <a:noFill/>
        </p:spPr>
        <p:txBody>
          <a:bodyPr wrap="square" rtlCol="0">
            <a:noAutofit/>
          </a:bodyPr>
          <a:lstStyle/>
          <a:p>
            <a:r>
              <a:rPr lang="en-US" altLang="zh-CN" b="1" dirty="0"/>
              <a:t>Wild pointers</a:t>
            </a:r>
            <a:r>
              <a:rPr lang="en-US" altLang="zh-CN" dirty="0"/>
              <a:t> refer to pointers that have not been initialized or have been released but are still in use. The positions pointed to by these pointers are uncertain, random, and have no clear limitations. </a:t>
            </a:r>
          </a:p>
          <a:p>
            <a:endParaRPr lang="en-US" altLang="zh-CN" dirty="0"/>
          </a:p>
          <a:p>
            <a:r>
              <a:rPr lang="en-US" altLang="zh-CN" b="1" dirty="0"/>
              <a:t>Wild pointers may cause program crashes or unpredictable results</a:t>
            </a:r>
            <a:r>
              <a:rPr lang="en-US" altLang="zh-CN" dirty="0"/>
              <a:t>, as the memory addresses they point to may already be occupied by other objects or programs, or reclaimed by the operating system</a:t>
            </a:r>
          </a:p>
          <a:p>
            <a:endParaRPr lang="en-US" altLang="zh-C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highlight>
                  <a:srgbClr val="000000">
                    <a:alpha val="0"/>
                  </a:srgbClr>
                </a:highlight>
                <a:sym typeface="+mn-ea"/>
              </a:rPr>
              <a:t>DON’TS : 2. memory leak</a:t>
            </a:r>
            <a:r>
              <a:rPr lang="en-US" altLang="zh-CN">
                <a:highlight>
                  <a:srgbClr val="000000">
                    <a:alpha val="0"/>
                  </a:srgbClr>
                </a:highlight>
                <a:sym typeface="+mn-ea"/>
              </a:rPr>
              <a:t> </a:t>
            </a:r>
          </a:p>
        </p:txBody>
      </p:sp>
      <p:sp>
        <p:nvSpPr>
          <p:cNvPr id="8" name="文本框 7"/>
          <p:cNvSpPr txBox="1"/>
          <p:nvPr/>
        </p:nvSpPr>
        <p:spPr>
          <a:xfrm>
            <a:off x="805180" y="1364615"/>
            <a:ext cx="4869815" cy="2447290"/>
          </a:xfrm>
          <a:prstGeom prst="rect">
            <a:avLst/>
          </a:prstGeom>
          <a:solidFill>
            <a:schemeClr val="accent1">
              <a:lumMod val="40000"/>
              <a:lumOff val="60000"/>
            </a:schemeClr>
          </a:solidFill>
        </p:spPr>
        <p:txBody>
          <a:bodyPr>
            <a:noAutofit/>
          </a:bodyPr>
          <a:lstStyle/>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#include&lt;</a:t>
            </a:r>
            <a:r>
              <a:rPr lang="en-US" altLang="zh-CN" sz="1400" b="0" dirty="0" err="1">
                <a:solidFill>
                  <a:schemeClr val="tx1"/>
                </a:solidFill>
                <a:latin typeface="Consolas" panose="020B0609020204030204"/>
                <a:ea typeface="Consolas" panose="020B0609020204030204"/>
              </a:rPr>
              <a:t>stdio.h</a:t>
            </a:r>
            <a:r>
              <a:rPr lang="en-US" altLang="zh-CN" sz="1400" b="0" dirty="0">
                <a:solidFill>
                  <a:schemeClr val="tx1"/>
                </a:solidFill>
                <a:latin typeface="Consolas" panose="020B0609020204030204"/>
                <a:ea typeface="Consolas" panose="020B0609020204030204"/>
              </a:rPr>
              <a:t>&gt;   </a:t>
            </a:r>
            <a:r>
              <a:rPr lang="en-US" altLang="zh-CN" sz="1400" b="0" dirty="0">
                <a:solidFill>
                  <a:schemeClr val="bg1">
                    <a:lumMod val="50000"/>
                  </a:schemeClr>
                </a:solidFill>
                <a:latin typeface="Consolas" panose="020B0609020204030204"/>
                <a:ea typeface="Consolas" panose="020B0609020204030204"/>
              </a:rPr>
              <a:t>//demo1.c</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#include&lt;</a:t>
            </a:r>
            <a:r>
              <a:rPr lang="en-US" altLang="zh-CN" sz="1400" b="0" dirty="0" err="1">
                <a:solidFill>
                  <a:schemeClr val="tx1"/>
                </a:solidFill>
                <a:latin typeface="Consolas" panose="020B0609020204030204"/>
                <a:ea typeface="Consolas" panose="020B0609020204030204"/>
              </a:rPr>
              <a:t>stdlib.h</a:t>
            </a:r>
            <a:r>
              <a:rPr lang="en-US" altLang="zh-CN" sz="1400" b="0" dirty="0">
                <a:solidFill>
                  <a:schemeClr val="tx1"/>
                </a:solidFill>
                <a:latin typeface="Consolas" panose="020B0609020204030204"/>
                <a:ea typeface="Consolas" panose="020B0609020204030204"/>
              </a:rPr>
              <a:t>&gt;</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int</a:t>
            </a:r>
            <a:r>
              <a:rPr lang="zh-CN" altLang="en-US" sz="1400" b="0" dirty="0">
                <a:solidFill>
                  <a:schemeClr val="tx1"/>
                </a:solidFill>
                <a:latin typeface="Consolas" panose="020B0609020204030204"/>
                <a:ea typeface="Consolas" panose="020B0609020204030204"/>
              </a:rPr>
              <a:t> </a:t>
            </a:r>
            <a:r>
              <a:rPr lang="en-US" altLang="zh-CN" sz="1400" b="0" dirty="0">
                <a:solidFill>
                  <a:schemeClr val="tx1"/>
                </a:solidFill>
                <a:latin typeface="Consolas" panose="020B0609020204030204"/>
                <a:ea typeface="Consolas" panose="020B0609020204030204"/>
              </a:rPr>
              <a:t>main(</a:t>
            </a:r>
            <a:r>
              <a:rPr lang="en-US" altLang="zh-CN" sz="1400" b="0" dirty="0" err="1">
                <a:solidFill>
                  <a:schemeClr val="tx1"/>
                </a:solidFill>
                <a:latin typeface="Consolas" panose="020B0609020204030204"/>
                <a:ea typeface="Consolas" panose="020B0609020204030204"/>
              </a:rPr>
              <a:t>intargc</a:t>
            </a:r>
            <a:r>
              <a:rPr lang="en-US" altLang="zh-CN" sz="1400" b="0" dirty="0">
                <a:solidFill>
                  <a:schemeClr val="tx1"/>
                </a:solidFill>
                <a:latin typeface="Consolas" panose="020B0609020204030204"/>
                <a:ea typeface="Consolas" panose="020B0609020204030204"/>
              </a:rPr>
              <a:t>, char*</a:t>
            </a:r>
            <a:r>
              <a:rPr lang="zh-CN" altLang="en-US" sz="1400" b="0" dirty="0">
                <a:solidFill>
                  <a:schemeClr val="tx1"/>
                </a:solidFill>
                <a:latin typeface="Consolas" panose="020B0609020204030204"/>
                <a:ea typeface="Consolas" panose="020B0609020204030204"/>
              </a:rPr>
              <a:t> </a:t>
            </a:r>
            <a:r>
              <a:rPr lang="en-US" altLang="zh-CN" sz="1400" b="0" dirty="0" err="1">
                <a:solidFill>
                  <a:schemeClr val="tx1"/>
                </a:solidFill>
                <a:latin typeface="Consolas" panose="020B0609020204030204"/>
                <a:ea typeface="Consolas" panose="020B0609020204030204"/>
              </a:rPr>
              <a:t>argv</a:t>
            </a:r>
            <a:r>
              <a:rPr lang="en-US" altLang="zh-CN" sz="1400" b="0" dirty="0">
                <a:solidFill>
                  <a:schemeClr val="tx1"/>
                </a:solidFill>
                <a:latin typeface="Consolas" panose="020B0609020204030204"/>
                <a:ea typeface="Consolas" panose="020B0609020204030204"/>
              </a:rPr>
              <a:t>[]){</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    </a:t>
            </a:r>
            <a:r>
              <a:rPr lang="en-US" altLang="zh-CN" sz="1400" b="0" dirty="0">
                <a:solidFill>
                  <a:schemeClr val="tx1"/>
                </a:solidFill>
                <a:highlight>
                  <a:srgbClr val="FFFF00"/>
                </a:highlight>
                <a:latin typeface="Consolas" panose="020B0609020204030204"/>
                <a:ea typeface="Consolas" panose="020B0609020204030204"/>
              </a:rPr>
              <a:t>int *p1=(int*)malloc(</a:t>
            </a:r>
            <a:r>
              <a:rPr lang="en-US" altLang="zh-CN" sz="1400" b="0" dirty="0" err="1">
                <a:solidFill>
                  <a:schemeClr val="tx1"/>
                </a:solidFill>
                <a:highlight>
                  <a:srgbClr val="FFFF00"/>
                </a:highlight>
                <a:latin typeface="Consolas" panose="020B0609020204030204"/>
                <a:ea typeface="Consolas" panose="020B0609020204030204"/>
              </a:rPr>
              <a:t>sizeof</a:t>
            </a:r>
            <a:r>
              <a:rPr lang="en-US" altLang="zh-CN" sz="1400" b="0" dirty="0">
                <a:solidFill>
                  <a:schemeClr val="tx1"/>
                </a:solidFill>
                <a:highlight>
                  <a:srgbClr val="FFFF00"/>
                </a:highlight>
                <a:latin typeface="Consolas" panose="020B0609020204030204"/>
                <a:ea typeface="Consolas" panose="020B0609020204030204"/>
              </a:rPr>
              <a:t>(int));</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    *p1=0x12345678;</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    </a:t>
            </a:r>
            <a:r>
              <a:rPr lang="en-US" altLang="zh-CN" sz="1400" b="0" dirty="0" err="1">
                <a:solidFill>
                  <a:schemeClr val="tx1"/>
                </a:solidFill>
                <a:latin typeface="Consolas" panose="020B0609020204030204"/>
                <a:ea typeface="Consolas" panose="020B0609020204030204"/>
              </a:rPr>
              <a:t>printf</a:t>
            </a:r>
            <a:r>
              <a:rPr lang="en-US" altLang="zh-CN" sz="1400" b="0" dirty="0">
                <a:solidFill>
                  <a:schemeClr val="tx1"/>
                </a:solidFill>
                <a:latin typeface="Consolas" panose="020B0609020204030204"/>
                <a:ea typeface="Consolas" panose="020B0609020204030204"/>
              </a:rPr>
              <a:t>("address: %p\</a:t>
            </a:r>
            <a:r>
              <a:rPr lang="en-US" altLang="zh-CN" sz="1400" b="0" dirty="0" err="1">
                <a:solidFill>
                  <a:schemeClr val="tx1"/>
                </a:solidFill>
                <a:latin typeface="Consolas" panose="020B0609020204030204"/>
                <a:ea typeface="Consolas" panose="020B0609020204030204"/>
              </a:rPr>
              <a:t>tdata</a:t>
            </a:r>
            <a:r>
              <a:rPr lang="en-US" altLang="zh-CN" sz="1400" b="0" dirty="0">
                <a:solidFill>
                  <a:schemeClr val="tx1"/>
                </a:solidFill>
                <a:latin typeface="Consolas" panose="020B0609020204030204"/>
                <a:ea typeface="Consolas" panose="020B0609020204030204"/>
              </a:rPr>
              <a:t>: 0x%x\n",p1,*p1);</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    return0;</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a:t>
            </a:r>
          </a:p>
        </p:txBody>
      </p:sp>
      <p:sp>
        <p:nvSpPr>
          <p:cNvPr id="3" name="文本框 2"/>
          <p:cNvSpPr txBox="1"/>
          <p:nvPr/>
        </p:nvSpPr>
        <p:spPr>
          <a:xfrm>
            <a:off x="6323330" y="1364615"/>
            <a:ext cx="4869815" cy="2447290"/>
          </a:xfrm>
          <a:prstGeom prst="rect">
            <a:avLst/>
          </a:prstGeom>
          <a:solidFill>
            <a:schemeClr val="accent1">
              <a:lumMod val="40000"/>
              <a:lumOff val="60000"/>
            </a:schemeClr>
          </a:solidFill>
        </p:spPr>
        <p:txBody>
          <a:bodyPr>
            <a:noAutofit/>
          </a:bodyPr>
          <a:lstStyle/>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#include&lt;</a:t>
            </a:r>
            <a:r>
              <a:rPr lang="en-US" altLang="zh-CN" sz="1400" b="0" dirty="0" err="1">
                <a:solidFill>
                  <a:schemeClr val="tx1"/>
                </a:solidFill>
                <a:latin typeface="Consolas" panose="020B0609020204030204"/>
                <a:ea typeface="Consolas" panose="020B0609020204030204"/>
              </a:rPr>
              <a:t>stdio.h</a:t>
            </a:r>
            <a:r>
              <a:rPr lang="en-US" altLang="zh-CN" sz="1400" b="0" dirty="0">
                <a:solidFill>
                  <a:schemeClr val="tx1"/>
                </a:solidFill>
                <a:latin typeface="Consolas" panose="020B0609020204030204"/>
                <a:ea typeface="Consolas" panose="020B0609020204030204"/>
              </a:rPr>
              <a:t>&gt;   </a:t>
            </a:r>
            <a:r>
              <a:rPr lang="en-US" altLang="zh-CN" sz="1400" b="0" dirty="0">
                <a:solidFill>
                  <a:schemeClr val="bg1">
                    <a:lumMod val="50000"/>
                  </a:schemeClr>
                </a:solidFill>
                <a:latin typeface="Consolas" panose="020B0609020204030204"/>
                <a:ea typeface="Consolas" panose="020B0609020204030204"/>
              </a:rPr>
              <a:t>//demo2.c</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#include&lt;</a:t>
            </a:r>
            <a:r>
              <a:rPr lang="en-US" altLang="zh-CN" sz="1400" b="0" dirty="0" err="1">
                <a:solidFill>
                  <a:schemeClr val="tx1"/>
                </a:solidFill>
                <a:latin typeface="Consolas" panose="020B0609020204030204"/>
                <a:ea typeface="Consolas" panose="020B0609020204030204"/>
              </a:rPr>
              <a:t>stdlib.h</a:t>
            </a:r>
            <a:r>
              <a:rPr lang="en-US" altLang="zh-CN" sz="1400" b="0" dirty="0">
                <a:solidFill>
                  <a:schemeClr val="tx1"/>
                </a:solidFill>
                <a:latin typeface="Consolas" panose="020B0609020204030204"/>
                <a:ea typeface="Consolas" panose="020B0609020204030204"/>
              </a:rPr>
              <a:t>&gt;</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int</a:t>
            </a:r>
            <a:r>
              <a:rPr lang="zh-CN" altLang="en-US" sz="1400" b="0" dirty="0">
                <a:solidFill>
                  <a:schemeClr val="tx1"/>
                </a:solidFill>
                <a:latin typeface="Consolas" panose="020B0609020204030204"/>
                <a:ea typeface="Consolas" panose="020B0609020204030204"/>
              </a:rPr>
              <a:t> </a:t>
            </a:r>
            <a:r>
              <a:rPr lang="en-US" altLang="zh-CN" sz="1400" b="0" dirty="0">
                <a:solidFill>
                  <a:schemeClr val="tx1"/>
                </a:solidFill>
                <a:latin typeface="Consolas" panose="020B0609020204030204"/>
                <a:ea typeface="Consolas" panose="020B0609020204030204"/>
              </a:rPr>
              <a:t>main(</a:t>
            </a:r>
            <a:r>
              <a:rPr lang="en-US" altLang="zh-CN" sz="1400" b="0" dirty="0" err="1">
                <a:solidFill>
                  <a:schemeClr val="tx1"/>
                </a:solidFill>
                <a:latin typeface="Consolas" panose="020B0609020204030204"/>
                <a:ea typeface="Consolas" panose="020B0609020204030204"/>
              </a:rPr>
              <a:t>intargc</a:t>
            </a:r>
            <a:r>
              <a:rPr lang="en-US" altLang="zh-CN" sz="1400" b="0" dirty="0">
                <a:solidFill>
                  <a:schemeClr val="tx1"/>
                </a:solidFill>
                <a:latin typeface="Consolas" panose="020B0609020204030204"/>
                <a:ea typeface="Consolas" panose="020B0609020204030204"/>
              </a:rPr>
              <a:t>, char*</a:t>
            </a:r>
            <a:r>
              <a:rPr lang="zh-CN" altLang="en-US" sz="1400" b="0" dirty="0">
                <a:solidFill>
                  <a:schemeClr val="tx1"/>
                </a:solidFill>
                <a:latin typeface="Consolas" panose="020B0609020204030204"/>
                <a:ea typeface="Consolas" panose="020B0609020204030204"/>
              </a:rPr>
              <a:t> </a:t>
            </a:r>
            <a:r>
              <a:rPr lang="en-US" altLang="zh-CN" sz="1400" b="0" dirty="0" err="1">
                <a:solidFill>
                  <a:schemeClr val="tx1"/>
                </a:solidFill>
                <a:latin typeface="Consolas" panose="020B0609020204030204"/>
                <a:ea typeface="Consolas" panose="020B0609020204030204"/>
              </a:rPr>
              <a:t>argv</a:t>
            </a:r>
            <a:r>
              <a:rPr lang="en-US" altLang="zh-CN" sz="1400" b="0" dirty="0">
                <a:solidFill>
                  <a:schemeClr val="tx1"/>
                </a:solidFill>
                <a:latin typeface="Consolas" panose="020B0609020204030204"/>
                <a:ea typeface="Consolas" panose="020B0609020204030204"/>
              </a:rPr>
              <a:t>[]){</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    int d1=</a:t>
            </a:r>
            <a:r>
              <a:rPr lang="en-US" altLang="zh-CN" sz="1400" dirty="0">
                <a:latin typeface="Consolas" panose="020B0609020204030204"/>
                <a:ea typeface="Consolas" panose="020B0609020204030204"/>
                <a:sym typeface="+mn-ea"/>
              </a:rPr>
              <a:t>0x12345678;</a:t>
            </a:r>
            <a:endParaRPr lang="en-US" altLang="zh-CN" sz="1400" b="0" dirty="0">
              <a:solidFill>
                <a:schemeClr val="tx1"/>
              </a:solidFill>
              <a:latin typeface="Consolas" panose="020B0609020204030204"/>
              <a:ea typeface="Consolas" panose="020B0609020204030204"/>
            </a:endParaRP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    </a:t>
            </a:r>
            <a:r>
              <a:rPr lang="en-US" altLang="zh-CN" sz="1400" b="0" dirty="0">
                <a:solidFill>
                  <a:schemeClr val="tx1"/>
                </a:solidFill>
                <a:highlight>
                  <a:srgbClr val="FFFF00"/>
                </a:highlight>
                <a:latin typeface="Consolas" panose="020B0609020204030204"/>
                <a:ea typeface="Consolas" panose="020B0609020204030204"/>
              </a:rPr>
              <a:t>int *p1=&amp;d1;</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    </a:t>
            </a:r>
            <a:r>
              <a:rPr lang="en-US" altLang="zh-CN" sz="1400" b="0" dirty="0" err="1">
                <a:solidFill>
                  <a:schemeClr val="tx1"/>
                </a:solidFill>
                <a:latin typeface="Consolas" panose="020B0609020204030204"/>
                <a:ea typeface="Consolas" panose="020B0609020204030204"/>
              </a:rPr>
              <a:t>printf</a:t>
            </a:r>
            <a:r>
              <a:rPr lang="en-US" altLang="zh-CN" sz="1400" b="0" dirty="0">
                <a:solidFill>
                  <a:schemeClr val="tx1"/>
                </a:solidFill>
                <a:latin typeface="Consolas" panose="020B0609020204030204"/>
                <a:ea typeface="Consolas" panose="020B0609020204030204"/>
              </a:rPr>
              <a:t>("address: %p\</a:t>
            </a:r>
            <a:r>
              <a:rPr lang="en-US" altLang="zh-CN" sz="1400" b="0" dirty="0" err="1">
                <a:solidFill>
                  <a:schemeClr val="tx1"/>
                </a:solidFill>
                <a:latin typeface="Consolas" panose="020B0609020204030204"/>
                <a:ea typeface="Consolas" panose="020B0609020204030204"/>
              </a:rPr>
              <a:t>tdata</a:t>
            </a:r>
            <a:r>
              <a:rPr lang="en-US" altLang="zh-CN" sz="1400" b="0" dirty="0">
                <a:solidFill>
                  <a:schemeClr val="tx1"/>
                </a:solidFill>
                <a:latin typeface="Consolas" panose="020B0609020204030204"/>
                <a:ea typeface="Consolas" panose="020B0609020204030204"/>
              </a:rPr>
              <a:t>: 0x%x\n",p1,*p1);</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    return0;</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a:t>
            </a:r>
          </a:p>
        </p:txBody>
      </p:sp>
      <p:sp>
        <p:nvSpPr>
          <p:cNvPr id="10" name="文本框 9"/>
          <p:cNvSpPr txBox="1"/>
          <p:nvPr/>
        </p:nvSpPr>
        <p:spPr>
          <a:xfrm>
            <a:off x="882015" y="4153535"/>
            <a:ext cx="10372090" cy="1721485"/>
          </a:xfrm>
          <a:prstGeom prst="rect">
            <a:avLst/>
          </a:prstGeom>
          <a:noFill/>
        </p:spPr>
        <p:txBody>
          <a:bodyPr wrap="square" rtlCol="0">
            <a:noAutofit/>
          </a:bodyPr>
          <a:lstStyle/>
          <a:p>
            <a:r>
              <a:rPr lang="en-US" altLang="zh-CN" b="1"/>
              <a:t>Memory leak</a:t>
            </a:r>
            <a:r>
              <a:rPr lang="en-US" altLang="zh-CN"/>
              <a:t> refers to the waste of system memory </a:t>
            </a:r>
            <a:r>
              <a:rPr lang="en-US" altLang="zh-CN" b="1"/>
              <a:t>caused by dynamically allocated heap memory</a:t>
            </a:r>
            <a:r>
              <a:rPr lang="en-US" altLang="zh-CN"/>
              <a:t> in a program that is not released or cannot be released for some reason, resulting in </a:t>
            </a:r>
            <a:r>
              <a:rPr lang="en-US" altLang="zh-CN" b="1"/>
              <a:t>serious consequences such as slow program running speed or even system crashes</a:t>
            </a:r>
            <a:r>
              <a:rPr lang="en-US" altLang="zh-CN"/>
              <a:t>.</a:t>
            </a:r>
          </a:p>
          <a:p>
            <a:endParaRPr lang="en-US" altLang="zh-CN"/>
          </a:p>
          <a:p>
            <a:r>
              <a:rPr lang="en-US" altLang="zh-CN"/>
              <a:t>Q: Which piece(s) of code would lead to memory leak?  demo1.c, demo2.c or both ?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highlight>
                  <a:srgbClr val="000000">
                    <a:alpha val="0"/>
                  </a:srgbClr>
                </a:highlight>
                <a:sym typeface="+mn-ea"/>
              </a:rPr>
              <a:t>DON’TS : 3. free more or  free less</a:t>
            </a:r>
            <a:r>
              <a:rPr lang="en-US" altLang="zh-CN">
                <a:highlight>
                  <a:srgbClr val="000000">
                    <a:alpha val="0"/>
                  </a:srgbClr>
                </a:highlight>
                <a:sym typeface="+mn-ea"/>
              </a:rPr>
              <a:t> </a:t>
            </a:r>
          </a:p>
        </p:txBody>
      </p:sp>
      <p:sp>
        <p:nvSpPr>
          <p:cNvPr id="8" name="文本框 7"/>
          <p:cNvSpPr txBox="1"/>
          <p:nvPr/>
        </p:nvSpPr>
        <p:spPr>
          <a:xfrm>
            <a:off x="1085850" y="1002665"/>
            <a:ext cx="4869815" cy="3627120"/>
          </a:xfrm>
          <a:prstGeom prst="rect">
            <a:avLst/>
          </a:prstGeom>
          <a:solidFill>
            <a:schemeClr val="accent1">
              <a:lumMod val="40000"/>
              <a:lumOff val="60000"/>
            </a:schemeClr>
          </a:solidFill>
        </p:spPr>
        <p:txBody>
          <a:bodyPr>
            <a:noAutofit/>
          </a:bodyPr>
          <a:lstStyle/>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#include &lt;stdio.h&gt;  </a:t>
            </a:r>
            <a:r>
              <a:rPr lang="en-US" altLang="zh-CN" sz="1400" b="0">
                <a:solidFill>
                  <a:schemeClr val="bg1">
                    <a:lumMod val="50000"/>
                  </a:schemeClr>
                </a:solidFill>
                <a:latin typeface="Consolas" panose="020B0609020204030204"/>
                <a:ea typeface="Consolas" panose="020B0609020204030204"/>
              </a:rPr>
              <a:t>//free less</a:t>
            </a:r>
            <a:endParaRPr lang="en-US" altLang="zh-CN" sz="1400" b="0">
              <a:solidFill>
                <a:schemeClr val="tx1"/>
              </a:solidFill>
              <a:latin typeface="Consolas" panose="020B0609020204030204"/>
              <a:ea typeface="Consolas" panose="020B0609020204030204"/>
            </a:endParaRP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#include &lt;stdlib.h&gt;</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int main(int argc, char*argv[]){</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a:t>
            </a:r>
            <a:r>
              <a:rPr lang="en-US" altLang="zh-CN" sz="1400" b="0">
                <a:solidFill>
                  <a:schemeClr val="tx1"/>
                </a:solidFill>
                <a:highlight>
                  <a:srgbClr val="FFFF00"/>
                </a:highlight>
                <a:latin typeface="Consolas" panose="020B0609020204030204"/>
                <a:ea typeface="Consolas" panose="020B0609020204030204"/>
              </a:rPr>
              <a:t>int *p1 = malloc(sizeof(int)*1);</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a:t>
            </a:r>
            <a:r>
              <a:rPr lang="en-US" altLang="zh-CN" sz="1400" b="0">
                <a:solidFill>
                  <a:schemeClr val="tx1"/>
                </a:solidFill>
                <a:highlight>
                  <a:srgbClr val="FFFF00"/>
                </a:highlight>
                <a:latin typeface="Consolas" panose="020B0609020204030204"/>
                <a:ea typeface="Consolas" panose="020B0609020204030204"/>
              </a:rPr>
              <a:t>int *p2 = malloc(sizeof(int)*1);</a:t>
            </a:r>
            <a:endParaRPr lang="en-US" altLang="zh-CN" sz="1400" b="0">
              <a:solidFill>
                <a:schemeClr val="tx1"/>
              </a:solidFill>
              <a:latin typeface="Consolas" panose="020B0609020204030204"/>
              <a:ea typeface="Consolas" panose="020B0609020204030204"/>
            </a:endParaRP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*p1=0x12345678;</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*p2=*p1;</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printf("p1:%p\tdata:0x%x\n</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p2:%p\tdata:0x%x\n",p1,*p1,p2,*p2);</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a:t>
            </a:r>
            <a:r>
              <a:rPr lang="en-US" altLang="zh-CN" sz="1400" b="0">
                <a:solidFill>
                  <a:schemeClr val="tx1"/>
                </a:solidFill>
                <a:highlight>
                  <a:srgbClr val="FFFF00"/>
                </a:highlight>
                <a:latin typeface="Consolas" panose="020B0609020204030204"/>
                <a:ea typeface="Consolas" panose="020B0609020204030204"/>
              </a:rPr>
              <a:t>free(p1);</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return 0;</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a:t>
            </a:r>
          </a:p>
        </p:txBody>
      </p:sp>
      <p:sp>
        <p:nvSpPr>
          <p:cNvPr id="4" name="文本框 3"/>
          <p:cNvSpPr txBox="1"/>
          <p:nvPr/>
        </p:nvSpPr>
        <p:spPr>
          <a:xfrm>
            <a:off x="6384925" y="1002665"/>
            <a:ext cx="4869815" cy="3627120"/>
          </a:xfrm>
          <a:prstGeom prst="rect">
            <a:avLst/>
          </a:prstGeom>
          <a:solidFill>
            <a:schemeClr val="accent1">
              <a:lumMod val="40000"/>
              <a:lumOff val="60000"/>
            </a:schemeClr>
          </a:solidFill>
        </p:spPr>
        <p:txBody>
          <a:bodyPr>
            <a:noAutofit/>
          </a:bodyPr>
          <a:lstStyle/>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#include &lt;stdio.h&gt;    </a:t>
            </a:r>
            <a:r>
              <a:rPr lang="en-US" altLang="zh-CN" sz="1400">
                <a:solidFill>
                  <a:schemeClr val="bg1">
                    <a:lumMod val="50000"/>
                  </a:schemeClr>
                </a:solidFill>
                <a:latin typeface="Consolas" panose="020B0609020204030204"/>
                <a:ea typeface="Consolas" panose="020B0609020204030204"/>
                <a:sym typeface="+mn-ea"/>
              </a:rPr>
              <a:t>//free more</a:t>
            </a:r>
            <a:endParaRPr lang="en-US" altLang="zh-CN" sz="1400" b="0">
              <a:solidFill>
                <a:schemeClr val="tx1"/>
              </a:solidFill>
              <a:latin typeface="Consolas" panose="020B0609020204030204"/>
              <a:ea typeface="Consolas" panose="020B0609020204030204"/>
            </a:endParaRP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#include &lt;stdlib.h&gt;</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int main(int argc, char*argv[]){</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a:t>
            </a:r>
            <a:r>
              <a:rPr lang="en-US" altLang="zh-CN" sz="1400" b="0">
                <a:solidFill>
                  <a:schemeClr val="tx1"/>
                </a:solidFill>
                <a:highlight>
                  <a:srgbClr val="FFFF00"/>
                </a:highlight>
                <a:latin typeface="Consolas" panose="020B0609020204030204"/>
                <a:ea typeface="Consolas" panose="020B0609020204030204"/>
              </a:rPr>
              <a:t>int *p1 = malloc(sizeof(int)*1);</a:t>
            </a:r>
            <a:endParaRPr lang="en-US" altLang="zh-CN" sz="1400" b="0">
              <a:solidFill>
                <a:schemeClr val="tx1"/>
              </a:solidFill>
              <a:latin typeface="Consolas" panose="020B0609020204030204"/>
              <a:ea typeface="Consolas" panose="020B0609020204030204"/>
            </a:endParaRP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*p1=0x12345678;</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a:t>
            </a:r>
            <a:r>
              <a:rPr lang="en-US" altLang="zh-CN" sz="1400" b="0">
                <a:solidFill>
                  <a:schemeClr val="tx1"/>
                </a:solidFill>
                <a:highlight>
                  <a:srgbClr val="FFFF00"/>
                </a:highlight>
                <a:latin typeface="Consolas" panose="020B0609020204030204"/>
                <a:ea typeface="Consolas" panose="020B0609020204030204"/>
              </a:rPr>
              <a:t>int *p2 = p1;</a:t>
            </a:r>
            <a:endParaRPr lang="en-US" altLang="zh-CN" sz="1400" b="0">
              <a:solidFill>
                <a:schemeClr val="tx1"/>
              </a:solidFill>
              <a:latin typeface="Consolas" panose="020B0609020204030204"/>
              <a:ea typeface="Consolas" panose="020B0609020204030204"/>
            </a:endParaRP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printf("p1:%p\tdata:0x%x\n</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p2:%p\tdata:0x%x\n",p1,*p1,p2,*p2);</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a:t>
            </a:r>
            <a:r>
              <a:rPr lang="en-US" altLang="zh-CN" sz="1400" b="0">
                <a:solidFill>
                  <a:schemeClr val="tx1"/>
                </a:solidFill>
                <a:highlight>
                  <a:srgbClr val="FFFF00"/>
                </a:highlight>
                <a:latin typeface="Consolas" panose="020B0609020204030204"/>
                <a:ea typeface="Consolas" panose="020B0609020204030204"/>
              </a:rPr>
              <a:t>free(p1);</a:t>
            </a:r>
            <a:endParaRPr lang="en-US" altLang="zh-CN" sz="1400" b="0">
              <a:solidFill>
                <a:schemeClr val="tx1"/>
              </a:solidFill>
              <a:latin typeface="Consolas" panose="020B0609020204030204"/>
              <a:ea typeface="Consolas" panose="020B0609020204030204"/>
            </a:endParaRP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a:t>
            </a:r>
            <a:r>
              <a:rPr lang="en-US" altLang="zh-CN" sz="1400" b="0">
                <a:solidFill>
                  <a:schemeClr val="tx1"/>
                </a:solidFill>
                <a:highlight>
                  <a:srgbClr val="FFFF00"/>
                </a:highlight>
                <a:latin typeface="Consolas" panose="020B0609020204030204"/>
                <a:ea typeface="Consolas" panose="020B0609020204030204"/>
              </a:rPr>
              <a:t>free(p2);</a:t>
            </a:r>
            <a:endParaRPr lang="en-US" altLang="zh-CN" sz="1400" b="0">
              <a:solidFill>
                <a:schemeClr val="tx1"/>
              </a:solidFill>
              <a:latin typeface="Consolas" panose="020B0609020204030204"/>
              <a:ea typeface="Consolas" panose="020B0609020204030204"/>
            </a:endParaRP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return 0;</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a:t>
            </a:r>
          </a:p>
        </p:txBody>
      </p:sp>
      <p:pic>
        <p:nvPicPr>
          <p:cNvPr id="7" name="图片 6"/>
          <p:cNvPicPr>
            <a:picLocks noChangeAspect="1"/>
          </p:cNvPicPr>
          <p:nvPr/>
        </p:nvPicPr>
        <p:blipFill>
          <a:blip r:embed="rId2"/>
          <a:stretch>
            <a:fillRect/>
          </a:stretch>
        </p:blipFill>
        <p:spPr>
          <a:xfrm>
            <a:off x="190500" y="4752975"/>
            <a:ext cx="6515100" cy="628650"/>
          </a:xfrm>
          <a:prstGeom prst="rect">
            <a:avLst/>
          </a:prstGeom>
        </p:spPr>
      </p:pic>
      <p:pic>
        <p:nvPicPr>
          <p:cNvPr id="9" name="图片 8"/>
          <p:cNvPicPr>
            <a:picLocks noChangeAspect="1"/>
          </p:cNvPicPr>
          <p:nvPr/>
        </p:nvPicPr>
        <p:blipFill>
          <a:blip r:embed="rId3"/>
          <a:stretch>
            <a:fillRect/>
          </a:stretch>
        </p:blipFill>
        <p:spPr>
          <a:xfrm>
            <a:off x="5481320" y="5062220"/>
            <a:ext cx="6505575" cy="1000125"/>
          </a:xfrm>
          <a:prstGeom prst="rect">
            <a:avLst/>
          </a:prstGeom>
        </p:spPr>
      </p:pic>
      <p:sp>
        <p:nvSpPr>
          <p:cNvPr id="10" name="文本框 9"/>
          <p:cNvSpPr txBox="1"/>
          <p:nvPr/>
        </p:nvSpPr>
        <p:spPr>
          <a:xfrm>
            <a:off x="175895" y="5505450"/>
            <a:ext cx="5238750" cy="922020"/>
          </a:xfrm>
          <a:prstGeom prst="rect">
            <a:avLst/>
          </a:prstGeom>
          <a:noFill/>
        </p:spPr>
        <p:txBody>
          <a:bodyPr wrap="square" rtlCol="0">
            <a:spAutoFit/>
          </a:bodyPr>
          <a:lstStyle/>
          <a:p>
            <a:r>
              <a:rPr lang="en-US" altLang="zh-CN"/>
              <a:t>Q. Which piece of code would lead to memory leak, which piece of code would lead to  program abort with error?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sym typeface="+mn-ea"/>
              </a:rPr>
              <a:t>DON’TS : 4. free stack</a:t>
            </a:r>
            <a:r>
              <a:rPr lang="en-US" altLang="zh-CN">
                <a:sym typeface="+mn-ea"/>
              </a:rPr>
              <a:t> </a:t>
            </a:r>
          </a:p>
        </p:txBody>
      </p:sp>
      <p:sp>
        <p:nvSpPr>
          <p:cNvPr id="8" name="文本框 7"/>
          <p:cNvSpPr txBox="1"/>
          <p:nvPr/>
        </p:nvSpPr>
        <p:spPr>
          <a:xfrm>
            <a:off x="914400" y="1259840"/>
            <a:ext cx="4869815" cy="2980055"/>
          </a:xfrm>
          <a:prstGeom prst="rect">
            <a:avLst/>
          </a:prstGeom>
          <a:solidFill>
            <a:schemeClr val="accent1">
              <a:lumMod val="40000"/>
              <a:lumOff val="60000"/>
            </a:schemeClr>
          </a:solidFill>
        </p:spPr>
        <p:txBody>
          <a:bodyPr>
            <a:noAutofit/>
          </a:bodyPr>
          <a:lstStyle/>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#include &lt;stdio.h&gt;</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#include &lt;stdlib.h&gt;</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int main(int argc, char*argv[]){</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a:t>
            </a:r>
            <a:r>
              <a:rPr lang="en-US" altLang="zh-CN" sz="1400" b="0">
                <a:solidFill>
                  <a:schemeClr val="tx1"/>
                </a:solidFill>
                <a:highlight>
                  <a:srgbClr val="FFFF00"/>
                </a:highlight>
                <a:latin typeface="Consolas" panose="020B0609020204030204"/>
                <a:ea typeface="Consolas" panose="020B0609020204030204"/>
              </a:rPr>
              <a:t>int *p1=NULL;</a:t>
            </a:r>
            <a:endParaRPr lang="en-US" altLang="zh-CN" sz="1400" b="0">
              <a:solidFill>
                <a:schemeClr val="tx1"/>
              </a:solidFill>
              <a:latin typeface="Consolas" panose="020B0609020204030204"/>
              <a:ea typeface="Consolas" panose="020B0609020204030204"/>
            </a:endParaRP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a:t>
            </a:r>
            <a:r>
              <a:rPr lang="en-US" altLang="zh-CN" sz="1400" b="0">
                <a:solidFill>
                  <a:schemeClr val="tx1"/>
                </a:solidFill>
                <a:highlight>
                  <a:srgbClr val="FFFF00"/>
                </a:highlight>
                <a:latin typeface="Consolas" panose="020B0609020204030204"/>
                <a:ea typeface="Consolas" panose="020B0609020204030204"/>
              </a:rPr>
              <a:t>int d1=0x12345678;</a:t>
            </a:r>
            <a:endParaRPr lang="en-US" altLang="zh-CN" sz="1400" b="0">
              <a:solidFill>
                <a:schemeClr val="tx1"/>
              </a:solidFill>
              <a:latin typeface="Consolas" panose="020B0609020204030204"/>
              <a:ea typeface="Consolas" panose="020B0609020204030204"/>
            </a:endParaRP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a:t>
            </a:r>
            <a:r>
              <a:rPr lang="en-US" altLang="zh-CN" sz="1400" b="0">
                <a:solidFill>
                  <a:schemeClr val="tx1"/>
                </a:solidFill>
                <a:highlight>
                  <a:srgbClr val="FFFF00"/>
                </a:highlight>
                <a:latin typeface="Consolas" panose="020B0609020204030204"/>
                <a:ea typeface="Consolas" panose="020B0609020204030204"/>
              </a:rPr>
              <a:t>p1 = &amp;d1;</a:t>
            </a:r>
            <a:endParaRPr lang="en-US" altLang="zh-CN" sz="1400" b="0">
              <a:solidFill>
                <a:schemeClr val="tx1"/>
              </a:solidFill>
              <a:latin typeface="Consolas" panose="020B0609020204030204"/>
              <a:ea typeface="Consolas" panose="020B0609020204030204"/>
            </a:endParaRP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printf("address: %p\tdata: 0x%x\n",p1,*p1);</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a:t>
            </a:r>
            <a:r>
              <a:rPr lang="en-US" altLang="zh-CN" sz="1400" b="0">
                <a:solidFill>
                  <a:schemeClr val="tx1"/>
                </a:solidFill>
                <a:highlight>
                  <a:srgbClr val="FFFF00"/>
                </a:highlight>
                <a:latin typeface="Consolas" panose="020B0609020204030204"/>
                <a:ea typeface="Consolas" panose="020B0609020204030204"/>
              </a:rPr>
              <a:t>free(p1);</a:t>
            </a:r>
            <a:endParaRPr lang="en-US" altLang="zh-CN" sz="1400" b="0">
              <a:solidFill>
                <a:schemeClr val="tx1"/>
              </a:solidFill>
              <a:latin typeface="Consolas" panose="020B0609020204030204"/>
              <a:ea typeface="Consolas" panose="020B0609020204030204"/>
            </a:endParaRP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return 0;</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a:t>
            </a:r>
          </a:p>
        </p:txBody>
      </p:sp>
      <p:pic>
        <p:nvPicPr>
          <p:cNvPr id="3" name="图片 2"/>
          <p:cNvPicPr>
            <a:picLocks noChangeAspect="1"/>
          </p:cNvPicPr>
          <p:nvPr/>
        </p:nvPicPr>
        <p:blipFill>
          <a:blip r:embed="rId2"/>
          <a:stretch>
            <a:fillRect/>
          </a:stretch>
        </p:blipFill>
        <p:spPr>
          <a:xfrm>
            <a:off x="4329430" y="1933575"/>
            <a:ext cx="7404100" cy="876300"/>
          </a:xfrm>
          <a:prstGeom prst="rect">
            <a:avLst/>
          </a:prstGeom>
        </p:spPr>
      </p:pic>
      <p:sp>
        <p:nvSpPr>
          <p:cNvPr id="4" name="文本框 3"/>
          <p:cNvSpPr txBox="1"/>
          <p:nvPr/>
        </p:nvSpPr>
        <p:spPr>
          <a:xfrm>
            <a:off x="1823720" y="4591050"/>
            <a:ext cx="8929370" cy="1015365"/>
          </a:xfrm>
          <a:prstGeom prst="rect">
            <a:avLst/>
          </a:prstGeom>
          <a:noFill/>
        </p:spPr>
        <p:txBody>
          <a:bodyPr wrap="square" rtlCol="0">
            <a:noAutofit/>
          </a:bodyPr>
          <a:lstStyle/>
          <a:p>
            <a:r>
              <a:rPr lang="en-US"/>
              <a:t>Q1. What’s the value of p1 after finish the assignment “</a:t>
            </a:r>
            <a:r>
              <a:rPr lang="en-US" altLang="zh-CN">
                <a:highlight>
                  <a:srgbClr val="FFFF00"/>
                </a:highlight>
                <a:latin typeface="Consolas" panose="020B0609020204030204"/>
                <a:ea typeface="Consolas" panose="020B0609020204030204"/>
                <a:sym typeface="+mn-ea"/>
              </a:rPr>
              <a:t>p1 = &amp;d1;</a:t>
            </a:r>
            <a:r>
              <a:rPr lang="en-US"/>
              <a:t>”?</a:t>
            </a:r>
          </a:p>
          <a:p>
            <a:r>
              <a:rPr lang="en-US"/>
              <a:t>Q2. Is the address of P1 belongs to stack or heap?</a:t>
            </a:r>
          </a:p>
          <a:p>
            <a:r>
              <a:rPr lang="en-US"/>
              <a:t>Q3. While using free/del to release the space on stack, what would happen?</a:t>
            </a:r>
          </a:p>
        </p:txBody>
      </p:sp>
      <p:pic>
        <p:nvPicPr>
          <p:cNvPr id="5" name="图片 4"/>
          <p:cNvPicPr>
            <a:picLocks noChangeAspect="1"/>
          </p:cNvPicPr>
          <p:nvPr/>
        </p:nvPicPr>
        <p:blipFill>
          <a:blip r:embed="rId3"/>
          <a:stretch>
            <a:fillRect/>
          </a:stretch>
        </p:blipFill>
        <p:spPr>
          <a:xfrm>
            <a:off x="6652895" y="2896870"/>
            <a:ext cx="2219325" cy="13430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highlight>
                  <a:srgbClr val="000000">
                    <a:alpha val="0"/>
                  </a:srgbClr>
                </a:highlight>
                <a:sym typeface="+mn-ea"/>
              </a:rPr>
              <a:t>DON’TS : 5. dangling pointer</a:t>
            </a:r>
            <a:r>
              <a:rPr lang="en-US" altLang="zh-CN" dirty="0">
                <a:highlight>
                  <a:srgbClr val="000000">
                    <a:alpha val="0"/>
                  </a:srgbClr>
                </a:highlight>
                <a:sym typeface="+mn-ea"/>
              </a:rPr>
              <a:t> </a:t>
            </a:r>
          </a:p>
        </p:txBody>
      </p:sp>
      <p:sp>
        <p:nvSpPr>
          <p:cNvPr id="8" name="文本框 7"/>
          <p:cNvSpPr txBox="1"/>
          <p:nvPr/>
        </p:nvSpPr>
        <p:spPr>
          <a:xfrm>
            <a:off x="609600" y="1269365"/>
            <a:ext cx="4907915" cy="3493135"/>
          </a:xfrm>
          <a:prstGeom prst="rect">
            <a:avLst/>
          </a:prstGeom>
          <a:solidFill>
            <a:schemeClr val="accent1">
              <a:lumMod val="40000"/>
              <a:lumOff val="60000"/>
            </a:schemeClr>
          </a:solidFill>
        </p:spPr>
        <p:txBody>
          <a:bodyPr>
            <a:noAutofit/>
          </a:bodyPr>
          <a:lstStyle/>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#include &lt;stdio.h&gt;  </a:t>
            </a:r>
            <a:r>
              <a:rPr lang="en-US" altLang="zh-CN" sz="1400" b="0">
                <a:solidFill>
                  <a:schemeClr val="bg1">
                    <a:lumMod val="50000"/>
                  </a:schemeClr>
                </a:solidFill>
                <a:latin typeface="Consolas" panose="020B0609020204030204"/>
                <a:ea typeface="Consolas" panose="020B0609020204030204"/>
              </a:rPr>
              <a:t>//dangling_pointer</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#include &lt;stdlib.h&gt;</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int main(int argc, char*argv[]){</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a:t>
            </a:r>
            <a:r>
              <a:rPr lang="en-US" altLang="zh-CN" sz="1400" b="0">
                <a:solidFill>
                  <a:schemeClr val="tx1"/>
                </a:solidFill>
                <a:highlight>
                  <a:srgbClr val="FFFF00"/>
                </a:highlight>
                <a:latin typeface="Consolas" panose="020B0609020204030204"/>
                <a:ea typeface="Consolas" panose="020B0609020204030204"/>
              </a:rPr>
              <a:t>int *p1 = (int*) malloc(sizeof(int)*1);</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*p1 = 0x12345678;</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printf("address: %p\tdata: 0x%x\n",p1,*p1);</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a:t>
            </a:r>
            <a:r>
              <a:rPr lang="en-US" altLang="zh-CN" sz="1400" b="0">
                <a:solidFill>
                  <a:schemeClr val="tx1"/>
                </a:solidFill>
                <a:highlight>
                  <a:srgbClr val="FFFF00"/>
                </a:highlight>
                <a:latin typeface="Consolas" panose="020B0609020204030204"/>
                <a:ea typeface="Consolas" panose="020B0609020204030204"/>
              </a:rPr>
              <a:t> free(p1);</a:t>
            </a:r>
            <a:endParaRPr lang="en-US" altLang="zh-CN" sz="1400" b="0">
              <a:solidFill>
                <a:schemeClr val="tx1"/>
              </a:solidFill>
              <a:latin typeface="Consolas" panose="020B0609020204030204"/>
              <a:ea typeface="Consolas" panose="020B0609020204030204"/>
            </a:endParaRP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a:t>
            </a:r>
            <a:r>
              <a:rPr lang="en-US" altLang="zh-CN" sz="1400" b="0">
                <a:solidFill>
                  <a:schemeClr val="tx1"/>
                </a:solidFill>
                <a:highlight>
                  <a:srgbClr val="FFFF00"/>
                </a:highlight>
                <a:latin typeface="Consolas" panose="020B0609020204030204"/>
                <a:ea typeface="Consolas" panose="020B0609020204030204"/>
              </a:rPr>
              <a:t> *p1 = 0x78563421;</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printf("address: %p\tdata: 0x%x\n",p1,*p1);</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return 0;</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a:t>
            </a:r>
          </a:p>
        </p:txBody>
      </p:sp>
      <p:pic>
        <p:nvPicPr>
          <p:cNvPr id="4" name="图片 3"/>
          <p:cNvPicPr>
            <a:picLocks noChangeAspect="1"/>
          </p:cNvPicPr>
          <p:nvPr/>
        </p:nvPicPr>
        <p:blipFill>
          <a:blip r:embed="rId2"/>
          <a:stretch>
            <a:fillRect/>
          </a:stretch>
        </p:blipFill>
        <p:spPr>
          <a:xfrm>
            <a:off x="285750" y="4986020"/>
            <a:ext cx="7658100" cy="809625"/>
          </a:xfrm>
          <a:prstGeom prst="rect">
            <a:avLst/>
          </a:prstGeom>
        </p:spPr>
      </p:pic>
      <p:sp>
        <p:nvSpPr>
          <p:cNvPr id="5" name="文本框 4"/>
          <p:cNvSpPr txBox="1"/>
          <p:nvPr/>
        </p:nvSpPr>
        <p:spPr>
          <a:xfrm>
            <a:off x="5965825" y="1269365"/>
            <a:ext cx="4907915" cy="3493135"/>
          </a:xfrm>
          <a:prstGeom prst="rect">
            <a:avLst/>
          </a:prstGeom>
          <a:solidFill>
            <a:schemeClr val="accent1">
              <a:lumMod val="40000"/>
              <a:lumOff val="60000"/>
            </a:schemeClr>
          </a:solidFill>
        </p:spPr>
        <p:txBody>
          <a:bodyPr>
            <a:noAutofit/>
          </a:bodyPr>
          <a:lstStyle/>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#include &lt;stdio.h&gt;  </a:t>
            </a:r>
            <a:r>
              <a:rPr lang="en-US" altLang="zh-CN" sz="1400" b="0">
                <a:solidFill>
                  <a:schemeClr val="bg1">
                    <a:lumMod val="50000"/>
                  </a:schemeClr>
                </a:solidFill>
                <a:latin typeface="Consolas" panose="020B0609020204030204"/>
                <a:ea typeface="Consolas" panose="020B0609020204030204"/>
              </a:rPr>
              <a:t>//dangling_pointer</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#include &lt;stdlib.h&gt;</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int main(int argc, char*argv[]){</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a:t>
            </a:r>
            <a:r>
              <a:rPr lang="en-US" altLang="zh-CN" sz="1400" b="0">
                <a:solidFill>
                  <a:schemeClr val="tx1"/>
                </a:solidFill>
                <a:highlight>
                  <a:srgbClr val="FFFF00"/>
                </a:highlight>
                <a:latin typeface="Consolas" panose="020B0609020204030204"/>
                <a:ea typeface="Consolas" panose="020B0609020204030204"/>
              </a:rPr>
              <a:t>int *p1 = (int*) malloc(sizeof(int)*1);</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*p1 = 0x12345678;</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printf("address: %p\tdata: 0x%x\n",p1,*p1);</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a:t>
            </a:r>
            <a:r>
              <a:rPr lang="en-US" altLang="zh-CN" sz="1400" b="0">
                <a:solidFill>
                  <a:schemeClr val="tx1"/>
                </a:solidFill>
                <a:highlight>
                  <a:srgbClr val="FFFF00"/>
                </a:highlight>
                <a:latin typeface="Consolas" panose="020B0609020204030204"/>
                <a:ea typeface="Consolas" panose="020B0609020204030204"/>
              </a:rPr>
              <a:t>free(p1);</a:t>
            </a:r>
            <a:endParaRPr lang="en-US" altLang="zh-CN" sz="1400" b="0">
              <a:solidFill>
                <a:schemeClr val="tx1"/>
              </a:solidFill>
              <a:latin typeface="Consolas" panose="020B0609020204030204"/>
              <a:ea typeface="Consolas" panose="020B0609020204030204"/>
            </a:endParaRP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a:t>
            </a:r>
            <a:r>
              <a:rPr lang="en-US" altLang="zh-CN" sz="1400" b="0">
                <a:solidFill>
                  <a:schemeClr val="tx1"/>
                </a:solidFill>
                <a:highlight>
                  <a:srgbClr val="FFFF00"/>
                </a:highlight>
                <a:latin typeface="Consolas" panose="020B0609020204030204"/>
                <a:ea typeface="Consolas" panose="020B0609020204030204"/>
              </a:rPr>
              <a:t>p1=NULL;</a:t>
            </a:r>
            <a:endParaRPr lang="en-US" altLang="zh-CN" sz="1400" b="0">
              <a:solidFill>
                <a:schemeClr val="tx1"/>
              </a:solidFill>
              <a:latin typeface="Consolas" panose="020B0609020204030204"/>
              <a:ea typeface="Consolas" panose="020B0609020204030204"/>
            </a:endParaRP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a:t>
            </a:r>
            <a:r>
              <a:rPr lang="en-US" altLang="zh-CN" sz="1400" b="0">
                <a:solidFill>
                  <a:schemeClr val="tx1"/>
                </a:solidFill>
                <a:highlight>
                  <a:srgbClr val="FFFF00"/>
                </a:highlight>
                <a:latin typeface="Consolas" panose="020B0609020204030204"/>
                <a:ea typeface="Consolas" panose="020B0609020204030204"/>
              </a:rPr>
              <a:t>*p1 = 0x78563421;</a:t>
            </a:r>
            <a:endParaRPr lang="en-US" altLang="zh-CN" sz="1400" b="0">
              <a:solidFill>
                <a:schemeClr val="tx1"/>
              </a:solidFill>
              <a:latin typeface="Consolas" panose="020B0609020204030204"/>
              <a:ea typeface="Consolas" panose="020B0609020204030204"/>
            </a:endParaRP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printf("address: %p\tdata: 0x%x\n",p1,*p1);</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    return 0;</a:t>
            </a:r>
          </a:p>
          <a:p>
            <a:pPr indent="0" fontAlgn="auto">
              <a:lnSpc>
                <a:spcPct val="100000"/>
              </a:lnSpc>
              <a:spcBef>
                <a:spcPts val="600"/>
              </a:spcBef>
            </a:pPr>
            <a:r>
              <a:rPr lang="en-US" altLang="zh-CN" sz="1400" b="0">
                <a:solidFill>
                  <a:schemeClr val="tx1"/>
                </a:solidFill>
                <a:latin typeface="Consolas" panose="020B0609020204030204"/>
                <a:ea typeface="Consolas" panose="020B0609020204030204"/>
              </a:rPr>
              <a:t>}</a:t>
            </a:r>
          </a:p>
        </p:txBody>
      </p:sp>
      <p:pic>
        <p:nvPicPr>
          <p:cNvPr id="6" name="图片 5"/>
          <p:cNvPicPr>
            <a:picLocks noChangeAspect="1"/>
          </p:cNvPicPr>
          <p:nvPr/>
        </p:nvPicPr>
        <p:blipFill>
          <a:blip r:embed="rId3"/>
          <a:stretch>
            <a:fillRect/>
          </a:stretch>
        </p:blipFill>
        <p:spPr>
          <a:xfrm>
            <a:off x="4152900" y="5567045"/>
            <a:ext cx="7696200" cy="809625"/>
          </a:xfrm>
          <a:prstGeom prst="rect">
            <a:avLst/>
          </a:prstGeom>
        </p:spPr>
      </p:pic>
      <p:sp>
        <p:nvSpPr>
          <p:cNvPr id="7" name="文本框 6"/>
          <p:cNvSpPr txBox="1"/>
          <p:nvPr/>
        </p:nvSpPr>
        <p:spPr>
          <a:xfrm>
            <a:off x="609600" y="5947410"/>
            <a:ext cx="3385820" cy="534035"/>
          </a:xfrm>
          <a:prstGeom prst="rect">
            <a:avLst/>
          </a:prstGeom>
          <a:noFill/>
        </p:spPr>
        <p:txBody>
          <a:bodyPr wrap="square" rtlCol="0">
            <a:noAutofit/>
          </a:bodyPr>
          <a:lstStyle/>
          <a:p>
            <a:r>
              <a:rPr lang="en-US" altLang="zh-CN" sz="2000" b="1"/>
              <a:t>Seems Ok But Dangerous!!</a:t>
            </a:r>
          </a:p>
        </p:txBody>
      </p:sp>
      <p:cxnSp>
        <p:nvCxnSpPr>
          <p:cNvPr id="9" name="曲线连接符 8"/>
          <p:cNvCxnSpPr/>
          <p:nvPr/>
        </p:nvCxnSpPr>
        <p:spPr>
          <a:xfrm rot="16200000">
            <a:off x="2252345" y="5877560"/>
            <a:ext cx="294640" cy="9525"/>
          </a:xfrm>
          <a:prstGeom prst="curvedConnector3">
            <a:avLst>
              <a:gd name="adj1" fmla="val 49892"/>
            </a:avLst>
          </a:prstGeom>
          <a:ln w="31750" cap="rnd">
            <a:solidFill>
              <a:schemeClr val="accent2"/>
            </a:solidFill>
            <a:round/>
            <a:tailEnd type="arrow" w="med" len="med"/>
          </a:ln>
        </p:spPr>
        <p:style>
          <a:lnRef idx="0">
            <a:srgbClr val="FFFFFF"/>
          </a:lnRef>
          <a:fillRef idx="0">
            <a:srgbClr val="FFFFFF"/>
          </a:fillRef>
          <a:effectRef idx="0">
            <a:srgbClr val="FFFFFF"/>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sym typeface="+mn-ea"/>
              </a:rPr>
              <a:t>Tools</a:t>
            </a:r>
            <a:r>
              <a:rPr lang="zh-CN" altLang="en-US">
                <a:sym typeface="+mn-ea"/>
              </a:rPr>
              <a:t>：</a:t>
            </a:r>
            <a:r>
              <a:rPr lang="en-US" altLang="zh-CN">
                <a:sym typeface="+mn-ea"/>
              </a:rPr>
              <a:t> valgrind(1) </a:t>
            </a:r>
          </a:p>
        </p:txBody>
      </p:sp>
      <p:sp>
        <p:nvSpPr>
          <p:cNvPr id="8" name="文本框 7"/>
          <p:cNvSpPr txBox="1"/>
          <p:nvPr/>
        </p:nvSpPr>
        <p:spPr>
          <a:xfrm>
            <a:off x="0" y="1164590"/>
            <a:ext cx="4869815" cy="2447290"/>
          </a:xfrm>
          <a:prstGeom prst="rect">
            <a:avLst/>
          </a:prstGeom>
          <a:solidFill>
            <a:schemeClr val="accent1">
              <a:lumMod val="40000"/>
              <a:lumOff val="60000"/>
            </a:schemeClr>
          </a:solidFill>
        </p:spPr>
        <p:txBody>
          <a:bodyPr>
            <a:noAutofit/>
          </a:bodyPr>
          <a:lstStyle/>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#include&lt;</a:t>
            </a:r>
            <a:r>
              <a:rPr lang="en-US" altLang="zh-CN" sz="1400" b="0" dirty="0" err="1">
                <a:solidFill>
                  <a:schemeClr val="tx1"/>
                </a:solidFill>
                <a:latin typeface="Consolas" panose="020B0609020204030204"/>
                <a:ea typeface="Consolas" panose="020B0609020204030204"/>
              </a:rPr>
              <a:t>stdio.h</a:t>
            </a:r>
            <a:r>
              <a:rPr lang="en-US" altLang="zh-CN" sz="1400" b="0" dirty="0">
                <a:solidFill>
                  <a:schemeClr val="tx1"/>
                </a:solidFill>
                <a:latin typeface="Consolas" panose="020B0609020204030204"/>
                <a:ea typeface="Consolas" panose="020B0609020204030204"/>
              </a:rPr>
              <a:t>&gt;   </a:t>
            </a:r>
            <a:r>
              <a:rPr lang="en-US" altLang="zh-CN" sz="1400" b="0" dirty="0">
                <a:solidFill>
                  <a:schemeClr val="bg1">
                    <a:lumMod val="50000"/>
                  </a:schemeClr>
                </a:solidFill>
                <a:latin typeface="Consolas" panose="020B0609020204030204"/>
                <a:ea typeface="Consolas" panose="020B0609020204030204"/>
              </a:rPr>
              <a:t>//</a:t>
            </a:r>
            <a:r>
              <a:rPr lang="en-US" altLang="zh-CN" sz="1400" b="0" dirty="0" err="1">
                <a:solidFill>
                  <a:schemeClr val="bg1">
                    <a:lumMod val="50000"/>
                  </a:schemeClr>
                </a:solidFill>
                <a:latin typeface="Consolas" panose="020B0609020204030204"/>
                <a:ea typeface="Consolas" panose="020B0609020204030204"/>
              </a:rPr>
              <a:t>memory_leak.c</a:t>
            </a:r>
            <a:endParaRPr lang="en-US" altLang="zh-CN" sz="1400" b="0" dirty="0">
              <a:solidFill>
                <a:schemeClr val="bg1">
                  <a:lumMod val="50000"/>
                </a:schemeClr>
              </a:solidFill>
              <a:latin typeface="Consolas" panose="020B0609020204030204"/>
              <a:ea typeface="Consolas" panose="020B0609020204030204"/>
            </a:endParaRP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#include&lt;</a:t>
            </a:r>
            <a:r>
              <a:rPr lang="en-US" altLang="zh-CN" sz="1400" b="0" dirty="0" err="1">
                <a:solidFill>
                  <a:schemeClr val="tx1"/>
                </a:solidFill>
                <a:latin typeface="Consolas" panose="020B0609020204030204"/>
                <a:ea typeface="Consolas" panose="020B0609020204030204"/>
              </a:rPr>
              <a:t>stdlib.h</a:t>
            </a:r>
            <a:r>
              <a:rPr lang="en-US" altLang="zh-CN" sz="1400" b="0" dirty="0">
                <a:solidFill>
                  <a:schemeClr val="tx1"/>
                </a:solidFill>
                <a:latin typeface="Consolas" panose="020B0609020204030204"/>
                <a:ea typeface="Consolas" panose="020B0609020204030204"/>
              </a:rPr>
              <a:t>&gt;</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int</a:t>
            </a:r>
            <a:r>
              <a:rPr lang="zh-CN" altLang="en-US" sz="1400" b="0" dirty="0">
                <a:solidFill>
                  <a:schemeClr val="tx1"/>
                </a:solidFill>
                <a:latin typeface="Consolas" panose="020B0609020204030204"/>
                <a:ea typeface="Consolas" panose="020B0609020204030204"/>
              </a:rPr>
              <a:t> </a:t>
            </a:r>
            <a:r>
              <a:rPr lang="en-US" altLang="zh-CN" sz="1400" b="0" dirty="0">
                <a:solidFill>
                  <a:schemeClr val="tx1"/>
                </a:solidFill>
                <a:latin typeface="Consolas" panose="020B0609020204030204"/>
                <a:ea typeface="Consolas" panose="020B0609020204030204"/>
              </a:rPr>
              <a:t>main(int</a:t>
            </a:r>
            <a:r>
              <a:rPr lang="zh-CN" altLang="en-US" sz="1400" b="0" dirty="0">
                <a:solidFill>
                  <a:schemeClr val="tx1"/>
                </a:solidFill>
                <a:latin typeface="Consolas" panose="020B0609020204030204"/>
                <a:ea typeface="Consolas" panose="020B0609020204030204"/>
              </a:rPr>
              <a:t> </a:t>
            </a:r>
            <a:r>
              <a:rPr lang="en-US" altLang="zh-CN" sz="1400" b="0" dirty="0" err="1">
                <a:solidFill>
                  <a:schemeClr val="tx1"/>
                </a:solidFill>
                <a:latin typeface="Consolas" panose="020B0609020204030204"/>
                <a:ea typeface="Consolas" panose="020B0609020204030204"/>
              </a:rPr>
              <a:t>argc</a:t>
            </a:r>
            <a:r>
              <a:rPr lang="en-US" altLang="zh-CN" sz="1400" b="0" dirty="0">
                <a:solidFill>
                  <a:schemeClr val="tx1"/>
                </a:solidFill>
                <a:latin typeface="Consolas" panose="020B0609020204030204"/>
                <a:ea typeface="Consolas" panose="020B0609020204030204"/>
              </a:rPr>
              <a:t>, char*</a:t>
            </a:r>
            <a:r>
              <a:rPr lang="en-US" altLang="zh-CN" sz="1400" b="0" dirty="0" err="1">
                <a:solidFill>
                  <a:schemeClr val="tx1"/>
                </a:solidFill>
                <a:latin typeface="Consolas" panose="020B0609020204030204"/>
                <a:ea typeface="Consolas" panose="020B0609020204030204"/>
              </a:rPr>
              <a:t>argv</a:t>
            </a:r>
            <a:r>
              <a:rPr lang="en-US" altLang="zh-CN" sz="1400" b="0" dirty="0">
                <a:solidFill>
                  <a:schemeClr val="tx1"/>
                </a:solidFill>
                <a:latin typeface="Consolas" panose="020B0609020204030204"/>
                <a:ea typeface="Consolas" panose="020B0609020204030204"/>
              </a:rPr>
              <a:t>[]){</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    </a:t>
            </a:r>
            <a:r>
              <a:rPr lang="en-US" altLang="zh-CN" sz="1400" b="0" dirty="0">
                <a:solidFill>
                  <a:schemeClr val="tx1"/>
                </a:solidFill>
                <a:highlight>
                  <a:srgbClr val="FFFF00"/>
                </a:highlight>
                <a:latin typeface="Consolas" panose="020B0609020204030204"/>
                <a:ea typeface="Consolas" panose="020B0609020204030204"/>
              </a:rPr>
              <a:t>int *p1=(int*)malloc(</a:t>
            </a:r>
            <a:r>
              <a:rPr lang="en-US" altLang="zh-CN" sz="1400" b="0" dirty="0" err="1">
                <a:solidFill>
                  <a:schemeClr val="tx1"/>
                </a:solidFill>
                <a:highlight>
                  <a:srgbClr val="FFFF00"/>
                </a:highlight>
                <a:latin typeface="Consolas" panose="020B0609020204030204"/>
                <a:ea typeface="Consolas" panose="020B0609020204030204"/>
              </a:rPr>
              <a:t>sizeof</a:t>
            </a:r>
            <a:r>
              <a:rPr lang="en-US" altLang="zh-CN" sz="1400" b="0" dirty="0">
                <a:solidFill>
                  <a:schemeClr val="tx1"/>
                </a:solidFill>
                <a:highlight>
                  <a:srgbClr val="FFFF00"/>
                </a:highlight>
                <a:latin typeface="Consolas" panose="020B0609020204030204"/>
                <a:ea typeface="Consolas" panose="020B0609020204030204"/>
              </a:rPr>
              <a:t>(int));</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    *p1=0x12345678;</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    </a:t>
            </a:r>
            <a:r>
              <a:rPr lang="en-US" altLang="zh-CN" sz="1400" b="0" dirty="0" err="1">
                <a:solidFill>
                  <a:schemeClr val="tx1"/>
                </a:solidFill>
                <a:latin typeface="Consolas" panose="020B0609020204030204"/>
                <a:ea typeface="Consolas" panose="020B0609020204030204"/>
              </a:rPr>
              <a:t>printf</a:t>
            </a:r>
            <a:r>
              <a:rPr lang="en-US" altLang="zh-CN" sz="1400" b="0" dirty="0">
                <a:solidFill>
                  <a:schemeClr val="tx1"/>
                </a:solidFill>
                <a:latin typeface="Consolas" panose="020B0609020204030204"/>
                <a:ea typeface="Consolas" panose="020B0609020204030204"/>
              </a:rPr>
              <a:t>("address: %p\</a:t>
            </a:r>
            <a:r>
              <a:rPr lang="en-US" altLang="zh-CN" sz="1400" b="0" dirty="0" err="1">
                <a:solidFill>
                  <a:schemeClr val="tx1"/>
                </a:solidFill>
                <a:latin typeface="Consolas" panose="020B0609020204030204"/>
                <a:ea typeface="Consolas" panose="020B0609020204030204"/>
              </a:rPr>
              <a:t>tdata</a:t>
            </a:r>
            <a:r>
              <a:rPr lang="en-US" altLang="zh-CN" sz="1400" b="0" dirty="0">
                <a:solidFill>
                  <a:schemeClr val="tx1"/>
                </a:solidFill>
                <a:latin typeface="Consolas" panose="020B0609020204030204"/>
                <a:ea typeface="Consolas" panose="020B0609020204030204"/>
              </a:rPr>
              <a:t>: 0x%x\n",p1,*p1);</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    return0;</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a:t>
            </a:r>
          </a:p>
        </p:txBody>
      </p:sp>
      <p:pic>
        <p:nvPicPr>
          <p:cNvPr id="7" name="图片 6"/>
          <p:cNvPicPr>
            <a:picLocks noChangeAspect="1"/>
          </p:cNvPicPr>
          <p:nvPr/>
        </p:nvPicPr>
        <p:blipFill>
          <a:blip r:embed="rId2"/>
          <a:stretch>
            <a:fillRect/>
          </a:stretch>
        </p:blipFill>
        <p:spPr>
          <a:xfrm>
            <a:off x="4737735" y="1945640"/>
            <a:ext cx="7421880" cy="4157980"/>
          </a:xfrm>
          <a:prstGeom prst="rect">
            <a:avLst/>
          </a:prstGeom>
        </p:spPr>
      </p:pic>
      <p:sp>
        <p:nvSpPr>
          <p:cNvPr id="3" name="文本框 2"/>
          <p:cNvSpPr txBox="1"/>
          <p:nvPr/>
        </p:nvSpPr>
        <p:spPr>
          <a:xfrm>
            <a:off x="238125" y="3876040"/>
            <a:ext cx="4381500" cy="1772920"/>
          </a:xfrm>
          <a:prstGeom prst="rect">
            <a:avLst/>
          </a:prstGeom>
          <a:noFill/>
        </p:spPr>
        <p:txBody>
          <a:bodyPr wrap="square" rtlCol="0" anchor="t">
            <a:noAutofit/>
          </a:bodyPr>
          <a:lstStyle/>
          <a:p>
            <a:r>
              <a:rPr lang="en-US" altLang="zh-CN" sz="1400" b="1" dirty="0" err="1"/>
              <a:t>Valgrind</a:t>
            </a:r>
            <a:r>
              <a:rPr lang="en-US" altLang="zh-CN" sz="1400" b="1" dirty="0"/>
              <a:t> </a:t>
            </a:r>
            <a:r>
              <a:rPr lang="en-US" altLang="zh-CN" sz="1400" dirty="0"/>
              <a:t>is an instrumentation framework for building dynamic analysis tools. There are </a:t>
            </a:r>
            <a:r>
              <a:rPr lang="en-US" altLang="zh-CN" sz="1400" dirty="0" err="1"/>
              <a:t>Valgrind</a:t>
            </a:r>
            <a:r>
              <a:rPr lang="en-US" altLang="zh-CN" sz="1400" dirty="0"/>
              <a:t> tools that can </a:t>
            </a:r>
            <a:r>
              <a:rPr lang="en-US" altLang="zh-CN" sz="1400" b="1" dirty="0"/>
              <a:t>automatically detect many memory management and threading bugs, and profile your programs in detail.</a:t>
            </a:r>
            <a:r>
              <a:rPr lang="en-US" altLang="zh-CN" sz="1400" dirty="0"/>
              <a:t> You can also use </a:t>
            </a:r>
            <a:r>
              <a:rPr lang="en-US" altLang="zh-CN" sz="1400" dirty="0" err="1"/>
              <a:t>Valgrind</a:t>
            </a:r>
            <a:r>
              <a:rPr lang="en-US" altLang="zh-CN" sz="1400" dirty="0"/>
              <a:t> to build new tools.</a:t>
            </a:r>
          </a:p>
          <a:p>
            <a:endParaRPr lang="en-US" altLang="zh-CN" sz="1400" dirty="0"/>
          </a:p>
          <a:p>
            <a:r>
              <a:rPr lang="en-US" altLang="zh-CN" sz="1400" dirty="0"/>
              <a:t>https://</a:t>
            </a:r>
            <a:r>
              <a:rPr lang="en-US" altLang="zh-CN" sz="1400" dirty="0" err="1"/>
              <a:t>valgrind.org</a:t>
            </a:r>
            <a:r>
              <a:rPr lang="en-US" altLang="zh-CN" sz="1400" dirty="0"/>
              <a:t>/</a:t>
            </a:r>
            <a:endParaRPr lang="zh-CN" altLang="en-US" sz="1400" dirty="0"/>
          </a:p>
        </p:txBody>
      </p:sp>
      <p:sp>
        <p:nvSpPr>
          <p:cNvPr id="6" name="矩形 5"/>
          <p:cNvSpPr/>
          <p:nvPr/>
        </p:nvSpPr>
        <p:spPr>
          <a:xfrm>
            <a:off x="9596755" y="1866900"/>
            <a:ext cx="190500" cy="26670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文本框 9"/>
          <p:cNvSpPr txBox="1"/>
          <p:nvPr/>
        </p:nvSpPr>
        <p:spPr>
          <a:xfrm>
            <a:off x="4968240" y="942975"/>
            <a:ext cx="7191375" cy="302895"/>
          </a:xfrm>
          <a:prstGeom prst="rect">
            <a:avLst/>
          </a:prstGeom>
          <a:noFill/>
        </p:spPr>
        <p:txBody>
          <a:bodyPr wrap="square" rtlCol="0">
            <a:noAutofit/>
          </a:bodyPr>
          <a:lstStyle/>
          <a:p>
            <a:r>
              <a:rPr lang="en-US" altLang="zh-CN"/>
              <a:t>step1. using “-g” option along with gcc/g++ to generate the executable file.</a:t>
            </a:r>
          </a:p>
          <a:p>
            <a:r>
              <a:rPr lang="en-US" altLang="zh-CN"/>
              <a:t>step2. invoke valgrind with “--leak-check=full” as option, the executable file as parameter to check the memory leak on the executable file.</a:t>
            </a:r>
          </a:p>
        </p:txBody>
      </p:sp>
      <p:sp>
        <p:nvSpPr>
          <p:cNvPr id="11" name="矩形 10"/>
          <p:cNvSpPr/>
          <p:nvPr/>
        </p:nvSpPr>
        <p:spPr>
          <a:xfrm>
            <a:off x="9285605" y="2133600"/>
            <a:ext cx="2533650" cy="16510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矩形 11"/>
          <p:cNvSpPr/>
          <p:nvPr/>
        </p:nvSpPr>
        <p:spPr>
          <a:xfrm>
            <a:off x="4737735" y="3060700"/>
            <a:ext cx="3485515" cy="222250"/>
          </a:xfrm>
          <a:prstGeom prst="rect">
            <a:avLst/>
          </a:prstGeom>
          <a:noFill/>
          <a:ln>
            <a:solidFill>
              <a:srgbClr val="FFC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矩形 12"/>
          <p:cNvSpPr/>
          <p:nvPr/>
        </p:nvSpPr>
        <p:spPr>
          <a:xfrm>
            <a:off x="5350510" y="3997325"/>
            <a:ext cx="6809740" cy="59309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矩形 13"/>
          <p:cNvSpPr/>
          <p:nvPr/>
        </p:nvSpPr>
        <p:spPr>
          <a:xfrm>
            <a:off x="5350510" y="4651375"/>
            <a:ext cx="3485515" cy="106045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文本框 14"/>
          <p:cNvSpPr txBox="1"/>
          <p:nvPr/>
        </p:nvSpPr>
        <p:spPr>
          <a:xfrm>
            <a:off x="9009380" y="2828925"/>
            <a:ext cx="2952750" cy="374015"/>
          </a:xfrm>
          <a:prstGeom prst="rect">
            <a:avLst/>
          </a:prstGeom>
          <a:noFill/>
        </p:spPr>
        <p:txBody>
          <a:bodyPr wrap="square" rtlCol="0">
            <a:noAutofit/>
          </a:bodyPr>
          <a:lstStyle/>
          <a:p>
            <a:r>
              <a:rPr lang="en-US" altLang="zh-CN" sz="1400">
                <a:solidFill>
                  <a:srgbClr val="FFFF00"/>
                </a:solidFill>
              </a:rPr>
              <a:t>program running results</a:t>
            </a:r>
          </a:p>
        </p:txBody>
      </p:sp>
      <p:cxnSp>
        <p:nvCxnSpPr>
          <p:cNvPr id="16" name="曲线连接符 15"/>
          <p:cNvCxnSpPr/>
          <p:nvPr/>
        </p:nvCxnSpPr>
        <p:spPr>
          <a:xfrm rot="10800000" flipV="1">
            <a:off x="8066405" y="2990215"/>
            <a:ext cx="971550" cy="142875"/>
          </a:xfrm>
          <a:prstGeom prst="curvedConnector3">
            <a:avLst>
              <a:gd name="adj1" fmla="val 49935"/>
            </a:avLst>
          </a:prstGeom>
          <a:ln>
            <a:tailEnd type="arrow"/>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9333230" y="4785995"/>
            <a:ext cx="2952750" cy="374015"/>
          </a:xfrm>
          <a:prstGeom prst="rect">
            <a:avLst/>
          </a:prstGeom>
          <a:noFill/>
        </p:spPr>
        <p:txBody>
          <a:bodyPr wrap="square" rtlCol="0">
            <a:noAutofit/>
          </a:bodyPr>
          <a:lstStyle/>
          <a:p>
            <a:r>
              <a:rPr lang="en-US" altLang="zh-CN" sz="1400">
                <a:solidFill>
                  <a:srgbClr val="FFFF00"/>
                </a:solidFill>
              </a:rPr>
              <a:t>details about the memory leak</a:t>
            </a:r>
          </a:p>
        </p:txBody>
      </p:sp>
      <p:cxnSp>
        <p:nvCxnSpPr>
          <p:cNvPr id="18" name="曲线连接符 17"/>
          <p:cNvCxnSpPr/>
          <p:nvPr/>
        </p:nvCxnSpPr>
        <p:spPr>
          <a:xfrm rot="10800000">
            <a:off x="8736330" y="4450715"/>
            <a:ext cx="596900" cy="378460"/>
          </a:xfrm>
          <a:prstGeom prst="curvedConnector3">
            <a:avLst>
              <a:gd name="adj1" fmla="val 49894"/>
            </a:avLst>
          </a:prstGeom>
          <a:ln>
            <a:tailEnd type="arrow"/>
          </a:ln>
        </p:spPr>
        <p:style>
          <a:lnRef idx="2">
            <a:schemeClr val="accent1"/>
          </a:lnRef>
          <a:fillRef idx="0">
            <a:srgbClr val="FFFFFF"/>
          </a:fillRef>
          <a:effectRef idx="0">
            <a:srgbClr val="FFFFFF"/>
          </a:effectRef>
          <a:fontRef idx="minor">
            <a:schemeClr val="tx1"/>
          </a:fontRef>
        </p:style>
      </p:cxnSp>
      <p:cxnSp>
        <p:nvCxnSpPr>
          <p:cNvPr id="19" name="曲线连接符 18"/>
          <p:cNvCxnSpPr>
            <a:stCxn id="17" idx="1"/>
          </p:cNvCxnSpPr>
          <p:nvPr/>
        </p:nvCxnSpPr>
        <p:spPr>
          <a:xfrm rot="10800000" flipV="1">
            <a:off x="8736330" y="4973320"/>
            <a:ext cx="596900" cy="411480"/>
          </a:xfrm>
          <a:prstGeom prst="curvedConnector3">
            <a:avLst>
              <a:gd name="adj1" fmla="val 49894"/>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sym typeface="+mn-ea"/>
              </a:rPr>
              <a:t>Tools</a:t>
            </a:r>
            <a:r>
              <a:rPr lang="zh-CN" altLang="en-US">
                <a:sym typeface="+mn-ea"/>
              </a:rPr>
              <a:t>：</a:t>
            </a:r>
            <a:r>
              <a:rPr lang="en-US" altLang="zh-CN">
                <a:sym typeface="+mn-ea"/>
              </a:rPr>
              <a:t> valgrind(2) </a:t>
            </a:r>
            <a:endParaRPr lang="zh-CN" altLang="en-US"/>
          </a:p>
        </p:txBody>
      </p:sp>
      <p:pic>
        <p:nvPicPr>
          <p:cNvPr id="4" name="图片 3"/>
          <p:cNvPicPr>
            <a:picLocks noChangeAspect="1"/>
          </p:cNvPicPr>
          <p:nvPr/>
        </p:nvPicPr>
        <p:blipFill>
          <a:blip r:embed="rId2"/>
          <a:stretch>
            <a:fillRect/>
          </a:stretch>
        </p:blipFill>
        <p:spPr>
          <a:xfrm>
            <a:off x="4671695" y="997585"/>
            <a:ext cx="7220585" cy="5831840"/>
          </a:xfrm>
          <a:prstGeom prst="rect">
            <a:avLst/>
          </a:prstGeom>
        </p:spPr>
      </p:pic>
      <p:sp>
        <p:nvSpPr>
          <p:cNvPr id="8" name="文本框 7"/>
          <p:cNvSpPr txBox="1"/>
          <p:nvPr/>
        </p:nvSpPr>
        <p:spPr>
          <a:xfrm>
            <a:off x="152400" y="1174115"/>
            <a:ext cx="4364990" cy="3169285"/>
          </a:xfrm>
          <a:prstGeom prst="rect">
            <a:avLst/>
          </a:prstGeom>
          <a:solidFill>
            <a:schemeClr val="accent1">
              <a:lumMod val="40000"/>
              <a:lumOff val="60000"/>
            </a:schemeClr>
          </a:solidFill>
        </p:spPr>
        <p:txBody>
          <a:bodyPr>
            <a:noAutofit/>
          </a:bodyPr>
          <a:lstStyle/>
          <a:p>
            <a:pPr indent="0" fontAlgn="auto">
              <a:lnSpc>
                <a:spcPct val="100000"/>
              </a:lnSpc>
              <a:spcBef>
                <a:spcPts val="600"/>
              </a:spcBef>
            </a:pPr>
            <a:r>
              <a:rPr lang="en-US" altLang="zh-CN" sz="1300" b="0">
                <a:solidFill>
                  <a:schemeClr val="tx1"/>
                </a:solidFill>
                <a:latin typeface="Consolas" panose="020B0609020204030204"/>
                <a:ea typeface="Consolas" panose="020B0609020204030204"/>
              </a:rPr>
              <a:t>#include &lt;stdio.h&gt;  </a:t>
            </a:r>
            <a:r>
              <a:rPr lang="en-US" altLang="zh-CN" sz="1300" b="0">
                <a:solidFill>
                  <a:schemeClr val="bg1">
                    <a:lumMod val="50000"/>
                  </a:schemeClr>
                </a:solidFill>
                <a:latin typeface="Consolas" panose="020B0609020204030204"/>
                <a:ea typeface="Consolas" panose="020B0609020204030204"/>
              </a:rPr>
              <a:t>//dangling_pointer</a:t>
            </a:r>
          </a:p>
          <a:p>
            <a:pPr indent="0" fontAlgn="auto">
              <a:lnSpc>
                <a:spcPct val="100000"/>
              </a:lnSpc>
              <a:spcBef>
                <a:spcPts val="600"/>
              </a:spcBef>
            </a:pPr>
            <a:r>
              <a:rPr lang="en-US" altLang="zh-CN" sz="1300" b="0">
                <a:solidFill>
                  <a:schemeClr val="tx1"/>
                </a:solidFill>
                <a:latin typeface="Consolas" panose="020B0609020204030204"/>
                <a:ea typeface="Consolas" panose="020B0609020204030204"/>
              </a:rPr>
              <a:t>#include &lt;stdlib.h&gt;</a:t>
            </a:r>
          </a:p>
          <a:p>
            <a:pPr indent="0" fontAlgn="auto">
              <a:lnSpc>
                <a:spcPct val="100000"/>
              </a:lnSpc>
              <a:spcBef>
                <a:spcPts val="600"/>
              </a:spcBef>
            </a:pPr>
            <a:r>
              <a:rPr lang="en-US" altLang="zh-CN" sz="1300" b="0">
                <a:solidFill>
                  <a:schemeClr val="tx1"/>
                </a:solidFill>
                <a:latin typeface="Consolas" panose="020B0609020204030204"/>
                <a:ea typeface="Consolas" panose="020B0609020204030204"/>
              </a:rPr>
              <a:t>int main(int argc, char*argv[]){</a:t>
            </a:r>
          </a:p>
          <a:p>
            <a:pPr indent="0" fontAlgn="auto">
              <a:lnSpc>
                <a:spcPct val="100000"/>
              </a:lnSpc>
              <a:spcBef>
                <a:spcPts val="600"/>
              </a:spcBef>
            </a:pPr>
            <a:r>
              <a:rPr lang="en-US" altLang="zh-CN" sz="1300" b="0">
                <a:solidFill>
                  <a:schemeClr val="tx1"/>
                </a:solidFill>
                <a:latin typeface="Consolas" panose="020B0609020204030204"/>
                <a:ea typeface="Consolas" panose="020B0609020204030204"/>
              </a:rPr>
              <a:t>    int *p1 = (int*) malloc(sizeof(int)*1);</a:t>
            </a:r>
          </a:p>
          <a:p>
            <a:pPr indent="0" fontAlgn="auto">
              <a:lnSpc>
                <a:spcPct val="100000"/>
              </a:lnSpc>
              <a:spcBef>
                <a:spcPts val="600"/>
              </a:spcBef>
            </a:pPr>
            <a:r>
              <a:rPr lang="en-US" altLang="zh-CN" sz="1300" b="0">
                <a:solidFill>
                  <a:schemeClr val="tx1"/>
                </a:solidFill>
                <a:latin typeface="Consolas" panose="020B0609020204030204"/>
                <a:ea typeface="Consolas" panose="020B0609020204030204"/>
              </a:rPr>
              <a:t>    *p1 = 0x12345678;</a:t>
            </a:r>
          </a:p>
          <a:p>
            <a:pPr indent="0" fontAlgn="auto">
              <a:lnSpc>
                <a:spcPct val="100000"/>
              </a:lnSpc>
              <a:spcBef>
                <a:spcPts val="600"/>
              </a:spcBef>
            </a:pPr>
            <a:r>
              <a:rPr lang="en-US" altLang="zh-CN" sz="1300" b="0">
                <a:solidFill>
                  <a:schemeClr val="tx1"/>
                </a:solidFill>
                <a:latin typeface="Consolas" panose="020B0609020204030204"/>
                <a:ea typeface="Consolas" panose="020B0609020204030204"/>
              </a:rPr>
              <a:t>    printf("address: %p\tdata: 0x%x\n",p1,*p1);</a:t>
            </a:r>
          </a:p>
          <a:p>
            <a:pPr indent="0" fontAlgn="auto">
              <a:lnSpc>
                <a:spcPct val="100000"/>
              </a:lnSpc>
              <a:spcBef>
                <a:spcPts val="600"/>
              </a:spcBef>
            </a:pPr>
            <a:r>
              <a:rPr lang="en-US" altLang="zh-CN" sz="1300" b="0">
                <a:solidFill>
                  <a:schemeClr val="tx1"/>
                </a:solidFill>
                <a:latin typeface="Consolas" panose="020B0609020204030204"/>
                <a:ea typeface="Consolas" panose="020B0609020204030204"/>
              </a:rPr>
              <a:t>    free(p1);</a:t>
            </a:r>
          </a:p>
          <a:p>
            <a:pPr indent="0" fontAlgn="auto">
              <a:lnSpc>
                <a:spcPct val="100000"/>
              </a:lnSpc>
              <a:spcBef>
                <a:spcPts val="600"/>
              </a:spcBef>
            </a:pPr>
            <a:r>
              <a:rPr lang="en-US" altLang="zh-CN" sz="1300" b="0">
                <a:solidFill>
                  <a:schemeClr val="tx1"/>
                </a:solidFill>
                <a:latin typeface="Consolas" panose="020B0609020204030204"/>
                <a:ea typeface="Consolas" panose="020B0609020204030204"/>
              </a:rPr>
              <a:t>   </a:t>
            </a:r>
            <a:r>
              <a:rPr lang="en-US" altLang="zh-CN" sz="1300" b="0">
                <a:solidFill>
                  <a:schemeClr val="tx1"/>
                </a:solidFill>
                <a:highlight>
                  <a:srgbClr val="FFFF00"/>
                </a:highlight>
                <a:latin typeface="Consolas" panose="020B0609020204030204"/>
                <a:ea typeface="Consolas" panose="020B0609020204030204"/>
              </a:rPr>
              <a:t> *p1 = 0x78563421;</a:t>
            </a:r>
          </a:p>
          <a:p>
            <a:pPr indent="0" fontAlgn="auto">
              <a:lnSpc>
                <a:spcPct val="100000"/>
              </a:lnSpc>
              <a:spcBef>
                <a:spcPts val="600"/>
              </a:spcBef>
            </a:pPr>
            <a:r>
              <a:rPr lang="en-US" altLang="zh-CN" sz="1300" b="0">
                <a:solidFill>
                  <a:schemeClr val="tx1"/>
                </a:solidFill>
                <a:latin typeface="Consolas" panose="020B0609020204030204"/>
                <a:ea typeface="Consolas" panose="020B0609020204030204"/>
              </a:rPr>
              <a:t>    printf("address: %p\tdata: 0x%x\n",</a:t>
            </a:r>
            <a:r>
              <a:rPr lang="en-US" altLang="zh-CN" sz="1300" b="0">
                <a:solidFill>
                  <a:schemeClr val="tx1"/>
                </a:solidFill>
                <a:highlight>
                  <a:srgbClr val="FFFF00"/>
                </a:highlight>
                <a:latin typeface="Consolas" panose="020B0609020204030204"/>
                <a:ea typeface="Consolas" panose="020B0609020204030204"/>
              </a:rPr>
              <a:t>p1,*p1</a:t>
            </a:r>
            <a:r>
              <a:rPr lang="en-US" altLang="zh-CN" sz="1300" b="0">
                <a:solidFill>
                  <a:schemeClr val="tx1"/>
                </a:solidFill>
                <a:latin typeface="Consolas" panose="020B0609020204030204"/>
                <a:ea typeface="Consolas" panose="020B0609020204030204"/>
              </a:rPr>
              <a:t>);</a:t>
            </a:r>
          </a:p>
          <a:p>
            <a:pPr indent="0" fontAlgn="auto">
              <a:lnSpc>
                <a:spcPct val="100000"/>
              </a:lnSpc>
              <a:spcBef>
                <a:spcPts val="600"/>
              </a:spcBef>
            </a:pPr>
            <a:r>
              <a:rPr lang="en-US" altLang="zh-CN" sz="1300" b="0">
                <a:solidFill>
                  <a:schemeClr val="tx1"/>
                </a:solidFill>
                <a:latin typeface="Consolas" panose="020B0609020204030204"/>
                <a:ea typeface="Consolas" panose="020B0609020204030204"/>
              </a:rPr>
              <a:t>    return 0;</a:t>
            </a:r>
          </a:p>
          <a:p>
            <a:pPr indent="0" fontAlgn="auto">
              <a:lnSpc>
                <a:spcPct val="100000"/>
              </a:lnSpc>
              <a:spcBef>
                <a:spcPts val="600"/>
              </a:spcBef>
            </a:pPr>
            <a:r>
              <a:rPr lang="en-US" altLang="zh-CN" sz="1300" b="0">
                <a:solidFill>
                  <a:schemeClr val="tx1"/>
                </a:solidFill>
                <a:latin typeface="Consolas" panose="020B0609020204030204"/>
                <a:ea typeface="Consolas" panose="020B0609020204030204"/>
              </a:rPr>
              <a:t>}</a:t>
            </a:r>
          </a:p>
        </p:txBody>
      </p:sp>
      <p:sp>
        <p:nvSpPr>
          <p:cNvPr id="12" name="矩形 11"/>
          <p:cNvSpPr/>
          <p:nvPr/>
        </p:nvSpPr>
        <p:spPr>
          <a:xfrm>
            <a:off x="5366385" y="2727325"/>
            <a:ext cx="6419215" cy="2583815"/>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矩形 5"/>
          <p:cNvSpPr/>
          <p:nvPr/>
        </p:nvSpPr>
        <p:spPr>
          <a:xfrm>
            <a:off x="4737735" y="2505075"/>
            <a:ext cx="3485515" cy="222250"/>
          </a:xfrm>
          <a:prstGeom prst="rect">
            <a:avLst/>
          </a:prstGeom>
          <a:noFill/>
          <a:ln>
            <a:solidFill>
              <a:srgbClr val="FFC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矩形 6"/>
          <p:cNvSpPr/>
          <p:nvPr/>
        </p:nvSpPr>
        <p:spPr>
          <a:xfrm>
            <a:off x="4671695" y="5311140"/>
            <a:ext cx="3485515" cy="222250"/>
          </a:xfrm>
          <a:prstGeom prst="rect">
            <a:avLst/>
          </a:prstGeom>
          <a:noFill/>
          <a:ln>
            <a:solidFill>
              <a:srgbClr val="FFC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文本框 14"/>
          <p:cNvSpPr txBox="1"/>
          <p:nvPr/>
        </p:nvSpPr>
        <p:spPr>
          <a:xfrm>
            <a:off x="9009380" y="2257425"/>
            <a:ext cx="2952750" cy="374015"/>
          </a:xfrm>
          <a:prstGeom prst="rect">
            <a:avLst/>
          </a:prstGeom>
          <a:noFill/>
        </p:spPr>
        <p:txBody>
          <a:bodyPr wrap="square" rtlCol="0">
            <a:noAutofit/>
          </a:bodyPr>
          <a:lstStyle/>
          <a:p>
            <a:r>
              <a:rPr lang="en-US" altLang="zh-CN" sz="1400">
                <a:solidFill>
                  <a:srgbClr val="FFFF00"/>
                </a:solidFill>
              </a:rPr>
              <a:t>program running results</a:t>
            </a:r>
          </a:p>
        </p:txBody>
      </p:sp>
      <p:cxnSp>
        <p:nvCxnSpPr>
          <p:cNvPr id="16" name="曲线连接符 15"/>
          <p:cNvCxnSpPr/>
          <p:nvPr/>
        </p:nvCxnSpPr>
        <p:spPr>
          <a:xfrm rot="10800000" flipV="1">
            <a:off x="8066405" y="2418715"/>
            <a:ext cx="971550" cy="142875"/>
          </a:xfrm>
          <a:prstGeom prst="curvedConnector3">
            <a:avLst>
              <a:gd name="adj1" fmla="val 49935"/>
            </a:avLst>
          </a:prstGeom>
          <a:ln>
            <a:tailEnd type="arrow"/>
          </a:ln>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8939530" y="5666740"/>
            <a:ext cx="2952750" cy="374015"/>
          </a:xfrm>
          <a:prstGeom prst="rect">
            <a:avLst/>
          </a:prstGeom>
          <a:noFill/>
        </p:spPr>
        <p:txBody>
          <a:bodyPr wrap="square" rtlCol="0">
            <a:noAutofit/>
          </a:bodyPr>
          <a:lstStyle/>
          <a:p>
            <a:r>
              <a:rPr lang="en-US" altLang="zh-CN" sz="1400">
                <a:solidFill>
                  <a:srgbClr val="FFFF00"/>
                </a:solidFill>
              </a:rPr>
              <a:t>program running results</a:t>
            </a:r>
          </a:p>
        </p:txBody>
      </p:sp>
      <p:cxnSp>
        <p:nvCxnSpPr>
          <p:cNvPr id="10" name="曲线连接符 9"/>
          <p:cNvCxnSpPr>
            <a:stCxn id="9" idx="1"/>
          </p:cNvCxnSpPr>
          <p:nvPr/>
        </p:nvCxnSpPr>
        <p:spPr>
          <a:xfrm rot="10800000">
            <a:off x="8135620" y="5562600"/>
            <a:ext cx="803910" cy="291465"/>
          </a:xfrm>
          <a:prstGeom prst="curvedConnector3">
            <a:avLst>
              <a:gd name="adj1" fmla="val 49921"/>
            </a:avLst>
          </a:prstGeom>
          <a:ln>
            <a:tailEnd type="arrow"/>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8460105" y="3790950"/>
            <a:ext cx="2952750" cy="374015"/>
          </a:xfrm>
          <a:prstGeom prst="rect">
            <a:avLst/>
          </a:prstGeom>
          <a:noFill/>
        </p:spPr>
        <p:txBody>
          <a:bodyPr wrap="square" rtlCol="0">
            <a:noAutofit/>
          </a:bodyPr>
          <a:lstStyle/>
          <a:p>
            <a:r>
              <a:rPr lang="en-US" altLang="zh-CN" sz="1400">
                <a:solidFill>
                  <a:srgbClr val="FFFF00"/>
                </a:solidFill>
              </a:rPr>
              <a:t>invalid write/read on memory</a:t>
            </a:r>
          </a:p>
        </p:txBody>
      </p:sp>
      <p:sp>
        <p:nvSpPr>
          <p:cNvPr id="13" name="文本框 12"/>
          <p:cNvSpPr txBox="1"/>
          <p:nvPr/>
        </p:nvSpPr>
        <p:spPr>
          <a:xfrm>
            <a:off x="371475" y="4667250"/>
            <a:ext cx="4077335" cy="1398905"/>
          </a:xfrm>
          <a:prstGeom prst="rect">
            <a:avLst/>
          </a:prstGeom>
          <a:noFill/>
        </p:spPr>
        <p:txBody>
          <a:bodyPr wrap="square" rtlCol="0">
            <a:noAutofit/>
          </a:bodyPr>
          <a:lstStyle/>
          <a:p>
            <a:r>
              <a:rPr lang="en-US" altLang="zh-CN"/>
              <a:t>NOTES:</a:t>
            </a:r>
          </a:p>
          <a:p>
            <a:r>
              <a:rPr lang="en-US" altLang="zh-CN"/>
              <a:t>The program can be executed and the results appear correct, </a:t>
            </a:r>
          </a:p>
          <a:p>
            <a:r>
              <a:rPr lang="en-US" altLang="zh-CN"/>
              <a:t>but it brings greater risks!!!</a:t>
            </a: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Coding specification</a:t>
            </a:r>
            <a:endParaRPr lang="zh-CN" altLang="en-US"/>
          </a:p>
        </p:txBody>
      </p:sp>
      <p:sp>
        <p:nvSpPr>
          <p:cNvPr id="3" name="内容占位符 2"/>
          <p:cNvSpPr>
            <a:spLocks noGrp="1"/>
          </p:cNvSpPr>
          <p:nvPr>
            <p:ph idx="1"/>
          </p:nvPr>
        </p:nvSpPr>
        <p:spPr>
          <a:xfrm>
            <a:off x="1005205" y="1327150"/>
            <a:ext cx="5090795" cy="2101850"/>
          </a:xfrm>
        </p:spPr>
        <p:txBody>
          <a:bodyPr>
            <a:normAutofit fontScale="87500" lnSpcReduction="10000"/>
          </a:bodyPr>
          <a:lstStyle/>
          <a:p>
            <a:pPr lvl="1"/>
            <a:r>
              <a:rPr lang="en-US" altLang="zh-CN" dirty="0"/>
              <a:t>Tip</a:t>
            </a:r>
            <a:r>
              <a:rPr lang="zh-CN" altLang="en-US" dirty="0"/>
              <a:t> </a:t>
            </a:r>
            <a:r>
              <a:rPr lang="en-US" altLang="zh-CN" dirty="0"/>
              <a:t>1: </a:t>
            </a:r>
          </a:p>
          <a:p>
            <a:pPr lvl="2"/>
            <a:r>
              <a:rPr lang="en-US" altLang="zh-CN" dirty="0"/>
              <a:t>Check if malloc/new is successful</a:t>
            </a:r>
            <a:endParaRPr lang="zh-CN" altLang="en-US" dirty="0"/>
          </a:p>
          <a:p>
            <a:pPr lvl="1"/>
            <a:r>
              <a:rPr lang="en-US" altLang="zh-CN" dirty="0"/>
              <a:t>Tip</a:t>
            </a:r>
            <a:r>
              <a:rPr lang="zh-CN" altLang="en-US" dirty="0"/>
              <a:t> </a:t>
            </a:r>
            <a:r>
              <a:rPr lang="en-US" altLang="zh-CN" dirty="0"/>
              <a:t>2: </a:t>
            </a:r>
          </a:p>
          <a:p>
            <a:pPr lvl="2"/>
            <a:r>
              <a:rPr lang="en-US" altLang="zh-CN" dirty="0"/>
              <a:t> Don’t forget to free/delete allocated memory </a:t>
            </a:r>
          </a:p>
          <a:p>
            <a:pPr lvl="1"/>
            <a:r>
              <a:rPr lang="en-US" altLang="zh-CN" dirty="0"/>
              <a:t>Tip</a:t>
            </a:r>
            <a:r>
              <a:rPr lang="zh-CN" altLang="en-US" dirty="0"/>
              <a:t> </a:t>
            </a:r>
            <a:r>
              <a:rPr lang="en-US" altLang="zh-CN" dirty="0"/>
              <a:t>3: </a:t>
            </a:r>
          </a:p>
          <a:p>
            <a:pPr lvl="2"/>
            <a:r>
              <a:rPr lang="en-US" altLang="zh-CN" dirty="0"/>
              <a:t>Assign NULL to the pointer after free/delete memory</a:t>
            </a:r>
            <a:endParaRPr lang="zh-CN" altLang="en-US" dirty="0"/>
          </a:p>
        </p:txBody>
      </p:sp>
      <p:sp>
        <p:nvSpPr>
          <p:cNvPr id="8" name="文本框 7"/>
          <p:cNvSpPr txBox="1"/>
          <p:nvPr/>
        </p:nvSpPr>
        <p:spPr>
          <a:xfrm>
            <a:off x="6372225" y="300990"/>
            <a:ext cx="5288280" cy="3447415"/>
          </a:xfrm>
          <a:prstGeom prst="rect">
            <a:avLst/>
          </a:prstGeom>
          <a:solidFill>
            <a:schemeClr val="accent1">
              <a:lumMod val="40000"/>
              <a:lumOff val="60000"/>
            </a:schemeClr>
          </a:solidFill>
        </p:spPr>
        <p:txBody>
          <a:bodyPr>
            <a:noAutofit/>
          </a:bodyPr>
          <a:lstStyle/>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#include&lt;</a:t>
            </a:r>
            <a:r>
              <a:rPr lang="en-US" altLang="zh-CN" sz="1400" b="0" dirty="0" err="1">
                <a:solidFill>
                  <a:schemeClr val="tx1"/>
                </a:solidFill>
                <a:latin typeface="Consolas" panose="020B0609020204030204"/>
                <a:ea typeface="Consolas" panose="020B0609020204030204"/>
              </a:rPr>
              <a:t>stdio.h</a:t>
            </a:r>
            <a:r>
              <a:rPr lang="en-US" altLang="zh-CN" sz="1400" b="0" dirty="0">
                <a:solidFill>
                  <a:schemeClr val="tx1"/>
                </a:solidFill>
                <a:latin typeface="Consolas" panose="020B0609020204030204"/>
                <a:ea typeface="Consolas" panose="020B0609020204030204"/>
              </a:rPr>
              <a:t>&gt;  </a:t>
            </a:r>
            <a:r>
              <a:rPr lang="en-US" altLang="zh-CN" sz="1400" b="0" dirty="0">
                <a:solidFill>
                  <a:schemeClr val="bg1">
                    <a:lumMod val="50000"/>
                  </a:schemeClr>
                </a:solidFill>
                <a:latin typeface="Consolas" panose="020B0609020204030204"/>
                <a:ea typeface="Consolas" panose="020B0609020204030204"/>
              </a:rPr>
              <a:t> //</a:t>
            </a:r>
            <a:r>
              <a:rPr lang="en-US" altLang="zh-CN" sz="1400" b="0" dirty="0" err="1">
                <a:solidFill>
                  <a:schemeClr val="bg1">
                    <a:lumMod val="50000"/>
                  </a:schemeClr>
                </a:solidFill>
                <a:latin typeface="Consolas" panose="020B0609020204030204"/>
                <a:ea typeface="Consolas" panose="020B0609020204030204"/>
              </a:rPr>
              <a:t>demo.c</a:t>
            </a:r>
            <a:endParaRPr lang="en-US" altLang="zh-CN" sz="1400" b="0" dirty="0">
              <a:solidFill>
                <a:schemeClr val="tx1"/>
              </a:solidFill>
              <a:latin typeface="Consolas" panose="020B0609020204030204"/>
              <a:ea typeface="Consolas" panose="020B0609020204030204"/>
            </a:endParaRP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#include&lt;</a:t>
            </a:r>
            <a:r>
              <a:rPr lang="en-US" altLang="zh-CN" sz="1400" b="0" dirty="0" err="1">
                <a:solidFill>
                  <a:schemeClr val="tx1"/>
                </a:solidFill>
                <a:latin typeface="Consolas" panose="020B0609020204030204"/>
                <a:ea typeface="Consolas" panose="020B0609020204030204"/>
              </a:rPr>
              <a:t>stdlib.h</a:t>
            </a:r>
            <a:r>
              <a:rPr lang="en-US" altLang="zh-CN" sz="1400" b="0" dirty="0">
                <a:solidFill>
                  <a:schemeClr val="tx1"/>
                </a:solidFill>
                <a:latin typeface="Consolas" panose="020B0609020204030204"/>
                <a:ea typeface="Consolas" panose="020B0609020204030204"/>
              </a:rPr>
              <a:t>&gt;</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int main(int </a:t>
            </a:r>
            <a:r>
              <a:rPr lang="en-US" altLang="zh-CN" sz="1400" b="0" dirty="0" err="1">
                <a:solidFill>
                  <a:schemeClr val="tx1"/>
                </a:solidFill>
                <a:latin typeface="Consolas" panose="020B0609020204030204"/>
                <a:ea typeface="Consolas" panose="020B0609020204030204"/>
              </a:rPr>
              <a:t>argc</a:t>
            </a:r>
            <a:r>
              <a:rPr lang="en-US" altLang="zh-CN" sz="1400" b="0" dirty="0">
                <a:solidFill>
                  <a:schemeClr val="tx1"/>
                </a:solidFill>
                <a:latin typeface="Consolas" panose="020B0609020204030204"/>
                <a:ea typeface="Consolas" panose="020B0609020204030204"/>
              </a:rPr>
              <a:t>, char*</a:t>
            </a:r>
            <a:r>
              <a:rPr lang="en-US" altLang="zh-CN" sz="1400" b="0" dirty="0" err="1">
                <a:solidFill>
                  <a:schemeClr val="tx1"/>
                </a:solidFill>
                <a:latin typeface="Consolas" panose="020B0609020204030204"/>
                <a:ea typeface="Consolas" panose="020B0609020204030204"/>
              </a:rPr>
              <a:t>argv</a:t>
            </a:r>
            <a:r>
              <a:rPr lang="en-US" altLang="zh-CN" sz="1400" b="0" dirty="0">
                <a:solidFill>
                  <a:schemeClr val="tx1"/>
                </a:solidFill>
                <a:latin typeface="Consolas" panose="020B0609020204030204"/>
                <a:ea typeface="Consolas" panose="020B0609020204030204"/>
              </a:rPr>
              <a:t>[]){</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    int *p1=(int*)malloc(</a:t>
            </a:r>
            <a:r>
              <a:rPr lang="en-US" altLang="zh-CN" sz="1400" b="0" dirty="0" err="1">
                <a:solidFill>
                  <a:schemeClr val="tx1"/>
                </a:solidFill>
                <a:latin typeface="Consolas" panose="020B0609020204030204"/>
                <a:ea typeface="Consolas" panose="020B0609020204030204"/>
              </a:rPr>
              <a:t>sizeof</a:t>
            </a:r>
            <a:r>
              <a:rPr lang="en-US" altLang="zh-CN" sz="1400" b="0" dirty="0">
                <a:solidFill>
                  <a:schemeClr val="tx1"/>
                </a:solidFill>
                <a:latin typeface="Consolas" panose="020B0609020204030204"/>
                <a:ea typeface="Consolas" panose="020B0609020204030204"/>
              </a:rPr>
              <a:t>(int));</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    if(</a:t>
            </a:r>
            <a:r>
              <a:rPr lang="en-US" altLang="zh-CN" sz="1400" b="0" dirty="0">
                <a:solidFill>
                  <a:schemeClr val="tx1"/>
                </a:solidFill>
                <a:highlight>
                  <a:srgbClr val="FFFF00"/>
                </a:highlight>
                <a:latin typeface="Consolas" panose="020B0609020204030204"/>
                <a:ea typeface="Consolas" panose="020B0609020204030204"/>
              </a:rPr>
              <a:t>NULL!=p1</a:t>
            </a:r>
            <a:r>
              <a:rPr lang="en-US" altLang="zh-CN" sz="1400" b="0" dirty="0">
                <a:solidFill>
                  <a:schemeClr val="tx1"/>
                </a:solidFill>
                <a:latin typeface="Consolas" panose="020B0609020204030204"/>
                <a:ea typeface="Consolas" panose="020B0609020204030204"/>
              </a:rPr>
              <a:t>){</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        *p1=0x12345678;</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        </a:t>
            </a:r>
            <a:r>
              <a:rPr lang="en-US" altLang="zh-CN" sz="1400" b="0" dirty="0" err="1">
                <a:solidFill>
                  <a:schemeClr val="tx1"/>
                </a:solidFill>
                <a:latin typeface="Consolas" panose="020B0609020204030204"/>
                <a:ea typeface="Consolas" panose="020B0609020204030204"/>
              </a:rPr>
              <a:t>printf</a:t>
            </a:r>
            <a:r>
              <a:rPr lang="en-US" altLang="zh-CN" sz="1400" b="0" dirty="0">
                <a:solidFill>
                  <a:schemeClr val="tx1"/>
                </a:solidFill>
                <a:latin typeface="Consolas" panose="020B0609020204030204"/>
                <a:ea typeface="Consolas" panose="020B0609020204030204"/>
              </a:rPr>
              <a:t>("address: %p\</a:t>
            </a:r>
            <a:r>
              <a:rPr lang="en-US" altLang="zh-CN" sz="1400" b="0" dirty="0" err="1">
                <a:solidFill>
                  <a:schemeClr val="tx1"/>
                </a:solidFill>
                <a:latin typeface="Consolas" panose="020B0609020204030204"/>
                <a:ea typeface="Consolas" panose="020B0609020204030204"/>
              </a:rPr>
              <a:t>tdata</a:t>
            </a:r>
            <a:r>
              <a:rPr lang="en-US" altLang="zh-CN" sz="1400" b="0" dirty="0">
                <a:solidFill>
                  <a:schemeClr val="tx1"/>
                </a:solidFill>
                <a:latin typeface="Consolas" panose="020B0609020204030204"/>
                <a:ea typeface="Consolas" panose="020B0609020204030204"/>
              </a:rPr>
              <a:t>: 0x%x\n",p1,*p1);</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        </a:t>
            </a:r>
            <a:r>
              <a:rPr lang="en-US" altLang="zh-CN" sz="1400" b="0" dirty="0">
                <a:solidFill>
                  <a:schemeClr val="tx1"/>
                </a:solidFill>
                <a:highlight>
                  <a:srgbClr val="FFFF00"/>
                </a:highlight>
                <a:latin typeface="Consolas" panose="020B0609020204030204"/>
                <a:ea typeface="Consolas" panose="020B0609020204030204"/>
              </a:rPr>
              <a:t>free(p1);</a:t>
            </a:r>
            <a:endParaRPr lang="en-US" altLang="zh-CN" sz="1400" b="0" dirty="0">
              <a:solidFill>
                <a:schemeClr val="tx1"/>
              </a:solidFill>
              <a:latin typeface="Consolas" panose="020B0609020204030204"/>
              <a:ea typeface="Consolas" panose="020B0609020204030204"/>
            </a:endParaRP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        </a:t>
            </a:r>
            <a:r>
              <a:rPr lang="en-US" altLang="zh-CN" sz="1400" b="0" dirty="0">
                <a:solidFill>
                  <a:schemeClr val="tx1"/>
                </a:solidFill>
                <a:highlight>
                  <a:srgbClr val="FFFF00"/>
                </a:highlight>
                <a:latin typeface="Consolas" panose="020B0609020204030204"/>
                <a:ea typeface="Consolas" panose="020B0609020204030204"/>
              </a:rPr>
              <a:t>p1=NULL;</a:t>
            </a:r>
            <a:endParaRPr lang="en-US" altLang="zh-CN" sz="1400" b="0" dirty="0">
              <a:solidFill>
                <a:schemeClr val="tx1"/>
              </a:solidFill>
              <a:latin typeface="Consolas" panose="020B0609020204030204"/>
              <a:ea typeface="Consolas" panose="020B0609020204030204"/>
            </a:endParaRP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    }</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    return 0;</a:t>
            </a:r>
          </a:p>
          <a:p>
            <a:pPr indent="0" fontAlgn="auto">
              <a:lnSpc>
                <a:spcPct val="100000"/>
              </a:lnSpc>
              <a:spcBef>
                <a:spcPts val="600"/>
              </a:spcBef>
            </a:pPr>
            <a:r>
              <a:rPr lang="en-US" altLang="zh-CN" sz="1400" b="0" dirty="0">
                <a:solidFill>
                  <a:schemeClr val="tx1"/>
                </a:solidFill>
                <a:latin typeface="Consolas" panose="020B0609020204030204"/>
                <a:ea typeface="Consolas" panose="020B0609020204030204"/>
              </a:rPr>
              <a:t>}</a:t>
            </a:r>
          </a:p>
        </p:txBody>
      </p:sp>
      <p:pic>
        <p:nvPicPr>
          <p:cNvPr id="5" name="图片 4"/>
          <p:cNvPicPr>
            <a:picLocks noChangeAspect="1"/>
          </p:cNvPicPr>
          <p:nvPr/>
        </p:nvPicPr>
        <p:blipFill>
          <a:blip r:embed="rId2"/>
          <a:stretch>
            <a:fillRect/>
          </a:stretch>
        </p:blipFill>
        <p:spPr>
          <a:xfrm>
            <a:off x="1476375" y="3812540"/>
            <a:ext cx="7591425" cy="28740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Memory Managment-Stack</a:t>
            </a:r>
            <a:r>
              <a:rPr lang="en-US" altLang="zh-CN"/>
              <a:t> vs H</a:t>
            </a:r>
            <a:r>
              <a:rPr lang="en-US" altLang="zh-CN">
                <a:sym typeface="+mn-ea"/>
              </a:rPr>
              <a:t>eap(1)</a:t>
            </a:r>
          </a:p>
        </p:txBody>
      </p:sp>
      <p:pic>
        <p:nvPicPr>
          <p:cNvPr id="4" name="图片 3"/>
          <p:cNvPicPr>
            <a:picLocks noChangeAspect="1"/>
          </p:cNvPicPr>
          <p:nvPr/>
        </p:nvPicPr>
        <p:blipFill>
          <a:blip r:embed="rId2"/>
          <a:stretch>
            <a:fillRect/>
          </a:stretch>
        </p:blipFill>
        <p:spPr>
          <a:xfrm>
            <a:off x="1838325" y="3396615"/>
            <a:ext cx="1729740" cy="2527935"/>
          </a:xfrm>
          <a:prstGeom prst="rect">
            <a:avLst/>
          </a:prstGeom>
          <a:ln>
            <a:noFill/>
          </a:ln>
        </p:spPr>
      </p:pic>
      <p:pic>
        <p:nvPicPr>
          <p:cNvPr id="6" name="图片 5"/>
          <p:cNvPicPr>
            <a:picLocks noChangeAspect="1"/>
          </p:cNvPicPr>
          <p:nvPr/>
        </p:nvPicPr>
        <p:blipFill>
          <a:blip r:embed="rId3"/>
          <a:stretch>
            <a:fillRect/>
          </a:stretch>
        </p:blipFill>
        <p:spPr>
          <a:xfrm>
            <a:off x="4285615" y="1021715"/>
            <a:ext cx="7316470" cy="5577205"/>
          </a:xfrm>
          <a:prstGeom prst="rect">
            <a:avLst/>
          </a:prstGeom>
        </p:spPr>
      </p:pic>
      <p:sp>
        <p:nvSpPr>
          <p:cNvPr id="9" name="矩形 8"/>
          <p:cNvSpPr/>
          <p:nvPr/>
        </p:nvSpPr>
        <p:spPr>
          <a:xfrm>
            <a:off x="4891405" y="4105275"/>
            <a:ext cx="4104005" cy="155575"/>
          </a:xfrm>
          <a:prstGeom prst="rect">
            <a:avLst/>
          </a:prstGeom>
          <a:noFill/>
          <a:ln>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矩形 9"/>
          <p:cNvSpPr/>
          <p:nvPr/>
        </p:nvSpPr>
        <p:spPr>
          <a:xfrm>
            <a:off x="4891405" y="6384925"/>
            <a:ext cx="4104005" cy="155575"/>
          </a:xfrm>
          <a:prstGeom prst="rect">
            <a:avLst/>
          </a:prstGeom>
          <a:noFill/>
          <a:ln>
            <a:solidFill>
              <a:srgbClr val="FFC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14" name="曲线连接符 13"/>
          <p:cNvCxnSpPr/>
          <p:nvPr/>
        </p:nvCxnSpPr>
        <p:spPr>
          <a:xfrm flipV="1">
            <a:off x="3081020" y="4171950"/>
            <a:ext cx="1638300" cy="1524000"/>
          </a:xfrm>
          <a:prstGeom prst="curvedConnector3">
            <a:avLst>
              <a:gd name="adj1" fmla="val 50039"/>
            </a:avLst>
          </a:prstGeom>
          <a:ln>
            <a:headEnd type="arrow"/>
            <a:tailEnd type="arrow"/>
          </a:ln>
        </p:spPr>
        <p:style>
          <a:lnRef idx="2">
            <a:schemeClr val="accent1"/>
          </a:lnRef>
          <a:fillRef idx="0">
            <a:srgbClr val="FFFFFF"/>
          </a:fillRef>
          <a:effectRef idx="0">
            <a:srgbClr val="FFFFFF"/>
          </a:effectRef>
          <a:fontRef idx="minor">
            <a:schemeClr val="tx1"/>
          </a:fontRef>
        </p:style>
      </p:cxnSp>
      <p:cxnSp>
        <p:nvCxnSpPr>
          <p:cNvPr id="15" name="曲线连接符 14"/>
          <p:cNvCxnSpPr/>
          <p:nvPr/>
        </p:nvCxnSpPr>
        <p:spPr>
          <a:xfrm>
            <a:off x="1909445" y="3628390"/>
            <a:ext cx="2914650" cy="2829560"/>
          </a:xfrm>
          <a:prstGeom prst="curvedConnector3">
            <a:avLst>
              <a:gd name="adj1" fmla="val -26448"/>
            </a:avLst>
          </a:prstGeom>
          <a:ln>
            <a:headEnd type="arrow"/>
            <a:tailEnd type="arrow"/>
          </a:ln>
        </p:spPr>
        <p:style>
          <a:lnRef idx="2">
            <a:schemeClr val="accent1"/>
          </a:lnRef>
          <a:fillRef idx="0">
            <a:srgbClr val="FFFFFF"/>
          </a:fillRef>
          <a:effectRef idx="0">
            <a:srgbClr val="FFFFFF"/>
          </a:effectRef>
          <a:fontRef idx="minor">
            <a:schemeClr val="tx1"/>
          </a:fontRef>
        </p:style>
      </p:cxnSp>
      <p:sp>
        <p:nvSpPr>
          <p:cNvPr id="16" name="文本框 15"/>
          <p:cNvSpPr txBox="1"/>
          <p:nvPr/>
        </p:nvSpPr>
        <p:spPr>
          <a:xfrm>
            <a:off x="233680" y="1097915"/>
            <a:ext cx="3875405" cy="2030095"/>
          </a:xfrm>
          <a:prstGeom prst="rect">
            <a:avLst/>
          </a:prstGeom>
          <a:noFill/>
        </p:spPr>
        <p:txBody>
          <a:bodyPr wrap="square" rtlCol="0">
            <a:spAutoFit/>
          </a:bodyPr>
          <a:lstStyle/>
          <a:p>
            <a:r>
              <a:rPr lang="en-US" altLang="zh-CN"/>
              <a:t>Both Stack and heap belongs to dynamic memory area. </a:t>
            </a:r>
          </a:p>
          <a:p>
            <a:pPr marL="285750" indent="-285750">
              <a:buFont typeface="Wingdings" panose="05000000000000000000" charset="0"/>
              <a:buChar char="Ø"/>
            </a:pPr>
            <a:r>
              <a:rPr lang="en-US" altLang="zh-CN"/>
              <a:t>Stack: LIFO, expand from high address to low address.</a:t>
            </a:r>
          </a:p>
          <a:p>
            <a:endParaRPr lang="en-US" altLang="zh-CN"/>
          </a:p>
          <a:p>
            <a:pPr marL="285750" indent="-285750">
              <a:buFont typeface="Wingdings" panose="05000000000000000000" charset="0"/>
              <a:buChar char="Ø"/>
            </a:pPr>
            <a:r>
              <a:rPr lang="en-US" altLang="zh-CN"/>
              <a:t>heap: </a:t>
            </a:r>
            <a:r>
              <a:rPr lang="en-US" altLang="zh-CN">
                <a:sym typeface="+mn-ea"/>
              </a:rPr>
              <a:t>expand from low address to high address.</a:t>
            </a:r>
            <a:endParaRPr lang="en-US" altLang="zh-CN"/>
          </a:p>
        </p:txBody>
      </p:sp>
      <p:sp>
        <p:nvSpPr>
          <p:cNvPr id="17" name="文本框 16"/>
          <p:cNvSpPr txBox="1"/>
          <p:nvPr/>
        </p:nvSpPr>
        <p:spPr>
          <a:xfrm>
            <a:off x="343535" y="3396615"/>
            <a:ext cx="1494790" cy="368300"/>
          </a:xfrm>
          <a:prstGeom prst="rect">
            <a:avLst/>
          </a:prstGeom>
          <a:noFill/>
        </p:spPr>
        <p:txBody>
          <a:bodyPr wrap="square" rtlCol="0">
            <a:spAutoFit/>
          </a:bodyPr>
          <a:lstStyle/>
          <a:p>
            <a:r>
              <a:rPr lang="en-US" altLang="zh-CN"/>
              <a:t>high address</a:t>
            </a:r>
          </a:p>
        </p:txBody>
      </p:sp>
      <p:sp>
        <p:nvSpPr>
          <p:cNvPr id="18" name="文本框 17"/>
          <p:cNvSpPr txBox="1"/>
          <p:nvPr/>
        </p:nvSpPr>
        <p:spPr>
          <a:xfrm>
            <a:off x="481330" y="5556250"/>
            <a:ext cx="1494790" cy="368300"/>
          </a:xfrm>
          <a:prstGeom prst="rect">
            <a:avLst/>
          </a:prstGeom>
          <a:noFill/>
        </p:spPr>
        <p:txBody>
          <a:bodyPr wrap="square" rtlCol="0">
            <a:spAutoFit/>
          </a:bodyPr>
          <a:lstStyle/>
          <a:p>
            <a:r>
              <a:rPr lang="en-US" altLang="zh-CN"/>
              <a:t>low address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Memory Managment-Stack vs Heap(2)</a:t>
            </a:r>
          </a:p>
        </p:txBody>
      </p:sp>
      <p:pic>
        <p:nvPicPr>
          <p:cNvPr id="3" name="图片 2"/>
          <p:cNvPicPr>
            <a:picLocks noChangeAspect="1"/>
          </p:cNvPicPr>
          <p:nvPr/>
        </p:nvPicPr>
        <p:blipFill>
          <a:blip r:embed="rId2"/>
          <a:stretch>
            <a:fillRect/>
          </a:stretch>
        </p:blipFill>
        <p:spPr>
          <a:xfrm>
            <a:off x="1376680" y="1097915"/>
            <a:ext cx="6210300" cy="5637530"/>
          </a:xfrm>
          <a:prstGeom prst="rect">
            <a:avLst/>
          </a:prstGeom>
        </p:spPr>
      </p:pic>
      <p:sp>
        <p:nvSpPr>
          <p:cNvPr id="4" name="矩形 3"/>
          <p:cNvSpPr/>
          <p:nvPr/>
        </p:nvSpPr>
        <p:spPr>
          <a:xfrm>
            <a:off x="1991995" y="3495675"/>
            <a:ext cx="3656965" cy="2726055"/>
          </a:xfrm>
          <a:prstGeom prst="rect">
            <a:avLst/>
          </a:prstGeom>
          <a:noFill/>
          <a:ln>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文本框 14"/>
          <p:cNvSpPr txBox="1"/>
          <p:nvPr/>
        </p:nvSpPr>
        <p:spPr>
          <a:xfrm>
            <a:off x="5808980" y="3304540"/>
            <a:ext cx="1514475" cy="374015"/>
          </a:xfrm>
          <a:prstGeom prst="rect">
            <a:avLst/>
          </a:prstGeom>
          <a:noFill/>
        </p:spPr>
        <p:txBody>
          <a:bodyPr wrap="square" rtlCol="0">
            <a:noAutofit/>
          </a:bodyPr>
          <a:lstStyle/>
          <a:p>
            <a:r>
              <a:rPr lang="en-US" altLang="zh-CN" sz="1400">
                <a:solidFill>
                  <a:srgbClr val="FFFF00"/>
                </a:solidFill>
              </a:rPr>
              <a:t>stack overflow</a:t>
            </a:r>
          </a:p>
        </p:txBody>
      </p:sp>
      <p:cxnSp>
        <p:nvCxnSpPr>
          <p:cNvPr id="16" name="曲线连接符 15"/>
          <p:cNvCxnSpPr>
            <a:endCxn id="15" idx="1"/>
          </p:cNvCxnSpPr>
          <p:nvPr/>
        </p:nvCxnSpPr>
        <p:spPr>
          <a:xfrm flipV="1">
            <a:off x="5433695" y="3491865"/>
            <a:ext cx="375285" cy="127635"/>
          </a:xfrm>
          <a:prstGeom prst="curvedConnector3">
            <a:avLst>
              <a:gd name="adj1" fmla="val 50085"/>
            </a:avLst>
          </a:prstGeom>
          <a:ln>
            <a:tailEnd type="arrow"/>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8072120" y="1097915"/>
            <a:ext cx="3342640" cy="1590040"/>
          </a:xfrm>
          <a:prstGeom prst="rect">
            <a:avLst/>
          </a:prstGeom>
          <a:solidFill>
            <a:schemeClr val="accent1">
              <a:lumMod val="40000"/>
              <a:lumOff val="60000"/>
            </a:schemeClr>
          </a:solidFill>
        </p:spPr>
        <p:txBody>
          <a:bodyPr wrap="square" rtlCol="0">
            <a:noAutofit/>
          </a:bodyPr>
          <a:lstStyle/>
          <a:p>
            <a:r>
              <a:rPr lang="en-US" altLang="zh-CN" sz="1400"/>
              <a:t>#include &lt;stdio.h&gt;</a:t>
            </a:r>
          </a:p>
          <a:p>
            <a:r>
              <a:rPr lang="en-US" altLang="zh-CN" sz="1400"/>
              <a:t>#include &lt;stdlib.h&gt;</a:t>
            </a:r>
          </a:p>
          <a:p>
            <a:r>
              <a:rPr lang="en-US" altLang="zh-CN" sz="1400"/>
              <a:t>int main(int argc, char*argv[]){</a:t>
            </a:r>
          </a:p>
          <a:p>
            <a:r>
              <a:rPr lang="en-US" altLang="zh-CN" sz="1400"/>
              <a:t>    char str[]="I'm here.";</a:t>
            </a:r>
          </a:p>
          <a:p>
            <a:r>
              <a:rPr lang="en-US" altLang="zh-CN" sz="1400"/>
              <a:t>    </a:t>
            </a:r>
            <a:r>
              <a:rPr lang="en-US" altLang="zh-CN" sz="1400">
                <a:highlight>
                  <a:srgbClr val="FFFF00"/>
                </a:highlight>
              </a:rPr>
              <a:t>char p[1024*1024*10] = {};</a:t>
            </a:r>
          </a:p>
          <a:p>
            <a:r>
              <a:rPr lang="en-US" altLang="zh-CN" sz="1400"/>
              <a:t>    return 0;            </a:t>
            </a:r>
          </a:p>
          <a:p>
            <a:r>
              <a:rPr lang="en-US" altLang="zh-CN" sz="1400"/>
              <a:t>}</a:t>
            </a:r>
          </a:p>
        </p:txBody>
      </p:sp>
      <p:sp>
        <p:nvSpPr>
          <p:cNvPr id="6" name="文本框 5"/>
          <p:cNvSpPr txBox="1"/>
          <p:nvPr/>
        </p:nvSpPr>
        <p:spPr>
          <a:xfrm>
            <a:off x="7862570" y="2876550"/>
            <a:ext cx="4104005" cy="3345180"/>
          </a:xfrm>
          <a:prstGeom prst="rect">
            <a:avLst/>
          </a:prstGeom>
          <a:noFill/>
        </p:spPr>
        <p:txBody>
          <a:bodyPr wrap="square" rtlCol="0">
            <a:noAutofit/>
          </a:bodyPr>
          <a:lstStyle/>
          <a:p>
            <a:r>
              <a:rPr lang="en-US" altLang="zh-CN"/>
              <a:t>Requesting a large space in the </a:t>
            </a:r>
            <a:r>
              <a:rPr lang="en-US" altLang="zh-CN" b="1"/>
              <a:t>stack </a:t>
            </a:r>
            <a:r>
              <a:rPr lang="en-US" altLang="zh-CN"/>
              <a:t>space may lead to stack overflow.</a:t>
            </a:r>
          </a:p>
          <a:p>
            <a:endParaRPr lang="en-US" altLang="zh-CN"/>
          </a:p>
          <a:p>
            <a:r>
              <a:rPr lang="en-US" altLang="zh-CN"/>
              <a:t>In this demo, the size of the space is 1024*1024*10 sizeof char.</a:t>
            </a:r>
          </a:p>
          <a:p>
            <a:endParaRPr lang="en-US" altLang="zh-CN"/>
          </a:p>
          <a:p>
            <a:r>
              <a:rPr lang="en-US" altLang="zh-CN"/>
              <a:t>The space on stack for C/C++ is managed by Compiler and the system.</a:t>
            </a:r>
          </a:p>
          <a:p>
            <a:endParaRPr lang="en-US" altLang="zh-CN"/>
          </a:p>
          <a:p>
            <a:r>
              <a:rPr lang="en-US" altLang="zh-CN"/>
              <a:t>Q. Smaller the size of char array “p”, such as 1024*10, generate the executable file and use valgind again, what’s the result?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Memory Managment-Stack vs Heap(3)</a:t>
            </a:r>
          </a:p>
        </p:txBody>
      </p:sp>
      <p:pic>
        <p:nvPicPr>
          <p:cNvPr id="9" name="图片 8"/>
          <p:cNvPicPr>
            <a:picLocks noChangeAspect="1"/>
          </p:cNvPicPr>
          <p:nvPr/>
        </p:nvPicPr>
        <p:blipFill>
          <a:blip r:embed="rId2"/>
          <a:stretch>
            <a:fillRect/>
          </a:stretch>
        </p:blipFill>
        <p:spPr>
          <a:xfrm>
            <a:off x="952500" y="1195705"/>
            <a:ext cx="7135495" cy="5093970"/>
          </a:xfrm>
          <a:prstGeom prst="rect">
            <a:avLst/>
          </a:prstGeom>
        </p:spPr>
      </p:pic>
      <p:sp>
        <p:nvSpPr>
          <p:cNvPr id="10" name="文本框 9"/>
          <p:cNvSpPr txBox="1"/>
          <p:nvPr/>
        </p:nvSpPr>
        <p:spPr>
          <a:xfrm>
            <a:off x="8291830" y="1219200"/>
            <a:ext cx="3542030" cy="2676525"/>
          </a:xfrm>
          <a:prstGeom prst="rect">
            <a:avLst/>
          </a:prstGeom>
          <a:solidFill>
            <a:schemeClr val="accent1">
              <a:lumMod val="40000"/>
              <a:lumOff val="60000"/>
            </a:schemeClr>
          </a:solidFill>
        </p:spPr>
        <p:txBody>
          <a:bodyPr wrap="square" rtlCol="0">
            <a:spAutoFit/>
          </a:bodyPr>
          <a:lstStyle/>
          <a:p>
            <a:r>
              <a:rPr lang="en-US" altLang="zh-CN" sz="1400"/>
              <a:t>#include &lt;stdio.h&gt;</a:t>
            </a:r>
          </a:p>
          <a:p>
            <a:r>
              <a:rPr lang="en-US" altLang="zh-CN" sz="1400"/>
              <a:t>#include &lt;stdlib.h&gt;</a:t>
            </a:r>
          </a:p>
          <a:p>
            <a:r>
              <a:rPr lang="en-US" altLang="zh-CN" sz="1400"/>
              <a:t>int main(int argc, char*argv[]){</a:t>
            </a:r>
          </a:p>
          <a:p>
            <a:r>
              <a:rPr lang="en-US" altLang="zh-CN" sz="1400"/>
              <a:t>    char str[]="I'm here.";</a:t>
            </a:r>
          </a:p>
          <a:p>
            <a:r>
              <a:rPr lang="en-US" altLang="zh-CN" sz="1400"/>
              <a:t>   </a:t>
            </a:r>
            <a:r>
              <a:rPr lang="en-US" altLang="zh-CN" sz="1400">
                <a:highlight>
                  <a:srgbClr val="FFFF00"/>
                </a:highlight>
              </a:rPr>
              <a:t> char *p = (char*)malloc(sizeof(char)*1024*1024*10);</a:t>
            </a:r>
          </a:p>
          <a:p>
            <a:r>
              <a:rPr lang="en-US" altLang="zh-CN" sz="1400"/>
              <a:t>   </a:t>
            </a:r>
            <a:r>
              <a:rPr lang="en-US" altLang="zh-CN" sz="1400">
                <a:highlight>
                  <a:srgbClr val="FFFF00"/>
                </a:highlight>
              </a:rPr>
              <a:t> if(p!=NULL){</a:t>
            </a:r>
          </a:p>
          <a:p>
            <a:r>
              <a:rPr lang="en-US" altLang="zh-CN" sz="1400">
                <a:highlight>
                  <a:srgbClr val="FFFF00"/>
                </a:highlight>
              </a:rPr>
              <a:t>        free(p);</a:t>
            </a:r>
          </a:p>
          <a:p>
            <a:r>
              <a:rPr lang="en-US" altLang="zh-CN" sz="1400">
                <a:highlight>
                  <a:srgbClr val="FFFF00"/>
                </a:highlight>
              </a:rPr>
              <a:t>        p=NULL;  </a:t>
            </a:r>
          </a:p>
          <a:p>
            <a:r>
              <a:rPr lang="en-US" altLang="zh-CN" sz="1400">
                <a:highlight>
                  <a:srgbClr val="FFFF00"/>
                </a:highlight>
              </a:rPr>
              <a:t>    }  </a:t>
            </a:r>
            <a:endParaRPr lang="en-US" altLang="zh-CN" sz="1400"/>
          </a:p>
          <a:p>
            <a:r>
              <a:rPr lang="en-US" altLang="zh-CN" sz="1400"/>
              <a:t>    return 0;            </a:t>
            </a:r>
          </a:p>
          <a:p>
            <a:r>
              <a:rPr lang="en-US" altLang="zh-CN" sz="1400"/>
              <a:t>}</a:t>
            </a:r>
          </a:p>
        </p:txBody>
      </p:sp>
      <p:sp>
        <p:nvSpPr>
          <p:cNvPr id="11" name="矩形 10"/>
          <p:cNvSpPr/>
          <p:nvPr/>
        </p:nvSpPr>
        <p:spPr>
          <a:xfrm>
            <a:off x="1611630" y="4895215"/>
            <a:ext cx="4484370" cy="1259840"/>
          </a:xfrm>
          <a:prstGeom prst="rect">
            <a:avLst/>
          </a:prstGeom>
          <a:noFill/>
          <a:ln>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文本框 14"/>
          <p:cNvSpPr txBox="1"/>
          <p:nvPr/>
        </p:nvSpPr>
        <p:spPr>
          <a:xfrm>
            <a:off x="6544945" y="4686300"/>
            <a:ext cx="1514475" cy="1276985"/>
          </a:xfrm>
          <a:prstGeom prst="rect">
            <a:avLst/>
          </a:prstGeom>
          <a:noFill/>
        </p:spPr>
        <p:txBody>
          <a:bodyPr wrap="square" rtlCol="0">
            <a:noAutofit/>
          </a:bodyPr>
          <a:lstStyle/>
          <a:p>
            <a:r>
              <a:rPr lang="en-US" altLang="zh-CN" sz="1400">
                <a:solidFill>
                  <a:srgbClr val="FFFF00"/>
                </a:solidFill>
              </a:rPr>
              <a:t>it’s ok to apply for a  large space on heap.</a:t>
            </a:r>
          </a:p>
          <a:p>
            <a:r>
              <a:rPr lang="en-US" altLang="zh-CN" sz="1400">
                <a:solidFill>
                  <a:srgbClr val="FFFF00"/>
                </a:solidFill>
              </a:rPr>
              <a:t>DO remember to free it. </a:t>
            </a:r>
          </a:p>
        </p:txBody>
      </p:sp>
      <p:cxnSp>
        <p:nvCxnSpPr>
          <p:cNvPr id="16" name="曲线连接符 15"/>
          <p:cNvCxnSpPr/>
          <p:nvPr/>
        </p:nvCxnSpPr>
        <p:spPr>
          <a:xfrm flipV="1">
            <a:off x="6160135" y="5506085"/>
            <a:ext cx="375285" cy="127635"/>
          </a:xfrm>
          <a:prstGeom prst="curvedConnector3">
            <a:avLst>
              <a:gd name="adj1" fmla="val 50085"/>
            </a:avLst>
          </a:prstGeom>
          <a:ln>
            <a:tailEnd type="arrow"/>
          </a:ln>
        </p:spPr>
        <p:style>
          <a:lnRef idx="2">
            <a:schemeClr val="accent1"/>
          </a:lnRef>
          <a:fillRef idx="0">
            <a:srgbClr val="FFFFFF"/>
          </a:fillRef>
          <a:effectRef idx="0">
            <a:srgbClr val="FFFFFF"/>
          </a:effectRef>
          <a:fontRef idx="minor">
            <a:schemeClr val="tx1"/>
          </a:fontRef>
        </p:style>
      </p:cxnSp>
      <p:sp>
        <p:nvSpPr>
          <p:cNvPr id="12" name="文本框 11"/>
          <p:cNvSpPr txBox="1"/>
          <p:nvPr/>
        </p:nvSpPr>
        <p:spPr>
          <a:xfrm>
            <a:off x="8216265" y="4140835"/>
            <a:ext cx="3618230" cy="2459990"/>
          </a:xfrm>
          <a:prstGeom prst="rect">
            <a:avLst/>
          </a:prstGeom>
          <a:noFill/>
        </p:spPr>
        <p:txBody>
          <a:bodyPr wrap="square" rtlCol="0">
            <a:noAutofit/>
          </a:bodyPr>
          <a:lstStyle/>
          <a:p>
            <a:r>
              <a:rPr lang="en-US" altLang="zh-CN" sz="1600"/>
              <a:t>Requesting a large space in the </a:t>
            </a:r>
            <a:r>
              <a:rPr lang="en-US" altLang="zh-CN" sz="1600" b="1"/>
              <a:t>heap </a:t>
            </a:r>
            <a:r>
              <a:rPr lang="en-US" altLang="zh-CN" sz="1600"/>
              <a:t>space would not lead to heap overflow.</a:t>
            </a:r>
          </a:p>
          <a:p>
            <a:endParaRPr lang="en-US" altLang="zh-CN" sz="1600"/>
          </a:p>
          <a:p>
            <a:r>
              <a:rPr lang="en-US" altLang="zh-CN" sz="1600"/>
              <a:t>In this demo, the size of the space is 1024*1024*10 sizeof char.</a:t>
            </a:r>
          </a:p>
          <a:p>
            <a:endParaRPr lang="en-US" altLang="zh-CN" sz="1600"/>
          </a:p>
          <a:p>
            <a:r>
              <a:rPr lang="en-US" altLang="zh-CN" sz="1600"/>
              <a:t>The space on heap for C/C++ is managed by programmer.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sym typeface="+mn-ea"/>
              </a:rPr>
              <a:t>Memory Managment-</a:t>
            </a:r>
            <a:r>
              <a:rPr lang="en-US" altLang="zh-CN"/>
              <a:t>C/C++ VS Python(1)</a:t>
            </a:r>
            <a:endParaRPr lang="zh-CN" altLang="en-US"/>
          </a:p>
        </p:txBody>
      </p:sp>
      <p:sp>
        <p:nvSpPr>
          <p:cNvPr id="4" name="文本框 3"/>
          <p:cNvSpPr txBox="1"/>
          <p:nvPr/>
        </p:nvSpPr>
        <p:spPr>
          <a:xfrm>
            <a:off x="5605780" y="6303010"/>
            <a:ext cx="4838700" cy="368300"/>
          </a:xfrm>
          <a:prstGeom prst="rect">
            <a:avLst/>
          </a:prstGeom>
          <a:noFill/>
        </p:spPr>
        <p:txBody>
          <a:bodyPr wrap="square" rtlCol="0" anchor="t">
            <a:spAutoFit/>
          </a:bodyPr>
          <a:lstStyle/>
          <a:p>
            <a:r>
              <a:rPr lang="en-US" altLang="zh-CN" dirty="0"/>
              <a:t>https://</a:t>
            </a:r>
            <a:r>
              <a:rPr lang="en-US" altLang="zh-CN" dirty="0" err="1"/>
              <a:t>docs.python.org</a:t>
            </a:r>
            <a:r>
              <a:rPr lang="en-US" altLang="zh-CN" dirty="0"/>
              <a:t>/3/c-</a:t>
            </a:r>
            <a:r>
              <a:rPr lang="en-US" altLang="zh-CN" dirty="0" err="1"/>
              <a:t>api</a:t>
            </a:r>
            <a:r>
              <a:rPr lang="en-US" altLang="zh-CN" dirty="0"/>
              <a:t>/</a:t>
            </a:r>
            <a:r>
              <a:rPr lang="en-US" altLang="zh-CN" dirty="0" err="1"/>
              <a:t>memory.html</a:t>
            </a:r>
            <a:endParaRPr lang="zh-CN" altLang="en-US" dirty="0"/>
          </a:p>
        </p:txBody>
      </p:sp>
      <p:pic>
        <p:nvPicPr>
          <p:cNvPr id="6" name="图片 5"/>
          <p:cNvPicPr>
            <a:picLocks noChangeAspect="1"/>
          </p:cNvPicPr>
          <p:nvPr/>
        </p:nvPicPr>
        <p:blipFill>
          <a:blip r:embed="rId3"/>
          <a:stretch>
            <a:fillRect/>
          </a:stretch>
        </p:blipFill>
        <p:spPr>
          <a:xfrm>
            <a:off x="7967980" y="1781175"/>
            <a:ext cx="2695575" cy="3276600"/>
          </a:xfrm>
          <a:prstGeom prst="rect">
            <a:avLst/>
          </a:prstGeom>
        </p:spPr>
      </p:pic>
      <p:graphicFrame>
        <p:nvGraphicFramePr>
          <p:cNvPr id="7" name="表格 6"/>
          <p:cNvGraphicFramePr/>
          <p:nvPr>
            <p:custDataLst>
              <p:tags r:id="rId1"/>
            </p:custDataLst>
            <p:extLst>
              <p:ext uri="{D42A27DB-BD31-4B8C-83A1-F6EECF244321}">
                <p14:modId xmlns:p14="http://schemas.microsoft.com/office/powerpoint/2010/main" val="3208437343"/>
              </p:ext>
            </p:extLst>
          </p:nvPr>
        </p:nvGraphicFramePr>
        <p:xfrm>
          <a:off x="876300" y="1323975"/>
          <a:ext cx="6904355" cy="4665345"/>
        </p:xfrm>
        <a:graphic>
          <a:graphicData uri="http://schemas.openxmlformats.org/drawingml/2006/table">
            <a:tbl>
              <a:tblPr firstRow="1" bandRow="1">
                <a:tableStyleId>{5C22544A-7EE6-4342-B048-85BDC9FD1C3A}</a:tableStyleId>
              </a:tblPr>
              <a:tblGrid>
                <a:gridCol w="2063115">
                  <a:extLst>
                    <a:ext uri="{9D8B030D-6E8A-4147-A177-3AD203B41FA5}">
                      <a16:colId xmlns:a16="http://schemas.microsoft.com/office/drawing/2014/main" val="20000"/>
                    </a:ext>
                  </a:extLst>
                </a:gridCol>
                <a:gridCol w="2349500">
                  <a:extLst>
                    <a:ext uri="{9D8B030D-6E8A-4147-A177-3AD203B41FA5}">
                      <a16:colId xmlns:a16="http://schemas.microsoft.com/office/drawing/2014/main" val="20001"/>
                    </a:ext>
                  </a:extLst>
                </a:gridCol>
                <a:gridCol w="2491740">
                  <a:extLst>
                    <a:ext uri="{9D8B030D-6E8A-4147-A177-3AD203B41FA5}">
                      <a16:colId xmlns:a16="http://schemas.microsoft.com/office/drawing/2014/main" val="20002"/>
                    </a:ext>
                  </a:extLst>
                </a:gridCol>
              </a:tblGrid>
              <a:tr h="366395">
                <a:tc>
                  <a:txBody>
                    <a:bodyPr/>
                    <a:lstStyle/>
                    <a:p>
                      <a:pPr>
                        <a:buNone/>
                      </a:pPr>
                      <a:endParaRPr lang="zh-CN" altLang="en-US"/>
                    </a:p>
                  </a:txBody>
                  <a:tcPr/>
                </a:tc>
                <a:tc>
                  <a:txBody>
                    <a:bodyPr/>
                    <a:lstStyle/>
                    <a:p>
                      <a:pPr>
                        <a:buNone/>
                      </a:pPr>
                      <a:r>
                        <a:rPr lang="en-US" altLang="zh-CN"/>
                        <a:t>C/C++</a:t>
                      </a:r>
                    </a:p>
                  </a:txBody>
                  <a:tcPr/>
                </a:tc>
                <a:tc>
                  <a:txBody>
                    <a:bodyPr/>
                    <a:lstStyle/>
                    <a:p>
                      <a:pPr>
                        <a:buNone/>
                      </a:pPr>
                      <a:r>
                        <a:rPr lang="en-US" altLang="zh-CN"/>
                        <a:t>Python</a:t>
                      </a:r>
                    </a:p>
                  </a:txBody>
                  <a:tcPr/>
                </a:tc>
                <a:extLst>
                  <a:ext uri="{0D108BD9-81ED-4DB2-BD59-A6C34878D82A}">
                    <a16:rowId xmlns:a16="http://schemas.microsoft.com/office/drawing/2014/main" val="10000"/>
                  </a:ext>
                </a:extLst>
              </a:tr>
              <a:tr h="366395">
                <a:tc>
                  <a:txBody>
                    <a:bodyPr/>
                    <a:lstStyle/>
                    <a:p>
                      <a:pPr>
                        <a:buNone/>
                      </a:pPr>
                      <a:r>
                        <a:rPr lang="en-US" altLang="zh-CN" sz="1800">
                          <a:sym typeface="+mn-ea"/>
                        </a:rPr>
                        <a:t>Language </a:t>
                      </a:r>
                      <a:r>
                        <a:rPr lang="en-US" altLang="zh-CN"/>
                        <a:t>Type</a:t>
                      </a:r>
                    </a:p>
                  </a:txBody>
                  <a:tcPr/>
                </a:tc>
                <a:tc>
                  <a:txBody>
                    <a:bodyPr/>
                    <a:lstStyle/>
                    <a:p>
                      <a:pPr>
                        <a:buNone/>
                      </a:pPr>
                      <a:r>
                        <a:rPr lang="en-US" altLang="zh-CN"/>
                        <a:t>Compiled  </a:t>
                      </a:r>
                    </a:p>
                  </a:txBody>
                  <a:tcPr/>
                </a:tc>
                <a:tc>
                  <a:txBody>
                    <a:bodyPr/>
                    <a:lstStyle/>
                    <a:p>
                      <a:pPr>
                        <a:buNone/>
                      </a:pPr>
                      <a:r>
                        <a:rPr lang="en-US" altLang="zh-CN" sz="1800">
                          <a:sym typeface="+mn-ea"/>
                        </a:rPr>
                        <a:t>Interpreted </a:t>
                      </a:r>
                      <a:endParaRPr lang="zh-CN" altLang="en-US"/>
                    </a:p>
                  </a:txBody>
                  <a:tcPr/>
                </a:tc>
                <a:extLst>
                  <a:ext uri="{0D108BD9-81ED-4DB2-BD59-A6C34878D82A}">
                    <a16:rowId xmlns:a16="http://schemas.microsoft.com/office/drawing/2014/main" val="10001"/>
                  </a:ext>
                </a:extLst>
              </a:tr>
              <a:tr h="366395">
                <a:tc>
                  <a:txBody>
                    <a:bodyPr/>
                    <a:lstStyle/>
                    <a:p>
                      <a:pPr>
                        <a:buNone/>
                      </a:pPr>
                      <a:r>
                        <a:rPr lang="en-US" altLang="zh-CN" dirty="0"/>
                        <a:t>Operating efficiency </a:t>
                      </a:r>
                    </a:p>
                  </a:txBody>
                  <a:tcPr/>
                </a:tc>
                <a:tc>
                  <a:txBody>
                    <a:bodyPr/>
                    <a:lstStyle/>
                    <a:p>
                      <a:pPr>
                        <a:buNone/>
                      </a:pPr>
                      <a:r>
                        <a:rPr lang="en-US" altLang="zh-CN" dirty="0"/>
                        <a:t>Faster,</a:t>
                      </a:r>
                    </a:p>
                    <a:p>
                      <a:pPr>
                        <a:buNone/>
                      </a:pPr>
                      <a:r>
                        <a:rPr lang="en-US" altLang="zh-CN" dirty="0"/>
                        <a:t>real time</a:t>
                      </a:r>
                    </a:p>
                  </a:txBody>
                  <a:tcPr/>
                </a:tc>
                <a:tc>
                  <a:txBody>
                    <a:bodyPr/>
                    <a:lstStyle/>
                    <a:p>
                      <a:pPr>
                        <a:buNone/>
                      </a:pPr>
                      <a:r>
                        <a:rPr lang="en-US" altLang="zh-CN" dirty="0"/>
                        <a:t>Slower</a:t>
                      </a:r>
                    </a:p>
                  </a:txBody>
                  <a:tcPr/>
                </a:tc>
                <a:extLst>
                  <a:ext uri="{0D108BD9-81ED-4DB2-BD59-A6C34878D82A}">
                    <a16:rowId xmlns:a16="http://schemas.microsoft.com/office/drawing/2014/main" val="10002"/>
                  </a:ext>
                </a:extLst>
              </a:tr>
              <a:tr h="1093470">
                <a:tc>
                  <a:txBody>
                    <a:bodyPr/>
                    <a:lstStyle/>
                    <a:p>
                      <a:pPr>
                        <a:buNone/>
                      </a:pPr>
                      <a:r>
                        <a:rPr lang="en-US" altLang="zh-CN" sz="1800">
                          <a:sym typeface="+mn-ea"/>
                        </a:rPr>
                        <a:t>Static/dynamic type</a:t>
                      </a:r>
                      <a:endParaRPr lang="en-US" altLang="zh-CN"/>
                    </a:p>
                  </a:txBody>
                  <a:tcPr/>
                </a:tc>
                <a:tc>
                  <a:txBody>
                    <a:bodyPr/>
                    <a:lstStyle/>
                    <a:p>
                      <a:pPr>
                        <a:buNone/>
                      </a:pPr>
                      <a:r>
                        <a:rPr lang="en-US" altLang="zh-CN"/>
                        <a:t>Static type languages determine variable types at compile time</a:t>
                      </a:r>
                    </a:p>
                  </a:txBody>
                  <a:tcPr/>
                </a:tc>
                <a:tc>
                  <a:txBody>
                    <a:bodyPr/>
                    <a:lstStyle/>
                    <a:p>
                      <a:pPr>
                        <a:buNone/>
                      </a:pPr>
                      <a:r>
                        <a:rPr lang="en-US" altLang="zh-CN" sz="1800" dirty="0">
                          <a:sym typeface="+mn-ea"/>
                        </a:rPr>
                        <a:t>Dynamic type languages determine variable types at runtime.</a:t>
                      </a:r>
                      <a:endParaRPr lang="en-US" altLang="zh-CN" sz="1800" dirty="0"/>
                    </a:p>
                    <a:p>
                      <a:pPr>
                        <a:buNone/>
                      </a:pPr>
                      <a:endParaRPr lang="en-US" altLang="zh-CN" dirty="0"/>
                    </a:p>
                  </a:txBody>
                  <a:tcPr/>
                </a:tc>
                <a:extLst>
                  <a:ext uri="{0D108BD9-81ED-4DB2-BD59-A6C34878D82A}">
                    <a16:rowId xmlns:a16="http://schemas.microsoft.com/office/drawing/2014/main" val="10003"/>
                  </a:ext>
                </a:extLst>
              </a:tr>
              <a:tr h="366395">
                <a:tc>
                  <a:txBody>
                    <a:bodyPr/>
                    <a:lstStyle/>
                    <a:p>
                      <a:pPr>
                        <a:buNone/>
                      </a:pPr>
                      <a:r>
                        <a:rPr lang="en-US" altLang="zh-CN"/>
                        <a:t>Memory Mangment</a:t>
                      </a:r>
                    </a:p>
                  </a:txBody>
                  <a:tcPr/>
                </a:tc>
                <a:tc>
                  <a:txBody>
                    <a:bodyPr/>
                    <a:lstStyle/>
                    <a:p>
                      <a:pPr>
                        <a:buNone/>
                      </a:pPr>
                      <a:r>
                        <a:rPr lang="en-US" altLang="zh-CN"/>
                        <a:t>1. Compiler + System for non-heap space</a:t>
                      </a:r>
                    </a:p>
                    <a:p>
                      <a:pPr>
                        <a:buNone/>
                      </a:pPr>
                      <a:endParaRPr lang="en-US" altLang="zh-CN"/>
                    </a:p>
                    <a:p>
                      <a:pPr>
                        <a:buNone/>
                      </a:pPr>
                      <a:r>
                        <a:rPr lang="en-US" altLang="zh-CN"/>
                        <a:t>2. programmer for heap</a:t>
                      </a:r>
                    </a:p>
                  </a:txBody>
                  <a:tcPr/>
                </a:tc>
                <a:tc>
                  <a:txBody>
                    <a:bodyPr/>
                    <a:lstStyle/>
                    <a:p>
                      <a:pPr>
                        <a:buNone/>
                      </a:pPr>
                      <a:r>
                        <a:rPr lang="en-US" altLang="zh-CN"/>
                        <a:t>1. interpreter for most situation</a:t>
                      </a:r>
                    </a:p>
                    <a:p>
                      <a:pPr>
                        <a:buNone/>
                      </a:pPr>
                      <a:endParaRPr lang="en-US" altLang="zh-CN"/>
                    </a:p>
                    <a:p>
                      <a:pPr>
                        <a:buNone/>
                      </a:pPr>
                      <a:r>
                        <a:rPr lang="en-US" altLang="zh-CN"/>
                        <a:t>2. garbage collector used by programmer for very few situation </a:t>
                      </a:r>
                    </a:p>
                  </a:txBody>
                  <a:tcPr/>
                </a:tc>
                <a:extLst>
                  <a:ext uri="{0D108BD9-81ED-4DB2-BD59-A6C34878D82A}">
                    <a16:rowId xmlns:a16="http://schemas.microsoft.com/office/drawing/2014/main" val="10004"/>
                  </a:ext>
                </a:extLst>
              </a:tr>
              <a:tr h="366395">
                <a:tc>
                  <a:txBody>
                    <a:bodyPr/>
                    <a:lstStyle/>
                    <a:p>
                      <a:pPr>
                        <a:buNone/>
                      </a:pPr>
                      <a:r>
                        <a:rPr lang="en-US" altLang="zh-CN"/>
                        <a:t>others</a:t>
                      </a:r>
                    </a:p>
                  </a:txBody>
                  <a:tcPr/>
                </a:tc>
                <a:tc>
                  <a:txBody>
                    <a:bodyPr/>
                    <a:lstStyle/>
                    <a:p>
                      <a:pPr>
                        <a:buNone/>
                      </a:pPr>
                      <a:r>
                        <a:rPr lang="en-US" altLang="zh-CN"/>
                        <a:t>...</a:t>
                      </a:r>
                    </a:p>
                  </a:txBody>
                  <a:tcPr/>
                </a:tc>
                <a:tc>
                  <a:txBody>
                    <a:bodyPr/>
                    <a:lstStyle/>
                    <a:p>
                      <a:pPr>
                        <a:buNone/>
                      </a:pPr>
                      <a:r>
                        <a:rPr lang="en-US" altLang="zh-CN" dirty="0"/>
                        <a:t>...</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12936" y="1373029"/>
            <a:ext cx="3235769" cy="4111941"/>
          </a:xfrm>
        </p:spPr>
        <p:txBody>
          <a:bodyPr>
            <a:normAutofit/>
          </a:bodyPr>
          <a:lstStyle/>
          <a:p>
            <a:pPr marL="128905" lvl="1" indent="0">
              <a:spcBef>
                <a:spcPts val="1410"/>
              </a:spcBef>
              <a:buSzPct val="68000"/>
              <a:buNone/>
            </a:pPr>
            <a:r>
              <a:rPr lang="en-US" dirty="0"/>
              <a:t>Run the program and explain the result to SA. </a:t>
            </a:r>
          </a:p>
          <a:p>
            <a:pPr marL="128905" lvl="1" indent="0">
              <a:spcBef>
                <a:spcPts val="1410"/>
              </a:spcBef>
              <a:buSzPct val="68000"/>
              <a:buNone/>
            </a:pPr>
            <a:endParaRPr lang="en-US" dirty="0"/>
          </a:p>
          <a:p>
            <a:pPr marL="128905" lvl="1" indent="0">
              <a:spcBef>
                <a:spcPts val="1410"/>
              </a:spcBef>
              <a:buSzPct val="68000"/>
              <a:buNone/>
            </a:pPr>
            <a:endParaRPr lang="en-US" dirty="0"/>
          </a:p>
          <a:p>
            <a:pPr marL="128905" lvl="1" indent="0">
              <a:spcBef>
                <a:spcPts val="1410"/>
              </a:spcBef>
              <a:buSzPct val="68000"/>
              <a:buNone/>
            </a:pPr>
            <a:endParaRPr lang="zh-CN" altLang="en-US" dirty="0"/>
          </a:p>
        </p:txBody>
      </p:sp>
      <p:sp>
        <p:nvSpPr>
          <p:cNvPr id="7170" name="Title 1"/>
          <p:cNvSpPr>
            <a:spLocks noGrp="1"/>
          </p:cNvSpPr>
          <p:nvPr>
            <p:ph type="title"/>
          </p:nvPr>
        </p:nvSpPr>
        <p:spPr>
          <a:xfrm>
            <a:off x="1390744" y="338589"/>
            <a:ext cx="6980370" cy="697002"/>
          </a:xfrm>
        </p:spPr>
        <p:txBody>
          <a:bodyPr>
            <a:noAutofit/>
          </a:bodyPr>
          <a:lstStyle/>
          <a:p>
            <a:r>
              <a:rPr lang="en-US" altLang="zh-CN" sz="4705" dirty="0"/>
              <a:t>Exercise 1</a:t>
            </a:r>
          </a:p>
        </p:txBody>
      </p:sp>
      <p:sp>
        <p:nvSpPr>
          <p:cNvPr id="5" name="文本框 4"/>
          <p:cNvSpPr txBox="1"/>
          <p:nvPr/>
        </p:nvSpPr>
        <p:spPr>
          <a:xfrm>
            <a:off x="1086984" y="1447975"/>
            <a:ext cx="7587889" cy="4616648"/>
          </a:xfrm>
          <a:prstGeom prst="rect">
            <a:avLst/>
          </a:prstGeom>
          <a:solidFill>
            <a:schemeClr val="accent5">
              <a:lumMod val="20000"/>
              <a:lumOff val="80000"/>
            </a:schemeClr>
          </a:solidFill>
          <a:ln>
            <a:solidFill>
              <a:srgbClr val="002060"/>
            </a:solidFill>
          </a:ln>
        </p:spPr>
        <p:txBody>
          <a:bodyPr wrap="square" rtlCol="0">
            <a:spAutoFit/>
          </a:bodyPr>
          <a:lstStyle/>
          <a:p>
            <a:pPr algn="l"/>
            <a:r>
              <a:rPr lang="en-US" altLang="zh-CN" sz="1400" kern="0" dirty="0">
                <a:solidFill>
                  <a:srgbClr val="AF00DB"/>
                </a:solidFill>
                <a:effectLst/>
                <a:latin typeface="Menlo" panose="020B0609030804020204" pitchFamily="49" charset="0"/>
                <a:ea typeface="宋体" panose="02010600030101010101" pitchFamily="2" charset="-122"/>
                <a:cs typeface="Times New Roman" panose="02020603050405020304" pitchFamily="18" charset="0"/>
              </a:rPr>
              <a:t>#include</a:t>
            </a:r>
            <a:r>
              <a:rPr lang="en-US" altLang="zh-CN" sz="14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&lt;</a:t>
            </a:r>
            <a:r>
              <a:rPr lang="en-US" altLang="zh-CN" sz="1400" kern="0" dirty="0" err="1">
                <a:solidFill>
                  <a:srgbClr val="A31515"/>
                </a:solidFill>
                <a:effectLst/>
                <a:latin typeface="Menlo" panose="020B0609030804020204" pitchFamily="49" charset="0"/>
                <a:ea typeface="宋体" panose="02010600030101010101" pitchFamily="2" charset="-122"/>
                <a:cs typeface="Times New Roman" panose="02020603050405020304" pitchFamily="18" charset="0"/>
              </a:rPr>
              <a:t>stdio.h</a:t>
            </a:r>
            <a:r>
              <a:rPr lang="en-US" altLang="zh-CN" sz="14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&gt;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int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795E26"/>
                </a:solidFill>
                <a:effectLst/>
                <a:latin typeface="Menlo" panose="020B0609030804020204" pitchFamily="49" charset="0"/>
                <a:ea typeface="宋体" panose="02010600030101010101" pitchFamily="2" charset="-122"/>
                <a:cs typeface="Times New Roman" panose="02020603050405020304" pitchFamily="18" charset="0"/>
              </a:rPr>
              <a:t>main</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int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numbers1</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 {</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2</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4</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6</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8</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10</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int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sum</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 </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0</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int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p1</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 &amp;</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numbers1</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1</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err="1">
                <a:solidFill>
                  <a:srgbClr val="795E26"/>
                </a:solidFill>
                <a:effectLst/>
                <a:latin typeface="Menlo" panose="020B0609030804020204" pitchFamily="49" charset="0"/>
                <a:ea typeface="宋体" panose="02010600030101010101" pitchFamily="2" charset="-122"/>
                <a:cs typeface="Times New Roman" panose="02020603050405020304" pitchFamily="18" charset="0"/>
              </a:rPr>
              <a:t>printf</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"numbers1 = </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%p</a:t>
            </a:r>
            <a:r>
              <a:rPr lang="en-US" altLang="zh-CN" sz="1400" kern="0" dirty="0">
                <a:solidFill>
                  <a:srgbClr val="EE0000"/>
                </a:solidFill>
                <a:effectLst/>
                <a:latin typeface="Menlo" panose="020B0609030804020204" pitchFamily="49" charset="0"/>
                <a:ea typeface="宋体" panose="02010600030101010101" pitchFamily="2" charset="-122"/>
                <a:cs typeface="Times New Roman" panose="02020603050405020304" pitchFamily="18" charset="0"/>
              </a:rPr>
              <a:t>\n</a:t>
            </a:r>
            <a:r>
              <a:rPr lang="en-US" altLang="zh-CN" sz="14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numbers1</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err="1">
                <a:solidFill>
                  <a:srgbClr val="795E26"/>
                </a:solidFill>
                <a:effectLst/>
                <a:latin typeface="Menlo" panose="020B0609030804020204" pitchFamily="49" charset="0"/>
                <a:ea typeface="宋体" panose="02010600030101010101" pitchFamily="2" charset="-122"/>
                <a:cs typeface="Times New Roman" panose="02020603050405020304" pitchFamily="18" charset="0"/>
              </a:rPr>
              <a:t>printf</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"p1       = </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%p</a:t>
            </a:r>
            <a:r>
              <a:rPr lang="en-US" altLang="zh-CN" sz="1400" kern="0" dirty="0">
                <a:solidFill>
                  <a:srgbClr val="EE0000"/>
                </a:solidFill>
                <a:effectLst/>
                <a:latin typeface="Menlo" panose="020B0609030804020204" pitchFamily="49" charset="0"/>
                <a:ea typeface="宋体" panose="02010600030101010101" pitchFamily="2" charset="-122"/>
                <a:cs typeface="Times New Roman" panose="02020603050405020304" pitchFamily="18" charset="0"/>
              </a:rPr>
              <a:t>\n</a:t>
            </a:r>
            <a:r>
              <a:rPr lang="en-US" altLang="zh-CN" sz="14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p1</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AF00DB"/>
                </a:solidFill>
                <a:effectLst/>
                <a:latin typeface="Menlo" panose="020B0609030804020204" pitchFamily="49" charset="0"/>
                <a:ea typeface="宋体" panose="02010600030101010101" pitchFamily="2" charset="-122"/>
                <a:cs typeface="Times New Roman" panose="02020603050405020304" pitchFamily="18" charset="0"/>
              </a:rPr>
              <a:t>for</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int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err="1">
                <a:solidFill>
                  <a:srgbClr val="001080"/>
                </a:solidFill>
                <a:effectLst/>
                <a:latin typeface="Menlo" panose="020B0609030804020204" pitchFamily="49" charset="0"/>
                <a:ea typeface="宋体" panose="02010600030101010101" pitchFamily="2" charset="-122"/>
                <a:cs typeface="Times New Roman" panose="02020603050405020304" pitchFamily="18" charset="0"/>
              </a:rPr>
              <a:t>i</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 </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0</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err="1">
                <a:solidFill>
                  <a:srgbClr val="001080"/>
                </a:solidFill>
                <a:effectLst/>
                <a:latin typeface="Menlo" panose="020B0609030804020204" pitchFamily="49" charset="0"/>
                <a:ea typeface="宋体" panose="02010600030101010101" pitchFamily="2" charset="-122"/>
                <a:cs typeface="Times New Roman" panose="02020603050405020304" pitchFamily="18" charset="0"/>
              </a:rPr>
              <a:t>i</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&lt; </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3</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err="1">
                <a:solidFill>
                  <a:srgbClr val="001080"/>
                </a:solidFill>
                <a:effectLst/>
                <a:latin typeface="Menlo" panose="020B0609030804020204" pitchFamily="49" charset="0"/>
                <a:ea typeface="宋体" panose="02010600030101010101" pitchFamily="2" charset="-122"/>
                <a:cs typeface="Times New Roman" panose="02020603050405020304" pitchFamily="18" charset="0"/>
              </a:rPr>
              <a:t>i</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sum</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 *(</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p1</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i</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err="1">
                <a:solidFill>
                  <a:srgbClr val="795E26"/>
                </a:solidFill>
                <a:effectLst/>
                <a:latin typeface="Menlo" panose="020B0609030804020204" pitchFamily="49" charset="0"/>
                <a:ea typeface="宋体" panose="02010600030101010101" pitchFamily="2" charset="-122"/>
                <a:cs typeface="Times New Roman" panose="02020603050405020304" pitchFamily="18" charset="0"/>
              </a:rPr>
              <a:t>printf</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"sum      = </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%d</a:t>
            </a:r>
            <a:r>
              <a:rPr lang="en-US" altLang="zh-CN" sz="1400" kern="0" dirty="0">
                <a:solidFill>
                  <a:srgbClr val="EE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err="1">
                <a:solidFill>
                  <a:srgbClr val="EE0000"/>
                </a:solidFill>
                <a:effectLst/>
                <a:latin typeface="Menlo" panose="020B0609030804020204" pitchFamily="49" charset="0"/>
                <a:ea typeface="宋体" panose="02010600030101010101" pitchFamily="2" charset="-122"/>
                <a:cs typeface="Times New Roman" panose="02020603050405020304" pitchFamily="18" charset="0"/>
              </a:rPr>
              <a:t>n</a:t>
            </a:r>
            <a:r>
              <a:rPr lang="en-US" altLang="zh-CN" sz="1400" kern="0" dirty="0" err="1">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err="1">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err="1">
                <a:solidFill>
                  <a:srgbClr val="001080"/>
                </a:solidFill>
                <a:effectLst/>
                <a:latin typeface="Menlo" panose="020B0609030804020204" pitchFamily="49" charset="0"/>
                <a:ea typeface="宋体" panose="02010600030101010101" pitchFamily="2" charset="-122"/>
                <a:cs typeface="Times New Roman" panose="02020603050405020304" pitchFamily="18" charset="0"/>
              </a:rPr>
              <a:t>sum</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int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numbers2</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5</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1</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2</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3</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4</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5</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int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p2</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int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*)(&amp;</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numbers2</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 </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1</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err="1">
                <a:solidFill>
                  <a:srgbClr val="795E26"/>
                </a:solidFill>
                <a:effectLst/>
                <a:latin typeface="Menlo" panose="020B0609030804020204" pitchFamily="49" charset="0"/>
                <a:ea typeface="宋体" panose="02010600030101010101" pitchFamily="2" charset="-122"/>
                <a:cs typeface="Times New Roman" panose="02020603050405020304" pitchFamily="18" charset="0"/>
              </a:rPr>
              <a:t>printf</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"numbers2     = </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%p</a:t>
            </a:r>
            <a:r>
              <a:rPr lang="en-US" altLang="zh-CN" sz="1400" kern="0" dirty="0">
                <a:solidFill>
                  <a:srgbClr val="EE0000"/>
                </a:solidFill>
                <a:effectLst/>
                <a:latin typeface="Menlo" panose="020B0609030804020204" pitchFamily="49" charset="0"/>
                <a:ea typeface="宋体" panose="02010600030101010101" pitchFamily="2" charset="-122"/>
                <a:cs typeface="Times New Roman" panose="02020603050405020304" pitchFamily="18" charset="0"/>
              </a:rPr>
              <a:t>\n</a:t>
            </a:r>
            <a:r>
              <a:rPr lang="en-US" altLang="zh-CN" sz="14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numbers2</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err="1">
                <a:solidFill>
                  <a:srgbClr val="795E26"/>
                </a:solidFill>
                <a:effectLst/>
                <a:latin typeface="Menlo" panose="020B0609030804020204" pitchFamily="49" charset="0"/>
                <a:ea typeface="宋体" panose="02010600030101010101" pitchFamily="2" charset="-122"/>
                <a:cs typeface="Times New Roman" panose="02020603050405020304" pitchFamily="18" charset="0"/>
              </a:rPr>
              <a:t>printf</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"numbers2 + 4 = </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%p</a:t>
            </a:r>
            <a:r>
              <a:rPr lang="en-US" altLang="zh-CN" sz="1400" kern="0" dirty="0">
                <a:solidFill>
                  <a:srgbClr val="EE0000"/>
                </a:solidFill>
                <a:effectLst/>
                <a:latin typeface="Menlo" panose="020B0609030804020204" pitchFamily="49" charset="0"/>
                <a:ea typeface="宋体" panose="02010600030101010101" pitchFamily="2" charset="-122"/>
                <a:cs typeface="Times New Roman" panose="02020603050405020304" pitchFamily="18" charset="0"/>
              </a:rPr>
              <a:t>\n</a:t>
            </a:r>
            <a:r>
              <a:rPr lang="en-US" altLang="zh-CN" sz="14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numbers2</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 </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4</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err="1">
                <a:solidFill>
                  <a:srgbClr val="795E26"/>
                </a:solidFill>
                <a:effectLst/>
                <a:latin typeface="Menlo" panose="020B0609030804020204" pitchFamily="49" charset="0"/>
                <a:ea typeface="宋体" panose="02010600030101010101" pitchFamily="2" charset="-122"/>
                <a:cs typeface="Times New Roman" panose="02020603050405020304" pitchFamily="18" charset="0"/>
              </a:rPr>
              <a:t>printf</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"p2           = </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%p</a:t>
            </a:r>
            <a:r>
              <a:rPr lang="en-US" altLang="zh-CN" sz="1400" kern="0" dirty="0">
                <a:solidFill>
                  <a:srgbClr val="EE0000"/>
                </a:solidFill>
                <a:effectLst/>
                <a:latin typeface="Menlo" panose="020B0609030804020204" pitchFamily="49" charset="0"/>
                <a:ea typeface="宋体" panose="02010600030101010101" pitchFamily="2" charset="-122"/>
                <a:cs typeface="Times New Roman" panose="02020603050405020304" pitchFamily="18" charset="0"/>
              </a:rPr>
              <a:t>\n</a:t>
            </a:r>
            <a:r>
              <a:rPr lang="en-US" altLang="zh-CN" sz="14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p2</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err="1">
                <a:solidFill>
                  <a:srgbClr val="795E26"/>
                </a:solidFill>
                <a:effectLst/>
                <a:latin typeface="Menlo" panose="020B0609030804020204" pitchFamily="49" charset="0"/>
                <a:ea typeface="宋体" panose="02010600030101010101" pitchFamily="2" charset="-122"/>
                <a:cs typeface="Times New Roman" panose="02020603050405020304" pitchFamily="18" charset="0"/>
              </a:rPr>
              <a:t>printf</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"*(numbers2+1)= </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%d</a:t>
            </a:r>
            <a:r>
              <a:rPr lang="en-US" altLang="zh-CN" sz="1400" kern="0" dirty="0">
                <a:solidFill>
                  <a:srgbClr val="EE0000"/>
                </a:solidFill>
                <a:effectLst/>
                <a:latin typeface="Menlo" panose="020B0609030804020204" pitchFamily="49" charset="0"/>
                <a:ea typeface="宋体" panose="02010600030101010101" pitchFamily="2" charset="-122"/>
                <a:cs typeface="Times New Roman" panose="02020603050405020304" pitchFamily="18" charset="0"/>
              </a:rPr>
              <a:t>\n</a:t>
            </a:r>
            <a:r>
              <a:rPr lang="en-US" altLang="zh-CN" sz="14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numbers2</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1</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err="1">
                <a:solidFill>
                  <a:srgbClr val="795E26"/>
                </a:solidFill>
                <a:effectLst/>
                <a:latin typeface="Menlo" panose="020B0609030804020204" pitchFamily="49" charset="0"/>
                <a:ea typeface="宋体" panose="02010600030101010101" pitchFamily="2" charset="-122"/>
                <a:cs typeface="Times New Roman" panose="02020603050405020304" pitchFamily="18" charset="0"/>
              </a:rPr>
              <a:t>printf</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"(p2-1)       = </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%d</a:t>
            </a:r>
            <a:r>
              <a:rPr lang="en-US" altLang="zh-CN" sz="1400" kern="0" dirty="0">
                <a:solidFill>
                  <a:srgbClr val="EE0000"/>
                </a:solidFill>
                <a:effectLst/>
                <a:latin typeface="Menlo" panose="020B0609030804020204" pitchFamily="49" charset="0"/>
                <a:ea typeface="宋体" panose="02010600030101010101" pitchFamily="2" charset="-122"/>
                <a:cs typeface="Times New Roman" panose="02020603050405020304" pitchFamily="18" charset="0"/>
              </a:rPr>
              <a:t>\n</a:t>
            </a:r>
            <a:r>
              <a:rPr lang="en-US" altLang="zh-CN" sz="14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p2</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1</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AF00DB"/>
                </a:solidFill>
                <a:effectLst/>
                <a:latin typeface="Menlo" panose="020B0609030804020204" pitchFamily="49" charset="0"/>
                <a:ea typeface="宋体" panose="02010600030101010101" pitchFamily="2" charset="-122"/>
                <a:cs typeface="Times New Roman" panose="02020603050405020304" pitchFamily="18" charset="0"/>
              </a:rPr>
              <a:t>return</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0</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456330" y="1444404"/>
            <a:ext cx="2735670" cy="1520555"/>
          </a:xfrm>
        </p:spPr>
        <p:txBody>
          <a:bodyPr>
            <a:normAutofit/>
          </a:bodyPr>
          <a:lstStyle/>
          <a:p>
            <a:pPr marL="128905" lvl="1" indent="0">
              <a:spcBef>
                <a:spcPts val="1410"/>
              </a:spcBef>
              <a:buSzPct val="68000"/>
              <a:buNone/>
            </a:pPr>
            <a:r>
              <a:rPr lang="en-US" dirty="0"/>
              <a:t>Run the program and explain the result to SA. </a:t>
            </a:r>
          </a:p>
          <a:p>
            <a:pPr marL="128905" lvl="1" indent="0">
              <a:spcBef>
                <a:spcPts val="1410"/>
              </a:spcBef>
              <a:buSzPct val="68000"/>
              <a:buNone/>
            </a:pPr>
            <a:endParaRPr lang="zh-CN" altLang="en-US" dirty="0"/>
          </a:p>
        </p:txBody>
      </p:sp>
      <p:sp>
        <p:nvSpPr>
          <p:cNvPr id="7170" name="Title 1"/>
          <p:cNvSpPr>
            <a:spLocks noGrp="1"/>
          </p:cNvSpPr>
          <p:nvPr>
            <p:ph type="title"/>
          </p:nvPr>
        </p:nvSpPr>
        <p:spPr>
          <a:xfrm>
            <a:off x="1390744" y="338589"/>
            <a:ext cx="6980370" cy="697002"/>
          </a:xfrm>
        </p:spPr>
        <p:txBody>
          <a:bodyPr>
            <a:noAutofit/>
          </a:bodyPr>
          <a:lstStyle/>
          <a:p>
            <a:r>
              <a:rPr lang="en-US" altLang="zh-CN" sz="4705" dirty="0"/>
              <a:t>Exercise 2</a:t>
            </a:r>
          </a:p>
        </p:txBody>
      </p:sp>
      <p:sp>
        <p:nvSpPr>
          <p:cNvPr id="5" name="文本框 4"/>
          <p:cNvSpPr txBox="1"/>
          <p:nvPr/>
        </p:nvSpPr>
        <p:spPr>
          <a:xfrm>
            <a:off x="1046813" y="1514124"/>
            <a:ext cx="8285824" cy="4401205"/>
          </a:xfrm>
          <a:prstGeom prst="rect">
            <a:avLst/>
          </a:prstGeom>
          <a:solidFill>
            <a:schemeClr val="accent5">
              <a:lumMod val="20000"/>
              <a:lumOff val="80000"/>
            </a:schemeClr>
          </a:solidFill>
          <a:ln>
            <a:solidFill>
              <a:srgbClr val="002060"/>
            </a:solidFill>
          </a:ln>
        </p:spPr>
        <p:txBody>
          <a:bodyPr wrap="square" rtlCol="0">
            <a:spAutoFit/>
          </a:bodyPr>
          <a:lstStyle/>
          <a:p>
            <a:pPr algn="l"/>
            <a:r>
              <a:rPr lang="en-US" altLang="zh-CN" sz="1400" kern="0" dirty="0">
                <a:solidFill>
                  <a:srgbClr val="AF00DB"/>
                </a:solidFill>
                <a:effectLst/>
                <a:latin typeface="Menlo" panose="020B0609030804020204" pitchFamily="49" charset="0"/>
                <a:ea typeface="宋体" panose="02010600030101010101" pitchFamily="2" charset="-122"/>
                <a:cs typeface="Times New Roman" panose="02020603050405020304" pitchFamily="18" charset="0"/>
              </a:rPr>
              <a:t>#include</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&lt;iostream&gt;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AF00DB"/>
                </a:solidFill>
                <a:effectLst/>
                <a:latin typeface="Menlo" panose="020B0609030804020204" pitchFamily="49" charset="0"/>
                <a:ea typeface="宋体" panose="02010600030101010101" pitchFamily="2" charset="-122"/>
                <a:cs typeface="Times New Roman" panose="02020603050405020304" pitchFamily="18" charset="0"/>
              </a:rPr>
              <a:t>using</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namespace</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267F99"/>
                </a:solidFill>
                <a:effectLst/>
                <a:latin typeface="Menlo" panose="020B0609030804020204" pitchFamily="49" charset="0"/>
                <a:ea typeface="宋体" panose="02010600030101010101" pitchFamily="2" charset="-122"/>
                <a:cs typeface="Times New Roman" panose="02020603050405020304" pitchFamily="18" charset="0"/>
              </a:rPr>
              <a:t>std</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int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795E26"/>
                </a:solidFill>
                <a:effectLst/>
                <a:latin typeface="Menlo" panose="020B0609030804020204" pitchFamily="49" charset="0"/>
                <a:ea typeface="宋体" panose="02010600030101010101" pitchFamily="2" charset="-122"/>
                <a:cs typeface="Times New Roman" panose="02020603050405020304" pitchFamily="18" charset="0"/>
              </a:rPr>
              <a:t>main</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int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matrix</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4</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 {</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1</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3</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5</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7</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9</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11</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13</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15</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17</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19</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int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p</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 *(</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matrix</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 </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1</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p</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 </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3</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err="1">
                <a:solidFill>
                  <a:srgbClr val="001080"/>
                </a:solidFill>
                <a:effectLst/>
                <a:latin typeface="Menlo" panose="020B0609030804020204" pitchFamily="49" charset="0"/>
                <a:ea typeface="宋体" panose="02010600030101010101" pitchFamily="2" charset="-122"/>
                <a:cs typeface="Times New Roman" panose="02020603050405020304" pitchFamily="18" charset="0"/>
              </a:rPr>
              <a:t>cout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795E26"/>
                </a:solidFill>
                <a:effectLst/>
                <a:latin typeface="Menlo" panose="020B0609030804020204" pitchFamily="49" charset="0"/>
                <a:ea typeface="宋体" panose="02010600030101010101" pitchFamily="2" charset="-122"/>
                <a:cs typeface="Times New Roman" panose="02020603050405020304" pitchFamily="18" charset="0"/>
              </a:rPr>
              <a:t>&lt;&lt;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"*p++ = "</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795E26"/>
                </a:solidFill>
                <a:effectLst/>
                <a:latin typeface="Menlo" panose="020B0609030804020204" pitchFamily="49" charset="0"/>
                <a:ea typeface="宋体" panose="02010600030101010101" pitchFamily="2" charset="-122"/>
                <a:cs typeface="Times New Roman" panose="02020603050405020304" pitchFamily="18" charset="0"/>
              </a:rPr>
              <a:t>&lt;&lt;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p</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795E26"/>
                </a:solidFill>
                <a:effectLst/>
                <a:latin typeface="Menlo" panose="020B0609030804020204" pitchFamily="49" charset="0"/>
                <a:ea typeface="宋体" panose="02010600030101010101" pitchFamily="2" charset="-122"/>
                <a:cs typeface="Times New Roman" panose="02020603050405020304" pitchFamily="18" charset="0"/>
              </a:rPr>
              <a:t>&lt;&lt;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err="1">
                <a:solidFill>
                  <a:srgbClr val="795E26"/>
                </a:solidFill>
                <a:effectLst/>
                <a:latin typeface="Menlo" panose="020B0609030804020204" pitchFamily="49" charset="0"/>
                <a:ea typeface="宋体" panose="02010600030101010101" pitchFamily="2" charset="-122"/>
                <a:cs typeface="Times New Roman" panose="02020603050405020304" pitchFamily="18" charset="0"/>
              </a:rPr>
              <a:t>endl</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const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char</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str</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 </a:t>
            </a:r>
            <a:r>
              <a:rPr lang="en-US" altLang="zh-CN" sz="14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"Welcome to programming."</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long</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q</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long</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str</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q</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char</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r</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char</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q</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err="1">
                <a:solidFill>
                  <a:srgbClr val="001080"/>
                </a:solidFill>
                <a:effectLst/>
                <a:latin typeface="Menlo" panose="020B0609030804020204" pitchFamily="49" charset="0"/>
                <a:ea typeface="宋体" panose="02010600030101010101" pitchFamily="2" charset="-122"/>
                <a:cs typeface="Times New Roman" panose="02020603050405020304" pitchFamily="18" charset="0"/>
              </a:rPr>
              <a:t>cout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795E26"/>
                </a:solidFill>
                <a:effectLst/>
                <a:latin typeface="Menlo" panose="020B0609030804020204" pitchFamily="49" charset="0"/>
                <a:ea typeface="宋体" panose="02010600030101010101" pitchFamily="2" charset="-122"/>
                <a:cs typeface="Times New Roman" panose="02020603050405020304" pitchFamily="18" charset="0"/>
              </a:rPr>
              <a:t>&lt;&lt;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r</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795E26"/>
                </a:solidFill>
                <a:effectLst/>
                <a:latin typeface="Menlo" panose="020B0609030804020204" pitchFamily="49" charset="0"/>
                <a:ea typeface="宋体" panose="02010600030101010101" pitchFamily="2" charset="-122"/>
                <a:cs typeface="Times New Roman" panose="02020603050405020304" pitchFamily="18" charset="0"/>
              </a:rPr>
              <a:t>&lt;&lt;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err="1">
                <a:solidFill>
                  <a:srgbClr val="795E26"/>
                </a:solidFill>
                <a:effectLst/>
                <a:latin typeface="Menlo" panose="020B0609030804020204" pitchFamily="49" charset="0"/>
                <a:ea typeface="宋体" panose="02010600030101010101" pitchFamily="2" charset="-122"/>
                <a:cs typeface="Times New Roman" panose="02020603050405020304" pitchFamily="18" charset="0"/>
              </a:rPr>
              <a:t>endl</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unsigned</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int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num</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 </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0x3E56AF67</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unsigned</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short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err="1">
                <a:solidFill>
                  <a:srgbClr val="001080"/>
                </a:solidFill>
                <a:effectLst/>
                <a:latin typeface="Menlo" panose="020B0609030804020204" pitchFamily="49" charset="0"/>
                <a:ea typeface="宋体" panose="02010600030101010101" pitchFamily="2" charset="-122"/>
                <a:cs typeface="Times New Roman" panose="02020603050405020304" pitchFamily="18" charset="0"/>
              </a:rPr>
              <a:t>pshort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unsigned</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short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 &amp;</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num</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err="1">
                <a:solidFill>
                  <a:srgbClr val="001080"/>
                </a:solidFill>
                <a:effectLst/>
                <a:latin typeface="Menlo" panose="020B0609030804020204" pitchFamily="49" charset="0"/>
                <a:ea typeface="宋体" panose="02010600030101010101" pitchFamily="2" charset="-122"/>
                <a:cs typeface="Times New Roman" panose="02020603050405020304" pitchFamily="18" charset="0"/>
              </a:rPr>
              <a:t>cout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795E26"/>
                </a:solidFill>
                <a:effectLst/>
                <a:latin typeface="Menlo" panose="020B0609030804020204" pitchFamily="49" charset="0"/>
                <a:ea typeface="宋体" panose="02010600030101010101" pitchFamily="2" charset="-122"/>
                <a:cs typeface="Times New Roman" panose="02020603050405020304" pitchFamily="18" charset="0"/>
              </a:rPr>
              <a:t>&lt;&lt;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err="1">
                <a:solidFill>
                  <a:srgbClr val="A31515"/>
                </a:solidFill>
                <a:effectLst/>
                <a:latin typeface="Menlo" panose="020B0609030804020204" pitchFamily="49" charset="0"/>
                <a:ea typeface="宋体" panose="02010600030101010101" pitchFamily="2" charset="-122"/>
                <a:cs typeface="Times New Roman" panose="02020603050405020304" pitchFamily="18" charset="0"/>
              </a:rPr>
              <a:t>pshort</a:t>
            </a:r>
            <a:r>
              <a:rPr lang="en-US" altLang="zh-CN" sz="14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 = 0x"</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795E26"/>
                </a:solidFill>
                <a:effectLst/>
                <a:latin typeface="Menlo" panose="020B0609030804020204" pitchFamily="49" charset="0"/>
                <a:ea typeface="宋体" panose="02010600030101010101" pitchFamily="2" charset="-122"/>
                <a:cs typeface="Times New Roman" panose="02020603050405020304" pitchFamily="18" charset="0"/>
              </a:rPr>
              <a:t>&lt;&lt;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795E26"/>
                </a:solidFill>
                <a:effectLst/>
                <a:latin typeface="Menlo" panose="020B0609030804020204" pitchFamily="49" charset="0"/>
                <a:ea typeface="宋体" panose="02010600030101010101" pitchFamily="2" charset="-122"/>
                <a:cs typeface="Times New Roman" panose="02020603050405020304" pitchFamily="18" charset="0"/>
              </a:rPr>
              <a:t>hex</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795E26"/>
                </a:solidFill>
                <a:effectLst/>
                <a:latin typeface="Menlo" panose="020B0609030804020204" pitchFamily="49" charset="0"/>
                <a:ea typeface="宋体" panose="02010600030101010101" pitchFamily="2" charset="-122"/>
                <a:cs typeface="Times New Roman" panose="02020603050405020304" pitchFamily="18" charset="0"/>
              </a:rPr>
              <a:t>&lt;&lt;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err="1">
                <a:solidFill>
                  <a:srgbClr val="001080"/>
                </a:solidFill>
                <a:effectLst/>
                <a:latin typeface="Menlo" panose="020B0609030804020204" pitchFamily="49" charset="0"/>
                <a:ea typeface="宋体" panose="02010600030101010101" pitchFamily="2" charset="-122"/>
                <a:cs typeface="Times New Roman" panose="02020603050405020304" pitchFamily="18" charset="0"/>
              </a:rPr>
              <a:t>pshort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795E26"/>
                </a:solidFill>
                <a:effectLst/>
                <a:latin typeface="Menlo" panose="020B0609030804020204" pitchFamily="49" charset="0"/>
                <a:ea typeface="宋体" panose="02010600030101010101" pitchFamily="2" charset="-122"/>
                <a:cs typeface="Times New Roman" panose="02020603050405020304" pitchFamily="18" charset="0"/>
              </a:rPr>
              <a:t>&lt;&lt;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err="1">
                <a:solidFill>
                  <a:srgbClr val="795E26"/>
                </a:solidFill>
                <a:effectLst/>
                <a:latin typeface="Menlo" panose="020B0609030804020204" pitchFamily="49" charset="0"/>
                <a:ea typeface="宋体" panose="02010600030101010101" pitchFamily="2" charset="-122"/>
                <a:cs typeface="Times New Roman" panose="02020603050405020304" pitchFamily="18" charset="0"/>
              </a:rPr>
              <a:t>endl</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AF00DB"/>
                </a:solidFill>
                <a:effectLst/>
                <a:latin typeface="Menlo" panose="020B0609030804020204" pitchFamily="49" charset="0"/>
                <a:ea typeface="宋体" panose="02010600030101010101" pitchFamily="2" charset="-122"/>
                <a:cs typeface="Times New Roman" panose="02020603050405020304" pitchFamily="18" charset="0"/>
              </a:rPr>
              <a:t>return</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0</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1390744" y="338589"/>
            <a:ext cx="6980370" cy="697002"/>
          </a:xfrm>
        </p:spPr>
        <p:txBody>
          <a:bodyPr>
            <a:noAutofit/>
          </a:bodyPr>
          <a:lstStyle/>
          <a:p>
            <a:r>
              <a:rPr lang="en-US" altLang="zh-CN" sz="4705" dirty="0"/>
              <a:t>Exercises 3</a:t>
            </a:r>
            <a:endParaRPr lang="zh-CN" altLang="en-US" sz="4705" dirty="0"/>
          </a:p>
        </p:txBody>
      </p:sp>
      <p:sp>
        <p:nvSpPr>
          <p:cNvPr id="6" name="内容占位符 4">
            <a:extLst>
              <a:ext uri="{FF2B5EF4-FFF2-40B4-BE49-F238E27FC236}">
                <a16:creationId xmlns:a16="http://schemas.microsoft.com/office/drawing/2014/main" id="{06EDED69-29D9-642D-F8D9-F9C56CF52A8F}"/>
              </a:ext>
            </a:extLst>
          </p:cNvPr>
          <p:cNvSpPr>
            <a:spLocks noGrp="1"/>
          </p:cNvSpPr>
          <p:nvPr>
            <p:ph idx="1"/>
          </p:nvPr>
        </p:nvSpPr>
        <p:spPr>
          <a:xfrm>
            <a:off x="138952" y="1217752"/>
            <a:ext cx="6169025" cy="4130675"/>
          </a:xfrm>
        </p:spPr>
        <p:txBody>
          <a:bodyPr>
            <a:normAutofit fontScale="67500" lnSpcReduction="10000"/>
          </a:bodyPr>
          <a:lstStyle/>
          <a:p>
            <a:r>
              <a:rPr lang="en-US" altLang="zh-CN" dirty="0"/>
              <a:t>3-1. Complete the code on the right to finish the following task:</a:t>
            </a:r>
          </a:p>
          <a:p>
            <a:pPr lvl="1"/>
            <a:r>
              <a:rPr lang="en-US" altLang="zh-CN" sz="2800" dirty="0">
                <a:sym typeface="+mn-ea"/>
              </a:rPr>
              <a:t>1. Determine whether the current system is in big-endian(BE) or little-endian(LE) based on the storage location of byte0 in </a:t>
            </a:r>
            <a:r>
              <a:rPr lang="en-US" altLang="zh-CN" sz="2800" dirty="0" err="1">
                <a:latin typeface="Courier New" panose="02070309020205020404" pitchFamily="49" charset="0"/>
                <a:cs typeface="Courier New" panose="02070309020205020404" pitchFamily="49" charset="0"/>
                <a:sym typeface="+mn-ea"/>
              </a:rPr>
              <a:t>numA</a:t>
            </a:r>
            <a:r>
              <a:rPr lang="en-US" altLang="zh-CN" sz="2800" dirty="0">
                <a:sym typeface="+mn-ea"/>
              </a:rPr>
              <a:t>.</a:t>
            </a:r>
            <a:endParaRPr lang="en-US" altLang="zh-CN" sz="2800" dirty="0"/>
          </a:p>
          <a:p>
            <a:pPr lvl="1"/>
            <a:r>
              <a:rPr lang="en-US" altLang="zh-CN" sz="2800" dirty="0">
                <a:sym typeface="+mn-ea"/>
              </a:rPr>
              <a:t>2. Store each byte in </a:t>
            </a:r>
            <a:r>
              <a:rPr lang="en-US" altLang="zh-CN" sz="2800" dirty="0" err="1">
                <a:latin typeface="Courier New" panose="02070309020205020404" pitchFamily="49" charset="0"/>
                <a:cs typeface="Courier New" panose="02070309020205020404" pitchFamily="49" charset="0"/>
                <a:sym typeface="+mn-ea"/>
              </a:rPr>
              <a:t>numA</a:t>
            </a:r>
            <a:r>
              <a:rPr lang="en-US" altLang="zh-CN" sz="2800" dirty="0">
                <a:sym typeface="+mn-ea"/>
              </a:rPr>
              <a:t> to a new space (</a:t>
            </a:r>
            <a:r>
              <a:rPr lang="en-US" altLang="zh-CN" sz="2800" dirty="0" err="1">
                <a:latin typeface="Courier New" panose="02070309020205020404" pitchFamily="49" charset="0"/>
                <a:cs typeface="Courier New" panose="02070309020205020404" pitchFamily="49" charset="0"/>
                <a:sym typeface="+mn-ea"/>
              </a:rPr>
              <a:t>numB</a:t>
            </a:r>
            <a:r>
              <a:rPr lang="en-US" altLang="zh-CN" sz="2800" dirty="0">
                <a:sym typeface="+mn-ea"/>
              </a:rPr>
              <a:t> or pointed by </a:t>
            </a:r>
            <a:r>
              <a:rPr lang="en-US" altLang="zh-CN" sz="2800" dirty="0" err="1">
                <a:latin typeface="Courier New" panose="02070309020205020404" pitchFamily="49" charset="0"/>
                <a:cs typeface="Courier New" panose="02070309020205020404" pitchFamily="49" charset="0"/>
                <a:sym typeface="+mn-ea"/>
              </a:rPr>
              <a:t>pnumB</a:t>
            </a:r>
            <a:r>
              <a:rPr lang="en-US" altLang="zh-CN" sz="2800" dirty="0">
                <a:sym typeface="+mn-ea"/>
              </a:rPr>
              <a:t>) in reverse order.</a:t>
            </a:r>
            <a:endParaRPr lang="en-US" altLang="zh-CN" sz="2800" dirty="0"/>
          </a:p>
          <a:p>
            <a:pPr lvl="2"/>
            <a:r>
              <a:rPr lang="en-US" altLang="zh-CN" sz="2800" dirty="0">
                <a:sym typeface="+mn-ea"/>
              </a:rPr>
              <a:t>If the command-line parameter of the program is ‘H’, use heap mode to implement swapping. </a:t>
            </a:r>
            <a:endParaRPr lang="en-US" altLang="zh-CN" sz="2800" dirty="0"/>
          </a:p>
          <a:p>
            <a:pPr lvl="2"/>
            <a:r>
              <a:rPr lang="en-US" altLang="zh-CN" sz="2800" dirty="0">
                <a:sym typeface="+mn-ea"/>
              </a:rPr>
              <a:t>If the command-line parameter of the program is ‘S’, use stack mode to implement swapping.</a:t>
            </a:r>
            <a:endParaRPr lang="en-US" altLang="zh-CN" sz="2800" dirty="0"/>
          </a:p>
          <a:p>
            <a:pPr lvl="2"/>
            <a:r>
              <a:rPr lang="en-US" altLang="zh-CN" sz="2800" dirty="0">
                <a:sym typeface="+mn-ea"/>
              </a:rPr>
              <a:t>Print out the value of </a:t>
            </a:r>
            <a:r>
              <a:rPr lang="en-US" altLang="zh-CN" sz="2800" dirty="0" err="1">
                <a:latin typeface="Courier New" panose="02070309020205020404" pitchFamily="49" charset="0"/>
                <a:cs typeface="Courier New" panose="02070309020205020404" pitchFamily="49" charset="0"/>
                <a:sym typeface="+mn-ea"/>
              </a:rPr>
              <a:t>numB</a:t>
            </a:r>
            <a:r>
              <a:rPr lang="en-US" altLang="zh-CN" sz="2800" dirty="0">
                <a:sym typeface="+mn-ea"/>
              </a:rPr>
              <a:t> (or pointed by </a:t>
            </a:r>
            <a:r>
              <a:rPr lang="en-US" altLang="zh-CN" sz="2800" dirty="0" err="1">
                <a:latin typeface="Courier New" panose="02070309020205020404" pitchFamily="49" charset="0"/>
                <a:cs typeface="Courier New" panose="02070309020205020404" pitchFamily="49" charset="0"/>
                <a:sym typeface="+mn-ea"/>
              </a:rPr>
              <a:t>pnumB</a:t>
            </a:r>
            <a:r>
              <a:rPr lang="en-US" altLang="zh-CN" sz="2800" dirty="0">
                <a:sym typeface="+mn-ea"/>
              </a:rPr>
              <a:t>) in hexadecimal.</a:t>
            </a:r>
            <a:endParaRPr lang="en-US" altLang="zh-CN" dirty="0"/>
          </a:p>
          <a:p>
            <a:r>
              <a:rPr lang="en-US" altLang="zh-CN" dirty="0"/>
              <a:t>3-2. Use the tool </a:t>
            </a:r>
            <a:r>
              <a:rPr lang="en-US" altLang="zh-CN" dirty="0" err="1"/>
              <a:t>valgrind</a:t>
            </a:r>
            <a:r>
              <a:rPr lang="en-US" altLang="zh-CN" dirty="0"/>
              <a:t> to check if there is memory problem on the code. </a:t>
            </a:r>
          </a:p>
          <a:p>
            <a:pPr lvl="1"/>
            <a:endParaRPr lang="en-US" altLang="zh-CN" dirty="0"/>
          </a:p>
        </p:txBody>
      </p:sp>
      <p:pic>
        <p:nvPicPr>
          <p:cNvPr id="7" name="图片 6">
            <a:extLst>
              <a:ext uri="{FF2B5EF4-FFF2-40B4-BE49-F238E27FC236}">
                <a16:creationId xmlns:a16="http://schemas.microsoft.com/office/drawing/2014/main" id="{86182CAC-17D2-A0C1-0475-03DCDCA4C8D1}"/>
              </a:ext>
            </a:extLst>
          </p:cNvPr>
          <p:cNvPicPr>
            <a:picLocks noChangeAspect="1"/>
          </p:cNvPicPr>
          <p:nvPr/>
        </p:nvPicPr>
        <p:blipFill>
          <a:blip r:embed="rId3"/>
          <a:stretch>
            <a:fillRect/>
          </a:stretch>
        </p:blipFill>
        <p:spPr>
          <a:xfrm>
            <a:off x="2470150" y="5454127"/>
            <a:ext cx="7696088" cy="1359423"/>
          </a:xfrm>
          <a:prstGeom prst="rect">
            <a:avLst/>
          </a:prstGeom>
        </p:spPr>
      </p:pic>
      <p:sp>
        <p:nvSpPr>
          <p:cNvPr id="8" name="文本框 7">
            <a:extLst>
              <a:ext uri="{FF2B5EF4-FFF2-40B4-BE49-F238E27FC236}">
                <a16:creationId xmlns:a16="http://schemas.microsoft.com/office/drawing/2014/main" id="{66416BF9-F254-EC3F-41DD-482114086807}"/>
              </a:ext>
            </a:extLst>
          </p:cNvPr>
          <p:cNvSpPr txBox="1"/>
          <p:nvPr/>
        </p:nvSpPr>
        <p:spPr>
          <a:xfrm>
            <a:off x="6307977" y="635000"/>
            <a:ext cx="5884023" cy="3754874"/>
          </a:xfrm>
          <a:prstGeom prst="rect">
            <a:avLst/>
          </a:prstGeom>
          <a:solidFill>
            <a:schemeClr val="accent1">
              <a:lumMod val="40000"/>
              <a:lumOff val="60000"/>
            </a:schemeClr>
          </a:solidFill>
        </p:spPr>
        <p:txBody>
          <a:bodyPr wrap="square" rtlCol="0">
            <a:spAutoFit/>
          </a:bodyPr>
          <a:lstStyle/>
          <a:p>
            <a:pPr algn="l"/>
            <a:r>
              <a:rPr lang="en-US" altLang="zh-CN" sz="1400" kern="0" dirty="0">
                <a:solidFill>
                  <a:srgbClr val="AF00DB"/>
                </a:solidFill>
                <a:effectLst/>
                <a:latin typeface="Menlo" panose="020B0609030804020204" pitchFamily="49" charset="0"/>
                <a:ea typeface="宋体" panose="02010600030101010101" pitchFamily="2" charset="-122"/>
                <a:cs typeface="Times New Roman" panose="02020603050405020304" pitchFamily="18" charset="0"/>
              </a:rPr>
              <a:t>#include</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&lt;</a:t>
            </a:r>
            <a:r>
              <a:rPr lang="en-US" altLang="zh-CN" sz="1400" kern="0" dirty="0" err="1">
                <a:solidFill>
                  <a:srgbClr val="A31515"/>
                </a:solidFill>
                <a:effectLst/>
                <a:latin typeface="Menlo" panose="020B0609030804020204" pitchFamily="49" charset="0"/>
                <a:ea typeface="宋体" panose="02010600030101010101" pitchFamily="2" charset="-122"/>
                <a:cs typeface="Times New Roman" panose="02020603050405020304" pitchFamily="18" charset="0"/>
              </a:rPr>
              <a:t>stdio.h</a:t>
            </a:r>
            <a:r>
              <a:rPr lang="en-US" altLang="zh-CN" sz="14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&gt;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AF00DB"/>
                </a:solidFill>
                <a:effectLst/>
                <a:latin typeface="Menlo" panose="020B0609030804020204" pitchFamily="49" charset="0"/>
                <a:ea typeface="宋体" panose="02010600030101010101" pitchFamily="2" charset="-122"/>
                <a:cs typeface="Times New Roman" panose="02020603050405020304" pitchFamily="18" charset="0"/>
              </a:rPr>
              <a:t>#include</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&lt;</a:t>
            </a:r>
            <a:r>
              <a:rPr lang="en-US" altLang="zh-CN" sz="1400" kern="0" dirty="0" err="1">
                <a:solidFill>
                  <a:srgbClr val="A31515"/>
                </a:solidFill>
                <a:effectLst/>
                <a:latin typeface="Menlo" panose="020B0609030804020204" pitchFamily="49" charset="0"/>
                <a:ea typeface="宋体" panose="02010600030101010101" pitchFamily="2" charset="-122"/>
                <a:cs typeface="Times New Roman" panose="02020603050405020304" pitchFamily="18" charset="0"/>
              </a:rPr>
              <a:t>stdlib.h</a:t>
            </a:r>
            <a:r>
              <a:rPr lang="en-US" altLang="zh-CN" sz="14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&gt;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int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795E26"/>
                </a:solidFill>
                <a:effectLst/>
                <a:latin typeface="Menlo" panose="020B0609030804020204" pitchFamily="49" charset="0"/>
                <a:ea typeface="宋体" panose="02010600030101010101" pitchFamily="2" charset="-122"/>
                <a:cs typeface="Times New Roman" panose="02020603050405020304" pitchFamily="18" charset="0"/>
              </a:rPr>
              <a:t>main</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int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err="1">
                <a:solidFill>
                  <a:srgbClr val="001080"/>
                </a:solidFill>
                <a:effectLst/>
                <a:latin typeface="Menlo" panose="020B0609030804020204" pitchFamily="49" charset="0"/>
                <a:ea typeface="宋体" panose="02010600030101010101" pitchFamily="2" charset="-122"/>
                <a:cs typeface="Times New Roman" panose="02020603050405020304" pitchFamily="18" charset="0"/>
              </a:rPr>
              <a:t>argc</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char</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err="1">
                <a:solidFill>
                  <a:srgbClr val="001080"/>
                </a:solidFill>
                <a:effectLst/>
                <a:latin typeface="Menlo" panose="020B0609030804020204" pitchFamily="49" charset="0"/>
                <a:ea typeface="宋体" panose="02010600030101010101" pitchFamily="2" charset="-122"/>
                <a:cs typeface="Times New Roman" panose="02020603050405020304" pitchFamily="18" charset="0"/>
              </a:rPr>
              <a:t>argv</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int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err="1">
                <a:solidFill>
                  <a:srgbClr val="001080"/>
                </a:solidFill>
                <a:effectLst/>
                <a:latin typeface="Menlo" panose="020B0609030804020204" pitchFamily="49" charset="0"/>
                <a:ea typeface="宋体" panose="02010600030101010101" pitchFamily="2" charset="-122"/>
                <a:cs typeface="Times New Roman" panose="02020603050405020304" pitchFamily="18" charset="0"/>
              </a:rPr>
              <a:t>numA</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 </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0x11223344</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AF00DB"/>
                </a:solidFill>
                <a:effectLst/>
                <a:latin typeface="Menlo" panose="020B0609030804020204" pitchFamily="49" charset="0"/>
                <a:ea typeface="宋体" panose="02010600030101010101" pitchFamily="2" charset="-122"/>
                <a:cs typeface="Times New Roman" panose="02020603050405020304" pitchFamily="18" charset="0"/>
              </a:rPr>
              <a:t>if</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err="1">
                <a:solidFill>
                  <a:srgbClr val="001080"/>
                </a:solidFill>
                <a:effectLst/>
                <a:latin typeface="Menlo" panose="020B0609030804020204" pitchFamily="49" charset="0"/>
                <a:ea typeface="宋体" panose="02010600030101010101" pitchFamily="2" charset="-122"/>
                <a:cs typeface="Times New Roman" panose="02020603050405020304" pitchFamily="18" charset="0"/>
              </a:rPr>
              <a:t>argc</a:t>
            </a:r>
            <a:r>
              <a:rPr lang="en-US" altLang="zh-CN" sz="1400" kern="0" dirty="0">
                <a:solidFill>
                  <a:srgbClr val="00108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2</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AF00DB"/>
                </a:solidFill>
                <a:effectLst/>
                <a:latin typeface="Menlo" panose="020B0609030804020204" pitchFamily="49" charset="0"/>
                <a:ea typeface="宋体" panose="02010600030101010101" pitchFamily="2" charset="-122"/>
                <a:cs typeface="Times New Roman" panose="02020603050405020304" pitchFamily="18" charset="0"/>
              </a:rPr>
              <a:t>if</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err="1">
                <a:solidFill>
                  <a:srgbClr val="001080"/>
                </a:solidFill>
                <a:effectLst/>
                <a:latin typeface="Menlo" panose="020B0609030804020204" pitchFamily="49" charset="0"/>
                <a:ea typeface="宋体" panose="02010600030101010101" pitchFamily="2" charset="-122"/>
                <a:cs typeface="Times New Roman" panose="02020603050405020304" pitchFamily="18" charset="0"/>
              </a:rPr>
              <a:t>argv</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1</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0</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'H'</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int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err="1">
                <a:solidFill>
                  <a:srgbClr val="001080"/>
                </a:solidFill>
                <a:effectLst/>
                <a:latin typeface="Menlo" panose="020B0609030804020204" pitchFamily="49" charset="0"/>
                <a:ea typeface="宋体" panose="02010600030101010101" pitchFamily="2" charset="-122"/>
                <a:cs typeface="Times New Roman" panose="02020603050405020304" pitchFamily="18" charset="0"/>
              </a:rPr>
              <a:t>pnumB</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 (</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int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795E26"/>
                </a:solidFill>
                <a:effectLst/>
                <a:latin typeface="Menlo" panose="020B0609030804020204" pitchFamily="49" charset="0"/>
                <a:ea typeface="宋体" panose="02010600030101010101" pitchFamily="2" charset="-122"/>
                <a:cs typeface="Times New Roman" panose="02020603050405020304" pitchFamily="18" charset="0"/>
              </a:rPr>
              <a:t>malloc</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err="1">
                <a:solidFill>
                  <a:srgbClr val="0000FF"/>
                </a:solidFill>
                <a:effectLst/>
                <a:latin typeface="Menlo" panose="020B0609030804020204" pitchFamily="49" charset="0"/>
                <a:ea typeface="宋体" panose="02010600030101010101" pitchFamily="2" charset="-122"/>
                <a:cs typeface="Times New Roman" panose="02020603050405020304" pitchFamily="18" charset="0"/>
              </a:rPr>
              <a:t>sizeof</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int</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AF00DB"/>
                </a:solidFill>
                <a:effectLst/>
                <a:latin typeface="Menlo" panose="020B0609030804020204" pitchFamily="49" charset="0"/>
                <a:ea typeface="宋体" panose="02010600030101010101" pitchFamily="2" charset="-122"/>
                <a:cs typeface="Times New Roman" panose="02020603050405020304" pitchFamily="18" charset="0"/>
              </a:rPr>
              <a:t>if</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err="1">
                <a:solidFill>
                  <a:srgbClr val="001080"/>
                </a:solidFill>
                <a:effectLst/>
                <a:latin typeface="Menlo" panose="020B0609030804020204" pitchFamily="49" charset="0"/>
                <a:ea typeface="宋体" panose="02010600030101010101" pitchFamily="2" charset="-122"/>
                <a:cs typeface="Times New Roman" panose="02020603050405020304" pitchFamily="18" charset="0"/>
              </a:rPr>
              <a:t>pnumB</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NULL</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8000"/>
                </a:solidFill>
                <a:effectLst/>
                <a:latin typeface="Menlo" panose="020B0609030804020204" pitchFamily="49" charset="0"/>
                <a:ea typeface="宋体" panose="02010600030101010101" pitchFamily="2" charset="-122"/>
                <a:cs typeface="Times New Roman" panose="02020603050405020304" pitchFamily="18" charset="0"/>
              </a:rPr>
              <a:t>                /*complete code here*/</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 </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AF00DB"/>
                </a:solidFill>
                <a:effectLst/>
                <a:latin typeface="Menlo" panose="020B0609030804020204" pitchFamily="49" charset="0"/>
                <a:ea typeface="宋体" panose="02010600030101010101" pitchFamily="2" charset="-122"/>
                <a:cs typeface="Times New Roman" panose="02020603050405020304" pitchFamily="18" charset="0"/>
              </a:rPr>
              <a:t>else</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AF00DB"/>
                </a:solidFill>
                <a:effectLst/>
                <a:latin typeface="Menlo" panose="020B0609030804020204" pitchFamily="49" charset="0"/>
                <a:ea typeface="宋体" panose="02010600030101010101" pitchFamily="2" charset="-122"/>
                <a:cs typeface="Times New Roman" panose="02020603050405020304" pitchFamily="18" charset="0"/>
              </a:rPr>
              <a:t>if</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err="1">
                <a:solidFill>
                  <a:srgbClr val="001080"/>
                </a:solidFill>
                <a:effectLst/>
                <a:latin typeface="Menlo" panose="020B0609030804020204" pitchFamily="49" charset="0"/>
                <a:ea typeface="宋体" panose="02010600030101010101" pitchFamily="2" charset="-122"/>
                <a:cs typeface="Times New Roman" panose="02020603050405020304" pitchFamily="18" charset="0"/>
              </a:rPr>
              <a:t>argv</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1</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0</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'S'</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8000"/>
                </a:solidFill>
                <a:effectLst/>
                <a:latin typeface="Menlo" panose="020B0609030804020204" pitchFamily="49" charset="0"/>
                <a:ea typeface="宋体" panose="02010600030101010101" pitchFamily="2" charset="-122"/>
                <a:cs typeface="Times New Roman" panose="02020603050405020304" pitchFamily="18" charset="0"/>
              </a:rPr>
              <a:t>            /*complete code here*/</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AF00DB"/>
                </a:solidFill>
                <a:effectLst/>
                <a:latin typeface="Menlo" panose="020B0609030804020204" pitchFamily="49" charset="0"/>
                <a:ea typeface="宋体" panose="02010600030101010101" pitchFamily="2" charset="-122"/>
                <a:cs typeface="Times New Roman" panose="02020603050405020304" pitchFamily="18" charset="0"/>
              </a:rPr>
              <a:t>return</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dirty="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0</a:t>
            </a:r>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l"/>
            <a:r>
              <a:rPr lang="en-US" altLang="zh-CN" sz="14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4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548986" y="113192"/>
            <a:ext cx="5694636" cy="523220"/>
          </a:xfrm>
          <a:prstGeom prst="rect">
            <a:avLst/>
          </a:prstGeom>
          <a:noFill/>
        </p:spPr>
        <p:txBody>
          <a:bodyPr wrap="none" rtlCol="0">
            <a:spAutoFit/>
          </a:bodyPr>
          <a:lstStyle/>
          <a:p>
            <a:pPr algn="l"/>
            <a:r>
              <a:rPr lang="en-US" altLang="zh-CN" sz="2800" b="1" dirty="0">
                <a:sym typeface="+mn-ea"/>
              </a:rPr>
              <a:t>Tips on </a:t>
            </a:r>
            <a:r>
              <a:rPr lang="en-US" altLang="zh-CN" sz="2800" b="1" dirty="0"/>
              <a:t>Big-Endian  and  Little-Endian</a:t>
            </a:r>
            <a:endParaRPr lang="zh-CN" altLang="en-US" sz="2800" b="1" dirty="0"/>
          </a:p>
        </p:txBody>
      </p:sp>
      <p:sp>
        <p:nvSpPr>
          <p:cNvPr id="3" name="文本框 2"/>
          <p:cNvSpPr txBox="1"/>
          <p:nvPr/>
        </p:nvSpPr>
        <p:spPr>
          <a:xfrm>
            <a:off x="1522328" y="693894"/>
            <a:ext cx="10198847" cy="830997"/>
          </a:xfrm>
          <a:prstGeom prst="rect">
            <a:avLst/>
          </a:prstGeom>
          <a:noFill/>
        </p:spPr>
        <p:txBody>
          <a:bodyPr wrap="square" rtlCol="0">
            <a:spAutoFit/>
          </a:bodyPr>
          <a:lstStyle/>
          <a:p>
            <a:r>
              <a:rPr lang="en-US" altLang="zh-CN" sz="2400" b="1" dirty="0"/>
              <a:t>BE</a:t>
            </a:r>
            <a:r>
              <a:rPr lang="en-US" altLang="zh-CN" sz="2400" dirty="0"/>
              <a:t> stores the big-end first, the lowest memory address is the biggest.</a:t>
            </a:r>
          </a:p>
          <a:p>
            <a:r>
              <a:rPr lang="en-US" altLang="zh-CN" sz="2400" b="1" dirty="0"/>
              <a:t>LE</a:t>
            </a:r>
            <a:r>
              <a:rPr lang="en-US" altLang="zh-CN" sz="2400" dirty="0"/>
              <a:t> stores the little-end first, the lowest memory address is the littlest. </a:t>
            </a:r>
            <a:endParaRPr lang="zh-CN" altLang="en-US" sz="2400" dirty="0"/>
          </a:p>
        </p:txBody>
      </p:sp>
      <p:grpSp>
        <p:nvGrpSpPr>
          <p:cNvPr id="5" name="组合 4"/>
          <p:cNvGrpSpPr/>
          <p:nvPr/>
        </p:nvGrpSpPr>
        <p:grpSpPr>
          <a:xfrm>
            <a:off x="1735744" y="1909842"/>
            <a:ext cx="2391869" cy="2064183"/>
            <a:chOff x="319755" y="2276872"/>
            <a:chExt cx="2391869" cy="2064183"/>
          </a:xfrm>
        </p:grpSpPr>
        <p:grpSp>
          <p:nvGrpSpPr>
            <p:cNvPr id="15" name="组合 14"/>
            <p:cNvGrpSpPr/>
            <p:nvPr/>
          </p:nvGrpSpPr>
          <p:grpSpPr>
            <a:xfrm>
              <a:off x="1338801" y="2491574"/>
              <a:ext cx="1372823" cy="1849481"/>
              <a:chOff x="1338801" y="3212976"/>
              <a:chExt cx="1300815" cy="1849481"/>
            </a:xfrm>
          </p:grpSpPr>
          <p:grpSp>
            <p:nvGrpSpPr>
              <p:cNvPr id="9" name="组合 8"/>
              <p:cNvGrpSpPr/>
              <p:nvPr/>
            </p:nvGrpSpPr>
            <p:grpSpPr>
              <a:xfrm>
                <a:off x="1991544" y="3212976"/>
                <a:ext cx="648072" cy="1849481"/>
                <a:chOff x="1991544" y="3212976"/>
                <a:chExt cx="648072" cy="1849481"/>
              </a:xfrm>
            </p:grpSpPr>
            <p:sp>
              <p:nvSpPr>
                <p:cNvPr id="4" name="文本框 3"/>
                <p:cNvSpPr txBox="1"/>
                <p:nvPr/>
              </p:nvSpPr>
              <p:spPr>
                <a:xfrm>
                  <a:off x="1991544" y="3212976"/>
                  <a:ext cx="648072" cy="461665"/>
                </a:xfrm>
                <a:prstGeom prst="rect">
                  <a:avLst/>
                </a:prstGeom>
                <a:noFill/>
                <a:ln>
                  <a:solidFill>
                    <a:schemeClr val="tx1"/>
                  </a:solidFill>
                </a:ln>
              </p:spPr>
              <p:txBody>
                <a:bodyPr wrap="square" rtlCol="0">
                  <a:spAutoFit/>
                </a:bodyPr>
                <a:lstStyle/>
                <a:p>
                  <a:pPr algn="ctr"/>
                  <a:r>
                    <a:rPr lang="en-US" altLang="zh-CN" sz="2400" dirty="0"/>
                    <a:t>44</a:t>
                  </a:r>
                  <a:endParaRPr lang="zh-CN" altLang="en-US" sz="2400" dirty="0"/>
                </a:p>
              </p:txBody>
            </p:sp>
            <p:sp>
              <p:nvSpPr>
                <p:cNvPr id="6" name="文本框 5"/>
                <p:cNvSpPr txBox="1"/>
                <p:nvPr/>
              </p:nvSpPr>
              <p:spPr>
                <a:xfrm>
                  <a:off x="1991544" y="3677583"/>
                  <a:ext cx="648072" cy="461665"/>
                </a:xfrm>
                <a:prstGeom prst="rect">
                  <a:avLst/>
                </a:prstGeom>
                <a:noFill/>
                <a:ln>
                  <a:solidFill>
                    <a:schemeClr val="tx1"/>
                  </a:solidFill>
                </a:ln>
              </p:spPr>
              <p:txBody>
                <a:bodyPr wrap="square" rtlCol="0">
                  <a:spAutoFit/>
                </a:bodyPr>
                <a:lstStyle/>
                <a:p>
                  <a:pPr algn="ctr"/>
                  <a:r>
                    <a:rPr lang="en-US" altLang="zh-CN" sz="2400" dirty="0"/>
                    <a:t>33</a:t>
                  </a:r>
                  <a:endParaRPr lang="zh-CN" altLang="en-US" sz="2400" dirty="0"/>
                </a:p>
              </p:txBody>
            </p:sp>
            <p:sp>
              <p:nvSpPr>
                <p:cNvPr id="7" name="文本框 6"/>
                <p:cNvSpPr txBox="1"/>
                <p:nvPr/>
              </p:nvSpPr>
              <p:spPr>
                <a:xfrm>
                  <a:off x="1991544" y="4142311"/>
                  <a:ext cx="648072" cy="461665"/>
                </a:xfrm>
                <a:prstGeom prst="rect">
                  <a:avLst/>
                </a:prstGeom>
                <a:noFill/>
                <a:ln>
                  <a:solidFill>
                    <a:schemeClr val="tx1"/>
                  </a:solidFill>
                </a:ln>
              </p:spPr>
              <p:txBody>
                <a:bodyPr wrap="square" rtlCol="0">
                  <a:spAutoFit/>
                </a:bodyPr>
                <a:lstStyle/>
                <a:p>
                  <a:pPr algn="ctr"/>
                  <a:r>
                    <a:rPr lang="en-US" altLang="zh-CN" sz="2400" dirty="0"/>
                    <a:t>22</a:t>
                  </a:r>
                  <a:endParaRPr lang="zh-CN" altLang="en-US" sz="2400" dirty="0"/>
                </a:p>
              </p:txBody>
            </p:sp>
            <p:sp>
              <p:nvSpPr>
                <p:cNvPr id="8" name="文本框 7"/>
                <p:cNvSpPr txBox="1"/>
                <p:nvPr/>
              </p:nvSpPr>
              <p:spPr>
                <a:xfrm>
                  <a:off x="1991544" y="4600792"/>
                  <a:ext cx="648072" cy="461665"/>
                </a:xfrm>
                <a:prstGeom prst="rect">
                  <a:avLst/>
                </a:prstGeom>
                <a:noFill/>
                <a:ln>
                  <a:solidFill>
                    <a:schemeClr val="tx1"/>
                  </a:solidFill>
                </a:ln>
              </p:spPr>
              <p:txBody>
                <a:bodyPr wrap="square" rtlCol="0">
                  <a:spAutoFit/>
                </a:bodyPr>
                <a:lstStyle/>
                <a:p>
                  <a:pPr algn="ctr"/>
                  <a:r>
                    <a:rPr lang="en-US" altLang="zh-CN" sz="2400" dirty="0"/>
                    <a:t>11</a:t>
                  </a:r>
                  <a:endParaRPr lang="zh-CN" altLang="en-US" sz="2400" dirty="0"/>
                </a:p>
              </p:txBody>
            </p:sp>
          </p:grpSp>
          <p:grpSp>
            <p:nvGrpSpPr>
              <p:cNvPr id="14" name="组合 13"/>
              <p:cNvGrpSpPr/>
              <p:nvPr/>
            </p:nvGrpSpPr>
            <p:grpSpPr>
              <a:xfrm>
                <a:off x="1338801" y="3284984"/>
                <a:ext cx="638169" cy="1770704"/>
                <a:chOff x="1338801" y="3284984"/>
                <a:chExt cx="638169" cy="1770704"/>
              </a:xfrm>
            </p:grpSpPr>
            <p:sp>
              <p:nvSpPr>
                <p:cNvPr id="10" name="文本框 9"/>
                <p:cNvSpPr txBox="1"/>
                <p:nvPr/>
              </p:nvSpPr>
              <p:spPr>
                <a:xfrm>
                  <a:off x="1338801" y="3284984"/>
                  <a:ext cx="618505" cy="369332"/>
                </a:xfrm>
                <a:prstGeom prst="rect">
                  <a:avLst/>
                </a:prstGeom>
                <a:noFill/>
              </p:spPr>
              <p:txBody>
                <a:bodyPr wrap="none" rtlCol="0">
                  <a:spAutoFit/>
                </a:bodyPr>
                <a:lstStyle/>
                <a:p>
                  <a:r>
                    <a:rPr lang="en-US" altLang="zh-CN" dirty="0"/>
                    <a:t>2003</a:t>
                  </a:r>
                  <a:endParaRPr lang="zh-CN" altLang="en-US" dirty="0"/>
                </a:p>
              </p:txBody>
            </p:sp>
            <p:sp>
              <p:nvSpPr>
                <p:cNvPr id="11" name="文本框 10"/>
                <p:cNvSpPr txBox="1"/>
                <p:nvPr/>
              </p:nvSpPr>
              <p:spPr>
                <a:xfrm>
                  <a:off x="1351817" y="3750252"/>
                  <a:ext cx="618505" cy="369332"/>
                </a:xfrm>
                <a:prstGeom prst="rect">
                  <a:avLst/>
                </a:prstGeom>
                <a:noFill/>
              </p:spPr>
              <p:txBody>
                <a:bodyPr wrap="none" rtlCol="0">
                  <a:spAutoFit/>
                </a:bodyPr>
                <a:lstStyle/>
                <a:p>
                  <a:r>
                    <a:rPr lang="en-US" altLang="zh-CN" dirty="0"/>
                    <a:t>2002</a:t>
                  </a:r>
                  <a:endParaRPr lang="zh-CN" altLang="en-US" dirty="0"/>
                </a:p>
              </p:txBody>
            </p:sp>
            <p:sp>
              <p:nvSpPr>
                <p:cNvPr id="12" name="文本框 11"/>
                <p:cNvSpPr txBox="1"/>
                <p:nvPr/>
              </p:nvSpPr>
              <p:spPr>
                <a:xfrm>
                  <a:off x="1338801" y="4221628"/>
                  <a:ext cx="618505" cy="369332"/>
                </a:xfrm>
                <a:prstGeom prst="rect">
                  <a:avLst/>
                </a:prstGeom>
                <a:noFill/>
              </p:spPr>
              <p:txBody>
                <a:bodyPr wrap="none" rtlCol="0">
                  <a:spAutoFit/>
                </a:bodyPr>
                <a:lstStyle/>
                <a:p>
                  <a:r>
                    <a:rPr lang="en-US" altLang="zh-CN" dirty="0"/>
                    <a:t>2001</a:t>
                  </a:r>
                  <a:endParaRPr lang="zh-CN" altLang="en-US" dirty="0"/>
                </a:p>
              </p:txBody>
            </p:sp>
            <p:sp>
              <p:nvSpPr>
                <p:cNvPr id="13" name="文本框 12"/>
                <p:cNvSpPr txBox="1"/>
                <p:nvPr/>
              </p:nvSpPr>
              <p:spPr>
                <a:xfrm>
                  <a:off x="1358465" y="4686356"/>
                  <a:ext cx="618505" cy="369332"/>
                </a:xfrm>
                <a:prstGeom prst="rect">
                  <a:avLst/>
                </a:prstGeom>
                <a:noFill/>
              </p:spPr>
              <p:txBody>
                <a:bodyPr wrap="none" rtlCol="0">
                  <a:spAutoFit/>
                </a:bodyPr>
                <a:lstStyle/>
                <a:p>
                  <a:r>
                    <a:rPr lang="en-US" altLang="zh-CN" dirty="0"/>
                    <a:t>2000</a:t>
                  </a:r>
                  <a:endParaRPr lang="zh-CN" altLang="en-US" dirty="0"/>
                </a:p>
              </p:txBody>
            </p:sp>
          </p:grpSp>
        </p:grpSp>
        <p:sp>
          <p:nvSpPr>
            <p:cNvPr id="27" name="文本框 26"/>
            <p:cNvSpPr txBox="1"/>
            <p:nvPr/>
          </p:nvSpPr>
          <p:spPr>
            <a:xfrm>
              <a:off x="319755" y="2276872"/>
              <a:ext cx="1202573" cy="369332"/>
            </a:xfrm>
            <a:prstGeom prst="rect">
              <a:avLst/>
            </a:prstGeom>
            <a:noFill/>
          </p:spPr>
          <p:txBody>
            <a:bodyPr wrap="none" rtlCol="0">
              <a:spAutoFit/>
            </a:bodyPr>
            <a:lstStyle/>
            <a:p>
              <a:r>
                <a:rPr lang="en-US" altLang="zh-CN" b="1" dirty="0"/>
                <a:t>Big-Endian</a:t>
              </a:r>
              <a:endParaRPr lang="zh-CN" altLang="en-US" b="1" dirty="0"/>
            </a:p>
          </p:txBody>
        </p:sp>
      </p:grpSp>
      <p:grpSp>
        <p:nvGrpSpPr>
          <p:cNvPr id="29" name="组合 28"/>
          <p:cNvGrpSpPr/>
          <p:nvPr/>
        </p:nvGrpSpPr>
        <p:grpSpPr>
          <a:xfrm>
            <a:off x="1645991" y="4132798"/>
            <a:ext cx="2448272" cy="2128820"/>
            <a:chOff x="263352" y="4499828"/>
            <a:chExt cx="2448272" cy="2128820"/>
          </a:xfrm>
        </p:grpSpPr>
        <p:grpSp>
          <p:nvGrpSpPr>
            <p:cNvPr id="16" name="组合 15"/>
            <p:cNvGrpSpPr/>
            <p:nvPr/>
          </p:nvGrpSpPr>
          <p:grpSpPr>
            <a:xfrm>
              <a:off x="1338801" y="4779167"/>
              <a:ext cx="1372823" cy="1849481"/>
              <a:chOff x="1338801" y="3212976"/>
              <a:chExt cx="1300815" cy="1849481"/>
            </a:xfrm>
          </p:grpSpPr>
          <p:grpSp>
            <p:nvGrpSpPr>
              <p:cNvPr id="17" name="组合 16"/>
              <p:cNvGrpSpPr/>
              <p:nvPr/>
            </p:nvGrpSpPr>
            <p:grpSpPr>
              <a:xfrm>
                <a:off x="1991544" y="3212976"/>
                <a:ext cx="648072" cy="1849481"/>
                <a:chOff x="1991544" y="3212976"/>
                <a:chExt cx="648072" cy="1849481"/>
              </a:xfrm>
            </p:grpSpPr>
            <p:sp>
              <p:nvSpPr>
                <p:cNvPr id="23" name="文本框 22"/>
                <p:cNvSpPr txBox="1"/>
                <p:nvPr/>
              </p:nvSpPr>
              <p:spPr>
                <a:xfrm>
                  <a:off x="1991544" y="3212976"/>
                  <a:ext cx="648072" cy="461665"/>
                </a:xfrm>
                <a:prstGeom prst="rect">
                  <a:avLst/>
                </a:prstGeom>
                <a:noFill/>
                <a:ln>
                  <a:solidFill>
                    <a:schemeClr val="tx1"/>
                  </a:solidFill>
                </a:ln>
              </p:spPr>
              <p:txBody>
                <a:bodyPr wrap="square" rtlCol="0">
                  <a:spAutoFit/>
                </a:bodyPr>
                <a:lstStyle/>
                <a:p>
                  <a:pPr algn="ctr"/>
                  <a:r>
                    <a:rPr lang="en-US" altLang="zh-CN" sz="2400" dirty="0"/>
                    <a:t>11</a:t>
                  </a:r>
                  <a:endParaRPr lang="zh-CN" altLang="en-US" sz="2400" dirty="0"/>
                </a:p>
              </p:txBody>
            </p:sp>
            <p:sp>
              <p:nvSpPr>
                <p:cNvPr id="24" name="文本框 23"/>
                <p:cNvSpPr txBox="1"/>
                <p:nvPr/>
              </p:nvSpPr>
              <p:spPr>
                <a:xfrm>
                  <a:off x="1991544" y="3677583"/>
                  <a:ext cx="648072" cy="461665"/>
                </a:xfrm>
                <a:prstGeom prst="rect">
                  <a:avLst/>
                </a:prstGeom>
                <a:noFill/>
                <a:ln>
                  <a:solidFill>
                    <a:schemeClr val="tx1"/>
                  </a:solidFill>
                </a:ln>
              </p:spPr>
              <p:txBody>
                <a:bodyPr wrap="square" rtlCol="0">
                  <a:spAutoFit/>
                </a:bodyPr>
                <a:lstStyle/>
                <a:p>
                  <a:pPr algn="ctr"/>
                  <a:r>
                    <a:rPr lang="en-US" altLang="zh-CN" sz="2400" dirty="0"/>
                    <a:t>22</a:t>
                  </a:r>
                  <a:endParaRPr lang="zh-CN" altLang="en-US" sz="2400" dirty="0"/>
                </a:p>
              </p:txBody>
            </p:sp>
            <p:sp>
              <p:nvSpPr>
                <p:cNvPr id="25" name="文本框 24"/>
                <p:cNvSpPr txBox="1"/>
                <p:nvPr/>
              </p:nvSpPr>
              <p:spPr>
                <a:xfrm>
                  <a:off x="1991544" y="4142311"/>
                  <a:ext cx="648072" cy="461665"/>
                </a:xfrm>
                <a:prstGeom prst="rect">
                  <a:avLst/>
                </a:prstGeom>
                <a:noFill/>
                <a:ln>
                  <a:solidFill>
                    <a:schemeClr val="tx1"/>
                  </a:solidFill>
                </a:ln>
              </p:spPr>
              <p:txBody>
                <a:bodyPr wrap="square" rtlCol="0">
                  <a:spAutoFit/>
                </a:bodyPr>
                <a:lstStyle/>
                <a:p>
                  <a:pPr algn="ctr"/>
                  <a:r>
                    <a:rPr lang="en-US" altLang="zh-CN" sz="2400" dirty="0"/>
                    <a:t>33</a:t>
                  </a:r>
                  <a:endParaRPr lang="zh-CN" altLang="en-US" sz="2400" dirty="0"/>
                </a:p>
              </p:txBody>
            </p:sp>
            <p:sp>
              <p:nvSpPr>
                <p:cNvPr id="26" name="文本框 25"/>
                <p:cNvSpPr txBox="1"/>
                <p:nvPr/>
              </p:nvSpPr>
              <p:spPr>
                <a:xfrm>
                  <a:off x="1991544" y="4600792"/>
                  <a:ext cx="648072" cy="461665"/>
                </a:xfrm>
                <a:prstGeom prst="rect">
                  <a:avLst/>
                </a:prstGeom>
                <a:noFill/>
                <a:ln>
                  <a:solidFill>
                    <a:schemeClr val="tx1"/>
                  </a:solidFill>
                </a:ln>
              </p:spPr>
              <p:txBody>
                <a:bodyPr wrap="square" rtlCol="0">
                  <a:spAutoFit/>
                </a:bodyPr>
                <a:lstStyle/>
                <a:p>
                  <a:pPr algn="ctr"/>
                  <a:r>
                    <a:rPr lang="en-US" altLang="zh-CN" sz="2400" dirty="0"/>
                    <a:t>44</a:t>
                  </a:r>
                  <a:endParaRPr lang="zh-CN" altLang="en-US" sz="2400" dirty="0"/>
                </a:p>
              </p:txBody>
            </p:sp>
          </p:grpSp>
          <p:grpSp>
            <p:nvGrpSpPr>
              <p:cNvPr id="18" name="组合 17"/>
              <p:cNvGrpSpPr/>
              <p:nvPr/>
            </p:nvGrpSpPr>
            <p:grpSpPr>
              <a:xfrm>
                <a:off x="1338801" y="3284984"/>
                <a:ext cx="638169" cy="1770704"/>
                <a:chOff x="1338801" y="3284984"/>
                <a:chExt cx="638169" cy="1770704"/>
              </a:xfrm>
            </p:grpSpPr>
            <p:sp>
              <p:nvSpPr>
                <p:cNvPr id="19" name="文本框 18"/>
                <p:cNvSpPr txBox="1"/>
                <p:nvPr/>
              </p:nvSpPr>
              <p:spPr>
                <a:xfrm>
                  <a:off x="1338801" y="3284984"/>
                  <a:ext cx="618505" cy="369332"/>
                </a:xfrm>
                <a:prstGeom prst="rect">
                  <a:avLst/>
                </a:prstGeom>
                <a:noFill/>
              </p:spPr>
              <p:txBody>
                <a:bodyPr wrap="square" rtlCol="0">
                  <a:spAutoFit/>
                </a:bodyPr>
                <a:lstStyle/>
                <a:p>
                  <a:r>
                    <a:rPr lang="en-US" altLang="zh-CN" dirty="0"/>
                    <a:t>2003</a:t>
                  </a:r>
                  <a:endParaRPr lang="zh-CN" altLang="en-US" dirty="0"/>
                </a:p>
              </p:txBody>
            </p:sp>
            <p:sp>
              <p:nvSpPr>
                <p:cNvPr id="20" name="文本框 19"/>
                <p:cNvSpPr txBox="1"/>
                <p:nvPr/>
              </p:nvSpPr>
              <p:spPr>
                <a:xfrm>
                  <a:off x="1351817" y="3750252"/>
                  <a:ext cx="618505" cy="369332"/>
                </a:xfrm>
                <a:prstGeom prst="rect">
                  <a:avLst/>
                </a:prstGeom>
                <a:noFill/>
              </p:spPr>
              <p:txBody>
                <a:bodyPr wrap="none" rtlCol="0">
                  <a:spAutoFit/>
                </a:bodyPr>
                <a:lstStyle/>
                <a:p>
                  <a:r>
                    <a:rPr lang="en-US" altLang="zh-CN" dirty="0"/>
                    <a:t>2002</a:t>
                  </a:r>
                  <a:endParaRPr lang="zh-CN" altLang="en-US" dirty="0"/>
                </a:p>
              </p:txBody>
            </p:sp>
            <p:sp>
              <p:nvSpPr>
                <p:cNvPr id="21" name="文本框 20"/>
                <p:cNvSpPr txBox="1"/>
                <p:nvPr/>
              </p:nvSpPr>
              <p:spPr>
                <a:xfrm>
                  <a:off x="1338801" y="4221628"/>
                  <a:ext cx="618505" cy="369332"/>
                </a:xfrm>
                <a:prstGeom prst="rect">
                  <a:avLst/>
                </a:prstGeom>
                <a:noFill/>
              </p:spPr>
              <p:txBody>
                <a:bodyPr wrap="none" rtlCol="0">
                  <a:spAutoFit/>
                </a:bodyPr>
                <a:lstStyle/>
                <a:p>
                  <a:r>
                    <a:rPr lang="en-US" altLang="zh-CN" dirty="0"/>
                    <a:t>2001</a:t>
                  </a:r>
                  <a:endParaRPr lang="zh-CN" altLang="en-US" dirty="0"/>
                </a:p>
              </p:txBody>
            </p:sp>
            <p:sp>
              <p:nvSpPr>
                <p:cNvPr id="22" name="文本框 21"/>
                <p:cNvSpPr txBox="1"/>
                <p:nvPr/>
              </p:nvSpPr>
              <p:spPr>
                <a:xfrm>
                  <a:off x="1358465" y="4686356"/>
                  <a:ext cx="618505" cy="369332"/>
                </a:xfrm>
                <a:prstGeom prst="rect">
                  <a:avLst/>
                </a:prstGeom>
                <a:noFill/>
              </p:spPr>
              <p:txBody>
                <a:bodyPr wrap="none" rtlCol="0">
                  <a:spAutoFit/>
                </a:bodyPr>
                <a:lstStyle/>
                <a:p>
                  <a:r>
                    <a:rPr lang="en-US" altLang="zh-CN" dirty="0"/>
                    <a:t>2000</a:t>
                  </a:r>
                  <a:endParaRPr lang="zh-CN" altLang="en-US" dirty="0"/>
                </a:p>
              </p:txBody>
            </p:sp>
          </p:grpSp>
        </p:grpSp>
        <p:sp>
          <p:nvSpPr>
            <p:cNvPr id="28" name="文本框 27"/>
            <p:cNvSpPr txBox="1"/>
            <p:nvPr/>
          </p:nvSpPr>
          <p:spPr>
            <a:xfrm>
              <a:off x="263352" y="4499828"/>
              <a:ext cx="1390637" cy="369332"/>
            </a:xfrm>
            <a:prstGeom prst="rect">
              <a:avLst/>
            </a:prstGeom>
            <a:noFill/>
          </p:spPr>
          <p:txBody>
            <a:bodyPr wrap="none" rtlCol="0">
              <a:spAutoFit/>
            </a:bodyPr>
            <a:lstStyle/>
            <a:p>
              <a:r>
                <a:rPr lang="en-US" altLang="zh-CN" b="1" dirty="0"/>
                <a:t>Little-Endian</a:t>
              </a:r>
              <a:endParaRPr lang="zh-CN" altLang="en-US" b="1" dirty="0"/>
            </a:p>
          </p:txBody>
        </p:sp>
      </p:grpSp>
      <p:sp>
        <p:nvSpPr>
          <p:cNvPr id="30" name="文本框 29"/>
          <p:cNvSpPr txBox="1"/>
          <p:nvPr/>
        </p:nvSpPr>
        <p:spPr>
          <a:xfrm>
            <a:off x="5161300" y="1459258"/>
            <a:ext cx="3556601" cy="5355312"/>
          </a:xfrm>
          <a:prstGeom prst="rect">
            <a:avLst/>
          </a:prstGeom>
          <a:solidFill>
            <a:schemeClr val="accent1">
              <a:lumMod val="20000"/>
              <a:lumOff val="80000"/>
            </a:schemeClr>
          </a:solidFill>
        </p:spPr>
        <p:txBody>
          <a:bodyPr wrap="square">
            <a:spAutoFit/>
          </a:bodyPr>
          <a:lstStyle/>
          <a:p>
            <a:r>
              <a:rPr lang="en-US" altLang="zh-CN" dirty="0"/>
              <a:t>#include&lt;stdio.h&gt;</a:t>
            </a:r>
          </a:p>
          <a:p>
            <a:r>
              <a:rPr lang="en-US" altLang="zh-CN" dirty="0"/>
              <a:t>union data</a:t>
            </a:r>
          </a:p>
          <a:p>
            <a:r>
              <a:rPr lang="en-US" altLang="zh-CN" dirty="0"/>
              <a:t>{</a:t>
            </a:r>
          </a:p>
          <a:p>
            <a:r>
              <a:rPr lang="en-US" altLang="zh-CN" dirty="0"/>
              <a:t>    int a;</a:t>
            </a:r>
          </a:p>
          <a:p>
            <a:r>
              <a:rPr lang="en-US" altLang="zh-CN" dirty="0"/>
              <a:t>    char c;</a:t>
            </a:r>
          </a:p>
          <a:p>
            <a:r>
              <a:rPr lang="en-US" altLang="zh-CN" dirty="0"/>
              <a:t>};</a:t>
            </a:r>
          </a:p>
          <a:p>
            <a:endParaRPr lang="en-US" altLang="zh-CN" dirty="0"/>
          </a:p>
          <a:p>
            <a:r>
              <a:rPr lang="en-US" altLang="zh-CN" dirty="0"/>
              <a:t>int main()</a:t>
            </a:r>
          </a:p>
          <a:p>
            <a:r>
              <a:rPr lang="en-US" altLang="zh-CN" dirty="0"/>
              <a:t>{</a:t>
            </a:r>
          </a:p>
          <a:p>
            <a:r>
              <a:rPr lang="en-US" altLang="zh-CN" dirty="0"/>
              <a:t>    union data endian;</a:t>
            </a:r>
          </a:p>
          <a:p>
            <a:r>
              <a:rPr lang="en-US" altLang="zh-CN" dirty="0"/>
              <a:t>    </a:t>
            </a:r>
            <a:r>
              <a:rPr lang="en-US" altLang="zh-CN" dirty="0" err="1"/>
              <a:t>endian.a</a:t>
            </a:r>
            <a:r>
              <a:rPr lang="en-US" altLang="zh-CN" dirty="0"/>
              <a:t> = 0x11223344;</a:t>
            </a:r>
          </a:p>
          <a:p>
            <a:endParaRPr lang="en-US" altLang="zh-CN" dirty="0"/>
          </a:p>
          <a:p>
            <a:r>
              <a:rPr lang="en-US" altLang="zh-CN" dirty="0"/>
              <a:t>    if(</a:t>
            </a:r>
            <a:r>
              <a:rPr lang="en-US" altLang="zh-CN" dirty="0" err="1"/>
              <a:t>endian.c</a:t>
            </a:r>
            <a:r>
              <a:rPr lang="en-US" altLang="zh-CN" dirty="0"/>
              <a:t> == 0x11)</a:t>
            </a:r>
          </a:p>
          <a:p>
            <a:r>
              <a:rPr lang="en-US" altLang="zh-CN" dirty="0"/>
              <a:t>        </a:t>
            </a:r>
            <a:r>
              <a:rPr lang="en-US" altLang="zh-CN" dirty="0" err="1"/>
              <a:t>printf</a:t>
            </a:r>
            <a:r>
              <a:rPr lang="en-US" altLang="zh-CN" dirty="0"/>
              <a:t>("Big-Endian\n");</a:t>
            </a:r>
          </a:p>
          <a:p>
            <a:r>
              <a:rPr lang="en-US" altLang="zh-CN" dirty="0"/>
              <a:t>    else if(</a:t>
            </a:r>
            <a:r>
              <a:rPr lang="en-US" altLang="zh-CN" dirty="0" err="1"/>
              <a:t>endian.c</a:t>
            </a:r>
            <a:r>
              <a:rPr lang="en-US" altLang="zh-CN" dirty="0"/>
              <a:t> == 0x44)</a:t>
            </a:r>
          </a:p>
          <a:p>
            <a:r>
              <a:rPr lang="en-US" altLang="zh-CN" dirty="0"/>
              <a:t>        </a:t>
            </a:r>
            <a:r>
              <a:rPr lang="en-US" altLang="zh-CN" dirty="0" err="1"/>
              <a:t>printf</a:t>
            </a:r>
            <a:r>
              <a:rPr lang="en-US" altLang="zh-CN" dirty="0"/>
              <a:t>("Little-Endian\n");</a:t>
            </a:r>
          </a:p>
          <a:p>
            <a:endParaRPr lang="en-US" altLang="zh-CN" dirty="0"/>
          </a:p>
          <a:p>
            <a:r>
              <a:rPr lang="en-US" altLang="zh-CN" dirty="0"/>
              <a:t>    return 0;</a:t>
            </a:r>
          </a:p>
          <a:p>
            <a:r>
              <a:rPr lang="en-US" altLang="zh-CN" dirty="0"/>
              <a:t>}</a:t>
            </a:r>
            <a:endParaRPr lang="zh-CN" altLang="en-US" dirty="0"/>
          </a:p>
        </p:txBody>
      </p:sp>
      <p:sp>
        <p:nvSpPr>
          <p:cNvPr id="34" name="文本框 33"/>
          <p:cNvSpPr txBox="1"/>
          <p:nvPr/>
        </p:nvSpPr>
        <p:spPr>
          <a:xfrm>
            <a:off x="8794115" y="2548255"/>
            <a:ext cx="2770505" cy="1568450"/>
          </a:xfrm>
          <a:prstGeom prst="rect">
            <a:avLst/>
          </a:prstGeom>
          <a:noFill/>
        </p:spPr>
        <p:txBody>
          <a:bodyPr wrap="square" rtlCol="0">
            <a:spAutoFit/>
          </a:bodyPr>
          <a:lstStyle/>
          <a:p>
            <a:r>
              <a:rPr lang="en-US" altLang="zh-CN" sz="2400" dirty="0"/>
              <a:t>Q: Run the demo on your system, is your system Big-Endian or Little-Endian?</a:t>
            </a:r>
          </a:p>
        </p:txBody>
      </p:sp>
      <p:sp>
        <p:nvSpPr>
          <p:cNvPr id="31" name="灯片编号占位符 30"/>
          <p:cNvSpPr>
            <a:spLocks noGrp="1"/>
          </p:cNvSpPr>
          <p:nvPr>
            <p:ph type="sldNum" sz="quarter" idx="12"/>
          </p:nvPr>
        </p:nvSpPr>
        <p:spPr/>
        <p:txBody>
          <a:bodyPr/>
          <a:lstStyle/>
          <a:p>
            <a:fld id="{506F4176-339E-4C4B-80E4-BBE9C4467EFE}" type="slidenum">
              <a:rPr lang="zh-CN" altLang="en-US" smtClean="0"/>
              <a:t>19</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543*144"/>
  <p:tag name="TABLE_ENDDRAG_RECT" val="30*303*543*14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360</TotalTime>
  <Words>2685</Words>
  <Application>Microsoft Macintosh PowerPoint</Application>
  <PresentationFormat>宽屏</PresentationFormat>
  <Paragraphs>370</Paragraphs>
  <Slides>19</Slides>
  <Notes>3</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19</vt:i4>
      </vt:variant>
    </vt:vector>
  </HeadingPairs>
  <TitlesOfParts>
    <vt:vector size="30" baseType="lpstr">
      <vt:lpstr>等线</vt:lpstr>
      <vt:lpstr>等线</vt:lpstr>
      <vt:lpstr>Arial</vt:lpstr>
      <vt:lpstr>Calibri</vt:lpstr>
      <vt:lpstr>Consolas</vt:lpstr>
      <vt:lpstr>Courier New</vt:lpstr>
      <vt:lpstr>Franklin Gothic Demi</vt:lpstr>
      <vt:lpstr>Franklin Gothic Medium</vt:lpstr>
      <vt:lpstr>Menlo</vt:lpstr>
      <vt:lpstr>Wingdings</vt:lpstr>
      <vt:lpstr>Office 主题</vt:lpstr>
      <vt:lpstr>Advanced Programming</vt:lpstr>
      <vt:lpstr>Topic</vt:lpstr>
      <vt:lpstr>Precautions for Pointer </vt:lpstr>
      <vt:lpstr>DON’TS : 1. wild pointer </vt:lpstr>
      <vt:lpstr>DON’TS : 2. memory leak </vt:lpstr>
      <vt:lpstr>DON’TS : 3. free more or  free less </vt:lpstr>
      <vt:lpstr>DON’TS : 4. free stack </vt:lpstr>
      <vt:lpstr>DON’TS : 5. dangling pointer </vt:lpstr>
      <vt:lpstr>Tools： valgrind(1) </vt:lpstr>
      <vt:lpstr>Tools： valgrind(2) </vt:lpstr>
      <vt:lpstr>Coding specification</vt:lpstr>
      <vt:lpstr>Memory Managment-Stack vs Heap(1)</vt:lpstr>
      <vt:lpstr>Memory Managment-Stack vs Heap(2)</vt:lpstr>
      <vt:lpstr>Memory Managment-Stack vs Heap(3)</vt:lpstr>
      <vt:lpstr>Memory Managment-C/C++ VS Python(1)</vt:lpstr>
      <vt:lpstr>Exercise 1</vt:lpstr>
      <vt:lpstr>Exercise 2</vt:lpstr>
      <vt:lpstr>Exercises 3</vt:lpstr>
      <vt:lpstr>PowerPoint 演示文稿</vt:lpstr>
    </vt:vector>
  </TitlesOfParts>
  <Company>Southern University of Science and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 Program Design</dc:title>
  <dc:creator>Shiqi Yu</dc:creator>
  <cp:lastModifiedBy>Shiqi Yu</cp:lastModifiedBy>
  <cp:revision>739</cp:revision>
  <dcterms:created xsi:type="dcterms:W3CDTF">2020-09-05T08:11:00Z</dcterms:created>
  <dcterms:modified xsi:type="dcterms:W3CDTF">2026-03-29T12:01:44Z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1E09E4AA48024EA5B89C53626B6B5A4F_13</vt:lpwstr>
  </property>
  <property fmtid="{D5CDD505-2E9C-101B-9397-08002B2CF9AE}" pid="3" name="KSOProductBuildVer">
    <vt:lpwstr>2052-12.1.0.20305</vt:lpwstr>
  </property>
</Properties>
</file>