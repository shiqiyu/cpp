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22"/>
  </p:notesMasterIdLst>
  <p:sldIdLst>
    <p:sldId id="256" r:id="rId3"/>
    <p:sldId id="603" r:id="rId4"/>
    <p:sldId id="588" r:id="rId5"/>
    <p:sldId id="579" r:id="rId6"/>
    <p:sldId id="620" r:id="rId7"/>
    <p:sldId id="621" r:id="rId8"/>
    <p:sldId id="594" r:id="rId9"/>
    <p:sldId id="573" r:id="rId10"/>
    <p:sldId id="574" r:id="rId11"/>
    <p:sldId id="577" r:id="rId12"/>
    <p:sldId id="596" r:id="rId13"/>
    <p:sldId id="605" r:id="rId14"/>
    <p:sldId id="606" r:id="rId15"/>
    <p:sldId id="607" r:id="rId16"/>
    <p:sldId id="608" r:id="rId17"/>
    <p:sldId id="624" r:id="rId18"/>
    <p:sldId id="623" r:id="rId19"/>
    <p:sldId id="598" r:id="rId20"/>
    <p:sldId id="600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056938551" name="薇" initials="薇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2084" autoAdjust="0"/>
    <p:restoredTop sz="94660"/>
  </p:normalViewPr>
  <p:slideViewPr>
    <p:cSldViewPr snapToGrid="0">
      <p:cViewPr>
        <p:scale>
          <a:sx n="152" d="100"/>
          <a:sy n="152" d="100"/>
        </p:scale>
        <p:origin x="472" y="1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commentAuthors" Target="commentAuthor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237EF7-A117-46B7-88A8-1B7FB98FF0F2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705520-EB74-4E10-9207-DDFEA7EA0F0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wrap="square" numCol="1" anchor="t" anchorCtr="0" compatLnSpc="1"/>
          <a:lstStyle/>
          <a:p>
            <a:pPr marL="542925" indent="-542925"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247812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r" defTabSz="11664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D5C04F1-088D-43BB-BF6A-7E5350A2ABBF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13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保留，数据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534740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987522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18" t="38788" r="24589" b="40606"/>
          <a:stretch>
            <a:fillRect/>
          </a:stretch>
        </p:blipFill>
        <p:spPr>
          <a:xfrm>
            <a:off x="8610600" y="0"/>
            <a:ext cx="3515893" cy="1007930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76479" y="264221"/>
            <a:ext cx="10515600" cy="833631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199" y="1326995"/>
            <a:ext cx="11053879" cy="4849968"/>
          </a:xfrm>
        </p:spPr>
        <p:txBody>
          <a:bodyPr/>
          <a:lstStyle>
            <a:lvl2pPr marL="914400" indent="-457200">
              <a:buFont typeface="Wingdings" panose="05000000000000000000" pitchFamily="2" charset="2"/>
              <a:buChar char="Ø"/>
              <a:defRPr/>
            </a:lvl2pPr>
            <a:lvl3pPr marL="1143000" indent="-228600">
              <a:buFont typeface="Wingdings" panose="05000000000000000000" pitchFamily="2" charset="2"/>
              <a:buChar char="ü"/>
              <a:defRPr/>
            </a:lvl3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/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70" y="69174"/>
            <a:ext cx="1112400" cy="1111682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24634" y="365125"/>
            <a:ext cx="9229165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9" name="图片 8"/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70" y="69174"/>
            <a:ext cx="1112400" cy="1111682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10320" y="365125"/>
            <a:ext cx="9245067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1" name="图片 10"/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70" y="69174"/>
            <a:ext cx="1112400" cy="1111682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/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70" y="69174"/>
            <a:ext cx="1112400" cy="1111682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534740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987522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18" t="38788" r="24589" b="40606"/>
          <a:stretch>
            <a:fillRect/>
          </a:stretch>
        </p:blipFill>
        <p:spPr>
          <a:xfrm>
            <a:off x="8610600" y="0"/>
            <a:ext cx="3515893" cy="1007930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76479" y="264221"/>
            <a:ext cx="10515600" cy="833631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199" y="1326995"/>
            <a:ext cx="11053879" cy="4849968"/>
          </a:xfrm>
        </p:spPr>
        <p:txBody>
          <a:bodyPr/>
          <a:lstStyle>
            <a:lvl2pPr marL="914400" indent="-457200">
              <a:buFont typeface="Wingdings" panose="05000000000000000000" pitchFamily="2" charset="2"/>
              <a:buChar char="Ø"/>
              <a:defRPr/>
            </a:lvl2pPr>
            <a:lvl3pPr marL="1143000" indent="-228600">
              <a:buFont typeface="Wingdings" panose="05000000000000000000" pitchFamily="2" charset="2"/>
              <a:buChar char="ü"/>
              <a:defRPr/>
            </a:lvl3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/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70" y="69174"/>
            <a:ext cx="1112400" cy="1111682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24634" y="365125"/>
            <a:ext cx="9229165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9" name="图片 8"/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70" y="69174"/>
            <a:ext cx="1112400" cy="1111682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10320" y="365125"/>
            <a:ext cx="9245067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1" name="图片 10"/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70" y="69174"/>
            <a:ext cx="1112400" cy="1111682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/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70" y="69174"/>
            <a:ext cx="1112400" cy="1111682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1298448" y="365125"/>
            <a:ext cx="10055352" cy="8157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389888"/>
            <a:ext cx="10515600" cy="47870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517904" y="6356350"/>
            <a:ext cx="20634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19A4FA-3D9A-4114-B0D5-759CBD56F1AB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452950"/>
            <a:ext cx="1152144" cy="405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lnSpc>
          <a:spcPct val="90000"/>
        </a:lnSpc>
        <a:spcBef>
          <a:spcPts val="500"/>
        </a:spcBef>
        <a:buFont typeface="Calibri" panose="020F0502020204030204" pitchFamily="34" charset="0"/>
        <a:buChar char="□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Ø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1298448" y="365125"/>
            <a:ext cx="10055352" cy="8157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389888"/>
            <a:ext cx="10515600" cy="47870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517904" y="6356350"/>
            <a:ext cx="20634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19A4FA-3D9A-4114-B0D5-759CBD56F1AB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452950"/>
            <a:ext cx="1152144" cy="405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lnSpc>
          <a:spcPct val="90000"/>
        </a:lnSpc>
        <a:spcBef>
          <a:spcPts val="500"/>
        </a:spcBef>
        <a:buFont typeface="Calibri" panose="020F0502020204030204" pitchFamily="34" charset="0"/>
        <a:buChar char="□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Ø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307592"/>
            <a:ext cx="9144000" cy="1772603"/>
          </a:xfrm>
        </p:spPr>
        <p:txBody>
          <a:bodyPr>
            <a:noAutofit/>
          </a:bodyPr>
          <a:lstStyle/>
          <a:p>
            <a:r>
              <a:rPr lang="en-US" altLang="zh-CN" b="1" dirty="0">
                <a:latin typeface="Franklin Gothic Demi" panose="020B0703020102020204" pitchFamily="34" charset="0"/>
              </a:rPr>
              <a:t>Advanced Programming </a:t>
            </a:r>
            <a:endParaRPr lang="zh-CN" altLang="en-US" b="1" dirty="0">
              <a:latin typeface="Franklin Gothic Demi" panose="020B0703020102020204" pitchFamily="34" charset="0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241425" y="3260090"/>
            <a:ext cx="10186670" cy="2767330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latin typeface="Franklin Gothic Medium" panose="020B0603020102020204" pitchFamily="34" charset="0"/>
                <a:sym typeface="+mn-ea"/>
              </a:rPr>
              <a:t>Lab 3  </a:t>
            </a:r>
            <a:r>
              <a:rPr lang="en-US" altLang="zh-CN" sz="3600" dirty="0">
                <a:latin typeface="Franklin Gothic Medium" panose="020B0603020102020204" pitchFamily="34" charset="0"/>
              </a:rPr>
              <a:t>Common Commands in Linux,  Makefile</a:t>
            </a:r>
          </a:p>
          <a:p>
            <a:endParaRPr lang="en-US" altLang="zh-CN" sz="3600" dirty="0">
              <a:latin typeface="Franklin Gothic Medium" panose="020B0603020102020204" pitchFamily="34" charset="0"/>
            </a:endParaRPr>
          </a:p>
          <a:p>
            <a:endParaRPr lang="en-US" altLang="zh-CN" dirty="0">
              <a:latin typeface="Franklin Gothic Medium" panose="020B0603020102020204" pitchFamily="34" charset="0"/>
            </a:endParaRPr>
          </a:p>
          <a:p>
            <a:r>
              <a:rPr lang="zh-CN" altLang="en-US" dirty="0">
                <a:latin typeface="Franklin Gothic Medium" panose="020B0603020102020204" pitchFamily="34" charset="0"/>
                <a:sym typeface="+mn-ea"/>
              </a:rPr>
              <a:t>于仕琪，王大兴，廖琪梅</a:t>
            </a:r>
            <a:r>
              <a:rPr lang="en-US" altLang="zh-CN" dirty="0">
                <a:latin typeface="Franklin Gothic Medium" panose="020B0603020102020204" pitchFamily="34" charset="0"/>
                <a:sym typeface="+mn-ea"/>
              </a:rPr>
              <a:t>, </a:t>
            </a:r>
            <a:r>
              <a:rPr lang="zh-CN" altLang="en-US" dirty="0">
                <a:latin typeface="Franklin Gothic Medium" panose="020B0603020102020204" pitchFamily="34" charset="0"/>
                <a:sym typeface="+mn-ea"/>
              </a:rPr>
              <a:t>王薇</a:t>
            </a:r>
            <a:endParaRPr lang="en-US" altLang="zh-CN" dirty="0">
              <a:latin typeface="Franklin Gothic Medium" panose="020B0603020102020204" pitchFamily="34" charset="0"/>
            </a:endParaRPr>
          </a:p>
          <a:p>
            <a:endParaRPr lang="en-US" altLang="zh-CN" dirty="0">
              <a:latin typeface="Franklin Gothic Medium" panose="020B06030201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topics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1. Commands in Linux</a:t>
            </a:r>
          </a:p>
          <a:p>
            <a:pPr lvl="1"/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sym typeface="+mn-ea"/>
              </a:rPr>
              <a:t>Commands: directory, file, etc.</a:t>
            </a:r>
            <a:endParaRPr lang="en-US" altLang="zh-CN" sz="2400" dirty="0"/>
          </a:p>
          <a:p>
            <a:pPr lvl="1"/>
            <a:r>
              <a:rPr lang="en-US" altLang="zh-CN" dirty="0">
                <a:sym typeface="+mn-ea"/>
              </a:rPr>
              <a:t>Commonly used commands</a:t>
            </a:r>
            <a:r>
              <a:rPr lang="en-US" altLang="zh-CN" dirty="0"/>
              <a:t>,  </a:t>
            </a:r>
            <a:r>
              <a:rPr lang="en-US" altLang="zh-CN" dirty="0">
                <a:sym typeface="+mn-ea"/>
              </a:rPr>
              <a:t>pipelines</a:t>
            </a:r>
            <a:endParaRPr lang="en-US" altLang="zh-CN" dirty="0"/>
          </a:p>
          <a:p>
            <a:r>
              <a:rPr lang="en-US" altLang="zh-CN" dirty="0"/>
              <a:t>2. </a:t>
            </a:r>
            <a:r>
              <a:rPr lang="en-US" altLang="zh-CN" dirty="0" err="1"/>
              <a:t>Makefile</a:t>
            </a:r>
            <a:endParaRPr lang="en-US" altLang="zh-CN" dirty="0"/>
          </a:p>
          <a:p>
            <a:pPr lvl="1"/>
            <a:r>
              <a:rPr lang="en-US" altLang="zh-CN" sz="2400" dirty="0"/>
              <a:t>file: </a:t>
            </a:r>
            <a:r>
              <a:rPr lang="en-US" altLang="zh-CN" sz="2400" dirty="0" err="1"/>
              <a:t>makefile</a:t>
            </a:r>
            <a:r>
              <a:rPr lang="en-US" altLang="zh-CN" sz="2400" dirty="0"/>
              <a:t>/</a:t>
            </a:r>
            <a:r>
              <a:rPr lang="en-US" altLang="zh-CN" dirty="0" err="1">
                <a:sym typeface="+mn-ea"/>
              </a:rPr>
              <a:t>Makefile</a:t>
            </a:r>
            <a:r>
              <a:rPr lang="en-US" altLang="zh-CN" dirty="0">
                <a:sym typeface="+mn-ea"/>
              </a:rPr>
              <a:t>  </a:t>
            </a:r>
            <a:endParaRPr lang="en-US" altLang="zh-CN" sz="2400" dirty="0"/>
          </a:p>
          <a:p>
            <a:pPr lvl="1"/>
            <a:r>
              <a:rPr lang="en-US" altLang="zh-CN" sz="2400" dirty="0"/>
              <a:t>command: make, make clean</a:t>
            </a:r>
            <a:endParaRPr lang="en-US" altLang="zh-CN" dirty="0"/>
          </a:p>
          <a:p>
            <a:r>
              <a:rPr lang="en-US" altLang="zh-CN" dirty="0"/>
              <a:t>3. </a:t>
            </a:r>
            <a:r>
              <a:rPr lang="en-US" altLang="zh-CN" dirty="0" err="1"/>
              <a:t>Execises</a:t>
            </a:r>
            <a:endParaRPr lang="en-US" altLang="zh-CN" dirty="0"/>
          </a:p>
          <a:p>
            <a:pPr lvl="1"/>
            <a:r>
              <a:rPr lang="en-US" altLang="zh-CN" dirty="0"/>
              <a:t>commands, </a:t>
            </a:r>
            <a:r>
              <a:rPr lang="en-US" altLang="zh-CN" dirty="0" err="1"/>
              <a:t>makefile</a:t>
            </a:r>
            <a:endParaRPr lang="en-US" altLang="zh-CN" dirty="0"/>
          </a:p>
          <a:p>
            <a:pPr lvl="1"/>
            <a:r>
              <a:rPr lang="en-US" altLang="zh-CN" dirty="0"/>
              <a:t>branch, loop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sym typeface="+mn-ea"/>
              </a:rPr>
              <a:t>1. Commands in Linux</a:t>
            </a:r>
            <a:endParaRPr lang="zh-CN" altLang="en-US" dirty="0"/>
          </a:p>
        </p:txBody>
      </p:sp>
      <p:sp>
        <p:nvSpPr>
          <p:cNvPr id="10" name="TextBox 1"/>
          <p:cNvSpPr txBox="1"/>
          <p:nvPr/>
        </p:nvSpPr>
        <p:spPr>
          <a:xfrm>
            <a:off x="962693" y="1109209"/>
            <a:ext cx="5025390" cy="487045"/>
          </a:xfrm>
          <a:prstGeom prst="rect">
            <a:avLst/>
          </a:prstGeom>
          <a:noFill/>
        </p:spPr>
        <p:txBody>
          <a:bodyPr wrap="none" lIns="118637" tIns="59319" rIns="118637" bIns="59319" rtlCol="0">
            <a:spAutoFit/>
          </a:bodyPr>
          <a:lstStyle/>
          <a:p>
            <a:pPr marL="0" marR="0" lvl="0" indent="0" algn="l" defTabSz="11861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6344D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1.1 Linux directory and file commands: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3" name="表格 6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219200" y="1637665"/>
          <a:ext cx="9934575" cy="46564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0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64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Command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Meaning</a:t>
                      </a:r>
                      <a:endParaRPr lang="zh-CN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r>
                        <a:rPr lang="en-US" altLang="zh-CN" sz="2000" b="1" dirty="0" err="1"/>
                        <a:t>pwd</a:t>
                      </a:r>
                      <a:endParaRPr lang="zh-CN" alt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/>
                        <a:t>P</a:t>
                      </a:r>
                      <a:r>
                        <a:rPr lang="en-US" altLang="zh-CN" sz="2000" dirty="0"/>
                        <a:t>rint the name of current/</a:t>
                      </a:r>
                      <a:r>
                        <a:rPr lang="en-US" altLang="zh-CN" sz="2000" b="1" dirty="0"/>
                        <a:t>w</a:t>
                      </a:r>
                      <a:r>
                        <a:rPr lang="en-US" altLang="zh-CN" sz="2000" dirty="0"/>
                        <a:t>orking </a:t>
                      </a:r>
                      <a:r>
                        <a:rPr lang="en-US" altLang="zh-CN" sz="2000" b="1" dirty="0"/>
                        <a:t>d</a:t>
                      </a:r>
                      <a:r>
                        <a:rPr lang="en-US" altLang="zh-CN" sz="2000" dirty="0"/>
                        <a:t>irectory.</a:t>
                      </a:r>
                      <a:endParaRPr lang="zh-CN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r>
                        <a:rPr lang="en-US" altLang="zh-CN" sz="2000" b="1" dirty="0"/>
                        <a:t>cd</a:t>
                      </a:r>
                      <a:r>
                        <a:rPr lang="en-US" altLang="zh-CN" sz="2000" dirty="0"/>
                        <a:t> &lt;directory name&gt;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/>
                        <a:t>C</a:t>
                      </a:r>
                      <a:r>
                        <a:rPr lang="en-US" altLang="zh-CN" sz="2000" dirty="0"/>
                        <a:t>hange the current </a:t>
                      </a:r>
                      <a:r>
                        <a:rPr lang="en-US" altLang="zh-CN" sz="2000" b="1" dirty="0"/>
                        <a:t>d</a:t>
                      </a:r>
                      <a:r>
                        <a:rPr lang="en-US" altLang="zh-CN" sz="2000" dirty="0"/>
                        <a:t>irectory.</a:t>
                      </a:r>
                      <a:endParaRPr lang="zh-CN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r>
                        <a:rPr lang="en-US" altLang="zh-CN" sz="2000" b="1" dirty="0"/>
                        <a:t>ls</a:t>
                      </a:r>
                      <a:endParaRPr lang="zh-CN" alt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/>
                        <a:t>L</a:t>
                      </a:r>
                      <a:r>
                        <a:rPr lang="en-US" altLang="zh-CN" sz="2000" b="0" dirty="0"/>
                        <a:t>i</a:t>
                      </a:r>
                      <a:r>
                        <a:rPr lang="en-US" altLang="zh-CN" sz="2000" b="1" dirty="0"/>
                        <a:t>s</a:t>
                      </a:r>
                      <a:r>
                        <a:rPr lang="en-US" altLang="zh-CN" sz="2000" b="0" dirty="0"/>
                        <a:t>t</a:t>
                      </a:r>
                      <a:r>
                        <a:rPr lang="en-US" altLang="zh-CN" sz="2000" b="1" dirty="0"/>
                        <a:t> </a:t>
                      </a:r>
                      <a:r>
                        <a:rPr lang="en-US" altLang="zh-CN" sz="2000" dirty="0"/>
                        <a:t>of content of a directory.</a:t>
                      </a:r>
                      <a:endParaRPr lang="zh-CN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r>
                        <a:rPr lang="en-US" altLang="zh-CN" sz="2000" b="1" dirty="0" err="1"/>
                        <a:t>mkdir</a:t>
                      </a:r>
                      <a:r>
                        <a:rPr lang="en-US" altLang="zh-CN" sz="2000" dirty="0"/>
                        <a:t> &lt;directory name&gt;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/>
                        <a:t>M</a:t>
                      </a:r>
                      <a:r>
                        <a:rPr lang="en-US" altLang="zh-CN" sz="2000" dirty="0"/>
                        <a:t>a</a:t>
                      </a:r>
                      <a:r>
                        <a:rPr lang="en-US" altLang="zh-CN" sz="2000" b="1" dirty="0"/>
                        <a:t>k</a:t>
                      </a:r>
                      <a:r>
                        <a:rPr lang="en-US" altLang="zh-CN" sz="2000" dirty="0"/>
                        <a:t>e a new </a:t>
                      </a:r>
                      <a:r>
                        <a:rPr lang="en-US" altLang="zh-CN" sz="2000" b="1" dirty="0"/>
                        <a:t>dir</a:t>
                      </a:r>
                      <a:r>
                        <a:rPr lang="en-US" altLang="zh-CN" sz="2000" dirty="0"/>
                        <a:t>ectory under any directory.</a:t>
                      </a:r>
                      <a:endParaRPr lang="zh-CN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r>
                        <a:rPr lang="en-US" altLang="zh-CN" sz="2000" b="1" dirty="0" err="1"/>
                        <a:t>rmdir</a:t>
                      </a:r>
                      <a:r>
                        <a:rPr lang="en-US" altLang="zh-CN" sz="2000" dirty="0"/>
                        <a:t> &lt;directory name&gt;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/>
                        <a:t>R</a:t>
                      </a:r>
                      <a:r>
                        <a:rPr lang="en-US" altLang="zh-CN" sz="2000" dirty="0"/>
                        <a:t>e</a:t>
                      </a:r>
                      <a:r>
                        <a:rPr lang="en-US" altLang="zh-CN" sz="2000" b="1" dirty="0"/>
                        <a:t>m</a:t>
                      </a:r>
                      <a:r>
                        <a:rPr lang="en-US" altLang="zh-CN" sz="2000" dirty="0"/>
                        <a:t>ove  </a:t>
                      </a:r>
                      <a:r>
                        <a:rPr lang="en-US" altLang="zh-CN" sz="2000" b="1" dirty="0"/>
                        <a:t>dir</a:t>
                      </a:r>
                      <a:r>
                        <a:rPr lang="en-US" altLang="zh-CN" sz="2000" dirty="0"/>
                        <a:t>ectories without files.</a:t>
                      </a:r>
                      <a:endParaRPr lang="zh-CN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r>
                        <a:rPr lang="en-US" altLang="zh-CN" sz="2000" b="1" dirty="0"/>
                        <a:t>cat</a:t>
                      </a:r>
                      <a:r>
                        <a:rPr lang="en-US" altLang="zh-CN" sz="2000" dirty="0"/>
                        <a:t> &lt;file name&gt;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dirty="0"/>
                        <a:t>Display content of the file.</a:t>
                      </a:r>
                      <a:endParaRPr lang="zh-CN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r>
                        <a:rPr lang="en-US" altLang="zh-CN" sz="2000" b="1" dirty="0"/>
                        <a:t>rm</a:t>
                      </a:r>
                      <a:r>
                        <a:rPr lang="en-US" altLang="zh-CN" sz="2000" dirty="0"/>
                        <a:t> &lt;file name&gt;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/>
                        <a:t>R</a:t>
                      </a:r>
                      <a:r>
                        <a:rPr lang="en-US" altLang="zh-CN" sz="2000" dirty="0"/>
                        <a:t>e</a:t>
                      </a:r>
                      <a:r>
                        <a:rPr lang="en-US" altLang="zh-CN" sz="2000" b="1" dirty="0"/>
                        <a:t>m</a:t>
                      </a:r>
                      <a:r>
                        <a:rPr lang="en-US" altLang="zh-CN" sz="2000" dirty="0"/>
                        <a:t>ove a file.</a:t>
                      </a:r>
                      <a:endParaRPr lang="zh-CN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r>
                        <a:rPr lang="en-US" altLang="zh-CN" sz="2000" b="1" dirty="0"/>
                        <a:t>cp</a:t>
                      </a:r>
                      <a:r>
                        <a:rPr lang="en-US" altLang="zh-CN" sz="2000" dirty="0"/>
                        <a:t> &lt;source&gt; &lt;</a:t>
                      </a:r>
                      <a:r>
                        <a:rPr lang="en-US" altLang="zh-CN" sz="2000" dirty="0" err="1"/>
                        <a:t>dest</a:t>
                      </a:r>
                      <a:r>
                        <a:rPr lang="en-US" altLang="zh-CN" sz="2000" dirty="0"/>
                        <a:t>&gt;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/>
                        <a:t>C</a:t>
                      </a:r>
                      <a:r>
                        <a:rPr lang="en-US" altLang="zh-CN" sz="2000" b="0" dirty="0"/>
                        <a:t>o</a:t>
                      </a:r>
                      <a:r>
                        <a:rPr lang="en-US" altLang="zh-CN" sz="2000" b="1" dirty="0"/>
                        <a:t>p</a:t>
                      </a:r>
                      <a:r>
                        <a:rPr lang="en-US" altLang="zh-CN" sz="2000" b="0" dirty="0"/>
                        <a:t>y</a:t>
                      </a:r>
                      <a:r>
                        <a:rPr lang="en-US" altLang="zh-CN" sz="2000" dirty="0"/>
                        <a:t> a file or files to another </a:t>
                      </a:r>
                      <a:endParaRPr lang="zh-CN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94030">
                <a:tc>
                  <a:txBody>
                    <a:bodyPr/>
                    <a:lstStyle/>
                    <a:p>
                      <a:r>
                        <a:rPr lang="en-US" altLang="zh-CN" sz="2000" b="1" dirty="0"/>
                        <a:t>mv</a:t>
                      </a:r>
                      <a:r>
                        <a:rPr lang="en-US" altLang="zh-CN" sz="2000" dirty="0"/>
                        <a:t>&lt;source&gt;&lt;</a:t>
                      </a:r>
                      <a:r>
                        <a:rPr lang="en-US" altLang="zh-CN" sz="2000" dirty="0" err="1"/>
                        <a:t>dest</a:t>
                      </a:r>
                      <a:r>
                        <a:rPr lang="en-US" altLang="zh-CN" sz="2000" dirty="0"/>
                        <a:t>&gt;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/>
                        <a:t>M</a:t>
                      </a:r>
                      <a:r>
                        <a:rPr lang="en-US" altLang="zh-CN" sz="2000" dirty="0"/>
                        <a:t>o</a:t>
                      </a:r>
                      <a:r>
                        <a:rPr lang="en-US" altLang="zh-CN" sz="2000" b="1" dirty="0"/>
                        <a:t>v</a:t>
                      </a:r>
                      <a:r>
                        <a:rPr lang="en-US" altLang="zh-CN" sz="2000" dirty="0"/>
                        <a:t>e a file or files to another directory</a:t>
                      </a:r>
                      <a:endParaRPr lang="zh-CN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96265">
                <a:tc grid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kumimoji="1" lang="en-US" altLang="zh-CN" sz="2000" dirty="0">
                          <a:sym typeface="+mn-ea"/>
                        </a:rPr>
                        <a:t>cat/tail/head,  less/more,  nano/vim,  file,  whereis,  </a:t>
                      </a:r>
                      <a:r>
                        <a:rPr kumimoji="1" lang="en-US" altLang="zh-CN" sz="2000">
                          <a:sym typeface="+mn-ea"/>
                        </a:rPr>
                        <a:t>echo</a:t>
                      </a:r>
                      <a:endParaRPr lang="zh-CN" altLang="en-US" sz="2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5772150" y="6359444"/>
            <a:ext cx="53816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https://www.javatpoint.com/linux-commands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76479" y="196125"/>
            <a:ext cx="10515600" cy="833631"/>
          </a:xfrm>
        </p:spPr>
        <p:txBody>
          <a:bodyPr>
            <a:normAutofit/>
          </a:bodyPr>
          <a:lstStyle/>
          <a:p>
            <a:r>
              <a:rPr lang="en-US" altLang="zh-CN" dirty="0">
                <a:sym typeface="+mn-ea"/>
              </a:rPr>
              <a:t>Absolute path and relative path</a:t>
            </a:r>
            <a:endParaRPr lang="zh-CN" altLang="en-US" dirty="0"/>
          </a:p>
        </p:txBody>
      </p:sp>
      <p:sp>
        <p:nvSpPr>
          <p:cNvPr id="10" name="TextBox 1"/>
          <p:cNvSpPr txBox="1"/>
          <p:nvPr/>
        </p:nvSpPr>
        <p:spPr>
          <a:xfrm>
            <a:off x="963037" y="1089363"/>
            <a:ext cx="11001983" cy="858460"/>
          </a:xfrm>
          <a:prstGeom prst="rect">
            <a:avLst/>
          </a:prstGeom>
          <a:noFill/>
        </p:spPr>
        <p:txBody>
          <a:bodyPr wrap="square" lIns="118637" tIns="59319" rIns="118637" bIns="59319" rtlCol="0">
            <a:spAutoFit/>
          </a:bodyPr>
          <a:lstStyle/>
          <a:p>
            <a:pPr algn="l"/>
            <a:r>
              <a:rPr lang="en-US" altLang="zh-CN" sz="2400" b="0" i="0" dirty="0">
                <a:solidFill>
                  <a:srgbClr val="333333"/>
                </a:solidFill>
                <a:effectLst/>
              </a:rPr>
              <a:t>A </a:t>
            </a:r>
            <a:r>
              <a:rPr lang="en-US" altLang="zh-CN" sz="2400" b="1" i="0" dirty="0">
                <a:solidFill>
                  <a:srgbClr val="333333"/>
                </a:solidFill>
                <a:effectLst/>
              </a:rPr>
              <a:t>path</a:t>
            </a:r>
            <a:r>
              <a:rPr lang="en-US" altLang="zh-CN" sz="2400" b="0" i="0" dirty="0">
                <a:solidFill>
                  <a:srgbClr val="333333"/>
                </a:solidFill>
                <a:effectLst/>
              </a:rPr>
              <a:t> is how you refer to files and directories. It gives the location of a file or directory in the Linux directory structure. It is composed of a </a:t>
            </a:r>
            <a:r>
              <a:rPr lang="en-US" altLang="zh-CN" sz="2400" b="1" i="0" dirty="0">
                <a:solidFill>
                  <a:srgbClr val="333333"/>
                </a:solidFill>
                <a:effectLst/>
              </a:rPr>
              <a:t>name</a:t>
            </a:r>
            <a:r>
              <a:rPr lang="en-US" altLang="zh-CN" sz="2400" b="0" i="0" dirty="0">
                <a:solidFill>
                  <a:srgbClr val="333333"/>
                </a:solidFill>
                <a:effectLst/>
              </a:rPr>
              <a:t> and </a:t>
            </a:r>
            <a:r>
              <a:rPr lang="en-US" altLang="zh-CN" sz="2400" b="1" i="0" dirty="0">
                <a:solidFill>
                  <a:srgbClr val="333333"/>
                </a:solidFill>
                <a:effectLst/>
              </a:rPr>
              <a:t>slash</a:t>
            </a:r>
            <a:r>
              <a:rPr lang="en-US" altLang="zh-CN" sz="2400" b="0" i="0" dirty="0">
                <a:solidFill>
                  <a:srgbClr val="333333"/>
                </a:solidFill>
                <a:effectLst/>
              </a:rPr>
              <a:t> syntax.</a:t>
            </a:r>
            <a:endParaRPr lang="en-US" altLang="zh-CN" sz="2400" b="0" i="0" dirty="0">
              <a:solidFill>
                <a:srgbClr val="36344D"/>
              </a:solidFill>
              <a:effectLst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63037" y="1955709"/>
            <a:ext cx="1038670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333333"/>
                </a:solidFill>
              </a:rPr>
              <a:t>I</a:t>
            </a:r>
            <a:r>
              <a:rPr lang="en-US" altLang="zh-CN" sz="2400" b="0" i="0" dirty="0">
                <a:solidFill>
                  <a:srgbClr val="333333"/>
                </a:solidFill>
                <a:effectLst/>
              </a:rPr>
              <a:t>f the path starts with slash "/", the first slash denotes root. The rest of the slashes in the path are just separators.</a:t>
            </a:r>
            <a:endParaRPr lang="zh-CN" altLang="en-US" sz="2400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037" y="2966395"/>
            <a:ext cx="5095875" cy="2209800"/>
          </a:xfrm>
          <a:prstGeom prst="rect">
            <a:avLst/>
          </a:prstGeom>
        </p:spPr>
      </p:pic>
      <p:grpSp>
        <p:nvGrpSpPr>
          <p:cNvPr id="3" name="组合 2"/>
          <p:cNvGrpSpPr/>
          <p:nvPr/>
        </p:nvGrpSpPr>
        <p:grpSpPr>
          <a:xfrm>
            <a:off x="1712068" y="2721114"/>
            <a:ext cx="10335653" cy="1374231"/>
            <a:chOff x="1712068" y="2721114"/>
            <a:chExt cx="10335653" cy="1374231"/>
          </a:xfrm>
        </p:grpSpPr>
        <p:sp>
          <p:nvSpPr>
            <p:cNvPr id="13" name="文本框 12"/>
            <p:cNvSpPr txBox="1"/>
            <p:nvPr/>
          </p:nvSpPr>
          <p:spPr>
            <a:xfrm>
              <a:off x="6312033" y="2721114"/>
              <a:ext cx="5735688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000" b="0" i="0" dirty="0">
                  <a:solidFill>
                    <a:srgbClr val="333333"/>
                  </a:solidFill>
                  <a:effectLst/>
                </a:rPr>
                <a:t>The </a:t>
              </a:r>
              <a:r>
                <a:rPr lang="en-US" altLang="zh-CN" sz="2000" b="1" i="0" dirty="0">
                  <a:solidFill>
                    <a:srgbClr val="333333"/>
                  </a:solidFill>
                  <a:effectLst/>
                </a:rPr>
                <a:t>absolute path </a:t>
              </a:r>
              <a:r>
                <a:rPr lang="en-US" altLang="zh-CN" sz="2000" b="0" i="0" dirty="0">
                  <a:solidFill>
                    <a:srgbClr val="333333"/>
                  </a:solidFill>
                  <a:effectLst/>
                </a:rPr>
                <a:t>always starts from the root directory (/).</a:t>
              </a:r>
              <a:endParaRPr lang="zh-CN" altLang="en-US" sz="2000" dirty="0"/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1712068" y="3044757"/>
              <a:ext cx="5301575" cy="1050588"/>
              <a:chOff x="1712068" y="3044757"/>
              <a:chExt cx="5301575" cy="1050588"/>
            </a:xfrm>
          </p:grpSpPr>
          <p:sp>
            <p:nvSpPr>
              <p:cNvPr id="16" name="矩形 15"/>
              <p:cNvSpPr/>
              <p:nvPr/>
            </p:nvSpPr>
            <p:spPr>
              <a:xfrm>
                <a:off x="1712068" y="3589506"/>
                <a:ext cx="4346844" cy="505839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8" name="直接箭头连接符 17"/>
              <p:cNvCxnSpPr/>
              <p:nvPr/>
            </p:nvCxnSpPr>
            <p:spPr>
              <a:xfrm flipV="1">
                <a:off x="6058912" y="3044757"/>
                <a:ext cx="954731" cy="650478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" name="组合 3"/>
          <p:cNvGrpSpPr/>
          <p:nvPr/>
        </p:nvGrpSpPr>
        <p:grpSpPr>
          <a:xfrm>
            <a:off x="1874196" y="4179653"/>
            <a:ext cx="10012191" cy="769571"/>
            <a:chOff x="1874196" y="4179653"/>
            <a:chExt cx="10012191" cy="769571"/>
          </a:xfrm>
        </p:grpSpPr>
        <p:sp>
          <p:nvSpPr>
            <p:cNvPr id="15" name="文本框 14"/>
            <p:cNvSpPr txBox="1"/>
            <p:nvPr/>
          </p:nvSpPr>
          <p:spPr>
            <a:xfrm>
              <a:off x="6464028" y="4549114"/>
              <a:ext cx="5422359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000" b="0" i="0" dirty="0">
                  <a:solidFill>
                    <a:srgbClr val="333333"/>
                  </a:solidFill>
                  <a:effectLst/>
                </a:rPr>
                <a:t>A </a:t>
              </a:r>
              <a:r>
                <a:rPr lang="en-US" altLang="zh-CN" sz="2000" b="1" i="0" dirty="0">
                  <a:solidFill>
                    <a:srgbClr val="333333"/>
                  </a:solidFill>
                  <a:effectLst/>
                </a:rPr>
                <a:t>relative path </a:t>
              </a:r>
              <a:r>
                <a:rPr lang="en-US" altLang="zh-CN" sz="2000" b="0" i="0" dirty="0">
                  <a:solidFill>
                    <a:srgbClr val="333333"/>
                  </a:solidFill>
                  <a:effectLst/>
                </a:rPr>
                <a:t>starts from the current directory.</a:t>
              </a:r>
              <a:endParaRPr lang="zh-CN" altLang="en-US" sz="2000" dirty="0"/>
            </a:p>
          </p:txBody>
        </p:sp>
        <p:grpSp>
          <p:nvGrpSpPr>
            <p:cNvPr id="20" name="组合 19"/>
            <p:cNvGrpSpPr/>
            <p:nvPr/>
          </p:nvGrpSpPr>
          <p:grpSpPr>
            <a:xfrm>
              <a:off x="1874196" y="4179653"/>
              <a:ext cx="5139447" cy="503942"/>
              <a:chOff x="1712068" y="3589506"/>
              <a:chExt cx="5139447" cy="503942"/>
            </a:xfrm>
          </p:grpSpPr>
          <p:sp>
            <p:nvSpPr>
              <p:cNvPr id="21" name="矩形 20"/>
              <p:cNvSpPr/>
              <p:nvPr/>
            </p:nvSpPr>
            <p:spPr>
              <a:xfrm>
                <a:off x="1712068" y="3589506"/>
                <a:ext cx="3476017" cy="324253"/>
              </a:xfrm>
              <a:prstGeom prst="rect">
                <a:avLst/>
              </a:prstGeom>
              <a:noFill/>
              <a:ln w="1905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22" name="直接箭头连接符 21"/>
              <p:cNvCxnSpPr/>
              <p:nvPr/>
            </p:nvCxnSpPr>
            <p:spPr>
              <a:xfrm>
                <a:off x="5188085" y="3791833"/>
                <a:ext cx="1663430" cy="301615"/>
              </a:xfrm>
              <a:prstGeom prst="straightConnector1">
                <a:avLst/>
              </a:prstGeom>
              <a:ln w="19050">
                <a:solidFill>
                  <a:srgbClr val="00B0F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9" name="文本框 28"/>
          <p:cNvSpPr txBox="1"/>
          <p:nvPr/>
        </p:nvSpPr>
        <p:spPr>
          <a:xfrm>
            <a:off x="838301" y="5462830"/>
            <a:ext cx="609437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333333"/>
                </a:solidFill>
              </a:rPr>
              <a:t>T</a:t>
            </a:r>
            <a:r>
              <a:rPr lang="en-US" altLang="zh-CN" sz="2000" b="0" i="0" dirty="0">
                <a:solidFill>
                  <a:srgbClr val="333333"/>
                </a:solidFill>
                <a:effectLst/>
              </a:rPr>
              <a:t>wo special relative paths:</a:t>
            </a:r>
            <a:endParaRPr lang="zh-CN" altLang="en-US" sz="2000" dirty="0"/>
          </a:p>
        </p:txBody>
      </p:sp>
      <p:sp>
        <p:nvSpPr>
          <p:cNvPr id="31" name="文本框 30"/>
          <p:cNvSpPr txBox="1"/>
          <p:nvPr/>
        </p:nvSpPr>
        <p:spPr>
          <a:xfrm>
            <a:off x="1712068" y="5850374"/>
            <a:ext cx="8071525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400" b="1" i="0" dirty="0">
                <a:solidFill>
                  <a:srgbClr val="FF0000"/>
                </a:solidFill>
                <a:effectLst/>
              </a:rPr>
              <a:t>.</a:t>
            </a:r>
            <a:r>
              <a:rPr lang="en-US" altLang="zh-CN" sz="2000" b="1" i="0" dirty="0">
                <a:solidFill>
                  <a:srgbClr val="00B0F0"/>
                </a:solidFill>
                <a:effectLst/>
              </a:rPr>
              <a:t> </a:t>
            </a:r>
            <a:r>
              <a:rPr lang="en-US" altLang="zh-CN" sz="2000" b="1" i="0" dirty="0">
                <a:solidFill>
                  <a:srgbClr val="333333"/>
                </a:solidFill>
                <a:effectLst/>
              </a:rPr>
              <a:t>( single dot) denotes the current directory in the path.</a:t>
            </a:r>
          </a:p>
          <a:p>
            <a:pPr algn="l"/>
            <a:r>
              <a:rPr lang="en-US" altLang="zh-CN" sz="2400" b="1" i="0" dirty="0">
                <a:solidFill>
                  <a:srgbClr val="FF0000"/>
                </a:solidFill>
                <a:effectLst/>
              </a:rPr>
              <a:t>..</a:t>
            </a:r>
            <a:r>
              <a:rPr lang="en-US" altLang="zh-CN" sz="2400" b="1" i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2000" b="1" i="0" dirty="0">
                <a:solidFill>
                  <a:srgbClr val="333333"/>
                </a:solidFill>
                <a:effectLst/>
              </a:rPr>
              <a:t>(two dots) denotes the parent directory, i.e., one level above.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9" grpId="0"/>
      <p:bldP spid="3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1.2 lists of commands, pipelines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022350"/>
            <a:ext cx="10789920" cy="3437890"/>
          </a:xfrm>
        </p:spPr>
        <p:txBody>
          <a:bodyPr>
            <a:normAutofit fontScale="80000"/>
          </a:bodyPr>
          <a:lstStyle/>
          <a:p>
            <a:r>
              <a:rPr lang="en-US" altLang="zh-CN"/>
              <a:t>1.2.1 lists of commands</a:t>
            </a:r>
          </a:p>
          <a:p>
            <a:pPr lvl="1"/>
            <a:r>
              <a:rPr lang="en-US" altLang="zh-CN"/>
              <a:t>An </a:t>
            </a:r>
            <a:r>
              <a:rPr lang="en-US" altLang="zh-CN" b="1"/>
              <a:t>AND list</a:t>
            </a:r>
            <a:r>
              <a:rPr lang="en-US" altLang="zh-CN"/>
              <a:t> has the form</a:t>
            </a:r>
            <a:r>
              <a:rPr lang="zh-CN" altLang="en-US"/>
              <a:t>：</a:t>
            </a:r>
            <a:r>
              <a:rPr lang="en-US" altLang="zh-CN"/>
              <a:t> command1 </a:t>
            </a:r>
            <a:r>
              <a:rPr lang="en-US" altLang="zh-CN" b="1">
                <a:highlight>
                  <a:srgbClr val="FFFF00"/>
                </a:highlight>
              </a:rPr>
              <a:t>&amp;&amp;</a:t>
            </a:r>
            <a:r>
              <a:rPr lang="en-US" altLang="zh-CN"/>
              <a:t> command2</a:t>
            </a:r>
          </a:p>
          <a:p>
            <a:pPr lvl="2"/>
            <a:r>
              <a:rPr lang="en-US" altLang="zh-CN" b="1"/>
              <a:t>command2 is executed if, and only if, command1 returns an exit status of zero (success).</a:t>
            </a:r>
            <a:endParaRPr lang="en-US" altLang="zh-CN"/>
          </a:p>
          <a:p>
            <a:pPr lvl="1"/>
            <a:r>
              <a:rPr lang="en-US" altLang="zh-CN"/>
              <a:t>An </a:t>
            </a:r>
            <a:r>
              <a:rPr lang="en-US" altLang="zh-CN" b="1"/>
              <a:t>OR list</a:t>
            </a:r>
            <a:r>
              <a:rPr lang="en-US" altLang="zh-CN"/>
              <a:t> has the form</a:t>
            </a:r>
            <a:r>
              <a:rPr lang="zh-CN" altLang="en-US"/>
              <a:t>：</a:t>
            </a:r>
            <a:r>
              <a:rPr lang="en-US" altLang="zh-CN"/>
              <a:t> command1</a:t>
            </a:r>
            <a:r>
              <a:rPr lang="en-US" altLang="zh-CN" b="1"/>
              <a:t> </a:t>
            </a:r>
            <a:r>
              <a:rPr lang="en-US" altLang="zh-CN" b="1">
                <a:highlight>
                  <a:srgbClr val="FFFF00"/>
                </a:highlight>
              </a:rPr>
              <a:t>||</a:t>
            </a:r>
            <a:r>
              <a:rPr lang="en-US" altLang="zh-CN"/>
              <a:t> command2</a:t>
            </a:r>
          </a:p>
          <a:p>
            <a:pPr lvl="2"/>
            <a:r>
              <a:rPr lang="en-US" altLang="zh-CN" b="1"/>
              <a:t>command2 is executed if, and only if, command1 returns a non-zero exit status.</a:t>
            </a:r>
            <a:endParaRPr lang="en-US" altLang="zh-CN"/>
          </a:p>
          <a:p>
            <a:pPr lvl="1"/>
            <a:r>
              <a:rPr lang="en-US" altLang="zh-CN" b="1"/>
              <a:t>Command Sequence</a:t>
            </a:r>
            <a:r>
              <a:rPr lang="en-US" altLang="zh-CN"/>
              <a:t>:   command1</a:t>
            </a:r>
            <a:r>
              <a:rPr lang="en-US" altLang="zh-CN" b="1"/>
              <a:t> </a:t>
            </a:r>
            <a:r>
              <a:rPr lang="en-US" altLang="zh-CN" b="1">
                <a:highlight>
                  <a:srgbClr val="FFFF00"/>
                </a:highlight>
              </a:rPr>
              <a:t>; </a:t>
            </a:r>
            <a:r>
              <a:rPr lang="en-US" altLang="zh-CN"/>
              <a:t>command2</a:t>
            </a:r>
          </a:p>
          <a:p>
            <a:pPr lvl="2"/>
            <a:r>
              <a:rPr lang="en-US" altLang="zh-CN" b="1"/>
              <a:t>Commands separated by a ‘</a:t>
            </a:r>
            <a:r>
              <a:rPr lang="en-US" altLang="zh-CN" b="1">
                <a:highlight>
                  <a:srgbClr val="FFFF00"/>
                </a:highlight>
              </a:rPr>
              <a:t>;</a:t>
            </a:r>
            <a:r>
              <a:rPr lang="en-US" altLang="zh-CN" b="1"/>
              <a:t>’ are executed sequentially;</a:t>
            </a:r>
          </a:p>
          <a:p>
            <a:pPr lvl="1"/>
            <a:r>
              <a:rPr lang="en-US" altLang="zh-CN"/>
              <a:t>TIPS:</a:t>
            </a:r>
          </a:p>
          <a:p>
            <a:pPr lvl="2"/>
            <a:r>
              <a:rPr lang="en-US" altLang="zh-CN"/>
              <a:t>For the shell’s purposes, a command which </a:t>
            </a:r>
            <a:r>
              <a:rPr lang="en-US" altLang="zh-CN" b="1"/>
              <a:t>exits with a zero exit status has succeeded</a:t>
            </a:r>
            <a:r>
              <a:rPr lang="en-US" altLang="zh-CN"/>
              <a:t>. A non-zero exit status indicates failure.</a:t>
            </a:r>
          </a:p>
          <a:p>
            <a:pPr lvl="2"/>
            <a:r>
              <a:rPr lang="en-US" altLang="zh-CN"/>
              <a:t>The exit status of the last command is available in the special parameter </a:t>
            </a:r>
            <a:r>
              <a:rPr lang="en-US" altLang="zh-CN" b="1"/>
              <a:t>$?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5320030" y="1022350"/>
            <a:ext cx="529399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400" i="1"/>
              <a:t>https://www.gnu.org/software/bash/manual/bash.html#Lists</a:t>
            </a:r>
            <a:endParaRPr lang="zh-CN" altLang="en-US" sz="1400" i="1"/>
          </a:p>
        </p:txBody>
      </p:sp>
      <p:sp>
        <p:nvSpPr>
          <p:cNvPr id="5" name="文本框 4"/>
          <p:cNvSpPr txBox="1"/>
          <p:nvPr/>
        </p:nvSpPr>
        <p:spPr>
          <a:xfrm>
            <a:off x="5320665" y="3237865"/>
            <a:ext cx="5537200" cy="3079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1400" i="1"/>
              <a:t>https://www.gnu.org/software/bash/manual/bash.html#Exit-Status</a:t>
            </a:r>
            <a:endParaRPr lang="zh-CN" altLang="en-US" sz="1400" i="1"/>
          </a:p>
        </p:txBody>
      </p:sp>
      <p:pic>
        <p:nvPicPr>
          <p:cNvPr id="8" name="图片 7"/>
          <p:cNvPicPr/>
          <p:nvPr/>
        </p:nvPicPr>
        <p:blipFill>
          <a:blip r:embed="rId3"/>
          <a:stretch>
            <a:fillRect/>
          </a:stretch>
        </p:blipFill>
        <p:spPr>
          <a:xfrm>
            <a:off x="1866265" y="4471988"/>
            <a:ext cx="9210675" cy="197167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3556000" y="4536758"/>
            <a:ext cx="5080000" cy="635000"/>
          </a:xfrm>
          <a:prstGeom prst="rect">
            <a:avLst/>
          </a:prstGeom>
        </p:spPr>
        <p:txBody>
          <a:bodyPr/>
          <a:lstStyle/>
          <a:p>
            <a:endParaRPr sz="1600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1.2 lists of commands, pipelines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042670"/>
            <a:ext cx="11054080" cy="1784985"/>
          </a:xfrm>
        </p:spPr>
        <p:txBody>
          <a:bodyPr>
            <a:normAutofit fontScale="70000"/>
          </a:bodyPr>
          <a:lstStyle/>
          <a:p>
            <a:r>
              <a:rPr lang="en-US" altLang="zh-CN"/>
              <a:t>1.2.2 pipelines</a:t>
            </a:r>
          </a:p>
          <a:p>
            <a:pPr lvl="1"/>
            <a:r>
              <a:rPr lang="en-US" altLang="zh-CN"/>
              <a:t>A pipeline is a sequence of one or more commands separated by one of the control operators ‘|’ or ‘|&amp;’.</a:t>
            </a:r>
          </a:p>
          <a:p>
            <a:pPr lvl="1"/>
            <a:r>
              <a:rPr lang="en-US" altLang="zh-CN"/>
              <a:t>The output of each command in the pipeline is connected via a pipe to the input of the next command. That is, each command reads the previous command’s output. This connection is performed before any redirections specified by command1.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3152775" y="1042670"/>
            <a:ext cx="830389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/>
              <a:t>https://www.gnu.org/software/bash/manual/bash.html#Pipelines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45" y="2524760"/>
            <a:ext cx="6763385" cy="279527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556000" y="2198688"/>
            <a:ext cx="5080000" cy="635000"/>
          </a:xfrm>
          <a:prstGeom prst="rect">
            <a:avLst/>
          </a:prstGeom>
        </p:spPr>
        <p:txBody>
          <a:bodyPr/>
          <a:lstStyle/>
          <a:p>
            <a:endParaRPr sz="1600"/>
          </a:p>
        </p:txBody>
      </p:sp>
      <p:pic>
        <p:nvPicPr>
          <p:cNvPr id="7" name="图片 6"/>
          <p:cNvPicPr/>
          <p:nvPr/>
        </p:nvPicPr>
        <p:blipFill>
          <a:blip r:embed="rId4"/>
          <a:stretch>
            <a:fillRect/>
          </a:stretch>
        </p:blipFill>
        <p:spPr>
          <a:xfrm>
            <a:off x="2827655" y="5447348"/>
            <a:ext cx="8096249" cy="119062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3556000" y="4024313"/>
            <a:ext cx="5080000" cy="635000"/>
          </a:xfrm>
          <a:prstGeom prst="rect">
            <a:avLst/>
          </a:prstGeom>
        </p:spPr>
        <p:txBody>
          <a:bodyPr/>
          <a:lstStyle/>
          <a:p>
            <a:endParaRPr sz="160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32704" y="196125"/>
            <a:ext cx="4985410" cy="833631"/>
          </a:xfrm>
        </p:spPr>
        <p:txBody>
          <a:bodyPr>
            <a:normAutofit/>
          </a:bodyPr>
          <a:lstStyle/>
          <a:p>
            <a:r>
              <a:rPr lang="en-US" altLang="zh-CN" b="1" dirty="0">
                <a:sym typeface="+mn-ea"/>
              </a:rPr>
              <a:t>TIPS: Shortcut keys</a:t>
            </a:r>
            <a:endParaRPr lang="zh-CN" altLang="en-US" dirty="0"/>
          </a:p>
        </p:txBody>
      </p:sp>
      <p:sp>
        <p:nvSpPr>
          <p:cNvPr id="10" name="TextBox 1"/>
          <p:cNvSpPr txBox="1"/>
          <p:nvPr/>
        </p:nvSpPr>
        <p:spPr>
          <a:xfrm>
            <a:off x="817122" y="1376299"/>
            <a:ext cx="11001983" cy="1227792"/>
          </a:xfrm>
          <a:prstGeom prst="rect">
            <a:avLst/>
          </a:prstGeom>
          <a:noFill/>
        </p:spPr>
        <p:txBody>
          <a:bodyPr wrap="square" lIns="118637" tIns="59319" rIns="118637" bIns="59319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6344D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Up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6344D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and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6344D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down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6344D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arrow keys can list the commands you typed.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6344D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Tab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6344D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key can complete the command. </a:t>
            </a:r>
            <a:r>
              <a:rPr lang="en-US" altLang="zh-CN" sz="2400" dirty="0">
                <a:solidFill>
                  <a:srgbClr val="36344D"/>
                </a:solidFill>
                <a:latin typeface="Calibri" panose="020F0502020204030204"/>
                <a:ea typeface="宋体" panose="02010600030101010101" pitchFamily="2" charset="-122"/>
              </a:rPr>
              <a:t>For a long command, you can type first few letters and press Tab key to complete the command or list alternate commands.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6344D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419" y="2771929"/>
            <a:ext cx="5177392" cy="526307"/>
          </a:xfrm>
          <a:prstGeom prst="rect">
            <a:avLst/>
          </a:prstGeom>
        </p:spPr>
      </p:pic>
      <p:grpSp>
        <p:nvGrpSpPr>
          <p:cNvPr id="6" name="组合 5"/>
          <p:cNvGrpSpPr/>
          <p:nvPr/>
        </p:nvGrpSpPr>
        <p:grpSpPr>
          <a:xfrm>
            <a:off x="5573950" y="2571874"/>
            <a:ext cx="5831363" cy="1323439"/>
            <a:chOff x="4241260" y="1399760"/>
            <a:chExt cx="5831363" cy="1323439"/>
          </a:xfrm>
        </p:grpSpPr>
        <p:sp>
          <p:nvSpPr>
            <p:cNvPr id="7" name="文本框 6"/>
            <p:cNvSpPr txBox="1"/>
            <p:nvPr/>
          </p:nvSpPr>
          <p:spPr>
            <a:xfrm>
              <a:off x="5123255" y="1399760"/>
              <a:ext cx="4949368" cy="13234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dirty="0"/>
                <a:t>Type the first few letters of a command,</a:t>
              </a:r>
            </a:p>
            <a:p>
              <a:r>
                <a:rPr lang="en-US" altLang="zh-CN" sz="2000" dirty="0"/>
                <a:t>and then press Tab key. If there is completion,</a:t>
              </a:r>
            </a:p>
            <a:p>
              <a:r>
                <a:rPr lang="en-US" altLang="zh-CN" sz="2000" dirty="0"/>
                <a:t>press Tab key again, it will list the alternate</a:t>
              </a:r>
            </a:p>
            <a:p>
              <a:r>
                <a:rPr lang="en-US" altLang="zh-CN" sz="2000" dirty="0"/>
                <a:t>commands.</a:t>
              </a:r>
              <a:endParaRPr lang="zh-CN" altLang="en-US" sz="2000" dirty="0"/>
            </a:p>
          </p:txBody>
        </p:sp>
        <p:grpSp>
          <p:nvGrpSpPr>
            <p:cNvPr id="14" name="组合 13"/>
            <p:cNvGrpSpPr/>
            <p:nvPr/>
          </p:nvGrpSpPr>
          <p:grpSpPr>
            <a:xfrm>
              <a:off x="4241260" y="1640283"/>
              <a:ext cx="1037616" cy="242087"/>
              <a:chOff x="4241260" y="3829016"/>
              <a:chExt cx="1037616" cy="242087"/>
            </a:xfrm>
          </p:grpSpPr>
          <p:sp>
            <p:nvSpPr>
              <p:cNvPr id="15" name="矩形 14"/>
              <p:cNvSpPr/>
              <p:nvPr/>
            </p:nvSpPr>
            <p:spPr>
              <a:xfrm>
                <a:off x="4241260" y="3829016"/>
                <a:ext cx="624861" cy="242087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21" name="直接箭头连接符 20"/>
              <p:cNvCxnSpPr/>
              <p:nvPr/>
            </p:nvCxnSpPr>
            <p:spPr>
              <a:xfrm flipH="1">
                <a:off x="4763310" y="3863830"/>
                <a:ext cx="515566" cy="161421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8" name="文本框 27"/>
          <p:cNvSpPr txBox="1"/>
          <p:nvPr/>
        </p:nvSpPr>
        <p:spPr>
          <a:xfrm>
            <a:off x="706472" y="4259891"/>
            <a:ext cx="973495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/>
              <a:t>clear</a:t>
            </a:r>
            <a:r>
              <a:rPr lang="en-US" altLang="zh-CN" sz="2400" dirty="0"/>
              <a:t> is a standard Unix computer operating system command that is used to clear the terminal screen.</a:t>
            </a:r>
            <a:endParaRPr lang="zh-CN" altLang="en-US" sz="2400" dirty="0"/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578" y="5339516"/>
            <a:ext cx="5213450" cy="284370"/>
          </a:xfrm>
          <a:prstGeom prst="rect">
            <a:avLst/>
          </a:prstGeom>
        </p:spPr>
      </p:pic>
      <p:sp>
        <p:nvSpPr>
          <p:cNvPr id="31" name="矩形 30"/>
          <p:cNvSpPr/>
          <p:nvPr/>
        </p:nvSpPr>
        <p:spPr>
          <a:xfrm>
            <a:off x="5278876" y="5338348"/>
            <a:ext cx="771152" cy="28437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3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err="1">
                <a:sym typeface="+mn-ea"/>
              </a:rPr>
              <a:t>gcc</a:t>
            </a:r>
            <a:r>
              <a:rPr lang="en-US" altLang="zh-CN" dirty="0">
                <a:sym typeface="+mn-ea"/>
              </a:rPr>
              <a:t> &amp; g++</a:t>
            </a:r>
            <a:endParaRPr lang="zh-CN" altLang="en-US" dirty="0"/>
          </a:p>
        </p:txBody>
      </p:sp>
      <p:sp>
        <p:nvSpPr>
          <p:cNvPr id="10" name="TextBox 1"/>
          <p:cNvSpPr txBox="1"/>
          <p:nvPr/>
        </p:nvSpPr>
        <p:spPr>
          <a:xfrm>
            <a:off x="256065" y="1155977"/>
            <a:ext cx="10028938" cy="796905"/>
          </a:xfrm>
          <a:prstGeom prst="rect">
            <a:avLst/>
          </a:prstGeom>
          <a:noFill/>
        </p:spPr>
        <p:txBody>
          <a:bodyPr wrap="none" lIns="118637" tIns="59319" rIns="118637" bIns="59319" rtlCol="0">
            <a:spAutoFit/>
          </a:bodyPr>
          <a:lstStyle/>
          <a:p>
            <a:pPr marL="0" marR="0" lvl="0" indent="0" algn="l" defTabSz="11861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200" b="1" dirty="0">
                <a:solidFill>
                  <a:srgbClr val="00B0F0"/>
                </a:solidFill>
                <a:ea typeface="宋体" panose="02010600030101010101" pitchFamily="2" charset="-122"/>
              </a:rPr>
              <a:t>g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ea typeface="宋体" panose="02010600030101010101" pitchFamily="2" charset="-122"/>
                <a:cs typeface="+mn-cs"/>
              </a:rPr>
              <a:t>cc</a:t>
            </a: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宋体" panose="02010600030101010101" pitchFamily="2" charset="-122"/>
                <a:cs typeface="+mn-cs"/>
              </a:rPr>
              <a:t> and 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ea typeface="宋体" panose="02010600030101010101" pitchFamily="2" charset="-122"/>
                <a:cs typeface="+mn-cs"/>
              </a:rPr>
              <a:t>g++ </a:t>
            </a: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宋体" panose="02010600030101010101" pitchFamily="2" charset="-122"/>
                <a:cs typeface="+mn-cs"/>
              </a:rPr>
              <a:t>are GNU C or C++ compilers respectively, which issued for preprocessing, </a:t>
            </a:r>
          </a:p>
          <a:p>
            <a:pPr marL="0" marR="0" lvl="0" indent="0" algn="l" defTabSz="11861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宋体" panose="02010600030101010101" pitchFamily="2" charset="-122"/>
                <a:cs typeface="+mn-cs"/>
              </a:rPr>
              <a:t>compilation, assembly and linking of source code to generate an executable file. </a:t>
            </a:r>
            <a:endParaRPr kumimoji="0" lang="zh-CN" alt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42900" y="1955359"/>
            <a:ext cx="1139414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200" dirty="0"/>
              <a:t>Type command </a:t>
            </a:r>
            <a:r>
              <a:rPr lang="en-US" altLang="zh-CN" sz="2200" b="1" dirty="0" err="1"/>
              <a:t>gcc</a:t>
            </a:r>
            <a:r>
              <a:rPr lang="en-US" altLang="zh-CN" sz="2200" dirty="0"/>
              <a:t> or </a:t>
            </a:r>
            <a:r>
              <a:rPr lang="en-US" altLang="zh-CN" sz="2200" b="1" dirty="0"/>
              <a:t>g++ --help</a:t>
            </a:r>
            <a:r>
              <a:rPr lang="en-US" altLang="zh-CN" sz="2200" dirty="0"/>
              <a:t>, you can get the common options of the </a:t>
            </a:r>
            <a:r>
              <a:rPr lang="en-US" altLang="zh-CN" sz="2200" dirty="0" err="1"/>
              <a:t>gcc</a:t>
            </a:r>
            <a:r>
              <a:rPr lang="en-US" altLang="zh-CN" sz="2200" dirty="0"/>
              <a:t> or g++.</a:t>
            </a:r>
            <a:r>
              <a:rPr lang="zh-CN" altLang="en-US" sz="2200" dirty="0"/>
              <a:t>  </a:t>
            </a:r>
            <a:r>
              <a:rPr lang="en-US" altLang="zh-CN" sz="2200" b="1" i="0" dirty="0">
                <a:effectLst/>
              </a:rPr>
              <a:t>g++</a:t>
            </a:r>
            <a:r>
              <a:rPr lang="en-US" altLang="zh-CN" sz="2200" b="0" i="0" dirty="0">
                <a:effectLst/>
              </a:rPr>
              <a:t> accepts </a:t>
            </a:r>
          </a:p>
          <a:p>
            <a:r>
              <a:rPr lang="en-US" altLang="zh-CN" sz="2200" b="0" i="0" dirty="0">
                <a:effectLst/>
              </a:rPr>
              <a:t>mostly the same options as </a:t>
            </a:r>
            <a:r>
              <a:rPr lang="en-US" altLang="zh-CN" sz="2200" b="1" i="0" dirty="0" err="1">
                <a:effectLst/>
              </a:rPr>
              <a:t>gcc</a:t>
            </a:r>
            <a:r>
              <a:rPr lang="en-US" altLang="zh-CN" sz="2200" b="0" i="0" dirty="0">
                <a:effectLst/>
              </a:rPr>
              <a:t>.</a:t>
            </a:r>
            <a:endParaRPr lang="zh-CN" altLang="en-US" sz="2200" dirty="0"/>
          </a:p>
        </p:txBody>
      </p:sp>
      <p:grpSp>
        <p:nvGrpSpPr>
          <p:cNvPr id="17" name="组合 16"/>
          <p:cNvGrpSpPr/>
          <p:nvPr/>
        </p:nvGrpSpPr>
        <p:grpSpPr>
          <a:xfrm>
            <a:off x="900112" y="2762250"/>
            <a:ext cx="7096125" cy="3562350"/>
            <a:chOff x="900112" y="2762250"/>
            <a:chExt cx="7096125" cy="3562350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00112" y="2762250"/>
              <a:ext cx="7096125" cy="1543050"/>
            </a:xfrm>
            <a:prstGeom prst="rect">
              <a:avLst/>
            </a:prstGeom>
          </p:spPr>
        </p:pic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09637" y="4305300"/>
              <a:ext cx="7086600" cy="2019300"/>
            </a:xfrm>
            <a:prstGeom prst="rect">
              <a:avLst/>
            </a:prstGeom>
          </p:spPr>
        </p:pic>
      </p:grpSp>
      <p:sp>
        <p:nvSpPr>
          <p:cNvPr id="18" name="矩形 17"/>
          <p:cNvSpPr/>
          <p:nvPr/>
        </p:nvSpPr>
        <p:spPr>
          <a:xfrm>
            <a:off x="981075" y="4076700"/>
            <a:ext cx="809625" cy="2286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981075" y="4314826"/>
            <a:ext cx="1219200" cy="21907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942975" y="5505450"/>
            <a:ext cx="828675" cy="3429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933092" y="2711578"/>
            <a:ext cx="977427" cy="23590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8" grpId="0" animBg="1"/>
      <p:bldP spid="19" grpId="0" animBg="1"/>
      <p:bldP spid="20" grpId="0" animBg="1"/>
      <p:bldP spid="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err="1">
                <a:sym typeface="+mn-ea"/>
              </a:rPr>
              <a:t>gcc</a:t>
            </a:r>
            <a:r>
              <a:rPr lang="en-US" altLang="zh-CN" dirty="0">
                <a:sym typeface="+mn-ea"/>
              </a:rPr>
              <a:t> &amp; g++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431994" y="1143050"/>
            <a:ext cx="1144980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solidFill>
                  <a:srgbClr val="00B0F0"/>
                </a:solidFill>
              </a:rPr>
              <a:t>-c   </a:t>
            </a:r>
            <a:r>
              <a:rPr lang="en-US" altLang="zh-CN" sz="2000" dirty="0"/>
              <a:t>Compile or assemble the source files, but do not link. </a:t>
            </a:r>
            <a:r>
              <a:rPr lang="en-US" altLang="zh-CN" sz="2000" b="0" i="0" dirty="0">
                <a:effectLst/>
              </a:rPr>
              <a:t>The ultimate output is in the form of an object file </a:t>
            </a:r>
          </a:p>
          <a:p>
            <a:r>
              <a:rPr lang="en-US" altLang="zh-CN" sz="2000" dirty="0"/>
              <a:t>      </a:t>
            </a:r>
            <a:r>
              <a:rPr lang="en-US" altLang="zh-CN" sz="2000" b="0" i="0" dirty="0">
                <a:effectLst/>
              </a:rPr>
              <a:t>for each source file. </a:t>
            </a:r>
            <a:r>
              <a:rPr lang="en-US" altLang="zh-CN" sz="2000" dirty="0"/>
              <a:t>T</a:t>
            </a:r>
            <a:r>
              <a:rPr lang="en-US" altLang="zh-CN" sz="2000" b="0" i="0" dirty="0">
                <a:effectLst/>
              </a:rPr>
              <a:t>he object file name for a source file is made by replacing the suffix </a:t>
            </a:r>
            <a:r>
              <a:rPr lang="en-US" altLang="zh-CN" sz="2000" b="1" i="0" dirty="0">
                <a:effectLst/>
              </a:rPr>
              <a:t>.c</a:t>
            </a:r>
            <a:r>
              <a:rPr lang="en-US" altLang="zh-CN" sz="2000" b="0" i="0" dirty="0">
                <a:effectLst/>
              </a:rPr>
              <a:t> with </a:t>
            </a:r>
            <a:r>
              <a:rPr lang="en-US" altLang="zh-CN" sz="2000" b="1" i="0" dirty="0">
                <a:effectLst/>
              </a:rPr>
              <a:t>.o</a:t>
            </a:r>
            <a:r>
              <a:rPr lang="en-US" altLang="zh-CN" sz="2000" b="0" i="0" dirty="0">
                <a:effectLst/>
              </a:rPr>
              <a:t>.</a:t>
            </a:r>
            <a:endParaRPr lang="zh-CN" altLang="en-US" sz="2000" dirty="0"/>
          </a:p>
        </p:txBody>
      </p:sp>
      <p:sp>
        <p:nvSpPr>
          <p:cNvPr id="4" name="文本框 3"/>
          <p:cNvSpPr txBox="1"/>
          <p:nvPr/>
        </p:nvSpPr>
        <p:spPr>
          <a:xfrm>
            <a:off x="409199" y="1882634"/>
            <a:ext cx="1087034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solidFill>
                  <a:srgbClr val="00B0F0"/>
                </a:solidFill>
              </a:rPr>
              <a:t>-o </a:t>
            </a:r>
            <a:r>
              <a:rPr lang="en-US" altLang="zh-CN" sz="2000" b="1" i="1" dirty="0">
                <a:solidFill>
                  <a:srgbClr val="00B0F0"/>
                </a:solidFill>
              </a:rPr>
              <a:t>&lt;file&gt;   </a:t>
            </a:r>
            <a:r>
              <a:rPr lang="en-US" altLang="zh-CN" sz="2000" b="0" i="0" dirty="0">
                <a:effectLst/>
              </a:rPr>
              <a:t>Place output in file </a:t>
            </a:r>
            <a:r>
              <a:rPr lang="en-US" altLang="zh-CN" sz="2000" b="0" i="1" dirty="0" err="1">
                <a:effectLst/>
              </a:rPr>
              <a:t>file</a:t>
            </a:r>
            <a:r>
              <a:rPr lang="en-US" altLang="zh-CN" sz="2000" b="0" i="0" dirty="0">
                <a:effectLst/>
              </a:rPr>
              <a:t>. This applies regardless to whatever sort of output is being produced, </a:t>
            </a:r>
          </a:p>
          <a:p>
            <a:r>
              <a:rPr lang="en-US" altLang="zh-CN" sz="2000" dirty="0"/>
              <a:t>                  </a:t>
            </a:r>
            <a:r>
              <a:rPr lang="en-US" altLang="zh-CN" sz="2000" b="0" i="0" dirty="0">
                <a:effectLst/>
              </a:rPr>
              <a:t>whether it be an executable file, an object file, an assembler file or preprocessed C code.</a:t>
            </a:r>
          </a:p>
          <a:p>
            <a:r>
              <a:rPr lang="en-US" altLang="zh-CN" sz="2000" dirty="0"/>
              <a:t>                   </a:t>
            </a:r>
            <a:r>
              <a:rPr lang="en-US" altLang="zh-CN" sz="2000" b="0" i="0" dirty="0">
                <a:effectLst/>
              </a:rPr>
              <a:t>If </a:t>
            </a:r>
            <a:r>
              <a:rPr lang="en-US" altLang="zh-CN" sz="2000" b="1" i="0" dirty="0">
                <a:effectLst/>
              </a:rPr>
              <a:t>-o</a:t>
            </a:r>
            <a:r>
              <a:rPr lang="en-US" altLang="zh-CN" sz="2000" b="0" i="0" dirty="0">
                <a:effectLst/>
              </a:rPr>
              <a:t> is not specified, the default is to put an executable file in </a:t>
            </a:r>
            <a:r>
              <a:rPr lang="en-US" altLang="zh-CN" sz="2000" b="0" i="1" dirty="0" err="1">
                <a:effectLst/>
              </a:rPr>
              <a:t>a.out</a:t>
            </a:r>
            <a:r>
              <a:rPr lang="en-US" altLang="zh-CN" sz="2000" dirty="0"/>
              <a:t>.</a:t>
            </a:r>
            <a:endParaRPr lang="zh-CN" altLang="en-US" sz="2000" dirty="0"/>
          </a:p>
        </p:txBody>
      </p:sp>
      <p:sp>
        <p:nvSpPr>
          <p:cNvPr id="7" name="文本框 6"/>
          <p:cNvSpPr txBox="1"/>
          <p:nvPr/>
        </p:nvSpPr>
        <p:spPr>
          <a:xfrm>
            <a:off x="892639" y="2940681"/>
            <a:ext cx="89371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i="1" dirty="0" err="1">
                <a:solidFill>
                  <a:srgbClr val="00B0F0"/>
                </a:solidFill>
                <a:effectLst/>
              </a:rPr>
              <a:t>gcc</a:t>
            </a:r>
            <a:r>
              <a:rPr lang="en-US" altLang="zh-CN" b="1" i="1" dirty="0">
                <a:solidFill>
                  <a:srgbClr val="00B0F0"/>
                </a:solidFill>
                <a:effectLst/>
              </a:rPr>
              <a:t> </a:t>
            </a:r>
            <a:r>
              <a:rPr lang="en-US" altLang="zh-CN" b="1" i="1" dirty="0" err="1">
                <a:solidFill>
                  <a:srgbClr val="00B0F0"/>
                </a:solidFill>
                <a:effectLst/>
              </a:rPr>
              <a:t>source_file.c</a:t>
            </a:r>
            <a:r>
              <a:rPr lang="en-US" altLang="zh-CN" b="1" i="1" dirty="0">
                <a:solidFill>
                  <a:srgbClr val="00B0F0"/>
                </a:solidFill>
                <a:effectLst/>
              </a:rPr>
              <a:t> -o </a:t>
            </a:r>
            <a:r>
              <a:rPr lang="en-US" altLang="zh-CN" b="1" i="1" dirty="0" err="1">
                <a:solidFill>
                  <a:srgbClr val="00B0F0"/>
                </a:solidFill>
                <a:effectLst/>
              </a:rPr>
              <a:t>program_name</a:t>
            </a:r>
            <a:r>
              <a:rPr lang="en-US" altLang="zh-CN" b="1" i="1" dirty="0">
                <a:solidFill>
                  <a:srgbClr val="00B0F0"/>
                </a:solidFill>
                <a:effectLst/>
              </a:rPr>
              <a:t>      </a:t>
            </a:r>
            <a:r>
              <a:rPr lang="en-US" altLang="zh-CN" b="1" i="1" dirty="0">
                <a:effectLst/>
              </a:rPr>
              <a:t>or     </a:t>
            </a:r>
            <a:r>
              <a:rPr lang="en-US" altLang="zh-CN" b="1" i="1" dirty="0" err="1">
                <a:solidFill>
                  <a:srgbClr val="00B0F0"/>
                </a:solidFill>
                <a:effectLst/>
              </a:rPr>
              <a:t>gcc</a:t>
            </a:r>
            <a:r>
              <a:rPr lang="en-US" altLang="zh-CN" b="1" i="1" dirty="0">
                <a:solidFill>
                  <a:srgbClr val="00B0F0"/>
                </a:solidFill>
                <a:effectLst/>
              </a:rPr>
              <a:t> </a:t>
            </a:r>
            <a:r>
              <a:rPr lang="en-US" altLang="zh-CN" b="1" i="1" dirty="0" err="1">
                <a:solidFill>
                  <a:srgbClr val="00B0F0"/>
                </a:solidFill>
                <a:effectLst/>
              </a:rPr>
              <a:t>source_file.o</a:t>
            </a:r>
            <a:r>
              <a:rPr lang="en-US" altLang="zh-CN" b="1" i="1" dirty="0">
                <a:solidFill>
                  <a:srgbClr val="00B0F0"/>
                </a:solidFill>
                <a:effectLst/>
              </a:rPr>
              <a:t> -o </a:t>
            </a:r>
            <a:r>
              <a:rPr lang="en-US" altLang="zh-CN" b="1" i="1" dirty="0" err="1">
                <a:solidFill>
                  <a:srgbClr val="00B0F0"/>
                </a:solidFill>
                <a:effectLst/>
              </a:rPr>
              <a:t>program_name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93894" y="4072448"/>
            <a:ext cx="3204732" cy="20313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#include &lt;</a:t>
            </a:r>
            <a:r>
              <a:rPr lang="en-US" altLang="zh-CN" dirty="0" err="1"/>
              <a:t>stdio.h</a:t>
            </a:r>
            <a:r>
              <a:rPr lang="en-US" altLang="zh-CN" dirty="0"/>
              <a:t>&gt;</a:t>
            </a:r>
          </a:p>
          <a:p>
            <a:r>
              <a:rPr lang="en-US" altLang="zh-CN" dirty="0"/>
              <a:t>int main()</a:t>
            </a:r>
          </a:p>
          <a:p>
            <a:r>
              <a:rPr lang="en-US" altLang="zh-CN" dirty="0"/>
              <a:t>{    </a:t>
            </a:r>
          </a:p>
          <a:p>
            <a:r>
              <a:rPr lang="en-US" altLang="zh-CN" dirty="0"/>
              <a:t>      </a:t>
            </a:r>
            <a:r>
              <a:rPr lang="en-US" altLang="zh-CN" dirty="0" err="1"/>
              <a:t>printf</a:t>
            </a:r>
            <a:r>
              <a:rPr lang="en-US" altLang="zh-CN" dirty="0"/>
              <a:t>("Hello World!\n");</a:t>
            </a:r>
          </a:p>
          <a:p>
            <a:r>
              <a:rPr lang="en-US" altLang="zh-CN" dirty="0"/>
              <a:t>    </a:t>
            </a:r>
          </a:p>
          <a:p>
            <a:r>
              <a:rPr lang="en-US" altLang="zh-CN" dirty="0"/>
              <a:t>      return 0;</a:t>
            </a:r>
          </a:p>
          <a:p>
            <a:r>
              <a:rPr lang="en-US" altLang="zh-CN" dirty="0"/>
              <a:t>}</a:t>
            </a:r>
            <a:endParaRPr lang="zh-CN" altLang="en-US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1863" y="3507365"/>
            <a:ext cx="5995662" cy="122988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1863" y="5224052"/>
            <a:ext cx="5995662" cy="1040164"/>
          </a:xfrm>
          <a:prstGeom prst="rect">
            <a:avLst/>
          </a:prstGeom>
        </p:spPr>
      </p:pic>
      <p:grpSp>
        <p:nvGrpSpPr>
          <p:cNvPr id="16" name="组合 15"/>
          <p:cNvGrpSpPr/>
          <p:nvPr/>
        </p:nvGrpSpPr>
        <p:grpSpPr>
          <a:xfrm>
            <a:off x="8742918" y="3125347"/>
            <a:ext cx="2497513" cy="543439"/>
            <a:chOff x="4241260" y="1316487"/>
            <a:chExt cx="2497513" cy="543439"/>
          </a:xfrm>
        </p:grpSpPr>
        <p:sp>
          <p:nvSpPr>
            <p:cNvPr id="17" name="文本框 16"/>
            <p:cNvSpPr txBox="1"/>
            <p:nvPr/>
          </p:nvSpPr>
          <p:spPr>
            <a:xfrm>
              <a:off x="5725867" y="1316487"/>
              <a:ext cx="10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dirty="0"/>
                <a:t>compile</a:t>
              </a:r>
              <a:endParaRPr lang="zh-CN" altLang="en-US" sz="2000" dirty="0"/>
            </a:p>
          </p:txBody>
        </p:sp>
        <p:grpSp>
          <p:nvGrpSpPr>
            <p:cNvPr id="18" name="组合 17"/>
            <p:cNvGrpSpPr/>
            <p:nvPr/>
          </p:nvGrpSpPr>
          <p:grpSpPr>
            <a:xfrm>
              <a:off x="4241260" y="1577707"/>
              <a:ext cx="1600646" cy="282219"/>
              <a:chOff x="4241260" y="3766440"/>
              <a:chExt cx="1600646" cy="282219"/>
            </a:xfrm>
          </p:grpSpPr>
          <p:sp>
            <p:nvSpPr>
              <p:cNvPr id="19" name="矩形 18"/>
              <p:cNvSpPr/>
              <p:nvPr/>
            </p:nvSpPr>
            <p:spPr>
              <a:xfrm>
                <a:off x="4241260" y="3829016"/>
                <a:ext cx="1085080" cy="219643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20" name="直接箭头连接符 19"/>
              <p:cNvCxnSpPr/>
              <p:nvPr/>
            </p:nvCxnSpPr>
            <p:spPr>
              <a:xfrm flipH="1">
                <a:off x="5326340" y="3766440"/>
                <a:ext cx="515566" cy="161421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1" name="组合 20"/>
          <p:cNvGrpSpPr/>
          <p:nvPr/>
        </p:nvGrpSpPr>
        <p:grpSpPr>
          <a:xfrm>
            <a:off x="8742917" y="3478009"/>
            <a:ext cx="2546021" cy="676552"/>
            <a:chOff x="4241259" y="1183374"/>
            <a:chExt cx="2546021" cy="676552"/>
          </a:xfrm>
        </p:grpSpPr>
        <p:sp>
          <p:nvSpPr>
            <p:cNvPr id="22" name="文本框 21"/>
            <p:cNvSpPr txBox="1"/>
            <p:nvPr/>
          </p:nvSpPr>
          <p:spPr>
            <a:xfrm>
              <a:off x="6232320" y="1183374"/>
              <a:ext cx="5549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dirty="0"/>
                <a:t>link</a:t>
              </a:r>
              <a:endParaRPr lang="zh-CN" altLang="en-US" sz="2000" dirty="0"/>
            </a:p>
          </p:txBody>
        </p:sp>
        <p:grpSp>
          <p:nvGrpSpPr>
            <p:cNvPr id="23" name="组合 22"/>
            <p:cNvGrpSpPr/>
            <p:nvPr/>
          </p:nvGrpSpPr>
          <p:grpSpPr>
            <a:xfrm>
              <a:off x="4241259" y="1492042"/>
              <a:ext cx="1995618" cy="367884"/>
              <a:chOff x="4241259" y="3680775"/>
              <a:chExt cx="1995618" cy="367884"/>
            </a:xfrm>
          </p:grpSpPr>
          <p:sp>
            <p:nvSpPr>
              <p:cNvPr id="24" name="矩形 23"/>
              <p:cNvSpPr/>
              <p:nvPr/>
            </p:nvSpPr>
            <p:spPr>
              <a:xfrm>
                <a:off x="4241259" y="3829016"/>
                <a:ext cx="1484607" cy="219643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25" name="直接箭头连接符 24"/>
              <p:cNvCxnSpPr/>
              <p:nvPr/>
            </p:nvCxnSpPr>
            <p:spPr>
              <a:xfrm flipH="1">
                <a:off x="5721311" y="3680775"/>
                <a:ext cx="515566" cy="161421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6" name="组合 25"/>
          <p:cNvGrpSpPr/>
          <p:nvPr/>
        </p:nvGrpSpPr>
        <p:grpSpPr>
          <a:xfrm>
            <a:off x="8742918" y="4057978"/>
            <a:ext cx="2106623" cy="553784"/>
            <a:chOff x="4241260" y="1306143"/>
            <a:chExt cx="2106623" cy="553784"/>
          </a:xfrm>
        </p:grpSpPr>
        <p:sp>
          <p:nvSpPr>
            <p:cNvPr id="27" name="文本框 26"/>
            <p:cNvSpPr txBox="1"/>
            <p:nvPr/>
          </p:nvSpPr>
          <p:spPr>
            <a:xfrm>
              <a:off x="5804144" y="1306143"/>
              <a:ext cx="54373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dirty="0"/>
                <a:t>run</a:t>
              </a:r>
              <a:endParaRPr lang="zh-CN" altLang="en-US" sz="2000" dirty="0"/>
            </a:p>
          </p:txBody>
        </p:sp>
        <p:grpSp>
          <p:nvGrpSpPr>
            <p:cNvPr id="28" name="组合 27"/>
            <p:cNvGrpSpPr/>
            <p:nvPr/>
          </p:nvGrpSpPr>
          <p:grpSpPr>
            <a:xfrm>
              <a:off x="4241260" y="1550967"/>
              <a:ext cx="1595916" cy="308960"/>
              <a:chOff x="4241260" y="3739700"/>
              <a:chExt cx="1595916" cy="308960"/>
            </a:xfrm>
          </p:grpSpPr>
          <p:sp>
            <p:nvSpPr>
              <p:cNvPr id="29" name="矩形 28"/>
              <p:cNvSpPr/>
              <p:nvPr/>
            </p:nvSpPr>
            <p:spPr>
              <a:xfrm>
                <a:off x="4241260" y="3829016"/>
                <a:ext cx="1191658" cy="219644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30" name="直接箭头连接符 29"/>
              <p:cNvCxnSpPr/>
              <p:nvPr/>
            </p:nvCxnSpPr>
            <p:spPr>
              <a:xfrm flipH="1">
                <a:off x="5321610" y="3739700"/>
                <a:ext cx="515566" cy="161421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1" name="组合 30"/>
          <p:cNvGrpSpPr/>
          <p:nvPr/>
        </p:nvGrpSpPr>
        <p:grpSpPr>
          <a:xfrm>
            <a:off x="8704817" y="4935334"/>
            <a:ext cx="3416868" cy="707886"/>
            <a:chOff x="4241259" y="1183374"/>
            <a:chExt cx="3416868" cy="707886"/>
          </a:xfrm>
        </p:grpSpPr>
        <p:sp>
          <p:nvSpPr>
            <p:cNvPr id="32" name="文本框 31"/>
            <p:cNvSpPr txBox="1"/>
            <p:nvPr/>
          </p:nvSpPr>
          <p:spPr>
            <a:xfrm>
              <a:off x="6137070" y="1183374"/>
              <a:ext cx="1521057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dirty="0"/>
                <a:t>compile and </a:t>
              </a:r>
            </a:p>
            <a:p>
              <a:r>
                <a:rPr lang="en-US" altLang="zh-CN" sz="2000" dirty="0"/>
                <a:t>link</a:t>
              </a:r>
              <a:endParaRPr lang="zh-CN" altLang="en-US" sz="2000" dirty="0"/>
            </a:p>
          </p:txBody>
        </p:sp>
        <p:grpSp>
          <p:nvGrpSpPr>
            <p:cNvPr id="33" name="组合 32"/>
            <p:cNvGrpSpPr/>
            <p:nvPr/>
          </p:nvGrpSpPr>
          <p:grpSpPr>
            <a:xfrm>
              <a:off x="4241259" y="1492042"/>
              <a:ext cx="1995618" cy="367884"/>
              <a:chOff x="4241259" y="3680775"/>
              <a:chExt cx="1995618" cy="367884"/>
            </a:xfrm>
          </p:grpSpPr>
          <p:sp>
            <p:nvSpPr>
              <p:cNvPr id="34" name="矩形 33"/>
              <p:cNvSpPr/>
              <p:nvPr/>
            </p:nvSpPr>
            <p:spPr>
              <a:xfrm>
                <a:off x="4241259" y="3829016"/>
                <a:ext cx="1484607" cy="219643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35" name="直接箭头连接符 34"/>
              <p:cNvCxnSpPr/>
              <p:nvPr/>
            </p:nvCxnSpPr>
            <p:spPr>
              <a:xfrm flipH="1">
                <a:off x="5721311" y="3680775"/>
                <a:ext cx="515566" cy="161421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6" name="组合 35"/>
          <p:cNvGrpSpPr/>
          <p:nvPr/>
        </p:nvGrpSpPr>
        <p:grpSpPr>
          <a:xfrm>
            <a:off x="8723867" y="5594372"/>
            <a:ext cx="2167800" cy="503289"/>
            <a:chOff x="4241259" y="1356637"/>
            <a:chExt cx="2167800" cy="503289"/>
          </a:xfrm>
        </p:grpSpPr>
        <p:sp>
          <p:nvSpPr>
            <p:cNvPr id="37" name="文本框 36"/>
            <p:cNvSpPr txBox="1"/>
            <p:nvPr/>
          </p:nvSpPr>
          <p:spPr>
            <a:xfrm>
              <a:off x="5865320" y="1356637"/>
              <a:ext cx="54373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dirty="0"/>
                <a:t>run</a:t>
              </a:r>
              <a:endParaRPr lang="zh-CN" altLang="en-US" sz="2000" dirty="0"/>
            </a:p>
          </p:txBody>
        </p:sp>
        <p:grpSp>
          <p:nvGrpSpPr>
            <p:cNvPr id="38" name="组合 37"/>
            <p:cNvGrpSpPr/>
            <p:nvPr/>
          </p:nvGrpSpPr>
          <p:grpSpPr>
            <a:xfrm>
              <a:off x="4241259" y="1588683"/>
              <a:ext cx="1614967" cy="271243"/>
              <a:chOff x="4241259" y="3777416"/>
              <a:chExt cx="1614967" cy="271243"/>
            </a:xfrm>
          </p:grpSpPr>
          <p:sp>
            <p:nvSpPr>
              <p:cNvPr id="39" name="矩形 38"/>
              <p:cNvSpPr/>
              <p:nvPr/>
            </p:nvSpPr>
            <p:spPr>
              <a:xfrm>
                <a:off x="4241259" y="3829016"/>
                <a:ext cx="1105933" cy="219643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cxnSp>
            <p:nvCxnSpPr>
              <p:cNvPr id="40" name="直接箭头连接符 39"/>
              <p:cNvCxnSpPr/>
              <p:nvPr/>
            </p:nvCxnSpPr>
            <p:spPr>
              <a:xfrm flipH="1">
                <a:off x="5340660" y="3777416"/>
                <a:ext cx="515566" cy="161421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err="1">
                <a:sym typeface="+mn-ea"/>
              </a:rPr>
              <a:t>gcc</a:t>
            </a:r>
            <a:r>
              <a:rPr lang="en-US" altLang="zh-CN" dirty="0">
                <a:sym typeface="+mn-ea"/>
              </a:rPr>
              <a:t> &amp; g++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620154" y="1384517"/>
            <a:ext cx="1127192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 fontAlgn="base">
              <a:buSzPts val="1000"/>
              <a:tabLst>
                <a:tab pos="457200" algn="l"/>
              </a:tabLst>
            </a:pPr>
            <a:r>
              <a:rPr lang="en-US" altLang="zh-CN" sz="2000" b="1" kern="0" spc="15" dirty="0">
                <a:solidFill>
                  <a:srgbClr val="273239"/>
                </a:solidFill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With one step to generate an executable target file:</a:t>
            </a:r>
            <a:r>
              <a:rPr lang="en-US" altLang="zh-CN" sz="2000" kern="0" spc="15" dirty="0">
                <a:solidFill>
                  <a:srgbClr val="273239"/>
                </a:solidFill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</a:p>
          <a:p>
            <a:pPr lvl="0" algn="l" fontAlgn="base">
              <a:buSzPts val="1000"/>
              <a:tabLst>
                <a:tab pos="457200" algn="l"/>
              </a:tabLst>
            </a:pPr>
            <a:r>
              <a:rPr lang="en-US" altLang="zh-CN" sz="2000" b="1" i="1" kern="0" spc="15" dirty="0" err="1">
                <a:solidFill>
                  <a:srgbClr val="00B0F0"/>
                </a:solidFill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gcc</a:t>
            </a:r>
            <a:r>
              <a:rPr lang="en-US" altLang="zh-CN" sz="2000" b="1" i="1" kern="0" spc="15" dirty="0">
                <a:solidFill>
                  <a:srgbClr val="00B0F0"/>
                </a:solidFill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 i="1" kern="0" spc="15" dirty="0" err="1">
                <a:solidFill>
                  <a:srgbClr val="00B0F0"/>
                </a:solidFill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file_name</a:t>
            </a:r>
            <a:r>
              <a:rPr lang="en-US" altLang="zh-CN" sz="2000" b="1" kern="0" spc="15" dirty="0">
                <a:solidFill>
                  <a:srgbClr val="00B0F0"/>
                </a:solidFill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    </a:t>
            </a:r>
            <a:r>
              <a:rPr lang="en-US" altLang="zh-CN" sz="2000" kern="0" spc="15" dirty="0">
                <a:solidFill>
                  <a:srgbClr val="273239"/>
                </a:solidFill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or  </a:t>
            </a:r>
            <a:r>
              <a:rPr lang="en-US" altLang="zh-CN" sz="2000" b="1" i="1" kern="0" spc="15" dirty="0">
                <a:solidFill>
                  <a:srgbClr val="00B0F0"/>
                </a:solidFill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g++ </a:t>
            </a:r>
            <a:r>
              <a:rPr lang="en-US" altLang="zh-CN" sz="2000" b="1" i="1" kern="0" spc="15" dirty="0" err="1">
                <a:solidFill>
                  <a:srgbClr val="00B0F0"/>
                </a:solidFill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file_name</a:t>
            </a:r>
            <a:endParaRPr lang="en-US" altLang="zh-CN" sz="2000" b="1" i="1" kern="0" spc="15" dirty="0">
              <a:solidFill>
                <a:srgbClr val="00B0F0"/>
              </a:solidFill>
              <a:effectLst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0" algn="l" fontAlgn="base">
              <a:buSzPts val="1000"/>
              <a:tabLst>
                <a:tab pos="457200" algn="l"/>
              </a:tabLst>
            </a:pPr>
            <a:r>
              <a:rPr lang="en-US" altLang="zh-CN" sz="2000" kern="0" spc="15" dirty="0">
                <a:solidFill>
                  <a:srgbClr val="273239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This </a:t>
            </a:r>
            <a:r>
              <a:rPr lang="en-US" altLang="zh-CN" sz="2000" kern="0" spc="15" dirty="0">
                <a:solidFill>
                  <a:srgbClr val="273239"/>
                </a:solidFill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command is used to compile and create an executable file </a:t>
            </a:r>
            <a:r>
              <a:rPr lang="en-US" altLang="zh-CN" sz="2000" i="1" kern="0" spc="15" dirty="0" err="1">
                <a:solidFill>
                  <a:srgbClr val="273239"/>
                </a:solidFill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a.out</a:t>
            </a:r>
            <a:r>
              <a:rPr lang="en-US" altLang="zh-CN" sz="2000" kern="0" spc="15" dirty="0">
                <a:solidFill>
                  <a:srgbClr val="273239"/>
                </a:solidFill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 (default target name).</a:t>
            </a:r>
            <a:endParaRPr lang="zh-CN" altLang="zh-CN" sz="2000" kern="100" dirty="0">
              <a:effectLst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2591435"/>
            <a:ext cx="6332220" cy="99568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20154" y="2923008"/>
            <a:ext cx="3857015" cy="23083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#include &lt;iostream&gt;</a:t>
            </a:r>
          </a:p>
          <a:p>
            <a:r>
              <a:rPr lang="en-US" altLang="zh-CN" dirty="0"/>
              <a:t>using namespace std;</a:t>
            </a:r>
          </a:p>
          <a:p>
            <a:r>
              <a:rPr lang="en-US" altLang="zh-CN" dirty="0"/>
              <a:t>int main()</a:t>
            </a:r>
          </a:p>
          <a:p>
            <a:r>
              <a:rPr lang="en-US" altLang="zh-CN" dirty="0"/>
              <a:t>{    </a:t>
            </a:r>
          </a:p>
          <a:p>
            <a:r>
              <a:rPr lang="en-US" altLang="zh-CN" dirty="0"/>
              <a:t>        </a:t>
            </a:r>
            <a:r>
              <a:rPr lang="en-US" altLang="zh-CN" dirty="0" err="1"/>
              <a:t>cout</a:t>
            </a:r>
            <a:r>
              <a:rPr lang="en-US" altLang="zh-CN" dirty="0"/>
              <a:t> &lt;&lt; "Hello World!!!" &lt;&lt; </a:t>
            </a:r>
            <a:r>
              <a:rPr lang="en-US" altLang="zh-CN" dirty="0" err="1"/>
              <a:t>endl</a:t>
            </a:r>
            <a:r>
              <a:rPr lang="en-US" altLang="zh-CN" dirty="0"/>
              <a:t>;   </a:t>
            </a:r>
          </a:p>
          <a:p>
            <a:endParaRPr lang="en-US" altLang="zh-CN" dirty="0"/>
          </a:p>
          <a:p>
            <a:r>
              <a:rPr lang="en-US" altLang="zh-CN" dirty="0"/>
              <a:t>        return 0;</a:t>
            </a:r>
          </a:p>
          <a:p>
            <a:r>
              <a:rPr lang="en-US" altLang="zh-CN" dirty="0"/>
              <a:t>}</a:t>
            </a:r>
            <a:endParaRPr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000" y="4198620"/>
            <a:ext cx="6312535" cy="1073150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10206382" y="2597278"/>
            <a:ext cx="977427" cy="23590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9764422" y="4337813"/>
            <a:ext cx="1353158" cy="23590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1" grpId="0" bldLvl="0" animBg="1"/>
      <p:bldP spid="12" grpId="0" bldLvl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err="1">
                <a:sym typeface="+mn-ea"/>
              </a:rPr>
              <a:t>gcc</a:t>
            </a:r>
            <a:r>
              <a:rPr lang="en-US" altLang="zh-CN" dirty="0">
                <a:sym typeface="+mn-ea"/>
              </a:rPr>
              <a:t> &amp; g++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782079" y="1097852"/>
            <a:ext cx="1127192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 fontAlgn="base">
              <a:buSzPts val="1000"/>
              <a:tabLst>
                <a:tab pos="457200" algn="l"/>
              </a:tabLst>
            </a:pPr>
            <a:r>
              <a:rPr lang="en-US" altLang="zh-CN" sz="2000" b="1" kern="0" spc="15" dirty="0">
                <a:solidFill>
                  <a:srgbClr val="273239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sz="2000" b="1" kern="0" spc="15" dirty="0">
                <a:solidFill>
                  <a:srgbClr val="273239"/>
                </a:solidFill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ompile multiple files</a:t>
            </a:r>
            <a:endParaRPr lang="en-US" altLang="zh-CN" sz="2000" kern="0" spc="15" dirty="0">
              <a:solidFill>
                <a:srgbClr val="273239"/>
              </a:solidFill>
              <a:effectLst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0" algn="l" fontAlgn="base">
              <a:buSzPts val="1000"/>
              <a:tabLst>
                <a:tab pos="457200" algn="l"/>
              </a:tabLst>
            </a:pPr>
            <a:r>
              <a:rPr lang="en-US" altLang="zh-CN" sz="2000" kern="0" spc="15" dirty="0">
                <a:solidFill>
                  <a:srgbClr val="273239"/>
                </a:solidFill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You can compile the files one by one and then link them to an executable file.</a:t>
            </a:r>
          </a:p>
          <a:p>
            <a:pPr lvl="0" algn="l" fontAlgn="base">
              <a:buSzPts val="1000"/>
              <a:tabLst>
                <a:tab pos="457200" algn="l"/>
              </a:tabLst>
            </a:pPr>
            <a:r>
              <a:rPr lang="en-US" altLang="zh-CN" sz="2000" kern="0" spc="15" dirty="0">
                <a:solidFill>
                  <a:srgbClr val="273239"/>
                </a:solidFill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Another choi</a:t>
            </a:r>
            <a:r>
              <a:rPr lang="en-US" altLang="zh-CN" sz="2000" kern="0" spc="15" dirty="0">
                <a:solidFill>
                  <a:srgbClr val="273239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ce is using one step to list all the .c(or .</a:t>
            </a:r>
            <a:r>
              <a:rPr lang="en-US" altLang="zh-CN" sz="2000" kern="0" spc="15" dirty="0" err="1">
                <a:solidFill>
                  <a:srgbClr val="273239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cpp</a:t>
            </a:r>
            <a:r>
              <a:rPr lang="en-US" altLang="zh-CN" sz="2000" kern="0" spc="15" dirty="0">
                <a:solidFill>
                  <a:srgbClr val="273239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 files after </a:t>
            </a:r>
            <a:r>
              <a:rPr lang="en-US" altLang="zh-CN" sz="2000" kern="0" spc="15" dirty="0" err="1">
                <a:solidFill>
                  <a:srgbClr val="273239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gcc</a:t>
            </a:r>
            <a:r>
              <a:rPr lang="en-US" altLang="zh-CN" sz="2000" kern="0" spc="15" dirty="0">
                <a:solidFill>
                  <a:srgbClr val="273239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(or g++) command a</a:t>
            </a:r>
            <a:r>
              <a:rPr lang="en-US" altLang="zh-CN" sz="2000" kern="0" spc="15" dirty="0">
                <a:solidFill>
                  <a:srgbClr val="273239"/>
                </a:solidFill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nd create an executable file named </a:t>
            </a:r>
            <a:r>
              <a:rPr lang="en-US" altLang="zh-CN" sz="2000" kern="0" spc="15" dirty="0" err="1">
                <a:solidFill>
                  <a:srgbClr val="273239"/>
                </a:solidFill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a.out</a:t>
            </a:r>
            <a:r>
              <a:rPr lang="en-US" altLang="zh-CN" sz="2000" kern="0" spc="15" dirty="0">
                <a:solidFill>
                  <a:srgbClr val="273239"/>
                </a:solidFill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sz="2000" kern="100" dirty="0">
              <a:effectLst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404757" y="2485436"/>
            <a:ext cx="6024618" cy="3754874"/>
            <a:chOff x="404757" y="2485436"/>
            <a:chExt cx="6024618" cy="3754874"/>
          </a:xfrm>
        </p:grpSpPr>
        <p:sp>
          <p:nvSpPr>
            <p:cNvPr id="3" name="文本框 2"/>
            <p:cNvSpPr txBox="1"/>
            <p:nvPr/>
          </p:nvSpPr>
          <p:spPr>
            <a:xfrm>
              <a:off x="3020454" y="2485436"/>
              <a:ext cx="3408921" cy="375487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00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400" dirty="0"/>
                <a:t>//</a:t>
              </a:r>
              <a:r>
                <a:rPr lang="en-US" altLang="zh-CN" sz="1400" dirty="0" err="1"/>
                <a:t>main.c</a:t>
              </a:r>
              <a:endParaRPr lang="en-US" altLang="zh-CN" sz="1400" dirty="0"/>
            </a:p>
            <a:p>
              <a:r>
                <a:rPr lang="en-US" altLang="zh-CN" sz="1400" dirty="0"/>
                <a:t>#include &lt;</a:t>
              </a:r>
              <a:r>
                <a:rPr lang="en-US" altLang="zh-CN" sz="1400" dirty="0" err="1"/>
                <a:t>stdio.h</a:t>
              </a:r>
              <a:r>
                <a:rPr lang="en-US" altLang="zh-CN" sz="1400" dirty="0"/>
                <a:t>&gt;</a:t>
              </a:r>
            </a:p>
            <a:p>
              <a:r>
                <a:rPr lang="en-US" altLang="zh-CN" sz="1400" dirty="0"/>
                <a:t>#include "</a:t>
              </a:r>
              <a:r>
                <a:rPr lang="en-US" altLang="zh-CN" sz="1400" dirty="0" err="1"/>
                <a:t>area.h</a:t>
              </a:r>
              <a:r>
                <a:rPr lang="en-US" altLang="zh-CN" sz="1400" dirty="0"/>
                <a:t>"</a:t>
              </a:r>
            </a:p>
            <a:p>
              <a:endParaRPr lang="en-US" altLang="zh-CN" sz="1400" dirty="0"/>
            </a:p>
            <a:p>
              <a:r>
                <a:rPr lang="en-US" altLang="zh-CN" sz="1400" dirty="0"/>
                <a:t>int main()</a:t>
              </a:r>
            </a:p>
            <a:p>
              <a:r>
                <a:rPr lang="en-US" altLang="zh-CN" sz="1400" dirty="0"/>
                <a:t>{</a:t>
              </a:r>
            </a:p>
            <a:p>
              <a:r>
                <a:rPr lang="en-US" altLang="zh-CN" sz="1400" dirty="0"/>
                <a:t>    double r,</a:t>
              </a:r>
              <a:r>
                <a:rPr lang="zh-CN" altLang="en-US" sz="1400" dirty="0"/>
                <a:t> </a:t>
              </a:r>
              <a:r>
                <a:rPr lang="en-US" altLang="zh-CN" sz="1400" dirty="0"/>
                <a:t>area;</a:t>
              </a:r>
            </a:p>
            <a:p>
              <a:endParaRPr lang="en-US" altLang="zh-CN" sz="1400" dirty="0"/>
            </a:p>
            <a:p>
              <a:r>
                <a:rPr lang="en-US" altLang="zh-CN" sz="1400" dirty="0"/>
                <a:t>    </a:t>
              </a:r>
              <a:r>
                <a:rPr lang="en-US" altLang="zh-CN" sz="1400" dirty="0" err="1"/>
                <a:t>printf</a:t>
              </a:r>
              <a:r>
                <a:rPr lang="en-US" altLang="zh-CN" sz="1400" dirty="0"/>
                <a:t>("Please input a radius:");</a:t>
              </a:r>
            </a:p>
            <a:p>
              <a:r>
                <a:rPr lang="en-US" altLang="zh-CN" sz="1400" dirty="0"/>
                <a:t>    </a:t>
              </a:r>
              <a:r>
                <a:rPr lang="en-US" altLang="zh-CN" sz="1400" dirty="0" err="1"/>
                <a:t>scanf</a:t>
              </a:r>
              <a:r>
                <a:rPr lang="en-US" altLang="zh-CN" sz="1400" dirty="0"/>
                <a:t>("%</a:t>
              </a:r>
              <a:r>
                <a:rPr lang="en-US" altLang="zh-CN" sz="1400" dirty="0" err="1"/>
                <a:t>lf</a:t>
              </a:r>
              <a:r>
                <a:rPr lang="en-US" altLang="zh-CN" sz="1400" dirty="0"/>
                <a:t>", &amp;r);</a:t>
              </a:r>
            </a:p>
            <a:p>
              <a:endParaRPr lang="en-US" altLang="zh-CN" sz="1400" dirty="0"/>
            </a:p>
            <a:p>
              <a:r>
                <a:rPr lang="en-US" altLang="zh-CN" sz="1400" dirty="0"/>
                <a:t>    area = </a:t>
              </a:r>
              <a:r>
                <a:rPr lang="en-US" altLang="zh-CN" sz="1400" dirty="0" err="1"/>
                <a:t>compute_area</a:t>
              </a:r>
              <a:r>
                <a:rPr lang="en-US" altLang="zh-CN" sz="1400" dirty="0"/>
                <a:t>(r);</a:t>
              </a:r>
            </a:p>
            <a:p>
              <a:endParaRPr lang="en-US" altLang="zh-CN" sz="1400" dirty="0"/>
            </a:p>
            <a:p>
              <a:r>
                <a:rPr lang="en-US" altLang="zh-CN" sz="1400" dirty="0"/>
                <a:t>    </a:t>
              </a:r>
              <a:r>
                <a:rPr lang="en-US" altLang="zh-CN" sz="1400" dirty="0" err="1"/>
                <a:t>printf</a:t>
              </a:r>
              <a:r>
                <a:rPr lang="en-US" altLang="zh-CN" sz="1400" dirty="0"/>
                <a:t>("The area of %</a:t>
              </a:r>
              <a:r>
                <a:rPr lang="en-US" altLang="zh-CN" sz="1400" dirty="0" err="1"/>
                <a:t>lf</a:t>
              </a:r>
              <a:r>
                <a:rPr lang="en-US" altLang="zh-CN" sz="1400" dirty="0"/>
                <a:t> is %.4lf\n", r, area);</a:t>
              </a:r>
            </a:p>
            <a:p>
              <a:endParaRPr lang="en-US" altLang="zh-CN" sz="1400" dirty="0"/>
            </a:p>
            <a:p>
              <a:r>
                <a:rPr lang="en-US" altLang="zh-CN" sz="1400" dirty="0"/>
                <a:t>    return 0;</a:t>
              </a:r>
            </a:p>
            <a:p>
              <a:r>
                <a:rPr lang="en-US" altLang="zh-CN" sz="1400" dirty="0"/>
                <a:t>}</a:t>
              </a:r>
              <a:endParaRPr lang="zh-CN" altLang="en-US" sz="1400" dirty="0"/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404757" y="2485436"/>
              <a:ext cx="2547993" cy="95410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00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400" dirty="0"/>
                <a:t>//</a:t>
              </a:r>
              <a:r>
                <a:rPr lang="en-US" altLang="zh-CN" sz="1400" dirty="0" err="1"/>
                <a:t>area.h</a:t>
              </a:r>
              <a:endParaRPr lang="en-US" altLang="zh-CN" sz="1400" dirty="0"/>
            </a:p>
            <a:p>
              <a:r>
                <a:rPr lang="en-US" altLang="zh-CN" sz="1400" dirty="0"/>
                <a:t>#define PI 3.1415</a:t>
              </a:r>
            </a:p>
            <a:p>
              <a:endParaRPr lang="en-US" altLang="zh-CN" sz="1400" dirty="0"/>
            </a:p>
            <a:p>
              <a:r>
                <a:rPr lang="en-US" altLang="zh-CN" sz="1400" dirty="0"/>
                <a:t>double </a:t>
              </a:r>
              <a:r>
                <a:rPr lang="en-US" altLang="zh-CN" sz="1400" dirty="0" err="1"/>
                <a:t>compute_area</a:t>
              </a:r>
              <a:r>
                <a:rPr lang="en-US" altLang="zh-CN" sz="1400" dirty="0"/>
                <a:t>(double r);</a:t>
              </a:r>
              <a:endParaRPr lang="zh-CN" altLang="en-US" sz="1400" dirty="0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404757" y="3584222"/>
              <a:ext cx="2547993" cy="160043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00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400" dirty="0"/>
                <a:t>//</a:t>
              </a:r>
              <a:r>
                <a:rPr lang="en-US" altLang="zh-CN" sz="1400" dirty="0" err="1"/>
                <a:t>area.c</a:t>
              </a:r>
              <a:endParaRPr lang="en-US" altLang="zh-CN" sz="1400" dirty="0"/>
            </a:p>
            <a:p>
              <a:r>
                <a:rPr lang="en-US" altLang="zh-CN" sz="1400" dirty="0"/>
                <a:t>#include "</a:t>
              </a:r>
              <a:r>
                <a:rPr lang="en-US" altLang="zh-CN" sz="1400" dirty="0" err="1"/>
                <a:t>area.h</a:t>
              </a:r>
              <a:r>
                <a:rPr lang="en-US" altLang="zh-CN" sz="1400" dirty="0"/>
                <a:t>"</a:t>
              </a:r>
            </a:p>
            <a:p>
              <a:endParaRPr lang="en-US" altLang="zh-CN" sz="1400" dirty="0"/>
            </a:p>
            <a:p>
              <a:r>
                <a:rPr lang="en-US" altLang="zh-CN" sz="1400" dirty="0"/>
                <a:t>double </a:t>
              </a:r>
              <a:r>
                <a:rPr lang="en-US" altLang="zh-CN" sz="1400" dirty="0" err="1"/>
                <a:t>compute_area</a:t>
              </a:r>
              <a:r>
                <a:rPr lang="en-US" altLang="zh-CN" sz="1400" dirty="0"/>
                <a:t>(double r)</a:t>
              </a:r>
            </a:p>
            <a:p>
              <a:r>
                <a:rPr lang="en-US" altLang="zh-CN" sz="1400" dirty="0"/>
                <a:t>{</a:t>
              </a:r>
            </a:p>
            <a:p>
              <a:r>
                <a:rPr lang="en-US" altLang="zh-CN" sz="1400" dirty="0"/>
                <a:t>    return PI * r * r;</a:t>
              </a:r>
            </a:p>
            <a:p>
              <a:r>
                <a:rPr lang="en-US" altLang="zh-CN" sz="1400" dirty="0"/>
                <a:t>}</a:t>
              </a:r>
              <a:endParaRPr lang="zh-CN" altLang="en-US" sz="1400" dirty="0"/>
            </a:p>
          </p:txBody>
        </p:sp>
      </p:grp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4858" y="2571256"/>
            <a:ext cx="5529146" cy="1524988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10391167" y="2597277"/>
            <a:ext cx="962633" cy="30784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0410217" y="3159253"/>
            <a:ext cx="1643787" cy="20307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858" y="5074348"/>
            <a:ext cx="5591175" cy="685800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10848975" y="5073778"/>
            <a:ext cx="1262179" cy="20307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0406975" y="3584031"/>
            <a:ext cx="556097" cy="16630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0848975" y="5305824"/>
            <a:ext cx="649119" cy="15596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  <p:sp>
        <p:nvSpPr>
          <p:cNvPr id="15" name="灯片编号占位符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3" grpId="0" animBg="1"/>
      <p:bldP spid="11" grpId="0" animBg="1"/>
      <p:bldP spid="1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err="1">
                <a:sym typeface="+mn-ea"/>
              </a:rPr>
              <a:t>Makefile</a:t>
            </a:r>
            <a:endParaRPr lang="zh-CN" altLang="en-US" dirty="0"/>
          </a:p>
        </p:txBody>
      </p:sp>
      <p:sp>
        <p:nvSpPr>
          <p:cNvPr id="10" name="TextBox 1"/>
          <p:cNvSpPr txBox="1"/>
          <p:nvPr/>
        </p:nvSpPr>
        <p:spPr>
          <a:xfrm>
            <a:off x="670863" y="1675464"/>
            <a:ext cx="3513180" cy="612239"/>
          </a:xfrm>
          <a:prstGeom prst="rect">
            <a:avLst/>
          </a:prstGeom>
          <a:noFill/>
        </p:spPr>
        <p:txBody>
          <a:bodyPr wrap="none" lIns="118637" tIns="59319" rIns="118637" bIns="59319" rtlCol="0">
            <a:spAutoFit/>
          </a:bodyPr>
          <a:lstStyle/>
          <a:p>
            <a:pPr marL="0" marR="0" lvl="0" indent="0" algn="l" defTabSz="11861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What is a </a:t>
            </a:r>
            <a:r>
              <a:rPr kumimoji="0" lang="en-US" altLang="zh-CN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Makefile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?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TextBox 8"/>
          <p:cNvSpPr txBox="1"/>
          <p:nvPr/>
        </p:nvSpPr>
        <p:spPr>
          <a:xfrm>
            <a:off x="751480" y="2561256"/>
            <a:ext cx="10925407" cy="1227792"/>
          </a:xfrm>
          <a:prstGeom prst="rect">
            <a:avLst/>
          </a:prstGeom>
          <a:noFill/>
        </p:spPr>
        <p:txBody>
          <a:bodyPr wrap="square" lIns="118637" tIns="59319" rIns="118637" bIns="59319" rtlCol="0">
            <a:spAutoFit/>
          </a:bodyPr>
          <a:lstStyle/>
          <a:p>
            <a:pPr marL="0" marR="0" lvl="0" indent="0" algn="l" defTabSz="11861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Makefile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is a tool to simplify and organize compilation. 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Makefile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is a</a:t>
            </a:r>
            <a:r>
              <a:rPr kumimoji="0" lang="en-US" altLang="zh-CN" sz="2400" b="1" i="0" u="none" strike="noStrike" kern="1200" cap="none" spc="0" normalizeH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set of commands with variable names and targets .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You can compile your</a:t>
            </a:r>
            <a:r>
              <a:rPr kumimoji="0" lang="en-US" altLang="zh-CN" sz="24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project(program) or only compile the update files in the  project by using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Makefile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.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3016" y="5870785"/>
            <a:ext cx="8884714" cy="814356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488621" y="158589"/>
            <a:ext cx="6798670" cy="541599"/>
          </a:xfrm>
          <a:prstGeom prst="rect">
            <a:avLst/>
          </a:prstGeom>
          <a:noFill/>
        </p:spPr>
        <p:txBody>
          <a:bodyPr wrap="none" lIns="107671" tIns="53836" rIns="107671" bIns="53836" rtlCol="0">
            <a:spAutoFit/>
          </a:bodyPr>
          <a:lstStyle/>
          <a:p>
            <a:pPr defTabSz="1076960"/>
            <a:r>
              <a:rPr lang="en-US" altLang="zh-CN" sz="2815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Suppose we have four source files as follows:</a:t>
            </a:r>
            <a:endParaRPr lang="zh-CN" altLang="en-US" sz="2815" dirty="0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2422" y="785814"/>
            <a:ext cx="4711273" cy="1910443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730" y="811314"/>
            <a:ext cx="2766252" cy="1616529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59135" y="684225"/>
            <a:ext cx="3985132" cy="2385892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3585" y="2775482"/>
            <a:ext cx="7373791" cy="3068811"/>
          </a:xfrm>
          <a:prstGeom prst="rect">
            <a:avLst/>
          </a:prstGeom>
        </p:spPr>
      </p:pic>
      <p:grpSp>
        <p:nvGrpSpPr>
          <p:cNvPr id="18" name="组合 17"/>
          <p:cNvGrpSpPr/>
          <p:nvPr/>
        </p:nvGrpSpPr>
        <p:grpSpPr>
          <a:xfrm>
            <a:off x="5663054" y="4671352"/>
            <a:ext cx="5739840" cy="1471944"/>
            <a:chOff x="6595186" y="5212138"/>
            <a:chExt cx="6324442" cy="1621864"/>
          </a:xfrm>
        </p:grpSpPr>
        <p:sp>
          <p:nvSpPr>
            <p:cNvPr id="12" name="TextBox 11"/>
            <p:cNvSpPr txBox="1"/>
            <p:nvPr/>
          </p:nvSpPr>
          <p:spPr>
            <a:xfrm>
              <a:off x="9181719" y="5212138"/>
              <a:ext cx="3737909" cy="1227250"/>
            </a:xfrm>
            <a:prstGeom prst="rect">
              <a:avLst/>
            </a:prstGeom>
            <a:noFill/>
          </p:spPr>
          <p:txBody>
            <a:bodyPr wrap="square" lIns="107671" tIns="53836" rIns="107671" bIns="53836" rtlCol="0">
              <a:spAutoFit/>
            </a:bodyPr>
            <a:lstStyle/>
            <a:p>
              <a:pPr defTabSz="1076960"/>
              <a:r>
                <a:rPr lang="en-US" altLang="zh-CN" sz="2175" dirty="0">
                  <a:solidFill>
                    <a:prstClr val="black"/>
                  </a:solidFill>
                  <a:latin typeface="Calibri" panose="020F0502020204030204"/>
                  <a:ea typeface="宋体" panose="02010600030101010101" pitchFamily="2" charset="-122"/>
                </a:rPr>
                <a:t>Normally, you can compile these files  by the following</a:t>
              </a:r>
            </a:p>
            <a:p>
              <a:pPr defTabSz="1076960"/>
              <a:r>
                <a:rPr lang="en-US" altLang="zh-CN" sz="2175" dirty="0">
                  <a:solidFill>
                    <a:prstClr val="black"/>
                  </a:solidFill>
                  <a:latin typeface="Calibri" panose="020F0502020204030204"/>
                  <a:ea typeface="宋体" panose="02010600030101010101" pitchFamily="2" charset="-122"/>
                </a:rPr>
                <a:t> command:</a:t>
              </a:r>
              <a:endParaRPr lang="zh-CN" altLang="en-US" sz="2175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  <p:cxnSp>
          <p:nvCxnSpPr>
            <p:cNvPr id="16" name="直接箭头连接符 15"/>
            <p:cNvCxnSpPr/>
            <p:nvPr/>
          </p:nvCxnSpPr>
          <p:spPr>
            <a:xfrm flipH="1">
              <a:off x="9342685" y="6298530"/>
              <a:ext cx="288032" cy="364022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矩形 16"/>
            <p:cNvSpPr/>
            <p:nvPr/>
          </p:nvSpPr>
          <p:spPr>
            <a:xfrm>
              <a:off x="6595186" y="6561234"/>
              <a:ext cx="4875152" cy="272768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35" dirty="0"/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10146888" y="5843473"/>
            <a:ext cx="1529619" cy="369332"/>
            <a:chOff x="10382862" y="5843473"/>
            <a:chExt cx="1529619" cy="369332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0893306" y="5926125"/>
              <a:ext cx="1019175" cy="247650"/>
            </a:xfrm>
            <a:prstGeom prst="rect">
              <a:avLst/>
            </a:prstGeom>
          </p:spPr>
        </p:pic>
        <p:sp>
          <p:nvSpPr>
            <p:cNvPr id="19" name="文本框 18"/>
            <p:cNvSpPr txBox="1"/>
            <p:nvPr/>
          </p:nvSpPr>
          <p:spPr>
            <a:xfrm>
              <a:off x="10382862" y="5843473"/>
              <a:ext cx="3866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or</a:t>
              </a:r>
              <a:endParaRPr lang="zh-CN" altLang="en-US" dirty="0"/>
            </a:p>
          </p:txBody>
        </p:sp>
      </p:grp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25680" y="1197837"/>
            <a:ext cx="10550147" cy="845185"/>
          </a:xfrm>
          <a:prstGeom prst="rect">
            <a:avLst/>
          </a:prstGeom>
          <a:noFill/>
        </p:spPr>
        <p:txBody>
          <a:bodyPr wrap="square" lIns="107671" tIns="53836" rIns="107671" bIns="53836" rtlCol="0">
            <a:spAutoFit/>
          </a:bodyPr>
          <a:lstStyle/>
          <a:p>
            <a:pPr marL="0" marR="0" lvl="0" indent="0" algn="l" defTabSz="10769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How about if there are hundreds of files to compile? If only one source file is modified, need we compile all the files? </a:t>
            </a:r>
            <a:r>
              <a:rPr kumimoji="0" lang="en-US" altLang="zh-CN" sz="24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Makefile</a:t>
            </a:r>
            <a:r>
              <a:rPr lang="en-US" altLang="zh-CN" sz="2400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 will help you.</a:t>
            </a:r>
            <a:endParaRPr kumimoji="0" lang="zh-CN" altLang="en-US" sz="2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25680" y="2857394"/>
            <a:ext cx="10625547" cy="1586051"/>
          </a:xfrm>
          <a:prstGeom prst="rect">
            <a:avLst/>
          </a:prstGeom>
          <a:noFill/>
        </p:spPr>
        <p:txBody>
          <a:bodyPr wrap="square" lIns="107671" tIns="53836" rIns="107671" bIns="53836" rtlCol="0">
            <a:spAutoFit/>
          </a:bodyPr>
          <a:lstStyle/>
          <a:p>
            <a:pPr marL="0" marR="0" lvl="0" indent="0" algn="l" defTabSz="10769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The name of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makefile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must be either 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makefile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or 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Makefile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 without extension.</a:t>
            </a:r>
          </a:p>
          <a:p>
            <a:pPr marL="0" marR="0" lvl="0" indent="0" algn="l" defTabSz="10769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You can write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makefile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in any text editor. A rule of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makefile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including three</a:t>
            </a:r>
          </a:p>
          <a:p>
            <a:pPr marL="0" marR="0" lvl="0" indent="0" algn="l" defTabSz="10769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elements: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targets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,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prerequisites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and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commands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. There are many rules in the </a:t>
            </a:r>
          </a:p>
          <a:p>
            <a:pPr marL="0" marR="0" lvl="0" indent="0" algn="l" defTabSz="10769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makefile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.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311575" y="1074570"/>
            <a:ext cx="9695168" cy="847387"/>
          </a:xfrm>
          <a:prstGeom prst="rect">
            <a:avLst/>
          </a:prstGeom>
          <a:noFill/>
        </p:spPr>
        <p:txBody>
          <a:bodyPr wrap="none" lIns="107671" tIns="53836" rIns="107671" bIns="53836" rtlCol="0">
            <a:spAutoFit/>
          </a:bodyPr>
          <a:lstStyle/>
          <a:p>
            <a:pPr marL="0" marR="0" lvl="0" indent="0" algn="l" defTabSz="10769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A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makefile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consists of a set of rules. A rule including three elements: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target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, </a:t>
            </a:r>
          </a:p>
          <a:p>
            <a:pPr marL="0" marR="0" lvl="0" indent="0" algn="l" defTabSz="10769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prerequisites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and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commands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. 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548288" y="2236393"/>
            <a:ext cx="3560411" cy="1340343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none" lIns="107671" tIns="53836" rIns="107671" bIns="53836" rtlCol="0">
            <a:spAutoFit/>
          </a:bodyPr>
          <a:lstStyle/>
          <a:p>
            <a:pPr marL="0" marR="0" lvl="0" indent="0" algn="l" defTabSz="107696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15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targets</a:t>
            </a:r>
            <a:r>
              <a:rPr kumimoji="0" lang="en-US" altLang="zh-CN" sz="2815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:  prerequisites</a:t>
            </a:r>
          </a:p>
          <a:p>
            <a:pPr marL="0" marR="0" lvl="0" indent="0" algn="l" defTabSz="107696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15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&lt;TAB&gt; command</a:t>
            </a:r>
            <a:endParaRPr kumimoji="0" lang="zh-CN" altLang="en-US" sz="2815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02672" y="3951435"/>
            <a:ext cx="10397666" cy="1955383"/>
          </a:xfrm>
          <a:prstGeom prst="rect">
            <a:avLst/>
          </a:prstGeom>
          <a:noFill/>
        </p:spPr>
        <p:txBody>
          <a:bodyPr wrap="square" lIns="107671" tIns="53836" rIns="107671" bIns="53836" rtlCol="0">
            <a:spAutoFit/>
          </a:bodyPr>
          <a:lstStyle/>
          <a:p>
            <a:pPr marL="414655" marR="0" lvl="0" indent="-414655" algn="l" defTabSz="10769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The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target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can be an object file, which will be generated by</a:t>
            </a:r>
            <a:r>
              <a:rPr kumimoji="0" lang="en-US" altLang="zh-CN" sz="24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the command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. </a:t>
            </a:r>
          </a:p>
          <a:p>
            <a:pPr marL="414655" marR="0" lvl="0" indent="-414655" algn="l" defTabSz="10769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The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prerequisites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are file names, separated by spaces. The targets</a:t>
            </a:r>
            <a:r>
              <a:rPr kumimoji="0" lang="en-US" altLang="zh-CN" sz="24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generation </a:t>
            </a:r>
            <a:r>
              <a:rPr lang="en-US" altLang="zh-CN" sz="2400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depends on the prerequisites.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414655" marR="0" lvl="0" indent="-414655" algn="l" defTabSz="10769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The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commands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will</a:t>
            </a:r>
            <a:r>
              <a:rPr kumimoji="0" lang="en-US" altLang="zh-CN" sz="24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be run to generate targets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.</a:t>
            </a:r>
          </a:p>
          <a:p>
            <a:pPr marL="0" marR="0" lvl="0" indent="0" algn="l" defTabSz="10769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These need to start with a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tab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, not spaces.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E79BA5ED-D9A8-C1D8-7B3F-EEEFE0629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Makefile</a:t>
            </a:r>
            <a:r>
              <a:rPr lang="en-US" altLang="zh-CN" dirty="0"/>
              <a:t> example</a:t>
            </a:r>
            <a:endParaRPr lang="zh-CN" altLang="en-US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F1AC9E1-48AB-1D6E-A42E-E25E959769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B13E8C6-2D47-3017-3392-14FEF9D91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16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E773573-40F5-AA74-B597-9CF8D41829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3357" y="1866257"/>
            <a:ext cx="4630644" cy="3913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7062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 txBox="1"/>
          <p:nvPr/>
        </p:nvSpPr>
        <p:spPr>
          <a:xfrm>
            <a:off x="1377311" y="132772"/>
            <a:ext cx="8100392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j-cs"/>
              </a:rPr>
              <a:t> Exercises 1. Makefile and make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5614230" y="4308944"/>
            <a:ext cx="3863473" cy="204740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000CC"/>
            </a:solidFill>
          </a:ln>
        </p:spPr>
        <p:txBody>
          <a:bodyPr wrap="square" rtlCol="0">
            <a:noAutofit/>
          </a:bodyPr>
          <a:lstStyle/>
          <a:p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/* </a:t>
            </a:r>
            <a:r>
              <a:rPr lang="en-US" altLang="zh-CN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printhello.cpp</a:t>
            </a: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*/</a:t>
            </a:r>
          </a:p>
          <a:p>
            <a:r>
              <a:rPr lang="en" altLang="zh-CN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&lt;iostream&gt;</a:t>
            </a:r>
          </a:p>
          <a:p>
            <a:r>
              <a:rPr lang="en" altLang="zh-CN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#include "</a:t>
            </a:r>
            <a:r>
              <a:rPr lang="en" altLang="zh-CN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functions.h</a:t>
            </a:r>
            <a:r>
              <a:rPr lang="en" altLang="zh-CN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r>
              <a:rPr lang="en" altLang="zh-CN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using namespace std;</a:t>
            </a:r>
          </a:p>
          <a:p>
            <a:r>
              <a:rPr lang="en" altLang="zh-CN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" altLang="zh-CN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printhello</a:t>
            </a:r>
            <a:r>
              <a:rPr lang="en" altLang="zh-CN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" altLang="zh-CN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" altLang="zh-CN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int </a:t>
            </a:r>
            <a:r>
              <a:rPr lang="en" altLang="zh-CN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" altLang="zh-CN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0;</a:t>
            </a:r>
          </a:p>
          <a:p>
            <a:r>
              <a:rPr lang="en" altLang="zh-CN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" altLang="zh-CN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" altLang="zh-CN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"Hello World!" &lt;&lt; </a:t>
            </a:r>
            <a:r>
              <a:rPr lang="en" altLang="zh-CN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" altLang="zh-CN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" altLang="zh-CN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9160DA9-0648-2761-1B2A-9AC0C52FFDC3}"/>
              </a:ext>
            </a:extLst>
          </p:cNvPr>
          <p:cNvSpPr txBox="1"/>
          <p:nvPr/>
        </p:nvSpPr>
        <p:spPr>
          <a:xfrm>
            <a:off x="1611664" y="2141179"/>
            <a:ext cx="6873871" cy="203710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000CC"/>
            </a:solidFill>
          </a:ln>
        </p:spPr>
        <p:txBody>
          <a:bodyPr wrap="square" rtlCol="0">
            <a:noAutofit/>
          </a:bodyPr>
          <a:lstStyle/>
          <a:p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/* </a:t>
            </a:r>
            <a:r>
              <a:rPr lang="en-US" altLang="zh-CN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main.cpp</a:t>
            </a: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*/</a:t>
            </a:r>
          </a:p>
          <a:p>
            <a:r>
              <a:rPr lang="en" altLang="zh-CN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&lt;iostream&gt;</a:t>
            </a:r>
          </a:p>
          <a:p>
            <a:r>
              <a:rPr lang="en" altLang="zh-CN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#include "</a:t>
            </a:r>
            <a:r>
              <a:rPr lang="en" altLang="zh-CN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functions.h</a:t>
            </a:r>
            <a:r>
              <a:rPr lang="en" altLang="zh-CN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r>
              <a:rPr lang="en" altLang="zh-CN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using namespace std;</a:t>
            </a:r>
          </a:p>
          <a:p>
            <a:r>
              <a:rPr lang="en" altLang="zh-CN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int main()</a:t>
            </a:r>
          </a:p>
          <a:p>
            <a:r>
              <a:rPr lang="en" altLang="zh-CN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" altLang="zh-CN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" altLang="zh-CN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printhello</a:t>
            </a:r>
            <a:r>
              <a:rPr lang="en" altLang="zh-CN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" altLang="zh-CN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" altLang="zh-CN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" altLang="zh-CN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"This is main:" &lt;&lt; </a:t>
            </a:r>
            <a:r>
              <a:rPr lang="en" altLang="zh-CN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" altLang="zh-CN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" altLang="zh-CN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" altLang="zh-CN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" altLang="zh-CN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"The factorial of 5 is: " &lt;&lt; factorial(5) &lt;&lt; </a:t>
            </a:r>
            <a:r>
              <a:rPr lang="en" altLang="zh-CN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" altLang="zh-CN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" altLang="zh-CN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 0;</a:t>
            </a:r>
          </a:p>
          <a:p>
            <a:r>
              <a:rPr lang="en" altLang="zh-CN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7BA4094-DF00-0DE1-0BFA-05A11E785F16}"/>
              </a:ext>
            </a:extLst>
          </p:cNvPr>
          <p:cNvSpPr txBox="1"/>
          <p:nvPr/>
        </p:nvSpPr>
        <p:spPr>
          <a:xfrm>
            <a:off x="1611665" y="875388"/>
            <a:ext cx="2427704" cy="113512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000CC"/>
            </a:solidFill>
          </a:ln>
        </p:spPr>
        <p:txBody>
          <a:bodyPr wrap="square" rtlCol="0">
            <a:noAutofit/>
          </a:bodyPr>
          <a:lstStyle/>
          <a:p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/* </a:t>
            </a:r>
            <a:r>
              <a:rPr lang="en-US" altLang="zh-CN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functions.h</a:t>
            </a: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*/</a:t>
            </a:r>
          </a:p>
          <a:p>
            <a:r>
              <a:rPr lang="en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en" altLang="zh-CN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ifndef</a:t>
            </a:r>
            <a:r>
              <a:rPr lang="en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_FUNCTIONS_H_</a:t>
            </a:r>
          </a:p>
          <a:p>
            <a:r>
              <a:rPr lang="en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#define _FUNCTIONS_H_</a:t>
            </a:r>
          </a:p>
          <a:p>
            <a:r>
              <a:rPr lang="en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" altLang="zh-CN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printhello</a:t>
            </a:r>
            <a:r>
              <a:rPr lang="en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int factorial(int n);</a:t>
            </a:r>
          </a:p>
          <a:p>
            <a:r>
              <a:rPr lang="en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#endif</a:t>
            </a:r>
          </a:p>
          <a:p>
            <a:endParaRPr lang="en" altLang="zh-CN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C739AAC-68F4-6F36-951E-6CE4CA17EE6D}"/>
              </a:ext>
            </a:extLst>
          </p:cNvPr>
          <p:cNvSpPr txBox="1"/>
          <p:nvPr/>
        </p:nvSpPr>
        <p:spPr>
          <a:xfrm>
            <a:off x="1611664" y="4308944"/>
            <a:ext cx="3863473" cy="204740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000CC"/>
            </a:solidFill>
          </a:ln>
        </p:spPr>
        <p:txBody>
          <a:bodyPr wrap="square" rtlCol="0">
            <a:noAutofit/>
          </a:bodyPr>
          <a:lstStyle/>
          <a:p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/* </a:t>
            </a:r>
            <a:r>
              <a:rPr lang="en-US" altLang="zh-CN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factorial.cpp</a:t>
            </a: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*/</a:t>
            </a:r>
          </a:p>
          <a:p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#include "</a:t>
            </a:r>
            <a:r>
              <a:rPr lang="en-US" altLang="zh-CN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functions.h</a:t>
            </a: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int factorial(int n)</a:t>
            </a:r>
          </a:p>
          <a:p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if (n == 1)</a:t>
            </a:r>
          </a:p>
          <a:p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1;</a:t>
            </a:r>
          </a:p>
          <a:p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else</a:t>
            </a:r>
          </a:p>
          <a:p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n * factorial(n - 1);</a:t>
            </a:r>
          </a:p>
          <a:p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altLang="zh-CN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437C3516-94E9-AE43-B418-6622019BDC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9400" y="812456"/>
            <a:ext cx="2072373" cy="1751301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31650636-3A28-5F89-896C-30866D4C96A1}"/>
              </a:ext>
            </a:extLst>
          </p:cNvPr>
          <p:cNvSpPr txBox="1"/>
          <p:nvPr/>
        </p:nvSpPr>
        <p:spPr>
          <a:xfrm>
            <a:off x="8610600" y="893724"/>
            <a:ext cx="349668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  <a:sym typeface="+mn-ea"/>
              </a:rPr>
              <a:t>Write a simple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  <a:sym typeface="+mn-ea"/>
              </a:rPr>
              <a:t>Makefile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  <a:sym typeface="+mn-ea"/>
              </a:rPr>
              <a:t>, which can: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  <a:sym typeface="+mn-ea"/>
              </a:rPr>
              <a:t>Generate object files.</a:t>
            </a: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en-US" altLang="zh-CN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  <a:sym typeface="+mn-ea"/>
              </a:rPr>
              <a:t>Generate </a:t>
            </a:r>
            <a:r>
              <a:rPr lang="en-US" altLang="zh-CN" dirty="0">
                <a:solidFill>
                  <a:prstClr val="black"/>
                </a:solidFill>
                <a:sym typeface="+mn-ea"/>
              </a:rPr>
              <a:t>an executable </a:t>
            </a:r>
            <a:r>
              <a:rPr lang="en-US" altLang="zh-CN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  <a:sym typeface="+mn-ea"/>
              </a:rPr>
              <a:t>file.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  <a:sym typeface="+mn-ea"/>
              </a:rPr>
              <a:t>Remove all generated files by running “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  <a:sym typeface="+mn-ea"/>
              </a:rPr>
              <a:t>make clean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  <a:sym typeface="+mn-ea"/>
              </a:rPr>
              <a:t>”.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 txBox="1"/>
          <p:nvPr/>
        </p:nvSpPr>
        <p:spPr>
          <a:xfrm>
            <a:off x="1377311" y="508057"/>
            <a:ext cx="8100392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j-cs"/>
              </a:rPr>
              <a:t> Exercises</a:t>
            </a:r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833755" y="1150621"/>
            <a:ext cx="9568594" cy="120668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2400" dirty="0"/>
              <a:t>2. Run the following source code and explain the result.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979712" y="1938042"/>
            <a:ext cx="5209654" cy="246221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&lt;iostream&gt;</a:t>
            </a:r>
          </a:p>
          <a:p>
            <a:r>
              <a:rPr lang="en-US" altLang="zh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using namespace std;</a:t>
            </a:r>
          </a:p>
          <a:p>
            <a:endParaRPr lang="en-US" altLang="zh-CN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int main()</a:t>
            </a:r>
          </a:p>
          <a:p>
            <a:r>
              <a:rPr lang="en-US" altLang="zh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altLang="zh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for(</a:t>
            </a:r>
            <a:r>
              <a:rPr lang="en-US" altLang="zh-CN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size_t</a:t>
            </a:r>
            <a:r>
              <a:rPr lang="en-US" altLang="zh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n = 2; n &gt;= 0; n--)</a:t>
            </a:r>
          </a:p>
          <a:p>
            <a:r>
              <a:rPr lang="en-US" altLang="zh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zh-CN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zh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"n = " &lt;&lt; n &lt;&lt; "  "; </a:t>
            </a:r>
            <a:endParaRPr lang="en-US" altLang="zh-CN" sz="14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altLang="zh-CN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 0;</a:t>
            </a:r>
          </a:p>
          <a:p>
            <a:r>
              <a:rPr lang="en-US" altLang="zh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r>
              <a:rPr lang="en-US" altLang="zh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zh-CN" alt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3574415" y="653605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 txBox="1"/>
          <p:nvPr/>
        </p:nvSpPr>
        <p:spPr>
          <a:xfrm>
            <a:off x="1377311" y="508057"/>
            <a:ext cx="8100392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j-cs"/>
              </a:rPr>
              <a:t> Exercises</a:t>
            </a:r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833946" y="1150641"/>
            <a:ext cx="9350289" cy="5439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dirty="0"/>
              <a:t>3. Run the following source code and explain the result.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588048" y="1763305"/>
            <a:ext cx="6373104" cy="353943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&lt;iostream&gt;</a:t>
            </a:r>
          </a:p>
          <a:p>
            <a:r>
              <a:rPr lang="en-US" altLang="zh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using namespace std;</a:t>
            </a:r>
          </a:p>
          <a:p>
            <a:endParaRPr lang="en-US" altLang="zh-CN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int main()</a:t>
            </a:r>
          </a:p>
          <a:p>
            <a:r>
              <a:rPr lang="en-US" altLang="zh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altLang="zh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int </a:t>
            </a:r>
            <a:r>
              <a:rPr lang="en-US" altLang="zh-CN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n,fa</a:t>
            </a:r>
            <a:r>
              <a:rPr lang="en-US" altLang="zh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endParaRPr lang="en-US" altLang="zh-CN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do{</a:t>
            </a:r>
          </a:p>
          <a:p>
            <a:r>
              <a:rPr lang="en-US" altLang="zh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fa *= n;</a:t>
            </a:r>
          </a:p>
          <a:p>
            <a:r>
              <a:rPr lang="en-US" altLang="zh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n++;</a:t>
            </a:r>
          </a:p>
          <a:p>
            <a:r>
              <a:rPr lang="en-US" altLang="zh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}while(n &lt;= 10);</a:t>
            </a:r>
          </a:p>
          <a:p>
            <a:endParaRPr lang="en-US" altLang="zh-CN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CN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zh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"fa = " &lt;&lt; fa &lt;&lt; </a:t>
            </a:r>
            <a:r>
              <a:rPr lang="en-US" altLang="zh-CN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altLang="zh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endParaRPr lang="en-US" altLang="zh-CN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 0;</a:t>
            </a:r>
          </a:p>
          <a:p>
            <a:r>
              <a:rPr lang="en-US" altLang="zh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zh-CN" alt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19</a:t>
            </a:fld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782*336"/>
  <p:tag name="TABLE_ENDDRAG_RECT" val="96*131*782*336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652</TotalTime>
  <Words>1760</Words>
  <Application>Microsoft Macintosh PowerPoint</Application>
  <PresentationFormat>宽屏</PresentationFormat>
  <Paragraphs>255</Paragraphs>
  <Slides>19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19</vt:i4>
      </vt:variant>
    </vt:vector>
  </HeadingPairs>
  <TitlesOfParts>
    <vt:vector size="29" baseType="lpstr">
      <vt:lpstr>等线</vt:lpstr>
      <vt:lpstr>宋体</vt:lpstr>
      <vt:lpstr>Arial</vt:lpstr>
      <vt:lpstr>Calibri</vt:lpstr>
      <vt:lpstr>Courier New</vt:lpstr>
      <vt:lpstr>Franklin Gothic Demi</vt:lpstr>
      <vt:lpstr>Franklin Gothic Medium</vt:lpstr>
      <vt:lpstr>Wingdings</vt:lpstr>
      <vt:lpstr>Office 主题</vt:lpstr>
      <vt:lpstr>1_Office 主题</vt:lpstr>
      <vt:lpstr>Advanced Programming </vt:lpstr>
      <vt:lpstr>topics</vt:lpstr>
      <vt:lpstr>1. Commands in Linux</vt:lpstr>
      <vt:lpstr>Absolute path and relative path</vt:lpstr>
      <vt:lpstr>1.2 lists of commands, pipelines</vt:lpstr>
      <vt:lpstr>1.2 lists of commands, pipelines</vt:lpstr>
      <vt:lpstr>TIPS: Shortcut keys</vt:lpstr>
      <vt:lpstr>gcc &amp; g++</vt:lpstr>
      <vt:lpstr>gcc &amp; g++</vt:lpstr>
      <vt:lpstr>gcc &amp; g++</vt:lpstr>
      <vt:lpstr>gcc &amp; g++</vt:lpstr>
      <vt:lpstr>Makefile</vt:lpstr>
      <vt:lpstr>PowerPoint 演示文稿</vt:lpstr>
      <vt:lpstr>PowerPoint 演示文稿</vt:lpstr>
      <vt:lpstr>PowerPoint 演示文稿</vt:lpstr>
      <vt:lpstr>Makefile example</vt:lpstr>
      <vt:lpstr>PowerPoint 演示文稿</vt:lpstr>
      <vt:lpstr>PowerPoint 演示文稿</vt:lpstr>
      <vt:lpstr>PowerPoint 演示文稿</vt:lpstr>
    </vt:vector>
  </TitlesOfParts>
  <Company>Southern University of Science and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C/C++ Program Design</dc:title>
  <dc:creator>Shiqi Yu</dc:creator>
  <cp:lastModifiedBy>Shiqi Yu</cp:lastModifiedBy>
  <cp:revision>563</cp:revision>
  <dcterms:created xsi:type="dcterms:W3CDTF">2020-09-05T08:11:00Z</dcterms:created>
  <dcterms:modified xsi:type="dcterms:W3CDTF">2026-03-16T08:57:37Z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1020FBD0A2DE4B158AC0D56B428D2390_13</vt:lpwstr>
  </property>
  <property fmtid="{D5CDD505-2E9C-101B-9397-08002B2CF9AE}" pid="3" name="KSOProductBuildVer">
    <vt:lpwstr>2052-12.1.0.20305</vt:lpwstr>
  </property>
</Properties>
</file>