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sldIdLst>
    <p:sldId id="256" r:id="rId2"/>
    <p:sldId id="477" r:id="rId3"/>
    <p:sldId id="312" r:id="rId4"/>
    <p:sldId id="615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2262" autoAdjust="0"/>
    <p:restoredTop sz="94660"/>
  </p:normalViewPr>
  <p:slideViewPr>
    <p:cSldViewPr snapToGrid="0">
      <p:cViewPr varScale="1">
        <p:scale>
          <a:sx n="177" d="100"/>
          <a:sy n="177" d="100"/>
        </p:scale>
        <p:origin x="216" y="18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D9677D-AFDD-4D13-A50E-0F3357730A11}" type="datetimeFigureOut">
              <a:rPr lang="zh-CN" altLang="en-US" smtClean="0"/>
              <a:t>2026/3/2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A4C0DF-083E-486D-A298-AE3293F0662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81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wrap="square" numCol="1" anchor="t" anchorCtr="0" compatLnSpc="1"/>
          <a:lstStyle/>
          <a:p>
            <a:pPr marL="542925" indent="-542925" eaLnBrk="1" hangingPunct="1">
              <a:spcBef>
                <a:spcPct val="0"/>
              </a:spcBef>
            </a:pPr>
            <a:endParaRPr lang="en-US" altLang="zh-CN" dirty="0"/>
          </a:p>
        </p:txBody>
      </p:sp>
      <p:sp>
        <p:nvSpPr>
          <p:cNvPr id="247812" name="Slide Number Placeholder 3"/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CD5C04F1-088D-43BB-BF6A-7E5350A2ABBF}" type="slidenum">
              <a:rPr lang="en-US" altLang="zh-CN">
                <a:solidFill>
                  <a:prstClr val="black"/>
                </a:solidFill>
              </a:rPr>
              <a:t>3</a:t>
            </a:fld>
            <a:endParaRPr lang="en-US" altLang="zh-CN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81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wrap="square" numCol="1" anchor="t" anchorCtr="0" compatLnSpc="1"/>
          <a:lstStyle/>
          <a:p>
            <a:pPr marL="542925" indent="-542925" eaLnBrk="1" hangingPunct="1">
              <a:spcBef>
                <a:spcPct val="0"/>
              </a:spcBef>
            </a:pPr>
            <a:endParaRPr lang="en-US" altLang="zh-CN" dirty="0"/>
          </a:p>
        </p:txBody>
      </p:sp>
      <p:sp>
        <p:nvSpPr>
          <p:cNvPr id="247812" name="Slide Number Placeholder 3"/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CD5C04F1-088D-43BB-BF6A-7E5350A2ABBF}" type="slidenum">
              <a:rPr lang="en-US" altLang="zh-CN">
                <a:solidFill>
                  <a:prstClr val="black"/>
                </a:solidFill>
              </a:rPr>
              <a:t>4</a:t>
            </a:fld>
            <a:endParaRPr lang="en-US" altLang="zh-CN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534740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987522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9A4FA-3D9A-4114-B0D5-759CBD56F1AB}" type="datetimeFigureOut">
              <a:rPr lang="zh-CN" altLang="en-US" smtClean="0"/>
              <a:t>2026/3/2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618" t="38788" r="24589" b="40606"/>
          <a:stretch>
            <a:fillRect/>
          </a:stretch>
        </p:blipFill>
        <p:spPr>
          <a:xfrm>
            <a:off x="8610600" y="0"/>
            <a:ext cx="3515893" cy="100793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76479" y="264221"/>
            <a:ext cx="10515600" cy="833631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199" y="1326995"/>
            <a:ext cx="11053879" cy="4849968"/>
          </a:xfrm>
        </p:spPr>
        <p:txBody>
          <a:bodyPr/>
          <a:lstStyle>
            <a:lvl2pPr marL="914400" indent="-457200">
              <a:buFont typeface="Wingdings" panose="05000000000000000000" pitchFamily="2" charset="2"/>
              <a:buChar char="Ø"/>
              <a:defRPr/>
            </a:lvl2pPr>
            <a:lvl3pPr marL="1143000" indent="-228600">
              <a:buFont typeface="Wingdings" panose="05000000000000000000" pitchFamily="2" charset="2"/>
              <a:buChar char="ü"/>
              <a:defRPr/>
            </a:lvl3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9A4FA-3D9A-4114-B0D5-759CBD56F1AB}" type="datetimeFigureOut">
              <a:rPr lang="zh-CN" altLang="en-US" smtClean="0"/>
              <a:t>2026/3/2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7" name="图片 6"/>
          <p:cNvPicPr/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370" y="69174"/>
            <a:ext cx="1112400" cy="111168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24634" y="365125"/>
            <a:ext cx="9229165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9A4FA-3D9A-4114-B0D5-759CBD56F1AB}" type="datetimeFigureOut">
              <a:rPr lang="zh-CN" altLang="en-US" smtClean="0"/>
              <a:t>2026/3/2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9" name="图片 8"/>
          <p:cNvPicPr/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370" y="69174"/>
            <a:ext cx="1112400" cy="111168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10320" y="365125"/>
            <a:ext cx="9245067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9A4FA-3D9A-4114-B0D5-759CBD56F1AB}" type="datetimeFigureOut">
              <a:rPr lang="zh-CN" altLang="en-US" smtClean="0"/>
              <a:t>2026/3/2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11" name="图片 10"/>
          <p:cNvPicPr/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370" y="69174"/>
            <a:ext cx="1112400" cy="111168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9A4FA-3D9A-4114-B0D5-759CBD56F1AB}" type="datetimeFigureOut">
              <a:rPr lang="zh-CN" altLang="en-US" smtClean="0"/>
              <a:t>2026/3/2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8" name="图片 7"/>
          <p:cNvPicPr/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370" y="69174"/>
            <a:ext cx="1112400" cy="111168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9A4FA-3D9A-4114-B0D5-759CBD56F1AB}" type="datetimeFigureOut">
              <a:rPr lang="zh-CN" altLang="en-US" smtClean="0"/>
              <a:t>2026/3/2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9A4FA-3D9A-4114-B0D5-759CBD56F1AB}" type="datetimeFigureOut">
              <a:rPr lang="zh-CN" altLang="en-US" smtClean="0"/>
              <a:t>2026/3/2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9A4FA-3D9A-4114-B0D5-759CBD56F1AB}" type="datetimeFigureOut">
              <a:rPr lang="zh-CN" altLang="en-US" smtClean="0"/>
              <a:t>2026/3/2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9A4FA-3D9A-4114-B0D5-759CBD56F1AB}" type="datetimeFigureOut">
              <a:rPr lang="zh-CN" altLang="en-US" smtClean="0"/>
              <a:t>2026/3/2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9A4FA-3D9A-4114-B0D5-759CBD56F1AB}" type="datetimeFigureOut">
              <a:rPr lang="zh-CN" altLang="en-US" smtClean="0"/>
              <a:t>2026/3/2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9A4FA-3D9A-4114-B0D5-759CBD56F1AB}" type="datetimeFigureOut">
              <a:rPr lang="zh-CN" altLang="en-US" smtClean="0"/>
              <a:t>2026/3/2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1298448" y="365125"/>
            <a:ext cx="10055352" cy="8157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389888"/>
            <a:ext cx="10515600" cy="47870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1517904" y="6356350"/>
            <a:ext cx="206349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19A4FA-3D9A-4114-B0D5-759CBD56F1AB}" type="datetimeFigureOut">
              <a:rPr lang="zh-CN" altLang="en-US" smtClean="0"/>
              <a:t>2026/3/2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6F4176-339E-4C4B-80E4-BBE9C4467EFE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452950"/>
            <a:ext cx="1152144" cy="405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indent="-457200" algn="l" defTabSz="914400" rtl="0" eaLnBrk="1" latinLnBrk="0" hangingPunct="1">
        <a:lnSpc>
          <a:spcPct val="90000"/>
        </a:lnSpc>
        <a:spcBef>
          <a:spcPts val="500"/>
        </a:spcBef>
        <a:buFont typeface="Calibri" panose="020F0502020204030204" pitchFamily="34" charset="0"/>
        <a:buChar char="□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Ø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307592"/>
            <a:ext cx="9144000" cy="1772603"/>
          </a:xfrm>
        </p:spPr>
        <p:txBody>
          <a:bodyPr>
            <a:noAutofit/>
          </a:bodyPr>
          <a:lstStyle/>
          <a:p>
            <a:r>
              <a:rPr lang="en-US" altLang="zh-CN" b="1" dirty="0">
                <a:latin typeface="Franklin Gothic Demi" panose="020B0703020102020204" pitchFamily="34" charset="0"/>
              </a:rPr>
              <a:t>Advanced Programming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260035"/>
            <a:ext cx="9144000" cy="2767054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latin typeface="Franklin Gothic Medium" panose="020B0603020102020204" pitchFamily="34" charset="0"/>
                <a:sym typeface="+mn-ea"/>
              </a:rPr>
              <a:t>Lab 1, </a:t>
            </a:r>
            <a:r>
              <a:rPr lang="en-US" altLang="zh-CN" sz="3600" b="1" dirty="0">
                <a:latin typeface="Franklin Gothic Demi" panose="020B0703020102020204" pitchFamily="34" charset="0"/>
                <a:sym typeface="+mn-ea"/>
              </a:rPr>
              <a:t>C/C++ </a:t>
            </a:r>
            <a:r>
              <a:rPr lang="en-US" altLang="zh-CN" sz="3600" dirty="0">
                <a:latin typeface="Franklin Gothic Medium" panose="020B0603020102020204" pitchFamily="34" charset="0"/>
                <a:sym typeface="+mn-ea"/>
              </a:rPr>
              <a:t>environment configuration</a:t>
            </a:r>
            <a:endParaRPr lang="en-US" altLang="zh-CN" sz="3600" dirty="0">
              <a:latin typeface="Franklin Gothic Medium" panose="020B0603020102020204" pitchFamily="34" charset="0"/>
            </a:endParaRPr>
          </a:p>
          <a:p>
            <a:endParaRPr lang="en-US" altLang="zh-CN" dirty="0">
              <a:latin typeface="Franklin Gothic Medium" panose="020B0603020102020204" pitchFamily="34" charset="0"/>
            </a:endParaRPr>
          </a:p>
          <a:p>
            <a:r>
              <a:rPr lang="en-US" altLang="zh-CN" dirty="0">
                <a:latin typeface="Franklin Gothic Medium" panose="020B0603020102020204" pitchFamily="34" charset="0"/>
                <a:sym typeface="+mn-ea"/>
              </a:rPr>
              <a:t>Shiqi Yu</a:t>
            </a:r>
            <a:endParaRPr lang="en-US" altLang="zh-CN" dirty="0">
              <a:latin typeface="Franklin Gothic Medium" panose="020B0603020102020204" pitchFamily="34" charset="0"/>
            </a:endParaRPr>
          </a:p>
          <a:p>
            <a:endParaRPr lang="en-US" altLang="zh-CN" dirty="0">
              <a:latin typeface="Franklin Gothic Medium" panose="020B06030201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Topics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86871" y="1326995"/>
            <a:ext cx="11605207" cy="4849968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sym typeface="+mn-ea"/>
              </a:rPr>
              <a:t>Install C and C++ compilers</a:t>
            </a:r>
            <a:endParaRPr lang="en-US" altLang="zh-CN" sz="2800" dirty="0"/>
          </a:p>
          <a:p>
            <a:pPr marL="971550" lvl="1" indent="-285750">
              <a:buFont typeface="Arial" panose="020B0604020202020204" pitchFamily="34" charset="0"/>
              <a:buChar char="•"/>
            </a:pPr>
            <a:r>
              <a:rPr lang="en-US" altLang="zh-CN" dirty="0">
                <a:sym typeface="+mn-ea"/>
              </a:rPr>
              <a:t>Windows: WSL, and then install </a:t>
            </a:r>
            <a:r>
              <a:rPr lang="en-US" altLang="zh-CN" dirty="0" err="1">
                <a:sym typeface="+mn-ea"/>
              </a:rPr>
              <a:t>gcc</a:t>
            </a:r>
            <a:r>
              <a:rPr lang="en-US" altLang="zh-CN" dirty="0">
                <a:sym typeface="+mn-ea"/>
              </a:rPr>
              <a:t>/g++ in WSL</a:t>
            </a:r>
          </a:p>
          <a:p>
            <a:pPr marL="971550" lvl="1" indent="-285750">
              <a:buFont typeface="Arial" panose="020B0604020202020204" pitchFamily="34" charset="0"/>
              <a:buChar char="•"/>
            </a:pPr>
            <a:r>
              <a:rPr lang="en-US" altLang="zh-CN" dirty="0">
                <a:sym typeface="+mn-ea"/>
              </a:rPr>
              <a:t>macOS: clang</a:t>
            </a:r>
          </a:p>
          <a:p>
            <a:pPr marL="971550" lvl="1" indent="-285750">
              <a:buFont typeface="Arial" panose="020B0604020202020204" pitchFamily="34" charset="0"/>
              <a:buChar char="•"/>
            </a:pPr>
            <a:r>
              <a:rPr lang="en-US" altLang="zh-CN" dirty="0">
                <a:sym typeface="+mn-ea"/>
              </a:rPr>
              <a:t>Linux: </a:t>
            </a:r>
            <a:r>
              <a:rPr lang="en-US" altLang="zh-CN" dirty="0" err="1">
                <a:sym typeface="+mn-ea"/>
              </a:rPr>
              <a:t>gcc</a:t>
            </a:r>
            <a:r>
              <a:rPr lang="en-US" altLang="zh-CN" dirty="0">
                <a:sym typeface="+mn-ea"/>
              </a:rPr>
              <a:t>/g++ or clang</a:t>
            </a:r>
          </a:p>
          <a:p>
            <a:pPr marL="285750" indent="-285750"/>
            <a:r>
              <a:rPr lang="en-US" altLang="zh-CN" dirty="0">
                <a:sym typeface="+mn-ea"/>
              </a:rPr>
              <a:t>Verify your compilers</a:t>
            </a:r>
          </a:p>
          <a:p>
            <a:pPr marL="971550" lvl="1" indent="-285750"/>
            <a:r>
              <a:rPr lang="en-US" altLang="zh-CN" dirty="0">
                <a:sym typeface="+mn-ea"/>
              </a:rPr>
              <a:t>Example</a:t>
            </a:r>
          </a:p>
          <a:p>
            <a:pPr marL="285750" indent="-285750"/>
            <a:endParaRPr lang="en-US" altLang="zh-CN" dirty="0">
              <a:sym typeface="+mn-ea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2F897E0-5112-97B3-50A6-6FD2830EE1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4200" y="4171626"/>
            <a:ext cx="6034200" cy="212088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/>
          <p:cNvSpPr>
            <a:spLocks noGrp="1"/>
          </p:cNvSpPr>
          <p:nvPr>
            <p:ph type="title"/>
          </p:nvPr>
        </p:nvSpPr>
        <p:spPr>
          <a:xfrm>
            <a:off x="1438600" y="309923"/>
            <a:ext cx="8100392" cy="685800"/>
          </a:xfrm>
        </p:spPr>
        <p:txBody>
          <a:bodyPr>
            <a:noAutofit/>
          </a:bodyPr>
          <a:lstStyle/>
          <a:p>
            <a:r>
              <a:rPr lang="en-US" altLang="zh-CN" sz="3600" b="1" dirty="0">
                <a:solidFill>
                  <a:prstClr val="black"/>
                </a:solidFill>
                <a:latin typeface="+mn-lt"/>
                <a:ea typeface="+mn-ea"/>
                <a:cs typeface="+mn-cs"/>
              </a:rPr>
              <a:t>Exercises 1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896984" y="1196340"/>
            <a:ext cx="10772502" cy="181588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1"/>
            <a:r>
              <a:rPr lang="en-US" altLang="zh-CN" sz="2800" dirty="0"/>
              <a:t>Write a </a:t>
            </a:r>
            <a:r>
              <a:rPr lang="en-US" altLang="zh-CN" sz="2800" dirty="0">
                <a:solidFill>
                  <a:srgbClr val="C00000"/>
                </a:solidFill>
              </a:rPr>
              <a:t>C program </a:t>
            </a:r>
            <a:r>
              <a:rPr lang="en-US" altLang="zh-CN" sz="2800" dirty="0"/>
              <a:t>that initializes three double-precision floating-point variables with the values 0.1, 0.2, and 0.3, respectively. Then, use the </a:t>
            </a:r>
            <a:r>
              <a:rPr lang="en-US" altLang="zh-CN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fprintf</a:t>
            </a:r>
            <a:r>
              <a:rPr lang="en-US" altLang="zh-CN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altLang="zh-CN" sz="2800" dirty="0"/>
              <a:t>function to print each variable to standard output, formatting them to display exactly two decimal places.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FF91426-AF9A-EB83-7028-26740112C4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4198" y="3575776"/>
            <a:ext cx="8310552" cy="117910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/>
          <p:cNvSpPr>
            <a:spLocks noGrp="1"/>
          </p:cNvSpPr>
          <p:nvPr>
            <p:ph type="title"/>
          </p:nvPr>
        </p:nvSpPr>
        <p:spPr>
          <a:xfrm>
            <a:off x="1438600" y="309923"/>
            <a:ext cx="8100392" cy="685800"/>
          </a:xfrm>
        </p:spPr>
        <p:txBody>
          <a:bodyPr>
            <a:noAutofit/>
          </a:bodyPr>
          <a:lstStyle/>
          <a:p>
            <a:r>
              <a:rPr lang="en-US" altLang="zh-CN" sz="3600" b="1" dirty="0">
                <a:solidFill>
                  <a:prstClr val="black"/>
                </a:solidFill>
                <a:latin typeface="+mn-lt"/>
                <a:ea typeface="+mn-ea"/>
                <a:cs typeface="+mn-cs"/>
              </a:rPr>
              <a:t>Exercises 2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1135160" y="831542"/>
            <a:ext cx="10996839" cy="193899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2000" dirty="0"/>
              <a:t>Put the provided code into three files, then compile and link them to produce an executable. Identify and fix any bugs that may be present in the code.</a:t>
            </a:r>
          </a:p>
          <a:p>
            <a:r>
              <a:rPr lang="en-US" altLang="zh-CN" sz="2000" b="1" dirty="0"/>
              <a:t>Steps:</a:t>
            </a:r>
          </a:p>
          <a:p>
            <a:r>
              <a:rPr lang="en-US" altLang="zh-CN" sz="2000" dirty="0"/>
              <a:t>1.</a:t>
            </a:r>
            <a:r>
              <a:rPr lang="zh-CN" altLang="en-US" sz="2000" dirty="0"/>
              <a:t> </a:t>
            </a:r>
            <a:r>
              <a:rPr lang="en-US" altLang="zh-CN" sz="2000" dirty="0"/>
              <a:t>Compile </a:t>
            </a:r>
            <a:r>
              <a:rPr lang="en-US" altLang="zh-CN" sz="2000" dirty="0" err="1"/>
              <a:t>main.cpp</a:t>
            </a:r>
            <a:r>
              <a:rPr lang="zh-CN" altLang="en-US" sz="2000" dirty="0"/>
              <a:t> </a:t>
            </a:r>
            <a:r>
              <a:rPr lang="en-US" altLang="zh-CN" sz="2000" dirty="0"/>
              <a:t>into an object file.</a:t>
            </a:r>
          </a:p>
          <a:p>
            <a:r>
              <a:rPr lang="en-US" altLang="zh-CN" sz="2000" dirty="0"/>
              <a:t>2.</a:t>
            </a:r>
            <a:r>
              <a:rPr lang="zh-CN" altLang="en-US" sz="2000" dirty="0"/>
              <a:t> </a:t>
            </a:r>
            <a:r>
              <a:rPr lang="en-US" altLang="zh-CN" sz="2000" dirty="0"/>
              <a:t>Compile </a:t>
            </a:r>
            <a:r>
              <a:rPr lang="en-US" altLang="zh-CN" sz="2000" dirty="0" err="1"/>
              <a:t>add.cpp</a:t>
            </a:r>
            <a:r>
              <a:rPr lang="zh-CN" altLang="en-US" sz="2000" dirty="0"/>
              <a:t> </a:t>
            </a:r>
            <a:r>
              <a:rPr lang="en-US" altLang="zh-CN" sz="2000" dirty="0"/>
              <a:t>into an object file.</a:t>
            </a:r>
          </a:p>
          <a:p>
            <a:r>
              <a:rPr lang="en-US" altLang="zh-CN" sz="2000" dirty="0"/>
              <a:t>3.</a:t>
            </a:r>
            <a:r>
              <a:rPr lang="zh-CN" altLang="en-US" sz="2000" dirty="0"/>
              <a:t> </a:t>
            </a:r>
            <a:r>
              <a:rPr lang="en-US" altLang="zh-CN" sz="2000" dirty="0"/>
              <a:t>Link the two object files to generate the final executable.</a:t>
            </a:r>
          </a:p>
        </p:txBody>
      </p:sp>
      <p:sp>
        <p:nvSpPr>
          <p:cNvPr id="6" name="内容占位符 2"/>
          <p:cNvSpPr>
            <a:spLocks noGrp="1"/>
          </p:cNvSpPr>
          <p:nvPr>
            <p:ph idx="1"/>
          </p:nvPr>
        </p:nvSpPr>
        <p:spPr>
          <a:xfrm>
            <a:off x="1237861" y="3254587"/>
            <a:ext cx="4427425" cy="3497555"/>
          </a:xfrm>
          <a:solidFill>
            <a:schemeClr val="accent5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CN" sz="1100" dirty="0">
                <a:solidFill>
                  <a:srgbClr val="AF00DB"/>
                </a:solidFill>
                <a:latin typeface="Menlo" panose="020B0609030804020204" pitchFamily="49" charset="0"/>
              </a:rPr>
              <a:t>#include</a:t>
            </a:r>
            <a:r>
              <a:rPr lang="en-US" altLang="zh-CN" sz="1100" dirty="0">
                <a:solidFill>
                  <a:srgbClr val="0000FF"/>
                </a:solidFill>
                <a:latin typeface="Menlo" panose="020B0609030804020204" pitchFamily="49" charset="0"/>
              </a:rPr>
              <a:t> </a:t>
            </a:r>
            <a:r>
              <a:rPr lang="en-US" altLang="zh-CN" sz="1100" dirty="0">
                <a:solidFill>
                  <a:srgbClr val="A31515"/>
                </a:solidFill>
                <a:latin typeface="Menlo" panose="020B0609030804020204" pitchFamily="49" charset="0"/>
              </a:rPr>
              <a:t>&lt;iostream&gt;</a:t>
            </a:r>
            <a:endParaRPr lang="en-US" altLang="zh-CN" sz="11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en-US" altLang="zh-CN" sz="1100" dirty="0">
                <a:solidFill>
                  <a:srgbClr val="AF00DB"/>
                </a:solidFill>
                <a:latin typeface="Menlo" panose="020B0609030804020204" pitchFamily="49" charset="0"/>
              </a:rPr>
              <a:t>#include</a:t>
            </a:r>
            <a:r>
              <a:rPr lang="en-US" altLang="zh-CN" sz="1100" dirty="0">
                <a:solidFill>
                  <a:srgbClr val="0000FF"/>
                </a:solidFill>
                <a:latin typeface="Menlo" panose="020B0609030804020204" pitchFamily="49" charset="0"/>
              </a:rPr>
              <a:t> </a:t>
            </a:r>
            <a:r>
              <a:rPr lang="en-US" altLang="zh-CN" sz="1100" dirty="0">
                <a:solidFill>
                  <a:srgbClr val="A31515"/>
                </a:solidFill>
                <a:latin typeface="Menlo" panose="020B0609030804020204" pitchFamily="49" charset="0"/>
              </a:rPr>
              <a:t>"</a:t>
            </a:r>
            <a:r>
              <a:rPr lang="en-US" altLang="zh-CN" sz="1100" dirty="0" err="1">
                <a:solidFill>
                  <a:srgbClr val="A31515"/>
                </a:solidFill>
                <a:latin typeface="Menlo" panose="020B0609030804020204" pitchFamily="49" charset="0"/>
              </a:rPr>
              <a:t>Add.h</a:t>
            </a:r>
            <a:r>
              <a:rPr lang="en-US" altLang="zh-CN" sz="1100" dirty="0">
                <a:solidFill>
                  <a:srgbClr val="A31515"/>
                </a:solidFill>
                <a:latin typeface="Menlo" panose="020B0609030804020204" pitchFamily="49" charset="0"/>
              </a:rPr>
              <a:t>"</a:t>
            </a:r>
            <a:endParaRPr lang="en-US" altLang="zh-CN" sz="11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br>
              <a:rPr lang="en-US" altLang="zh-CN" sz="1100" dirty="0">
                <a:solidFill>
                  <a:srgbClr val="000000"/>
                </a:solidFill>
                <a:latin typeface="Menlo" panose="020B0609030804020204" pitchFamily="49" charset="0"/>
              </a:rPr>
            </a:br>
            <a:r>
              <a:rPr lang="en-US" altLang="zh-CN" sz="1100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en-US" altLang="zh-CN" sz="11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altLang="zh-CN" sz="1100" dirty="0">
                <a:solidFill>
                  <a:srgbClr val="795E26"/>
                </a:solidFill>
                <a:latin typeface="Menlo" panose="020B0609030804020204" pitchFamily="49" charset="0"/>
              </a:rPr>
              <a:t>main</a:t>
            </a:r>
            <a:r>
              <a:rPr lang="en-US" altLang="zh-CN" sz="1100" dirty="0">
                <a:solidFill>
                  <a:srgbClr val="000000"/>
                </a:solidFill>
                <a:latin typeface="Menlo" panose="020B0609030804020204" pitchFamily="49" charset="0"/>
              </a:rPr>
              <a:t>()</a:t>
            </a:r>
          </a:p>
          <a:p>
            <a:pPr marL="0" indent="0">
              <a:buNone/>
            </a:pPr>
            <a:r>
              <a:rPr lang="en-US" altLang="zh-CN" sz="1100" dirty="0">
                <a:solidFill>
                  <a:srgbClr val="000000"/>
                </a:solidFill>
                <a:latin typeface="Menlo" panose="020B0609030804020204" pitchFamily="49" charset="0"/>
              </a:rPr>
              <a:t>{</a:t>
            </a:r>
          </a:p>
          <a:p>
            <a:pPr marL="0" indent="0">
              <a:buNone/>
            </a:pPr>
            <a:r>
              <a:rPr lang="en-US" altLang="zh-CN" sz="1100" dirty="0">
                <a:solidFill>
                  <a:srgbClr val="0000FF"/>
                </a:solidFill>
                <a:latin typeface="Menlo" panose="020B0609030804020204" pitchFamily="49" charset="0"/>
              </a:rPr>
              <a:t>    int</a:t>
            </a:r>
            <a:r>
              <a:rPr lang="en-US" altLang="zh-CN" sz="11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altLang="zh-CN" sz="1100" dirty="0">
                <a:solidFill>
                  <a:srgbClr val="001080"/>
                </a:solidFill>
                <a:latin typeface="Menlo" panose="020B0609030804020204" pitchFamily="49" charset="0"/>
              </a:rPr>
              <a:t>num1</a:t>
            </a:r>
            <a:r>
              <a:rPr lang="en-US" altLang="zh-CN" sz="1100" dirty="0">
                <a:solidFill>
                  <a:srgbClr val="000000"/>
                </a:solidFill>
                <a:latin typeface="Menlo" panose="020B0609030804020204" pitchFamily="49" charset="0"/>
              </a:rPr>
              <a:t> =</a:t>
            </a:r>
            <a:r>
              <a:rPr lang="zh-CN" altLang="en-US" sz="1100" dirty="0">
                <a:solidFill>
                  <a:srgbClr val="000000"/>
                </a:solidFill>
                <a:latin typeface="Menlo" panose="020B0609030804020204" pitchFamily="49" charset="0"/>
              </a:rPr>
              <a:t>　</a:t>
            </a:r>
            <a:r>
              <a:rPr lang="en-US" altLang="zh-CN" sz="1100" dirty="0">
                <a:solidFill>
                  <a:srgbClr val="098658"/>
                </a:solidFill>
                <a:latin typeface="Menlo" panose="020B0609030804020204" pitchFamily="49" charset="0"/>
              </a:rPr>
              <a:t>2147483647</a:t>
            </a:r>
            <a:r>
              <a:rPr lang="en-US" altLang="zh-CN" sz="1100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pPr marL="0" indent="0">
              <a:buNone/>
            </a:pPr>
            <a:r>
              <a:rPr lang="en-US" altLang="zh-CN" sz="1100" dirty="0">
                <a:solidFill>
                  <a:srgbClr val="0000FF"/>
                </a:solidFill>
                <a:latin typeface="Menlo" panose="020B0609030804020204" pitchFamily="49" charset="0"/>
              </a:rPr>
              <a:t>    int</a:t>
            </a:r>
            <a:r>
              <a:rPr lang="en-US" altLang="zh-CN" sz="11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altLang="zh-CN" sz="1100" dirty="0">
                <a:solidFill>
                  <a:srgbClr val="001080"/>
                </a:solidFill>
                <a:latin typeface="Menlo" panose="020B0609030804020204" pitchFamily="49" charset="0"/>
              </a:rPr>
              <a:t>num2</a:t>
            </a:r>
            <a:r>
              <a:rPr lang="en-US" altLang="zh-CN" sz="1100" dirty="0">
                <a:solidFill>
                  <a:srgbClr val="000000"/>
                </a:solidFill>
                <a:latin typeface="Menlo" panose="020B0609030804020204" pitchFamily="49" charset="0"/>
              </a:rPr>
              <a:t> =</a:t>
            </a:r>
            <a:r>
              <a:rPr lang="zh-CN" altLang="en-US" sz="1100" dirty="0">
                <a:solidFill>
                  <a:srgbClr val="000000"/>
                </a:solidFill>
                <a:latin typeface="Menlo" panose="020B0609030804020204" pitchFamily="49" charset="0"/>
              </a:rPr>
              <a:t>　</a:t>
            </a:r>
            <a:r>
              <a:rPr lang="en-US" altLang="zh-CN" sz="1100" dirty="0">
                <a:solidFill>
                  <a:srgbClr val="098658"/>
                </a:solidFill>
                <a:latin typeface="Menlo" panose="020B0609030804020204" pitchFamily="49" charset="0"/>
              </a:rPr>
              <a:t>1</a:t>
            </a:r>
            <a:r>
              <a:rPr lang="en-US" altLang="zh-CN" sz="1100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pPr marL="0" indent="0">
              <a:buNone/>
            </a:pPr>
            <a:r>
              <a:rPr lang="en-US" altLang="zh-CN" sz="1100" dirty="0">
                <a:solidFill>
                  <a:srgbClr val="0000FF"/>
                </a:solidFill>
                <a:latin typeface="Menlo" panose="020B0609030804020204" pitchFamily="49" charset="0"/>
              </a:rPr>
              <a:t>    int</a:t>
            </a:r>
            <a:r>
              <a:rPr lang="en-US" altLang="zh-CN" sz="11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altLang="zh-CN" sz="1100" dirty="0">
                <a:solidFill>
                  <a:srgbClr val="001080"/>
                </a:solidFill>
                <a:latin typeface="Menlo" panose="020B0609030804020204" pitchFamily="49" charset="0"/>
              </a:rPr>
              <a:t>result</a:t>
            </a:r>
            <a:r>
              <a:rPr lang="en-US" altLang="zh-CN" sz="1100" dirty="0">
                <a:solidFill>
                  <a:srgbClr val="000000"/>
                </a:solidFill>
                <a:latin typeface="Menlo" panose="020B0609030804020204" pitchFamily="49" charset="0"/>
              </a:rPr>
              <a:t> =</a:t>
            </a:r>
            <a:r>
              <a:rPr lang="zh-CN" altLang="en-US" sz="1100" dirty="0">
                <a:solidFill>
                  <a:srgbClr val="000000"/>
                </a:solidFill>
                <a:latin typeface="Menlo" panose="020B0609030804020204" pitchFamily="49" charset="0"/>
              </a:rPr>
              <a:t>　</a:t>
            </a:r>
            <a:r>
              <a:rPr lang="en-US" altLang="zh-CN" sz="1100" dirty="0">
                <a:solidFill>
                  <a:srgbClr val="098658"/>
                </a:solidFill>
                <a:latin typeface="Menlo" panose="020B0609030804020204" pitchFamily="49" charset="0"/>
              </a:rPr>
              <a:t>0</a:t>
            </a:r>
            <a:r>
              <a:rPr lang="en-US" altLang="zh-CN" sz="1100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pPr marL="0" indent="0">
              <a:buNone/>
            </a:pPr>
            <a:br>
              <a:rPr lang="en-US" altLang="zh-CN" sz="1100" dirty="0">
                <a:solidFill>
                  <a:srgbClr val="000000"/>
                </a:solidFill>
                <a:latin typeface="Menlo" panose="020B0609030804020204" pitchFamily="49" charset="0"/>
              </a:rPr>
            </a:br>
            <a:r>
              <a:rPr lang="en-US" altLang="zh-CN" sz="1100" dirty="0">
                <a:solidFill>
                  <a:srgbClr val="000000"/>
                </a:solidFill>
                <a:latin typeface="Menlo" panose="020B0609030804020204" pitchFamily="49" charset="0"/>
              </a:rPr>
              <a:t>    </a:t>
            </a:r>
            <a:r>
              <a:rPr lang="en-US" altLang="zh-CN" sz="1100" dirty="0">
                <a:solidFill>
                  <a:srgbClr val="001080"/>
                </a:solidFill>
                <a:latin typeface="Menlo" panose="020B0609030804020204" pitchFamily="49" charset="0"/>
              </a:rPr>
              <a:t>result</a:t>
            </a:r>
            <a:r>
              <a:rPr lang="en-US" altLang="zh-CN" sz="1100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-US" altLang="zh-CN" sz="1100" dirty="0">
                <a:solidFill>
                  <a:srgbClr val="795E26"/>
                </a:solidFill>
                <a:latin typeface="Menlo" panose="020B0609030804020204" pitchFamily="49" charset="0"/>
              </a:rPr>
              <a:t>add</a:t>
            </a:r>
            <a:r>
              <a:rPr lang="en-US" altLang="zh-CN" sz="1100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altLang="zh-CN" sz="1100" dirty="0">
                <a:solidFill>
                  <a:srgbClr val="001080"/>
                </a:solidFill>
                <a:latin typeface="Menlo" panose="020B0609030804020204" pitchFamily="49" charset="0"/>
              </a:rPr>
              <a:t>num1</a:t>
            </a:r>
            <a:r>
              <a:rPr lang="en-US" altLang="zh-CN" sz="1100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-US" altLang="zh-CN" sz="1100" dirty="0">
                <a:solidFill>
                  <a:srgbClr val="001080"/>
                </a:solidFill>
                <a:latin typeface="Menlo" panose="020B0609030804020204" pitchFamily="49" charset="0"/>
              </a:rPr>
              <a:t>num2</a:t>
            </a:r>
            <a:r>
              <a:rPr lang="en-US" altLang="zh-CN" sz="1100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  <a:r>
              <a:rPr lang="zh-CN" altLang="en-US" sz="1100" dirty="0">
                <a:solidFill>
                  <a:srgbClr val="000000"/>
                </a:solidFill>
                <a:latin typeface="Menlo" panose="020B0609030804020204" pitchFamily="49" charset="0"/>
              </a:rPr>
              <a:t>；</a:t>
            </a:r>
          </a:p>
          <a:p>
            <a:pPr marL="0" indent="0">
              <a:buNone/>
            </a:pPr>
            <a:br>
              <a:rPr lang="zh-CN" altLang="en-US" sz="1100" dirty="0">
                <a:solidFill>
                  <a:srgbClr val="000000"/>
                </a:solidFill>
                <a:latin typeface="Menlo" panose="020B0609030804020204" pitchFamily="49" charset="0"/>
              </a:rPr>
            </a:br>
            <a:r>
              <a:rPr lang="en-US" altLang="zh-CN" sz="1100" dirty="0">
                <a:solidFill>
                  <a:srgbClr val="000000"/>
                </a:solidFill>
                <a:latin typeface="Menlo" panose="020B0609030804020204" pitchFamily="49" charset="0"/>
              </a:rPr>
              <a:t>    </a:t>
            </a:r>
            <a:r>
              <a:rPr lang="en-US" altLang="zh-CN" sz="1100" dirty="0" err="1">
                <a:solidFill>
                  <a:srgbClr val="000000"/>
                </a:solidFill>
                <a:latin typeface="Menlo" panose="020B0609030804020204" pitchFamily="49" charset="0"/>
              </a:rPr>
              <a:t>cout</a:t>
            </a:r>
            <a:r>
              <a:rPr lang="en-US" altLang="zh-CN" sz="1100" dirty="0">
                <a:solidFill>
                  <a:srgbClr val="000000"/>
                </a:solidFill>
                <a:latin typeface="Menlo" panose="020B0609030804020204" pitchFamily="49" charset="0"/>
              </a:rPr>
              <a:t> &lt;&lt; </a:t>
            </a:r>
            <a:r>
              <a:rPr lang="en-US" altLang="zh-CN" sz="1100" dirty="0">
                <a:solidFill>
                  <a:srgbClr val="A31515"/>
                </a:solidFill>
                <a:latin typeface="Menlo" panose="020B0609030804020204" pitchFamily="49" charset="0"/>
              </a:rPr>
              <a:t>“The result is ”</a:t>
            </a:r>
            <a:r>
              <a:rPr lang="en-US" altLang="zh-CN" sz="1100" dirty="0">
                <a:solidFill>
                  <a:srgbClr val="000000"/>
                </a:solidFill>
                <a:latin typeface="Menlo" panose="020B0609030804020204" pitchFamily="49" charset="0"/>
              </a:rPr>
              <a:t> &lt;&lt; result &lt;&lt; </a:t>
            </a:r>
            <a:r>
              <a:rPr lang="en-US" altLang="zh-CN" sz="1100" dirty="0" err="1">
                <a:solidFill>
                  <a:srgbClr val="000000"/>
                </a:solidFill>
                <a:latin typeface="Menlo" panose="020B0609030804020204" pitchFamily="49" charset="0"/>
              </a:rPr>
              <a:t>endl</a:t>
            </a:r>
            <a:r>
              <a:rPr lang="en-US" altLang="zh-CN" sz="1100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pPr marL="0" indent="0">
              <a:buNone/>
            </a:pPr>
            <a:r>
              <a:rPr lang="en-US" altLang="zh-CN" sz="1100" dirty="0">
                <a:solidFill>
                  <a:srgbClr val="AF00DB"/>
                </a:solidFill>
                <a:latin typeface="Menlo" panose="020B0609030804020204" pitchFamily="49" charset="0"/>
              </a:rPr>
              <a:t>    return</a:t>
            </a:r>
            <a:r>
              <a:rPr lang="en-US" altLang="zh-CN" sz="11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altLang="zh-CN" sz="1100" dirty="0">
                <a:solidFill>
                  <a:srgbClr val="098658"/>
                </a:solidFill>
                <a:latin typeface="Menlo" panose="020B0609030804020204" pitchFamily="49" charset="0"/>
              </a:rPr>
              <a:t>0</a:t>
            </a:r>
            <a:r>
              <a:rPr lang="en-US" altLang="zh-CN" sz="1100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pPr marL="0" indent="0">
              <a:buNone/>
            </a:pPr>
            <a:r>
              <a:rPr lang="en-US" altLang="zh-CN" sz="1100" dirty="0">
                <a:solidFill>
                  <a:srgbClr val="000000"/>
                </a:solidFill>
                <a:latin typeface="Menlo" panose="020B0609030804020204" pitchFamily="49" charset="0"/>
              </a:rPr>
              <a:t>}</a:t>
            </a:r>
          </a:p>
        </p:txBody>
      </p:sp>
      <p:sp>
        <p:nvSpPr>
          <p:cNvPr id="7" name="矩形 6"/>
          <p:cNvSpPr/>
          <p:nvPr/>
        </p:nvSpPr>
        <p:spPr>
          <a:xfrm>
            <a:off x="1135161" y="2897819"/>
            <a:ext cx="1300356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GB" altLang="zh-CN" dirty="0" err="1">
                <a:solidFill>
                  <a:srgbClr val="0000CC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main.cpp</a:t>
            </a:r>
            <a:endParaRPr lang="zh-CN" altLang="en-US" dirty="0">
              <a:solidFill>
                <a:srgbClr val="0000CC"/>
              </a:solidFill>
              <a:highlight>
                <a:srgbClr val="FFFF00"/>
              </a:highlight>
            </a:endParaRPr>
          </a:p>
        </p:txBody>
      </p:sp>
      <p:sp>
        <p:nvSpPr>
          <p:cNvPr id="8" name="内容占位符 2"/>
          <p:cNvSpPr txBox="1"/>
          <p:nvPr/>
        </p:nvSpPr>
        <p:spPr>
          <a:xfrm>
            <a:off x="6244063" y="3254587"/>
            <a:ext cx="4324186" cy="77894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ü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100" dirty="0">
                <a:solidFill>
                  <a:srgbClr val="AF00DB"/>
                </a:solidFill>
                <a:latin typeface="Menlo" panose="020B0609030804020204" pitchFamily="49" charset="0"/>
              </a:rPr>
              <a:t>#pragma</a:t>
            </a:r>
            <a:r>
              <a:rPr lang="en-US" altLang="zh-CN" sz="1100" dirty="0">
                <a:solidFill>
                  <a:srgbClr val="0000FF"/>
                </a:solidFill>
                <a:latin typeface="Menlo" panose="020B0609030804020204" pitchFamily="49" charset="0"/>
              </a:rPr>
              <a:t> </a:t>
            </a:r>
            <a:r>
              <a:rPr lang="en-US" altLang="zh-CN" sz="1100" dirty="0">
                <a:solidFill>
                  <a:srgbClr val="FF0000"/>
                </a:solidFill>
                <a:latin typeface="Menlo" panose="020B0609030804020204" pitchFamily="49" charset="0"/>
              </a:rPr>
              <a:t>once</a:t>
            </a:r>
            <a:endParaRPr lang="en-US" altLang="zh-CN" sz="11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br>
              <a:rPr lang="en-US" altLang="zh-CN" sz="1100" dirty="0">
                <a:solidFill>
                  <a:srgbClr val="000000"/>
                </a:solidFill>
                <a:latin typeface="Menlo" panose="020B0609030804020204" pitchFamily="49" charset="0"/>
              </a:rPr>
            </a:br>
            <a:r>
              <a:rPr lang="en-US" altLang="zh-CN" sz="1100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en-US" altLang="zh-CN" sz="11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altLang="zh-CN" sz="1100" dirty="0">
                <a:solidFill>
                  <a:srgbClr val="795E26"/>
                </a:solidFill>
                <a:latin typeface="Menlo" panose="020B0609030804020204" pitchFamily="49" charset="0"/>
              </a:rPr>
              <a:t>add</a:t>
            </a:r>
            <a:r>
              <a:rPr lang="en-US" altLang="zh-CN" sz="1100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altLang="zh-CN" sz="1100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en-US" altLang="zh-CN" sz="11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altLang="zh-CN" sz="1100" dirty="0">
                <a:solidFill>
                  <a:srgbClr val="001080"/>
                </a:solidFill>
                <a:latin typeface="Menlo" panose="020B0609030804020204" pitchFamily="49" charset="0"/>
              </a:rPr>
              <a:t>n1</a:t>
            </a:r>
            <a:r>
              <a:rPr lang="en-US" altLang="zh-CN" sz="1100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-US" altLang="zh-CN" sz="1100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en-US" altLang="zh-CN" sz="11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altLang="zh-CN" sz="1100" dirty="0">
                <a:solidFill>
                  <a:srgbClr val="001080"/>
                </a:solidFill>
                <a:latin typeface="Menlo" panose="020B0609030804020204" pitchFamily="49" charset="0"/>
              </a:rPr>
              <a:t>n2</a:t>
            </a:r>
            <a:r>
              <a:rPr lang="en-US" altLang="zh-CN" sz="1100" dirty="0">
                <a:solidFill>
                  <a:srgbClr val="000000"/>
                </a:solidFill>
                <a:latin typeface="Menlo" panose="020B0609030804020204" pitchFamily="49" charset="0"/>
              </a:rPr>
              <a:t>);</a:t>
            </a:r>
            <a:br>
              <a:rPr lang="en-US" altLang="zh-CN" sz="1100" dirty="0">
                <a:solidFill>
                  <a:srgbClr val="000000"/>
                </a:solidFill>
                <a:latin typeface="Menlo" panose="020B0609030804020204" pitchFamily="49" charset="0"/>
              </a:rPr>
            </a:br>
            <a:endParaRPr lang="en-US" altLang="zh-CN" sz="1100" dirty="0">
              <a:solidFill>
                <a:srgbClr val="000000"/>
              </a:solidFill>
              <a:latin typeface="Menlo" panose="020B0609030804020204" pitchFamily="49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6141362" y="2897818"/>
            <a:ext cx="881973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GB" altLang="zh-CN" dirty="0" err="1">
                <a:solidFill>
                  <a:srgbClr val="0000CC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add.h</a:t>
            </a:r>
            <a:endParaRPr lang="zh-CN" altLang="en-US" dirty="0">
              <a:solidFill>
                <a:srgbClr val="0000CC"/>
              </a:solidFill>
              <a:highlight>
                <a:srgbClr val="FFFF00"/>
              </a:highlight>
            </a:endParaRPr>
          </a:p>
        </p:txBody>
      </p:sp>
      <p:sp>
        <p:nvSpPr>
          <p:cNvPr id="10" name="内容占位符 2"/>
          <p:cNvSpPr txBox="1"/>
          <p:nvPr/>
        </p:nvSpPr>
        <p:spPr>
          <a:xfrm>
            <a:off x="6244063" y="4687630"/>
            <a:ext cx="4324186" cy="164418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ü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100" dirty="0">
                <a:solidFill>
                  <a:srgbClr val="AF00DB"/>
                </a:solidFill>
                <a:latin typeface="Menlo" panose="020B0609030804020204" pitchFamily="49" charset="0"/>
              </a:rPr>
              <a:t>#include</a:t>
            </a:r>
            <a:r>
              <a:rPr lang="en-US" altLang="zh-CN" sz="1100" dirty="0">
                <a:solidFill>
                  <a:srgbClr val="0000FF"/>
                </a:solidFill>
                <a:latin typeface="Menlo" panose="020B0609030804020204" pitchFamily="49" charset="0"/>
              </a:rPr>
              <a:t> </a:t>
            </a:r>
            <a:r>
              <a:rPr lang="en-US" altLang="zh-CN" sz="1100" dirty="0">
                <a:solidFill>
                  <a:srgbClr val="A31515"/>
                </a:solidFill>
                <a:latin typeface="Menlo" panose="020B0609030804020204" pitchFamily="49" charset="0"/>
              </a:rPr>
              <a:t>"</a:t>
            </a:r>
            <a:r>
              <a:rPr lang="en-US" altLang="zh-CN" sz="1100" dirty="0" err="1">
                <a:solidFill>
                  <a:srgbClr val="A31515"/>
                </a:solidFill>
                <a:latin typeface="Menlo" panose="020B0609030804020204" pitchFamily="49" charset="0"/>
              </a:rPr>
              <a:t>add.h</a:t>
            </a:r>
            <a:r>
              <a:rPr lang="en-US" altLang="zh-CN" sz="1100" dirty="0">
                <a:solidFill>
                  <a:srgbClr val="A31515"/>
                </a:solidFill>
                <a:latin typeface="Menlo" panose="020B0609030804020204" pitchFamily="49" charset="0"/>
              </a:rPr>
              <a:t>"</a:t>
            </a:r>
            <a:endParaRPr lang="en-US" altLang="zh-CN" sz="11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br>
              <a:rPr lang="en-US" altLang="zh-CN" sz="1100" dirty="0">
                <a:solidFill>
                  <a:srgbClr val="000000"/>
                </a:solidFill>
                <a:latin typeface="Menlo" panose="020B0609030804020204" pitchFamily="49" charset="0"/>
              </a:rPr>
            </a:br>
            <a:r>
              <a:rPr lang="en-US" altLang="zh-CN" sz="1100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en-US" altLang="zh-CN" sz="11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altLang="zh-CN" sz="1100" dirty="0">
                <a:solidFill>
                  <a:srgbClr val="795E26"/>
                </a:solidFill>
                <a:latin typeface="Menlo" panose="020B0609030804020204" pitchFamily="49" charset="0"/>
              </a:rPr>
              <a:t>Add</a:t>
            </a:r>
            <a:r>
              <a:rPr lang="en-US" altLang="zh-CN" sz="1100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altLang="zh-CN" sz="1100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en-US" altLang="zh-CN" sz="11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altLang="zh-CN" sz="1100" dirty="0">
                <a:solidFill>
                  <a:srgbClr val="001080"/>
                </a:solidFill>
                <a:latin typeface="Menlo" panose="020B0609030804020204" pitchFamily="49" charset="0"/>
              </a:rPr>
              <a:t>number1</a:t>
            </a:r>
            <a:r>
              <a:rPr lang="en-US" altLang="zh-CN" sz="1100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-US" altLang="zh-CN" sz="1100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en-US" altLang="zh-CN" sz="11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altLang="zh-CN" sz="1100" dirty="0">
                <a:solidFill>
                  <a:srgbClr val="001080"/>
                </a:solidFill>
                <a:latin typeface="Menlo" panose="020B0609030804020204" pitchFamily="49" charset="0"/>
              </a:rPr>
              <a:t>number2</a:t>
            </a:r>
            <a:r>
              <a:rPr lang="en-US" altLang="zh-CN" sz="1100" dirty="0">
                <a:solidFill>
                  <a:srgbClr val="000000"/>
                </a:solidFill>
                <a:latin typeface="Menlo" panose="020B0609030804020204" pitchFamily="49" charset="0"/>
              </a:rPr>
              <a:t>);</a:t>
            </a:r>
          </a:p>
          <a:p>
            <a:pPr marL="0" indent="0">
              <a:buNone/>
            </a:pPr>
            <a:r>
              <a:rPr lang="en-US" altLang="zh-CN" sz="1100" dirty="0">
                <a:solidFill>
                  <a:srgbClr val="000000"/>
                </a:solidFill>
                <a:latin typeface="Menlo" panose="020B0609030804020204" pitchFamily="49" charset="0"/>
              </a:rPr>
              <a:t>{</a:t>
            </a:r>
          </a:p>
          <a:p>
            <a:pPr marL="0" indent="0">
              <a:buNone/>
            </a:pPr>
            <a:r>
              <a:rPr lang="en-US" altLang="zh-CN" sz="1100" dirty="0">
                <a:solidFill>
                  <a:srgbClr val="AF00DB"/>
                </a:solidFill>
                <a:latin typeface="Menlo" panose="020B0609030804020204" pitchFamily="49" charset="0"/>
              </a:rPr>
              <a:t>return</a:t>
            </a:r>
            <a:r>
              <a:rPr lang="en-US" altLang="zh-CN" sz="1100" dirty="0">
                <a:solidFill>
                  <a:srgbClr val="000000"/>
                </a:solidFill>
                <a:latin typeface="Menlo" panose="020B0609030804020204" pitchFamily="49" charset="0"/>
              </a:rPr>
              <a:t> n1 + n2;</a:t>
            </a:r>
          </a:p>
          <a:p>
            <a:pPr marL="0" indent="0">
              <a:buNone/>
            </a:pPr>
            <a:r>
              <a:rPr lang="en-US" altLang="zh-CN" sz="1100" dirty="0">
                <a:solidFill>
                  <a:srgbClr val="000000"/>
                </a:solidFill>
                <a:latin typeface="Menlo" panose="020B0609030804020204" pitchFamily="49" charset="0"/>
              </a:rPr>
              <a:t>}</a:t>
            </a:r>
          </a:p>
          <a:p>
            <a:pPr marL="0" indent="0">
              <a:buNone/>
            </a:pPr>
            <a:br>
              <a:rPr lang="en-US" altLang="zh-CN" sz="1100" dirty="0">
                <a:solidFill>
                  <a:srgbClr val="000000"/>
                </a:solidFill>
                <a:latin typeface="Menlo" panose="020B0609030804020204" pitchFamily="49" charset="0"/>
              </a:rPr>
            </a:br>
            <a:endParaRPr lang="en-US" altLang="zh-CN" sz="1100" dirty="0">
              <a:solidFill>
                <a:srgbClr val="000000"/>
              </a:solidFill>
              <a:latin typeface="Menlo" panose="020B0609030804020204" pitchFamily="49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6141362" y="4330861"/>
            <a:ext cx="1160895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GB" altLang="zh-CN" dirty="0" err="1">
                <a:solidFill>
                  <a:srgbClr val="0000CC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add.cpp</a:t>
            </a:r>
            <a:endParaRPr lang="zh-CN" altLang="en-US" dirty="0">
              <a:solidFill>
                <a:srgbClr val="0000CC"/>
              </a:solidFill>
              <a:highlight>
                <a:srgbClr val="FFFF00"/>
              </a:highlight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">
      <a:maj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281</Words>
  <Application>Microsoft Macintosh PowerPoint</Application>
  <PresentationFormat>宽屏</PresentationFormat>
  <Paragraphs>43</Paragraphs>
  <Slides>4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3" baseType="lpstr">
      <vt:lpstr>等线</vt:lpstr>
      <vt:lpstr>Arial</vt:lpstr>
      <vt:lpstr>Calibri</vt:lpstr>
      <vt:lpstr>Courier New</vt:lpstr>
      <vt:lpstr>Franklin Gothic Demi</vt:lpstr>
      <vt:lpstr>Franklin Gothic Medium</vt:lpstr>
      <vt:lpstr>Menlo</vt:lpstr>
      <vt:lpstr>Wingdings</vt:lpstr>
      <vt:lpstr>Office 主题</vt:lpstr>
      <vt:lpstr>Advanced Programming</vt:lpstr>
      <vt:lpstr>Topics</vt:lpstr>
      <vt:lpstr>Exercises 1</vt:lpstr>
      <vt:lpstr>Exercises 2</vt:lpstr>
    </vt:vector>
  </TitlesOfParts>
  <Company>Southern University of Science and Technology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C/C++ Program Design</dc:title>
  <dc:creator>Shiqi Yu</dc:creator>
  <cp:lastModifiedBy>Shiqi Yu</cp:lastModifiedBy>
  <cp:revision>314</cp:revision>
  <dcterms:created xsi:type="dcterms:W3CDTF">2020-09-05T08:11:00Z</dcterms:created>
  <dcterms:modified xsi:type="dcterms:W3CDTF">2026-03-02T07:44:51Z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739579C7EFA44A4AB4406E6E4EDFE2A4</vt:lpwstr>
  </property>
  <property fmtid="{D5CDD505-2E9C-101B-9397-08002B2CF9AE}" pid="3" name="KSOProductBuildVer">
    <vt:lpwstr>2052-12.1.0.19770</vt:lpwstr>
  </property>
</Properties>
</file>