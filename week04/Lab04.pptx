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37"/>
  </p:notesMasterIdLst>
  <p:sldIdLst>
    <p:sldId id="256" r:id="rId3"/>
    <p:sldId id="772" r:id="rId4"/>
    <p:sldId id="785" r:id="rId5"/>
    <p:sldId id="786" r:id="rId6"/>
    <p:sldId id="787" r:id="rId7"/>
    <p:sldId id="788" r:id="rId8"/>
    <p:sldId id="789" r:id="rId9"/>
    <p:sldId id="790" r:id="rId10"/>
    <p:sldId id="791" r:id="rId11"/>
    <p:sldId id="792" r:id="rId12"/>
    <p:sldId id="793" r:id="rId13"/>
    <p:sldId id="794" r:id="rId14"/>
    <p:sldId id="795" r:id="rId15"/>
    <p:sldId id="796" r:id="rId16"/>
    <p:sldId id="797" r:id="rId17"/>
    <p:sldId id="775" r:id="rId18"/>
    <p:sldId id="777" r:id="rId19"/>
    <p:sldId id="778" r:id="rId20"/>
    <p:sldId id="576" r:id="rId21"/>
    <p:sldId id="799" r:id="rId22"/>
    <p:sldId id="425" r:id="rId23"/>
    <p:sldId id="427" r:id="rId24"/>
    <p:sldId id="577" r:id="rId25"/>
    <p:sldId id="578" r:id="rId26"/>
    <p:sldId id="579" r:id="rId27"/>
    <p:sldId id="580" r:id="rId28"/>
    <p:sldId id="780" r:id="rId29"/>
    <p:sldId id="776" r:id="rId30"/>
    <p:sldId id="783" r:id="rId31"/>
    <p:sldId id="784" r:id="rId32"/>
    <p:sldId id="782" r:id="rId33"/>
    <p:sldId id="446" r:id="rId34"/>
    <p:sldId id="483" r:id="rId35"/>
    <p:sldId id="572" r:id="rId3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BFC28415-9E8F-4E3B-A50D-D03AEBB98C0A}">
          <p14:sldIdLst>
            <p14:sldId id="256"/>
            <p14:sldId id="772"/>
          </p14:sldIdLst>
        </p14:section>
        <p14:section name="cmake" id="{12FC5C24-E93D-45FC-BD8C-4BF45078E243}">
          <p14:sldIdLst>
            <p14:sldId id="785"/>
            <p14:sldId id="786"/>
            <p14:sldId id="787"/>
            <p14:sldId id="788"/>
            <p14:sldId id="789"/>
            <p14:sldId id="790"/>
            <p14:sldId id="791"/>
            <p14:sldId id="792"/>
            <p14:sldId id="793"/>
            <p14:sldId id="794"/>
            <p14:sldId id="795"/>
            <p14:sldId id="796"/>
            <p14:sldId id="797"/>
          </p14:sldIdLst>
        </p14:section>
        <p14:section name="input" id="{E74FBD16-C5EF-44CE-874E-141239C4AD72}">
          <p14:sldIdLst>
            <p14:sldId id="775"/>
            <p14:sldId id="777"/>
            <p14:sldId id="778"/>
            <p14:sldId id="576"/>
            <p14:sldId id="799"/>
            <p14:sldId id="425"/>
            <p14:sldId id="427"/>
            <p14:sldId id="577"/>
            <p14:sldId id="578"/>
            <p14:sldId id="579"/>
            <p14:sldId id="580"/>
          </p14:sldIdLst>
        </p14:section>
        <p14:section name="数据存储" id="{5FE86C11-39C9-4819-9D8C-B2396435CD1C}">
          <p14:sldIdLst>
            <p14:sldId id="780"/>
            <p14:sldId id="776"/>
            <p14:sldId id="783"/>
            <p14:sldId id="784"/>
            <p14:sldId id="782"/>
          </p14:sldIdLst>
        </p14:section>
        <p14:section name="练习" id="{3A72F6A4-5D0A-4006-8B82-35CF2CCEF280}">
          <p14:sldIdLst>
            <p14:sldId id="446"/>
            <p14:sldId id="483"/>
            <p14:sldId id="5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6481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208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237EF7-A117-46B7-88A8-1B7FB98FF0F2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705520-EB74-4E10-9207-DDFEA7EA0F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numCol="1" anchor="t" anchorCtr="0" compatLnSpc="1"/>
          <a:lstStyle/>
          <a:p>
            <a:pPr marL="542925" indent="-542925"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247812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5C04F1-088D-43BB-BF6A-7E5350A2ABBF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numCol="1" anchor="t" anchorCtr="0" compatLnSpc="1"/>
          <a:lstStyle/>
          <a:p>
            <a:pPr marL="542925" indent="-542925"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247812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CD5C04F1-088D-43BB-BF6A-7E5350A2ABBF}" type="slidenum">
              <a:rPr lang="en-US" altLang="zh-CN">
                <a:solidFill>
                  <a:prstClr val="black"/>
                </a:solidFill>
              </a:rPr>
              <a:t>15</a:t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numCol="1" anchor="t" anchorCtr="0" compatLnSpc="1"/>
          <a:lstStyle/>
          <a:p>
            <a:pPr marL="542925" indent="-542925"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247812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CD5C04F1-088D-43BB-BF6A-7E5350A2ABBF}" type="slidenum">
              <a:rPr lang="en-US" altLang="zh-CN">
                <a:solidFill>
                  <a:prstClr val="black"/>
                </a:solidFill>
              </a:rPr>
              <a:t>19</a:t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numCol="1" anchor="t" anchorCtr="0" compatLnSpc="1"/>
          <a:lstStyle/>
          <a:p>
            <a:pPr marL="542925" indent="-542925"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247812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CD5C04F1-088D-43BB-BF6A-7E5350A2ABBF}" type="slidenum">
              <a:rPr lang="en-US" altLang="zh-CN">
                <a:solidFill>
                  <a:prstClr val="black"/>
                </a:solidFill>
              </a:rPr>
              <a:t>20</a:t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numCol="1" anchor="t" anchorCtr="0" compatLnSpc="1"/>
          <a:lstStyle/>
          <a:p>
            <a:pPr marL="542925" indent="-542925"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247812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5C04F1-088D-43BB-BF6A-7E5350A2ABBF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numCol="1" anchor="t" anchorCtr="0" compatLnSpc="1"/>
          <a:lstStyle/>
          <a:p>
            <a:pPr marL="542925" indent="-542925"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247812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5C04F1-088D-43BB-BF6A-7E5350A2ABBF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22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numCol="1" anchor="t" anchorCtr="0" compatLnSpc="1"/>
          <a:lstStyle/>
          <a:p>
            <a:pPr marL="542925" indent="-542925"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247812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CD5C04F1-088D-43BB-BF6A-7E5350A2ABBF}" type="slidenum">
              <a:rPr lang="en-US" altLang="zh-CN">
                <a:solidFill>
                  <a:prstClr val="black"/>
                </a:solidFill>
              </a:rPr>
              <a:t>23</a:t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numCol="1" anchor="t" anchorCtr="0" compatLnSpc="1"/>
          <a:lstStyle/>
          <a:p>
            <a:pPr marL="542925" indent="-542925"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247812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5C04F1-088D-43BB-BF6A-7E5350A2ABBF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24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numCol="1" anchor="t" anchorCtr="0" compatLnSpc="1"/>
          <a:lstStyle/>
          <a:p>
            <a:pPr marL="542925" indent="-542925"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247812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CD5C04F1-088D-43BB-BF6A-7E5350A2ABBF}" type="slidenum">
              <a:rPr lang="en-US" altLang="zh-CN">
                <a:solidFill>
                  <a:prstClr val="black"/>
                </a:solidFill>
              </a:rPr>
              <a:t>25</a:t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numCol="1" anchor="t" anchorCtr="0" compatLnSpc="1"/>
          <a:lstStyle/>
          <a:p>
            <a:pPr marL="542925" indent="-542925"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247812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CD5C04F1-088D-43BB-BF6A-7E5350A2ABBF}" type="slidenum">
              <a:rPr lang="en-US" altLang="zh-CN">
                <a:solidFill>
                  <a:prstClr val="black"/>
                </a:solidFill>
              </a:rPr>
              <a:t>26</a:t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numCol="1" anchor="t" anchorCtr="0" compatLnSpc="1"/>
          <a:lstStyle/>
          <a:p>
            <a:pPr marL="542925" indent="-542925"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247812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r" defTabSz="11664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5C04F1-088D-43BB-BF6A-7E5350A2ABBF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numCol="1" anchor="t" anchorCtr="0" compatLnSpc="1"/>
          <a:lstStyle/>
          <a:p>
            <a:pPr marL="542925" indent="-542925"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247812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r" defTabSz="11664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5C04F1-088D-43BB-BF6A-7E5350A2ABBF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34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534740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987522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24589" b="40606"/>
          <a:stretch>
            <a:fillRect/>
          </a:stretch>
        </p:blipFill>
        <p:spPr>
          <a:xfrm>
            <a:off x="8610600" y="0"/>
            <a:ext cx="3515893" cy="1007930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6479" y="264221"/>
            <a:ext cx="10515600" cy="833631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4849968"/>
          </a:xfrm>
        </p:spPr>
        <p:txBody>
          <a:bodyPr/>
          <a:lstStyle>
            <a:lvl2pPr marL="914400" indent="-457200">
              <a:buFont typeface="Wingdings" panose="05000000000000000000" pitchFamily="2" charset="2"/>
              <a:buChar char="Ø"/>
              <a:defRPr/>
            </a:lvl2pPr>
            <a:lvl3pPr marL="1143000" indent="-228600">
              <a:buFont typeface="Wingdings" panose="05000000000000000000" pitchFamily="2" charset="2"/>
              <a:buChar char="ü"/>
              <a:defRPr/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0" y="69174"/>
            <a:ext cx="1112400" cy="1111682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24634" y="365125"/>
            <a:ext cx="922916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0" y="69174"/>
            <a:ext cx="1112400" cy="1111682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10320" y="365125"/>
            <a:ext cx="9245067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1" name="图片 10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0" y="69174"/>
            <a:ext cx="1112400" cy="1111682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0" y="69174"/>
            <a:ext cx="1112400" cy="1111682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534740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987522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24589" b="40606"/>
          <a:stretch>
            <a:fillRect/>
          </a:stretch>
        </p:blipFill>
        <p:spPr>
          <a:xfrm>
            <a:off x="8610600" y="0"/>
            <a:ext cx="3515893" cy="1007930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6479" y="264221"/>
            <a:ext cx="10515600" cy="833631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4849968"/>
          </a:xfrm>
        </p:spPr>
        <p:txBody>
          <a:bodyPr/>
          <a:lstStyle>
            <a:lvl2pPr marL="914400" indent="-457200">
              <a:buFont typeface="Wingdings" panose="05000000000000000000" pitchFamily="2" charset="2"/>
              <a:buChar char="Ø"/>
              <a:defRPr/>
            </a:lvl2pPr>
            <a:lvl3pPr marL="1143000" indent="-228600">
              <a:buFont typeface="Wingdings" panose="05000000000000000000" pitchFamily="2" charset="2"/>
              <a:buChar char="ü"/>
              <a:defRPr/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0" y="69174"/>
            <a:ext cx="1112400" cy="1111682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24634" y="365125"/>
            <a:ext cx="922916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0" y="69174"/>
            <a:ext cx="1112400" cy="1111682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10320" y="365125"/>
            <a:ext cx="9245067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1" name="图片 10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0" y="69174"/>
            <a:ext cx="1112400" cy="1111682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0" y="69174"/>
            <a:ext cx="1112400" cy="1111682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298448" y="365125"/>
            <a:ext cx="10055352" cy="8157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389888"/>
            <a:ext cx="10515600" cy="4787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517904" y="6356350"/>
            <a:ext cx="20634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19A4FA-3D9A-4114-B0D5-759CBD56F1AB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52950"/>
            <a:ext cx="1152144" cy="40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lnSpc>
          <a:spcPct val="90000"/>
        </a:lnSpc>
        <a:spcBef>
          <a:spcPts val="500"/>
        </a:spcBef>
        <a:buFont typeface="Calibri" panose="020F0502020204030204" pitchFamily="34" charset="0"/>
        <a:buChar char="□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298448" y="365125"/>
            <a:ext cx="10055352" cy="8157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389888"/>
            <a:ext cx="10515600" cy="4787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517904" y="6356350"/>
            <a:ext cx="20634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19A4FA-3D9A-4114-B0D5-759CBD56F1AB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52950"/>
            <a:ext cx="1152144" cy="40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lnSpc>
          <a:spcPct val="90000"/>
        </a:lnSpc>
        <a:spcBef>
          <a:spcPts val="500"/>
        </a:spcBef>
        <a:buFont typeface="Calibri" panose="020F0502020204030204" pitchFamily="34" charset="0"/>
        <a:buChar char="□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make.org/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riptutorial.com/cmake" TargetMode="External"/><Relationship Id="rId4" Type="http://schemas.openxmlformats.org/officeDocument/2006/relationships/hyperlink" Target="https://cmake.org/cmake/help/latest/guide/tutorial/index.html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14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07592"/>
            <a:ext cx="9144000" cy="1772603"/>
          </a:xfrm>
        </p:spPr>
        <p:txBody>
          <a:bodyPr>
            <a:noAutofit/>
          </a:bodyPr>
          <a:lstStyle/>
          <a:p>
            <a:r>
              <a:rPr lang="en-US" altLang="zh-CN" b="1" dirty="0">
                <a:latin typeface="Franklin Gothic Demi" panose="020B0703020102020204" pitchFamily="34" charset="0"/>
              </a:rPr>
              <a:t>Advanced</a:t>
            </a:r>
            <a:r>
              <a:rPr lang="zh-CN" altLang="en-US" b="1" dirty="0">
                <a:latin typeface="Franklin Gothic Demi" panose="020B0703020102020204" pitchFamily="34" charset="0"/>
              </a:rPr>
              <a:t> </a:t>
            </a:r>
            <a:r>
              <a:rPr lang="en-US" altLang="zh-CN" b="1" dirty="0">
                <a:latin typeface="Franklin Gothic Demi" panose="020B0703020102020204" pitchFamily="34" charset="0"/>
              </a:rPr>
              <a:t>Programming</a:t>
            </a:r>
            <a:endParaRPr lang="zh-CN" altLang="en-US" b="1" dirty="0">
              <a:latin typeface="Franklin Gothic Demi" panose="020B0703020102020204" pitchFamily="34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260090"/>
            <a:ext cx="9610725" cy="2767330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latin typeface="Franklin Gothic Medium" panose="020B0603020102020204" pitchFamily="34" charset="0"/>
                <a:sym typeface="+mn-ea"/>
              </a:rPr>
              <a:t>Lab 4, CMake, Inputs, D</a:t>
            </a:r>
            <a:r>
              <a:rPr lang="en-US" altLang="zh-CN" sz="3600" dirty="0" err="1">
                <a:latin typeface="Franklin Gothic Medium" panose="020B0603020102020204" pitchFamily="34" charset="0"/>
              </a:rPr>
              <a:t>ata Storage</a:t>
            </a:r>
          </a:p>
          <a:p>
            <a:endParaRPr lang="en-US" altLang="zh-CN" sz="3600" dirty="0">
              <a:latin typeface="Franklin Gothic Medium" panose="020B0603020102020204" pitchFamily="34" charset="0"/>
            </a:endParaRPr>
          </a:p>
          <a:p>
            <a:endParaRPr lang="en-US" altLang="zh-CN" dirty="0">
              <a:latin typeface="Franklin Gothic Medium" panose="020B0603020102020204" pitchFamily="34" charset="0"/>
            </a:endParaRPr>
          </a:p>
          <a:p>
            <a:r>
              <a:rPr lang="zh-CN" altLang="en-US" dirty="0">
                <a:latin typeface="Franklin Gothic Medium" panose="020B0603020102020204" pitchFamily="34" charset="0"/>
                <a:sym typeface="+mn-ea"/>
              </a:rPr>
              <a:t>廖琪梅</a:t>
            </a:r>
            <a:r>
              <a:rPr lang="en-US" altLang="zh-CN" dirty="0">
                <a:latin typeface="Franklin Gothic Medium" panose="020B0603020102020204" pitchFamily="34" charset="0"/>
                <a:sym typeface="+mn-ea"/>
              </a:rPr>
              <a:t>, </a:t>
            </a:r>
            <a:r>
              <a:rPr lang="zh-CN" altLang="en-US" dirty="0">
                <a:latin typeface="Franklin Gothic Medium" panose="020B0603020102020204" pitchFamily="34" charset="0"/>
                <a:sym typeface="+mn-ea"/>
              </a:rPr>
              <a:t>王大兴</a:t>
            </a:r>
            <a:r>
              <a:rPr lang="en-US" altLang="zh-CN" dirty="0">
                <a:latin typeface="Franklin Gothic Medium" panose="020B0603020102020204" pitchFamily="34" charset="0"/>
                <a:sym typeface="+mn-ea"/>
              </a:rPr>
              <a:t>, </a:t>
            </a:r>
            <a:r>
              <a:rPr lang="zh-CN" altLang="en-US" dirty="0">
                <a:latin typeface="Franklin Gothic Medium" panose="020B0603020102020204" pitchFamily="34" charset="0"/>
                <a:sym typeface="+mn-ea"/>
              </a:rPr>
              <a:t>于仕琪</a:t>
            </a:r>
            <a:r>
              <a:rPr lang="en-US" altLang="zh-CN" dirty="0">
                <a:latin typeface="Franklin Gothic Medium" panose="020B0603020102020204" pitchFamily="34" charset="0"/>
                <a:sym typeface="+mn-ea"/>
              </a:rPr>
              <a:t>, </a:t>
            </a:r>
            <a:r>
              <a:rPr lang="zh-CN" altLang="en-US" dirty="0">
                <a:latin typeface="Franklin Gothic Medium" panose="020B0603020102020204" pitchFamily="34" charset="0"/>
                <a:sym typeface="+mn-ea"/>
              </a:rPr>
              <a:t>王薇</a:t>
            </a:r>
            <a:endParaRPr lang="en-US" altLang="zh-CN" dirty="0">
              <a:latin typeface="Franklin Gothic Medium" panose="020B0603020102020204" pitchFamily="34" charset="0"/>
            </a:endParaRPr>
          </a:p>
          <a:p>
            <a:endParaRPr lang="en-US" altLang="zh-CN" dirty="0">
              <a:latin typeface="Franklin Gothic Medium" panose="020B06030201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topics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27150"/>
            <a:ext cx="11238865" cy="4850130"/>
          </a:xfrm>
        </p:spPr>
        <p:txBody>
          <a:bodyPr>
            <a:normAutofit/>
          </a:bodyPr>
          <a:lstStyle/>
          <a:p>
            <a:r>
              <a:rPr lang="en-US" altLang="zh-CN" dirty="0"/>
              <a:t>1. </a:t>
            </a:r>
            <a:r>
              <a:rPr lang="en-US" altLang="zh-CN" dirty="0" err="1"/>
              <a:t>CMake</a:t>
            </a:r>
            <a:endParaRPr lang="en-US" altLang="zh-CN" dirty="0"/>
          </a:p>
          <a:p>
            <a:r>
              <a:rPr lang="en-US" altLang="zh-CN" dirty="0"/>
              <a:t>2. Inputs</a:t>
            </a:r>
          </a:p>
          <a:p>
            <a:pPr lvl="1"/>
            <a:r>
              <a:rPr lang="en-US" altLang="zh-CN" dirty="0">
                <a:sym typeface="+mn-ea"/>
              </a:rPr>
              <a:t>Command-Line Arguments</a:t>
            </a:r>
          </a:p>
          <a:p>
            <a:pPr lvl="1"/>
            <a:r>
              <a:rPr lang="en-US" altLang="zh-CN" dirty="0"/>
              <a:t>Standard Input</a:t>
            </a:r>
          </a:p>
          <a:p>
            <a:r>
              <a:rPr lang="en-US" altLang="zh-CN" dirty="0"/>
              <a:t>3. Data storage </a:t>
            </a:r>
          </a:p>
          <a:p>
            <a:pPr lvl="1"/>
            <a:r>
              <a:rPr lang="en-US" altLang="zh-CN" sz="2400" dirty="0"/>
              <a:t>array, string, struct, union</a:t>
            </a:r>
            <a:endParaRPr lang="zh-CN" altLang="en-US" dirty="0"/>
          </a:p>
          <a:p>
            <a:r>
              <a:rPr lang="en-US" altLang="zh-CN" dirty="0"/>
              <a:t>4. Exercises  </a:t>
            </a:r>
            <a:endParaRPr lang="zh-CN" altLang="en-US" dirty="0"/>
          </a:p>
          <a:p>
            <a:pPr marL="457200" lvl="1" indent="0">
              <a:buNone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12288" y="984164"/>
            <a:ext cx="3388923" cy="678385"/>
          </a:xfrm>
          <a:prstGeom prst="rect">
            <a:avLst/>
          </a:prstGeom>
          <a:noFill/>
        </p:spPr>
        <p:txBody>
          <a:bodyPr wrap="none" lIns="109465" tIns="54734" rIns="109465" bIns="54734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9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What is </a:t>
            </a:r>
            <a:r>
              <a:rPr kumimoji="0" lang="en-US" altLang="zh-CN" sz="369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CMake</a:t>
            </a:r>
            <a:r>
              <a:rPr kumimoji="0" lang="en-US" altLang="zh-CN" sz="369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?</a:t>
            </a:r>
            <a:endParaRPr kumimoji="0" lang="zh-CN" altLang="en-US" sz="369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582758" y="2004276"/>
            <a:ext cx="11026484" cy="2575905"/>
          </a:xfrm>
        </p:spPr>
        <p:txBody>
          <a:bodyPr>
            <a:normAutofit/>
          </a:bodyPr>
          <a:lstStyle/>
          <a:p>
            <a:pPr marL="131445" lvl="1" indent="0">
              <a:spcBef>
                <a:spcPts val="1435"/>
              </a:spcBef>
              <a:buSzPct val="68000"/>
              <a:buNone/>
            </a:pPr>
            <a:r>
              <a:rPr lang="en-US" altLang="zh-CN" sz="2800" b="1" dirty="0">
                <a:solidFill>
                  <a:srgbClr val="00B0F0"/>
                </a:solidFill>
              </a:rPr>
              <a:t>    </a:t>
            </a:r>
            <a:r>
              <a:rPr lang="en-US" altLang="zh-CN" sz="2800" b="1" dirty="0" err="1">
                <a:solidFill>
                  <a:srgbClr val="00B0F0"/>
                </a:solidFill>
              </a:rPr>
              <a:t>CMake</a:t>
            </a:r>
            <a:r>
              <a:rPr lang="en-US" altLang="zh-CN" sz="2800" dirty="0"/>
              <a:t> is an open-source, cross-platform family of tools designed to build, test and package software. </a:t>
            </a:r>
            <a:r>
              <a:rPr lang="en-US" altLang="zh-CN" sz="2800" b="1" dirty="0" err="1">
                <a:solidFill>
                  <a:srgbClr val="00B0F0"/>
                </a:solidFill>
              </a:rPr>
              <a:t>CMake</a:t>
            </a:r>
            <a:r>
              <a:rPr lang="en-US" altLang="zh-CN" sz="2800" dirty="0"/>
              <a:t> is used to control the software compilation process using simple platform and compiler independent configuration files,  and generate native </a:t>
            </a:r>
            <a:r>
              <a:rPr lang="en-US" altLang="zh-CN" sz="2800" dirty="0" err="1"/>
              <a:t>makefiles</a:t>
            </a:r>
            <a:r>
              <a:rPr lang="en-US" altLang="zh-CN" sz="2800" dirty="0"/>
              <a:t> and workspaces that can be used in the compiler environment of your choice.</a:t>
            </a:r>
            <a:endParaRPr lang="en-US" sz="2800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5997" y="13625"/>
            <a:ext cx="3216003" cy="1819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/>
          <p:cNvSpPr/>
          <p:nvPr/>
        </p:nvSpPr>
        <p:spPr>
          <a:xfrm>
            <a:off x="1290289" y="5504504"/>
            <a:ext cx="40940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For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more information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  <a:hlinkClick r:id="rId4"/>
              </a:rPr>
              <a:t>https://cmake.org/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14729" y="270333"/>
            <a:ext cx="8749516" cy="1221205"/>
          </a:xfrm>
          <a:prstGeom prst="rect">
            <a:avLst/>
          </a:prstGeom>
          <a:noFill/>
        </p:spPr>
        <p:txBody>
          <a:bodyPr wrap="none" lIns="107667" tIns="53835" rIns="107667" bIns="53835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540" b="1" dirty="0" err="1">
                <a:solidFill>
                  <a:prstClr val="black"/>
                </a:solidFill>
              </a:rPr>
              <a:t>CMake</a:t>
            </a:r>
            <a:r>
              <a:rPr lang="en-US" altLang="zh-CN" sz="2540" dirty="0">
                <a:solidFill>
                  <a:prstClr val="black"/>
                </a:solidFill>
              </a:rPr>
              <a:t> needs </a:t>
            </a:r>
            <a:r>
              <a:rPr lang="en-US" altLang="zh-CN" sz="2540" b="1" dirty="0">
                <a:solidFill>
                  <a:prstClr val="black"/>
                </a:solidFill>
              </a:rPr>
              <a:t>CMakeLists.txt</a:t>
            </a:r>
            <a:r>
              <a:rPr lang="en-US" altLang="zh-CN" sz="2540" dirty="0">
                <a:solidFill>
                  <a:prstClr val="black"/>
                </a:solidFill>
              </a:rPr>
              <a:t> to run properly.</a:t>
            </a:r>
          </a:p>
          <a:p>
            <a:pPr>
              <a:lnSpc>
                <a:spcPct val="150000"/>
              </a:lnSpc>
            </a:pPr>
            <a:r>
              <a:rPr lang="en-US" altLang="zh-CN" sz="2540" dirty="0">
                <a:solidFill>
                  <a:prstClr val="black"/>
                </a:solidFill>
              </a:rPr>
              <a:t>A CMakeLists.txt consists of </a:t>
            </a:r>
            <a:r>
              <a:rPr lang="en-US" altLang="zh-CN" sz="2540" b="1" dirty="0">
                <a:solidFill>
                  <a:prstClr val="black"/>
                </a:solidFill>
              </a:rPr>
              <a:t>commands</a:t>
            </a:r>
            <a:r>
              <a:rPr lang="en-US" altLang="zh-CN" sz="2540" dirty="0">
                <a:solidFill>
                  <a:prstClr val="black"/>
                </a:solidFill>
              </a:rPr>
              <a:t> , </a:t>
            </a:r>
            <a:r>
              <a:rPr lang="en-US" altLang="zh-CN" sz="2540" b="1" dirty="0">
                <a:solidFill>
                  <a:prstClr val="black"/>
                </a:solidFill>
              </a:rPr>
              <a:t>comments</a:t>
            </a:r>
            <a:r>
              <a:rPr lang="en-US" altLang="zh-CN" sz="2540" dirty="0">
                <a:solidFill>
                  <a:prstClr val="black"/>
                </a:solidFill>
              </a:rPr>
              <a:t> and </a:t>
            </a:r>
            <a:r>
              <a:rPr lang="en-US" altLang="zh-CN" sz="2540" b="1" dirty="0">
                <a:solidFill>
                  <a:prstClr val="black"/>
                </a:solidFill>
              </a:rPr>
              <a:t>spaces</a:t>
            </a:r>
            <a:r>
              <a:rPr lang="en-US" altLang="zh-CN" sz="2540" dirty="0">
                <a:solidFill>
                  <a:prstClr val="black"/>
                </a:solidFill>
              </a:rPr>
              <a:t>. </a:t>
            </a:r>
            <a:endParaRPr lang="zh-CN" altLang="en-US" sz="2540" dirty="0">
              <a:solidFill>
                <a:prstClr val="black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28199" y="1491538"/>
            <a:ext cx="10123675" cy="1485189"/>
          </a:xfrm>
          <a:prstGeom prst="rect">
            <a:avLst/>
          </a:prstGeom>
          <a:noFill/>
        </p:spPr>
        <p:txBody>
          <a:bodyPr wrap="none" lIns="107667" tIns="53835" rIns="107667" bIns="53835" rtlCol="0">
            <a:spAutoFit/>
          </a:bodyPr>
          <a:lstStyle/>
          <a:p>
            <a:pPr marL="414655" indent="-414655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540" dirty="0">
                <a:solidFill>
                  <a:prstClr val="black"/>
                </a:solidFill>
              </a:rPr>
              <a:t>The </a:t>
            </a:r>
            <a:r>
              <a:rPr lang="en-US" altLang="zh-CN" sz="2540" b="1" dirty="0">
                <a:solidFill>
                  <a:srgbClr val="00B0F0"/>
                </a:solidFill>
              </a:rPr>
              <a:t>commands</a:t>
            </a:r>
            <a:r>
              <a:rPr lang="en-US" altLang="zh-CN" sz="2540" dirty="0">
                <a:solidFill>
                  <a:prstClr val="black"/>
                </a:solidFill>
              </a:rPr>
              <a:t> include  command name, brackets and parameters , </a:t>
            </a:r>
          </a:p>
          <a:p>
            <a:pPr>
              <a:lnSpc>
                <a:spcPct val="120000"/>
              </a:lnSpc>
            </a:pPr>
            <a:r>
              <a:rPr lang="en-US" altLang="zh-CN" sz="2540" dirty="0">
                <a:solidFill>
                  <a:prstClr val="black"/>
                </a:solidFill>
              </a:rPr>
              <a:t>the parameters are separated by spaces. Commands are not case sensitive.</a:t>
            </a:r>
          </a:p>
          <a:p>
            <a:pPr marL="414655" indent="-414655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540" b="1" dirty="0">
                <a:solidFill>
                  <a:srgbClr val="00B0F0"/>
                </a:solidFill>
              </a:rPr>
              <a:t>Comments</a:t>
            </a:r>
            <a:r>
              <a:rPr lang="en-US" altLang="zh-CN" sz="2540" dirty="0">
                <a:solidFill>
                  <a:prstClr val="black"/>
                </a:solidFill>
              </a:rPr>
              <a:t>  begins  with ‘#’.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254307" y="3275147"/>
            <a:ext cx="9283632" cy="4833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540" dirty="0"/>
              <a:t>Steps for generating a </a:t>
            </a:r>
            <a:r>
              <a:rPr lang="en-US" altLang="zh-CN" sz="2540" dirty="0" err="1"/>
              <a:t>makefile</a:t>
            </a:r>
            <a:r>
              <a:rPr lang="en-US" altLang="zh-CN" sz="2540" dirty="0"/>
              <a:t> and compiling on Linux using </a:t>
            </a:r>
            <a:r>
              <a:rPr lang="en-US" altLang="zh-CN" sz="2540" dirty="0" err="1"/>
              <a:t>CMake</a:t>
            </a:r>
            <a:r>
              <a:rPr lang="en-US" altLang="zh-CN" sz="2540" dirty="0"/>
              <a:t>: </a:t>
            </a:r>
            <a:endParaRPr lang="zh-CN" altLang="en-US" sz="2540" dirty="0"/>
          </a:p>
        </p:txBody>
      </p:sp>
      <p:sp>
        <p:nvSpPr>
          <p:cNvPr id="4" name="文本框 3"/>
          <p:cNvSpPr txBox="1"/>
          <p:nvPr/>
        </p:nvSpPr>
        <p:spPr>
          <a:xfrm>
            <a:off x="1254307" y="4047586"/>
            <a:ext cx="7919284" cy="4833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540" b="1" dirty="0">
                <a:solidFill>
                  <a:srgbClr val="00B0F0"/>
                </a:solidFill>
              </a:rPr>
              <a:t>Step1</a:t>
            </a:r>
            <a:r>
              <a:rPr lang="en-US" altLang="zh-CN" sz="2540" dirty="0"/>
              <a:t>: Writes the </a:t>
            </a:r>
            <a:r>
              <a:rPr lang="en-US" altLang="zh-CN" sz="2540" dirty="0" err="1"/>
              <a:t>CMake</a:t>
            </a:r>
            <a:r>
              <a:rPr lang="en-US" altLang="zh-CN" sz="2540" dirty="0"/>
              <a:t> configuration file </a:t>
            </a:r>
            <a:r>
              <a:rPr lang="en-US" altLang="zh-CN" sz="2540" b="1" dirty="0"/>
              <a:t>CMakeLists.txt</a:t>
            </a:r>
            <a:r>
              <a:rPr lang="en-US" altLang="zh-CN" sz="2540" dirty="0"/>
              <a:t>.</a:t>
            </a:r>
            <a:endParaRPr lang="zh-CN" altLang="en-US" sz="2540" dirty="0"/>
          </a:p>
        </p:txBody>
      </p:sp>
      <p:sp>
        <p:nvSpPr>
          <p:cNvPr id="6" name="文本框 5"/>
          <p:cNvSpPr txBox="1"/>
          <p:nvPr/>
        </p:nvSpPr>
        <p:spPr>
          <a:xfrm>
            <a:off x="1254307" y="4718855"/>
            <a:ext cx="10126026" cy="8743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540" b="1" dirty="0">
                <a:solidFill>
                  <a:srgbClr val="00B0F0"/>
                </a:solidFill>
              </a:rPr>
              <a:t>Step2</a:t>
            </a:r>
            <a:r>
              <a:rPr lang="en-US" altLang="zh-CN" sz="2540" dirty="0"/>
              <a:t>: Executes the command </a:t>
            </a:r>
            <a:r>
              <a:rPr lang="en-US" altLang="zh-CN" sz="2540" b="1" dirty="0" err="1"/>
              <a:t>cmake</a:t>
            </a:r>
            <a:r>
              <a:rPr lang="en-US" altLang="zh-CN" sz="2540" b="1" dirty="0"/>
              <a:t> PATH </a:t>
            </a:r>
            <a:r>
              <a:rPr lang="en-US" altLang="zh-CN" sz="2540" dirty="0"/>
              <a:t>to generate the </a:t>
            </a:r>
            <a:r>
              <a:rPr lang="en-US" altLang="zh-CN" sz="2540" b="1" dirty="0" err="1"/>
              <a:t>Makefile</a:t>
            </a:r>
            <a:r>
              <a:rPr lang="en-US" altLang="zh-CN" sz="2540" dirty="0"/>
              <a:t>.</a:t>
            </a:r>
          </a:p>
          <a:p>
            <a:r>
              <a:rPr lang="en-US" altLang="zh-CN" sz="2540" dirty="0"/>
              <a:t>(PATH is the directory where the CMakeLists.txt resides.)</a:t>
            </a:r>
            <a:endParaRPr lang="zh-CN" altLang="en-US" sz="2540" dirty="0"/>
          </a:p>
        </p:txBody>
      </p:sp>
      <p:sp>
        <p:nvSpPr>
          <p:cNvPr id="7" name="文本框 6"/>
          <p:cNvSpPr txBox="1"/>
          <p:nvPr/>
        </p:nvSpPr>
        <p:spPr>
          <a:xfrm>
            <a:off x="1328199" y="5771058"/>
            <a:ext cx="5907836" cy="4833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540" b="1" dirty="0">
                <a:solidFill>
                  <a:srgbClr val="00B0F0"/>
                </a:solidFill>
              </a:rPr>
              <a:t>Step3</a:t>
            </a:r>
            <a:r>
              <a:rPr lang="en-US" altLang="zh-CN" sz="2540" dirty="0"/>
              <a:t>: Compiles using the </a:t>
            </a:r>
            <a:r>
              <a:rPr lang="en-US" altLang="zh-CN" sz="2540" b="1" dirty="0"/>
              <a:t>make</a:t>
            </a:r>
            <a:r>
              <a:rPr lang="en-US" altLang="zh-CN" sz="2540" dirty="0"/>
              <a:t> command.</a:t>
            </a:r>
            <a:endParaRPr lang="zh-CN" altLang="en-US" sz="2540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963" y="1896618"/>
            <a:ext cx="8480755" cy="218892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10222" y="263786"/>
            <a:ext cx="5927462" cy="611488"/>
          </a:xfrm>
          <a:prstGeom prst="rect">
            <a:avLst/>
          </a:prstGeom>
          <a:noFill/>
        </p:spPr>
        <p:txBody>
          <a:bodyPr wrap="none" lIns="107667" tIns="53835" rIns="107667" bIns="53835" rtlCol="0">
            <a:spAutoFit/>
          </a:bodyPr>
          <a:lstStyle/>
          <a:p>
            <a:r>
              <a:rPr lang="en-US" altLang="zh-CN" sz="3265" b="1" dirty="0">
                <a:solidFill>
                  <a:prstClr val="black"/>
                </a:solidFill>
              </a:rPr>
              <a:t>1. A single source file in a project</a:t>
            </a:r>
            <a:endParaRPr lang="zh-CN" altLang="en-US" sz="3265" b="1" dirty="0">
              <a:solidFill>
                <a:prstClr val="black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30131" y="830303"/>
            <a:ext cx="10782179" cy="847385"/>
          </a:xfrm>
          <a:prstGeom prst="rect">
            <a:avLst/>
          </a:prstGeom>
          <a:noFill/>
        </p:spPr>
        <p:txBody>
          <a:bodyPr wrap="square" lIns="107667" tIns="53835" rIns="107667" bIns="53835" rtlCol="0">
            <a:spAutoFit/>
          </a:bodyPr>
          <a:lstStyle/>
          <a:p>
            <a:r>
              <a:rPr lang="en-US" altLang="zh-CN" sz="2400" dirty="0">
                <a:solidFill>
                  <a:prstClr val="black"/>
                </a:solidFill>
              </a:rPr>
              <a:t>The most basic project is an executable built from source code files. For simple projects, a three-line </a:t>
            </a:r>
            <a:r>
              <a:rPr lang="en-US" altLang="zh-CN" sz="2400" b="1" dirty="0">
                <a:solidFill>
                  <a:prstClr val="black"/>
                </a:solidFill>
              </a:rPr>
              <a:t>CMakeLists.txt </a:t>
            </a:r>
            <a:r>
              <a:rPr lang="en-US" altLang="zh-CN" sz="2400" dirty="0">
                <a:solidFill>
                  <a:prstClr val="black"/>
                </a:solidFill>
              </a:rPr>
              <a:t>file is all that is required.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5050373" y="1337742"/>
            <a:ext cx="7078338" cy="1756649"/>
            <a:chOff x="1411026" y="-158266"/>
            <a:chExt cx="7799281" cy="1935567"/>
          </a:xfrm>
        </p:grpSpPr>
        <p:sp>
          <p:nvSpPr>
            <p:cNvPr id="8" name="TextBox 7"/>
            <p:cNvSpPr txBox="1"/>
            <p:nvPr/>
          </p:nvSpPr>
          <p:spPr>
            <a:xfrm>
              <a:off x="6357291" y="-158266"/>
              <a:ext cx="2853016" cy="1935567"/>
            </a:xfrm>
            <a:prstGeom prst="rect">
              <a:avLst/>
            </a:prstGeom>
            <a:noFill/>
          </p:spPr>
          <p:txBody>
            <a:bodyPr wrap="square" lIns="107710" tIns="53855" rIns="107710" bIns="53855" rtlCol="0">
              <a:spAutoFit/>
            </a:bodyPr>
            <a:lstStyle/>
            <a:p>
              <a:r>
                <a:rPr lang="en-US" altLang="zh-CN" sz="1725" dirty="0">
                  <a:solidFill>
                    <a:prstClr val="black"/>
                  </a:solidFill>
                </a:rPr>
                <a:t>Specifies the minimum </a:t>
              </a:r>
            </a:p>
            <a:p>
              <a:r>
                <a:rPr lang="en-US" altLang="zh-CN" sz="1725" dirty="0">
                  <a:solidFill>
                    <a:prstClr val="black"/>
                  </a:solidFill>
                </a:rPr>
                <a:t>required version of </a:t>
              </a:r>
              <a:r>
                <a:rPr lang="en-US" altLang="zh-CN" sz="1725" dirty="0" err="1">
                  <a:solidFill>
                    <a:prstClr val="black"/>
                  </a:solidFill>
                </a:rPr>
                <a:t>CMake</a:t>
              </a:r>
              <a:r>
                <a:rPr lang="en-US" altLang="zh-CN" sz="1725" dirty="0">
                  <a:solidFill>
                    <a:prstClr val="black"/>
                  </a:solidFill>
                </a:rPr>
                <a:t>.</a:t>
              </a:r>
            </a:p>
            <a:p>
              <a:r>
                <a:rPr lang="en-US" altLang="zh-CN" sz="1815" dirty="0">
                  <a:solidFill>
                    <a:prstClr val="black"/>
                  </a:solidFill>
                </a:rPr>
                <a:t>Use </a:t>
              </a:r>
              <a:r>
                <a:rPr lang="en-US" altLang="zh-CN" sz="1815" b="1" dirty="0" err="1">
                  <a:solidFill>
                    <a:prstClr val="black"/>
                  </a:solidFill>
                </a:rPr>
                <a:t>cmake</a:t>
              </a:r>
              <a:r>
                <a:rPr lang="en-US" altLang="zh-CN" sz="1815" b="1" dirty="0">
                  <a:solidFill>
                    <a:prstClr val="black"/>
                  </a:solidFill>
                </a:rPr>
                <a:t> --version </a:t>
              </a:r>
              <a:r>
                <a:rPr lang="en-US" altLang="zh-CN" sz="1815" dirty="0">
                  <a:solidFill>
                    <a:prstClr val="black"/>
                  </a:solidFill>
                </a:rPr>
                <a:t>in </a:t>
              </a:r>
              <a:r>
                <a:rPr lang="en-US" altLang="zh-CN" sz="1815" dirty="0" err="1">
                  <a:solidFill>
                    <a:prstClr val="black"/>
                  </a:solidFill>
                </a:rPr>
                <a:t>Vscode</a:t>
              </a:r>
              <a:r>
                <a:rPr lang="en-US" altLang="zh-CN" sz="1815" dirty="0">
                  <a:solidFill>
                    <a:prstClr val="black"/>
                  </a:solidFill>
                </a:rPr>
                <a:t> terminal window to check the </a:t>
              </a:r>
              <a:r>
                <a:rPr lang="en-US" altLang="zh-CN" sz="1815" dirty="0" err="1">
                  <a:solidFill>
                    <a:prstClr val="black"/>
                  </a:solidFill>
                </a:rPr>
                <a:t>cmake</a:t>
              </a:r>
              <a:r>
                <a:rPr lang="en-US" altLang="zh-CN" sz="1815" dirty="0">
                  <a:solidFill>
                    <a:prstClr val="black"/>
                  </a:solidFill>
                </a:rPr>
                <a:t> version in your computer. </a:t>
              </a:r>
              <a:endParaRPr lang="zh-CN" altLang="en-US" sz="1815" dirty="0">
                <a:solidFill>
                  <a:prstClr val="black"/>
                </a:solidFill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1411026" y="1180444"/>
              <a:ext cx="4759221" cy="37754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35"/>
            </a:p>
          </p:txBody>
        </p:sp>
        <p:cxnSp>
          <p:nvCxnSpPr>
            <p:cNvPr id="10" name="直接箭头连接符 9"/>
            <p:cNvCxnSpPr/>
            <p:nvPr/>
          </p:nvCxnSpPr>
          <p:spPr>
            <a:xfrm flipH="1">
              <a:off x="5731504" y="504802"/>
              <a:ext cx="720081" cy="591186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组合 10"/>
          <p:cNvGrpSpPr/>
          <p:nvPr/>
        </p:nvGrpSpPr>
        <p:grpSpPr>
          <a:xfrm>
            <a:off x="5055375" y="2906186"/>
            <a:ext cx="5152789" cy="639420"/>
            <a:chOff x="1411025" y="868769"/>
            <a:chExt cx="5677610" cy="704546"/>
          </a:xfrm>
        </p:grpSpPr>
        <p:sp>
          <p:nvSpPr>
            <p:cNvPr id="12" name="TextBox 11"/>
            <p:cNvSpPr txBox="1"/>
            <p:nvPr/>
          </p:nvSpPr>
          <p:spPr>
            <a:xfrm>
              <a:off x="3925791" y="868769"/>
              <a:ext cx="3162844" cy="704546"/>
            </a:xfrm>
            <a:prstGeom prst="rect">
              <a:avLst/>
            </a:prstGeom>
            <a:noFill/>
          </p:spPr>
          <p:txBody>
            <a:bodyPr wrap="square" lIns="107710" tIns="53855" rIns="107710" bIns="53855" rtlCol="0">
              <a:spAutoFit/>
            </a:bodyPr>
            <a:lstStyle/>
            <a:p>
              <a:r>
                <a:rPr lang="en-US" altLang="zh-CN" sz="1725" dirty="0">
                  <a:solidFill>
                    <a:srgbClr val="FFFF00"/>
                  </a:solidFill>
                </a:rPr>
                <a:t>Defines the project </a:t>
              </a:r>
            </a:p>
            <a:p>
              <a:r>
                <a:rPr lang="en-US" altLang="zh-CN" sz="1725" dirty="0">
                  <a:solidFill>
                    <a:srgbClr val="FFFF00"/>
                  </a:solidFill>
                </a:rPr>
                <a:t>name.</a:t>
              </a:r>
              <a:endParaRPr lang="zh-CN" altLang="en-US" sz="1725" dirty="0">
                <a:solidFill>
                  <a:srgbClr val="FFFF00"/>
                </a:solidFill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1411025" y="1139296"/>
              <a:ext cx="2154726" cy="37754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35"/>
            </a:p>
          </p:txBody>
        </p:sp>
        <p:cxnSp>
          <p:nvCxnSpPr>
            <p:cNvPr id="14" name="直接箭头连接符 13"/>
            <p:cNvCxnSpPr>
              <a:endCxn id="13" idx="3"/>
            </p:cNvCxnSpPr>
            <p:nvPr/>
          </p:nvCxnSpPr>
          <p:spPr>
            <a:xfrm flipH="1">
              <a:off x="3565751" y="1139296"/>
              <a:ext cx="464861" cy="188773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组合 15"/>
          <p:cNvGrpSpPr/>
          <p:nvPr/>
        </p:nvGrpSpPr>
        <p:grpSpPr>
          <a:xfrm>
            <a:off x="5050371" y="3139626"/>
            <a:ext cx="6992642" cy="913338"/>
            <a:chOff x="1411024" y="532416"/>
            <a:chExt cx="7704856" cy="1006363"/>
          </a:xfrm>
        </p:grpSpPr>
        <p:sp>
          <p:nvSpPr>
            <p:cNvPr id="17" name="TextBox 16"/>
            <p:cNvSpPr txBox="1"/>
            <p:nvPr/>
          </p:nvSpPr>
          <p:spPr>
            <a:xfrm>
              <a:off x="6324188" y="532416"/>
              <a:ext cx="2791692" cy="996899"/>
            </a:xfrm>
            <a:prstGeom prst="rect">
              <a:avLst/>
            </a:prstGeom>
            <a:noFill/>
          </p:spPr>
          <p:txBody>
            <a:bodyPr wrap="square" lIns="107710" tIns="53855" rIns="107710" bIns="53855" rtlCol="0">
              <a:spAutoFit/>
            </a:bodyPr>
            <a:lstStyle/>
            <a:p>
              <a:r>
                <a:rPr lang="en-US" altLang="zh-CN" sz="1725" dirty="0">
                  <a:solidFill>
                    <a:prstClr val="black"/>
                  </a:solidFill>
                </a:rPr>
                <a:t>Adds the Hello executable </a:t>
              </a:r>
            </a:p>
            <a:p>
              <a:r>
                <a:rPr lang="en-US" altLang="zh-CN" sz="1725" dirty="0">
                  <a:solidFill>
                    <a:prstClr val="black"/>
                  </a:solidFill>
                </a:rPr>
                <a:t>target which will be built </a:t>
              </a:r>
            </a:p>
            <a:p>
              <a:r>
                <a:rPr lang="en-US" altLang="zh-CN" sz="1725" dirty="0">
                  <a:solidFill>
                    <a:prstClr val="black"/>
                  </a:solidFill>
                </a:rPr>
                <a:t>from hello.cpp.</a:t>
              </a:r>
              <a:endParaRPr lang="zh-CN" altLang="en-US" sz="1725" dirty="0">
                <a:solidFill>
                  <a:prstClr val="black"/>
                </a:solidFill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411024" y="1139296"/>
              <a:ext cx="4320479" cy="399483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35"/>
            </a:p>
          </p:txBody>
        </p:sp>
        <p:cxnSp>
          <p:nvCxnSpPr>
            <p:cNvPr id="19" name="直接箭头连接符 18"/>
            <p:cNvCxnSpPr/>
            <p:nvPr/>
          </p:nvCxnSpPr>
          <p:spPr>
            <a:xfrm flipH="1">
              <a:off x="5200358" y="923272"/>
              <a:ext cx="1251226" cy="255665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/>
        </p:nvGrpSpPr>
        <p:grpSpPr>
          <a:xfrm>
            <a:off x="1672666" y="4011587"/>
            <a:ext cx="5549204" cy="644689"/>
            <a:chOff x="-3301753" y="3966275"/>
            <a:chExt cx="6114401" cy="710352"/>
          </a:xfrm>
        </p:grpSpPr>
        <p:sp>
          <p:nvSpPr>
            <p:cNvPr id="20" name="TextBox 19"/>
            <p:cNvSpPr txBox="1"/>
            <p:nvPr/>
          </p:nvSpPr>
          <p:spPr>
            <a:xfrm>
              <a:off x="-3301753" y="4264478"/>
              <a:ext cx="6114401" cy="412149"/>
            </a:xfrm>
            <a:prstGeom prst="rect">
              <a:avLst/>
            </a:prstGeom>
            <a:noFill/>
          </p:spPr>
          <p:txBody>
            <a:bodyPr wrap="square" lIns="107667" tIns="53835" rIns="107667" bIns="53835" rtlCol="0">
              <a:spAutoFit/>
            </a:bodyPr>
            <a:lstStyle/>
            <a:p>
              <a:r>
                <a:rPr lang="en-US" altLang="zh-CN" sz="1725" dirty="0">
                  <a:solidFill>
                    <a:prstClr val="black"/>
                  </a:solidFill>
                </a:rPr>
                <a:t>The first parameter indicates the filename of executable file.</a:t>
              </a:r>
              <a:endParaRPr lang="zh-CN" altLang="en-US" sz="1725" dirty="0">
                <a:solidFill>
                  <a:prstClr val="black"/>
                </a:solidFill>
              </a:endParaRPr>
            </a:p>
          </p:txBody>
        </p:sp>
        <p:cxnSp>
          <p:nvCxnSpPr>
            <p:cNvPr id="21" name="直接箭头连接符 20"/>
            <p:cNvCxnSpPr/>
            <p:nvPr/>
          </p:nvCxnSpPr>
          <p:spPr>
            <a:xfrm flipV="1">
              <a:off x="2228185" y="3966275"/>
              <a:ext cx="489765" cy="294181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/>
        </p:nvGrpSpPr>
        <p:grpSpPr>
          <a:xfrm>
            <a:off x="7468388" y="3951816"/>
            <a:ext cx="4443922" cy="635458"/>
            <a:chOff x="3474037" y="3922266"/>
            <a:chExt cx="4896544" cy="700181"/>
          </a:xfrm>
        </p:grpSpPr>
        <p:sp>
          <p:nvSpPr>
            <p:cNvPr id="22" name="TextBox 21"/>
            <p:cNvSpPr txBox="1"/>
            <p:nvPr/>
          </p:nvSpPr>
          <p:spPr>
            <a:xfrm>
              <a:off x="3474037" y="4210298"/>
              <a:ext cx="4896544" cy="412149"/>
            </a:xfrm>
            <a:prstGeom prst="rect">
              <a:avLst/>
            </a:prstGeom>
            <a:noFill/>
          </p:spPr>
          <p:txBody>
            <a:bodyPr wrap="square" lIns="107667" tIns="53835" rIns="107667" bIns="53835" rtlCol="0">
              <a:spAutoFit/>
            </a:bodyPr>
            <a:lstStyle/>
            <a:p>
              <a:r>
                <a:rPr lang="en-US" altLang="zh-CN" sz="1725" dirty="0">
                  <a:solidFill>
                    <a:prstClr val="black"/>
                  </a:solidFill>
                </a:rPr>
                <a:t>The second parameter indicates the source file.</a:t>
              </a:r>
              <a:endParaRPr lang="zh-CN" altLang="en-US" sz="1725" dirty="0">
                <a:solidFill>
                  <a:prstClr val="black"/>
                </a:solidFill>
              </a:endParaRPr>
            </a:p>
          </p:txBody>
        </p:sp>
        <p:cxnSp>
          <p:nvCxnSpPr>
            <p:cNvPr id="23" name="直接箭头连接符 22"/>
            <p:cNvCxnSpPr/>
            <p:nvPr/>
          </p:nvCxnSpPr>
          <p:spPr>
            <a:xfrm flipH="1" flipV="1">
              <a:off x="4403076" y="3922266"/>
              <a:ext cx="295097" cy="294181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组合 46"/>
          <p:cNvGrpSpPr/>
          <p:nvPr/>
        </p:nvGrpSpPr>
        <p:grpSpPr>
          <a:xfrm>
            <a:off x="497077" y="2514075"/>
            <a:ext cx="6239005" cy="2612396"/>
            <a:chOff x="1062072" y="3108921"/>
            <a:chExt cx="6874459" cy="2878474"/>
          </a:xfrm>
        </p:grpSpPr>
        <p:sp>
          <p:nvSpPr>
            <p:cNvPr id="24" name="TextBox 23"/>
            <p:cNvSpPr txBox="1"/>
            <p:nvPr/>
          </p:nvSpPr>
          <p:spPr>
            <a:xfrm>
              <a:off x="1062072" y="5590507"/>
              <a:ext cx="6874459" cy="396888"/>
            </a:xfrm>
            <a:prstGeom prst="rect">
              <a:avLst/>
            </a:prstGeom>
            <a:noFill/>
          </p:spPr>
          <p:txBody>
            <a:bodyPr wrap="square" lIns="107667" tIns="53835" rIns="107667" bIns="53835" rtlCol="0">
              <a:spAutoFit/>
            </a:bodyPr>
            <a:lstStyle/>
            <a:p>
              <a:r>
                <a:rPr lang="en-US" altLang="zh-CN" sz="1635" dirty="0">
                  <a:solidFill>
                    <a:prstClr val="black"/>
                  </a:solidFill>
                </a:rPr>
                <a:t>Stores the CMakeLists.txt file in the same directory as  the hello.cpp. </a:t>
              </a:r>
            </a:p>
          </p:txBody>
        </p:sp>
        <p:sp>
          <p:nvSpPr>
            <p:cNvPr id="37" name="矩形 36"/>
            <p:cNvSpPr/>
            <p:nvPr/>
          </p:nvSpPr>
          <p:spPr>
            <a:xfrm>
              <a:off x="1493813" y="3108921"/>
              <a:ext cx="1800200" cy="66932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35"/>
            </a:p>
          </p:txBody>
        </p:sp>
        <p:cxnSp>
          <p:nvCxnSpPr>
            <p:cNvPr id="41" name="直接箭头连接符 40"/>
            <p:cNvCxnSpPr/>
            <p:nvPr/>
          </p:nvCxnSpPr>
          <p:spPr>
            <a:xfrm flipV="1">
              <a:off x="1413797" y="3733494"/>
              <a:ext cx="368048" cy="1916964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组合 45"/>
          <p:cNvGrpSpPr/>
          <p:nvPr/>
        </p:nvGrpSpPr>
        <p:grpSpPr>
          <a:xfrm>
            <a:off x="6799966" y="4587769"/>
            <a:ext cx="4996543" cy="1999601"/>
            <a:chOff x="7382047" y="5055042"/>
            <a:chExt cx="5505450" cy="2203264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82047" y="5439031"/>
              <a:ext cx="5505450" cy="1819275"/>
            </a:xfrm>
            <a:prstGeom prst="rect">
              <a:avLst/>
            </a:prstGeom>
          </p:spPr>
        </p:pic>
        <p:sp>
          <p:nvSpPr>
            <p:cNvPr id="45" name="TextBox 24"/>
            <p:cNvSpPr txBox="1"/>
            <p:nvPr/>
          </p:nvSpPr>
          <p:spPr>
            <a:xfrm>
              <a:off x="7601619" y="5055042"/>
              <a:ext cx="3447833" cy="451358"/>
            </a:xfrm>
            <a:prstGeom prst="rect">
              <a:avLst/>
            </a:prstGeom>
            <a:noFill/>
          </p:spPr>
          <p:txBody>
            <a:bodyPr wrap="none" lIns="99346" tIns="49675" rIns="99346" bIns="49675" rtlCol="0">
              <a:spAutoFit/>
            </a:bodyPr>
            <a:lstStyle/>
            <a:p>
              <a:r>
                <a:rPr lang="en-US" altLang="zh-CN" sz="2010" dirty="0">
                  <a:solidFill>
                    <a:prstClr val="black"/>
                  </a:solidFill>
                </a:rPr>
                <a:t>Suppose there is a hello.cpp</a:t>
              </a:r>
              <a:endParaRPr lang="zh-CN" altLang="en-US" sz="2010" dirty="0">
                <a:solidFill>
                  <a:prstClr val="black"/>
                </a:solidFill>
              </a:endParaRPr>
            </a:p>
          </p:txBody>
        </p:sp>
      </p:grp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5289" y="724266"/>
            <a:ext cx="4922500" cy="805766"/>
          </a:xfrm>
          <a:prstGeom prst="rect">
            <a:avLst/>
          </a:prstGeom>
        </p:spPr>
      </p:pic>
      <p:grpSp>
        <p:nvGrpSpPr>
          <p:cNvPr id="15" name="组合 14"/>
          <p:cNvGrpSpPr/>
          <p:nvPr/>
        </p:nvGrpSpPr>
        <p:grpSpPr>
          <a:xfrm>
            <a:off x="6548470" y="1244427"/>
            <a:ext cx="5219570" cy="581273"/>
            <a:chOff x="-1368238" y="-357296"/>
            <a:chExt cx="5751192" cy="640476"/>
          </a:xfrm>
        </p:grpSpPr>
        <p:sp>
          <p:nvSpPr>
            <p:cNvPr id="16" name="矩形 15"/>
            <p:cNvSpPr/>
            <p:nvPr/>
          </p:nvSpPr>
          <p:spPr>
            <a:xfrm>
              <a:off x="-1368238" y="-357296"/>
              <a:ext cx="2366618" cy="34469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954" tIns="41478" rIns="82954" bIns="41478" rtlCol="0" anchor="ctr"/>
            <a:lstStyle/>
            <a:p>
              <a:pPr algn="ctr"/>
              <a:endParaRPr lang="zh-CN" altLang="en-US" sz="1635"/>
            </a:p>
          </p:txBody>
        </p:sp>
        <p:sp>
          <p:nvSpPr>
            <p:cNvPr id="17" name="圆角矩形标注 2"/>
            <p:cNvSpPr/>
            <p:nvPr/>
          </p:nvSpPr>
          <p:spPr>
            <a:xfrm>
              <a:off x="612456" y="-129419"/>
              <a:ext cx="3770498" cy="412599"/>
            </a:xfrm>
            <a:prstGeom prst="wedgeRoundRectCallout">
              <a:avLst>
                <a:gd name="adj1" fmla="val -38838"/>
                <a:gd name="adj2" fmla="val -73991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954" tIns="41478" rIns="82954" bIns="41478" rtlCol="0" anchor="ctr"/>
            <a:lstStyle/>
            <a:p>
              <a:r>
                <a:rPr lang="en-US" altLang="zh-CN" dirty="0"/>
                <a:t>Install </a:t>
              </a:r>
              <a:r>
                <a:rPr lang="en-US" altLang="zh-CN" dirty="0" err="1"/>
                <a:t>cmake</a:t>
              </a:r>
              <a:r>
                <a:rPr lang="en-US" altLang="zh-CN" dirty="0"/>
                <a:t> first by instruction</a:t>
              </a:r>
              <a:endParaRPr lang="zh-CN" altLang="en-US" dirty="0"/>
            </a:p>
          </p:txBody>
        </p:sp>
      </p:grpSp>
      <p:sp>
        <p:nvSpPr>
          <p:cNvPr id="11" name="TextBox 4"/>
          <p:cNvSpPr txBox="1"/>
          <p:nvPr/>
        </p:nvSpPr>
        <p:spPr>
          <a:xfrm>
            <a:off x="399266" y="93331"/>
            <a:ext cx="11630809" cy="890730"/>
          </a:xfrm>
          <a:prstGeom prst="rect">
            <a:avLst/>
          </a:prstGeom>
          <a:noFill/>
        </p:spPr>
        <p:txBody>
          <a:bodyPr wrap="square" lIns="107667" tIns="53835" rIns="107667" bIns="53835" rtlCol="0">
            <a:spAutoFit/>
          </a:bodyPr>
          <a:lstStyle/>
          <a:p>
            <a:r>
              <a:rPr lang="en-US" altLang="zh-CN" sz="2540" dirty="0">
                <a:solidFill>
                  <a:prstClr val="black"/>
                </a:solidFill>
              </a:rPr>
              <a:t>In current directory, type </a:t>
            </a:r>
            <a:r>
              <a:rPr lang="en-US" altLang="zh-CN" sz="2540" b="1" dirty="0" err="1">
                <a:solidFill>
                  <a:srgbClr val="00B0F0"/>
                </a:solidFill>
              </a:rPr>
              <a:t>cmake</a:t>
            </a:r>
            <a:r>
              <a:rPr lang="en-US" altLang="zh-CN" sz="2540" b="1" dirty="0">
                <a:solidFill>
                  <a:srgbClr val="00B0F0"/>
                </a:solidFill>
              </a:rPr>
              <a:t> .</a:t>
            </a:r>
            <a:r>
              <a:rPr lang="en-US" altLang="zh-CN" sz="2540" dirty="0">
                <a:solidFill>
                  <a:prstClr val="black"/>
                </a:solidFill>
              </a:rPr>
              <a:t> to generate </a:t>
            </a:r>
            <a:r>
              <a:rPr lang="en-US" altLang="zh-CN" sz="2540" dirty="0" err="1">
                <a:solidFill>
                  <a:prstClr val="black"/>
                </a:solidFill>
              </a:rPr>
              <a:t>makefile</a:t>
            </a:r>
            <a:r>
              <a:rPr lang="en-US" altLang="zh-CN" sz="2540" dirty="0">
                <a:solidFill>
                  <a:prstClr val="black"/>
                </a:solidFill>
              </a:rPr>
              <a:t>. If </a:t>
            </a:r>
            <a:r>
              <a:rPr lang="en-US" altLang="zh-CN" sz="2540" dirty="0" err="1">
                <a:solidFill>
                  <a:prstClr val="black"/>
                </a:solidFill>
              </a:rPr>
              <a:t>cmake</a:t>
            </a:r>
            <a:r>
              <a:rPr lang="en-US" altLang="zh-CN" sz="2540" dirty="0">
                <a:solidFill>
                  <a:prstClr val="black"/>
                </a:solidFill>
              </a:rPr>
              <a:t> does not be installed, follow the instruction to install </a:t>
            </a:r>
            <a:r>
              <a:rPr lang="en-US" altLang="zh-CN" sz="2540" dirty="0" err="1">
                <a:solidFill>
                  <a:prstClr val="black"/>
                </a:solidFill>
              </a:rPr>
              <a:t>cmake</a:t>
            </a:r>
            <a:r>
              <a:rPr lang="en-US" altLang="zh-CN" sz="2540" dirty="0">
                <a:solidFill>
                  <a:prstClr val="black"/>
                </a:solidFill>
              </a:rPr>
              <a:t>.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429" y="1041157"/>
            <a:ext cx="5489552" cy="399475"/>
          </a:xfrm>
          <a:prstGeom prst="rect">
            <a:avLst/>
          </a:prstGeom>
        </p:spPr>
      </p:pic>
      <p:sp>
        <p:nvSpPr>
          <p:cNvPr id="5" name="椭圆 4"/>
          <p:cNvSpPr/>
          <p:nvPr/>
        </p:nvSpPr>
        <p:spPr>
          <a:xfrm>
            <a:off x="4962000" y="1119991"/>
            <a:ext cx="1110981" cy="33124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35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2468" y="5916098"/>
            <a:ext cx="10115321" cy="55174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960" y="1648937"/>
            <a:ext cx="6049399" cy="4124073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4336029" y="1646345"/>
            <a:ext cx="7694046" cy="1047093"/>
            <a:chOff x="1263319" y="792980"/>
            <a:chExt cx="8477698" cy="1153740"/>
          </a:xfrm>
        </p:grpSpPr>
        <p:sp>
          <p:nvSpPr>
            <p:cNvPr id="10" name="矩形 9"/>
            <p:cNvSpPr/>
            <p:nvPr/>
          </p:nvSpPr>
          <p:spPr>
            <a:xfrm>
              <a:off x="1263319" y="792980"/>
              <a:ext cx="936104" cy="319886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954" tIns="41478" rIns="82954" bIns="41478" rtlCol="0" anchor="ctr"/>
            <a:lstStyle/>
            <a:p>
              <a:pPr algn="ctr"/>
              <a:endParaRPr lang="zh-CN" altLang="en-US" sz="1635"/>
            </a:p>
          </p:txBody>
        </p:sp>
        <p:sp>
          <p:nvSpPr>
            <p:cNvPr id="12" name="圆角矩形标注 2"/>
            <p:cNvSpPr/>
            <p:nvPr/>
          </p:nvSpPr>
          <p:spPr>
            <a:xfrm>
              <a:off x="2773703" y="1218356"/>
              <a:ext cx="6967314" cy="728364"/>
            </a:xfrm>
            <a:prstGeom prst="wedgeRoundRectCallout">
              <a:avLst>
                <a:gd name="adj1" fmla="val -62455"/>
                <a:gd name="adj2" fmla="val -79938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954" tIns="41478" rIns="82954" bIns="41478" rtlCol="0" anchor="ctr"/>
            <a:lstStyle/>
            <a:p>
              <a:r>
                <a:rPr lang="en-US" altLang="zh-CN" dirty="0"/>
                <a:t>Run </a:t>
              </a:r>
              <a:r>
                <a:rPr lang="en-US" altLang="zh-CN" dirty="0" err="1"/>
                <a:t>cmake</a:t>
              </a:r>
              <a:r>
                <a:rPr lang="en-US" altLang="zh-CN" dirty="0"/>
                <a:t> to generate </a:t>
              </a:r>
              <a:r>
                <a:rPr lang="en-US" altLang="zh-CN" dirty="0" err="1"/>
                <a:t>makefle</a:t>
              </a:r>
              <a:r>
                <a:rPr lang="en-US" altLang="zh-CN" dirty="0"/>
                <a:t>, </a:t>
              </a:r>
              <a:r>
                <a:rPr lang="en-US" altLang="zh-CN" b="1" dirty="0">
                  <a:solidFill>
                    <a:srgbClr val="FF0000"/>
                  </a:solidFill>
                  <a:highlight>
                    <a:srgbClr val="FFFF00"/>
                  </a:highlight>
                </a:rPr>
                <a:t>.</a:t>
              </a:r>
              <a:r>
                <a:rPr lang="en-US" altLang="zh-CN" dirty="0">
                  <a:highlight>
                    <a:srgbClr val="FFFF00"/>
                  </a:highlight>
                </a:rPr>
                <a:t> </a:t>
              </a:r>
              <a:r>
                <a:rPr lang="en-US" altLang="zh-CN" dirty="0"/>
                <a:t>indicates the CMakeList.txt is in the current directory.</a:t>
              </a:r>
              <a:endParaRPr lang="zh-CN" altLang="en-US" dirty="0"/>
            </a:p>
          </p:txBody>
        </p:sp>
      </p:grpSp>
      <p:sp>
        <p:nvSpPr>
          <p:cNvPr id="13" name="矩形 12"/>
          <p:cNvSpPr/>
          <p:nvPr/>
        </p:nvSpPr>
        <p:spPr>
          <a:xfrm>
            <a:off x="671801" y="5482693"/>
            <a:ext cx="5414725" cy="29031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35"/>
          </a:p>
        </p:txBody>
      </p:sp>
      <p:grpSp>
        <p:nvGrpSpPr>
          <p:cNvPr id="14" name="组合 13"/>
          <p:cNvGrpSpPr/>
          <p:nvPr/>
        </p:nvGrpSpPr>
        <p:grpSpPr>
          <a:xfrm>
            <a:off x="6511664" y="4808113"/>
            <a:ext cx="5256376" cy="1634602"/>
            <a:chOff x="2832519" y="5361538"/>
            <a:chExt cx="5791746" cy="1801088"/>
          </a:xfrm>
        </p:grpSpPr>
        <p:sp>
          <p:nvSpPr>
            <p:cNvPr id="19" name="矩形 18"/>
            <p:cNvSpPr/>
            <p:nvPr/>
          </p:nvSpPr>
          <p:spPr>
            <a:xfrm>
              <a:off x="2832519" y="6802586"/>
              <a:ext cx="1173006" cy="36004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954" tIns="41478" rIns="82954" bIns="41478" rtlCol="0" anchor="ctr"/>
            <a:lstStyle/>
            <a:p>
              <a:pPr algn="ctr"/>
              <a:endParaRPr lang="zh-CN" altLang="en-US" sz="1635"/>
            </a:p>
          </p:txBody>
        </p:sp>
        <p:sp>
          <p:nvSpPr>
            <p:cNvPr id="20" name="圆角矩形标注 5"/>
            <p:cNvSpPr/>
            <p:nvPr/>
          </p:nvSpPr>
          <p:spPr>
            <a:xfrm>
              <a:off x="3419021" y="5361538"/>
              <a:ext cx="5205244" cy="964296"/>
            </a:xfrm>
            <a:prstGeom prst="wedgeRoundRectCallout">
              <a:avLst>
                <a:gd name="adj1" fmla="val -44892"/>
                <a:gd name="adj2" fmla="val 98536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954" tIns="41478" rIns="82954" bIns="41478" rtlCol="0" anchor="ctr"/>
            <a:lstStyle/>
            <a:p>
              <a:pPr algn="ctr"/>
              <a:r>
                <a:rPr lang="en-US" altLang="zh-CN" b="1" dirty="0" err="1">
                  <a:solidFill>
                    <a:srgbClr val="FFFF00"/>
                  </a:solidFill>
                </a:rPr>
                <a:t>Makefile</a:t>
              </a:r>
              <a:r>
                <a:rPr lang="en-US" altLang="zh-CN" dirty="0"/>
                <a:t> file is created automatically after running </a:t>
              </a:r>
              <a:r>
                <a:rPr lang="en-US" altLang="zh-CN" dirty="0" err="1"/>
                <a:t>cmake</a:t>
              </a:r>
              <a:r>
                <a:rPr lang="en-US" altLang="zh-CN" dirty="0"/>
                <a:t> in the current directory. Except </a:t>
              </a:r>
              <a:r>
                <a:rPr lang="en-US" altLang="zh-CN" dirty="0" err="1"/>
                <a:t>Makefile</a:t>
              </a:r>
              <a:r>
                <a:rPr lang="en-US" altLang="zh-CN" dirty="0"/>
                <a:t>, there are other new files and folders.</a:t>
              </a:r>
              <a:endParaRPr lang="zh-CN" altLang="en-US" dirty="0"/>
            </a:p>
          </p:txBody>
        </p:sp>
      </p:grp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13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444" y="2230710"/>
            <a:ext cx="5670525" cy="52281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5448" y="799092"/>
            <a:ext cx="6504631" cy="1212118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6258308" y="725149"/>
            <a:ext cx="4963871" cy="429818"/>
            <a:chOff x="1205783" y="1239219"/>
            <a:chExt cx="4303315" cy="473596"/>
          </a:xfrm>
        </p:grpSpPr>
        <p:sp>
          <p:nvSpPr>
            <p:cNvPr id="4" name="矩形 3"/>
            <p:cNvSpPr/>
            <p:nvPr/>
          </p:nvSpPr>
          <p:spPr>
            <a:xfrm>
              <a:off x="1205783" y="1320692"/>
              <a:ext cx="485491" cy="353323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954" tIns="41478" rIns="82954" bIns="41478" rtlCol="0" anchor="ctr"/>
            <a:lstStyle/>
            <a:p>
              <a:pPr algn="ctr"/>
              <a:endParaRPr lang="zh-CN" altLang="en-US" sz="1635"/>
            </a:p>
          </p:txBody>
        </p:sp>
        <p:sp>
          <p:nvSpPr>
            <p:cNvPr id="5" name="圆角矩形标注 4"/>
            <p:cNvSpPr/>
            <p:nvPr/>
          </p:nvSpPr>
          <p:spPr>
            <a:xfrm>
              <a:off x="2107067" y="1239219"/>
              <a:ext cx="3402031" cy="473596"/>
            </a:xfrm>
            <a:prstGeom prst="wedgeRoundRectCallout">
              <a:avLst>
                <a:gd name="adj1" fmla="val -63075"/>
                <a:gd name="adj2" fmla="val -11364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954" tIns="41478" rIns="82954" bIns="41478" rtlCol="0" anchor="ctr"/>
            <a:lstStyle/>
            <a:p>
              <a:r>
                <a:rPr lang="en-US" altLang="zh-CN" dirty="0"/>
                <a:t>Execute  make to compile the program.</a:t>
              </a:r>
              <a:endParaRPr lang="zh-CN" altLang="en-US" dirty="0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6811546" y="2125744"/>
            <a:ext cx="3134011" cy="406126"/>
            <a:chOff x="1348004" y="4598684"/>
            <a:chExt cx="3453216" cy="447489"/>
          </a:xfrm>
        </p:grpSpPr>
        <p:sp>
          <p:nvSpPr>
            <p:cNvPr id="6" name="矩形 5"/>
            <p:cNvSpPr/>
            <p:nvPr/>
          </p:nvSpPr>
          <p:spPr>
            <a:xfrm>
              <a:off x="1348004" y="4686132"/>
              <a:ext cx="966047" cy="36004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954" tIns="41478" rIns="82954" bIns="41478" rtlCol="0" anchor="ctr"/>
            <a:lstStyle/>
            <a:p>
              <a:pPr algn="ctr"/>
              <a:endParaRPr lang="zh-CN" altLang="en-US" sz="1635"/>
            </a:p>
          </p:txBody>
        </p:sp>
        <p:sp>
          <p:nvSpPr>
            <p:cNvPr id="7" name="圆角矩形标注 6"/>
            <p:cNvSpPr/>
            <p:nvPr/>
          </p:nvSpPr>
          <p:spPr>
            <a:xfrm>
              <a:off x="2496964" y="4598684"/>
              <a:ext cx="2304256" cy="359254"/>
            </a:xfrm>
            <a:prstGeom prst="wedgeRoundRectCallout">
              <a:avLst>
                <a:gd name="adj1" fmla="val -61392"/>
                <a:gd name="adj2" fmla="val 24541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954" tIns="41478" rIns="82954" bIns="41478" rtlCol="0" anchor="ctr"/>
            <a:lstStyle/>
            <a:p>
              <a:pPr algn="ctr"/>
              <a:r>
                <a:rPr lang="en-US" altLang="zh-CN" dirty="0"/>
                <a:t>Run the program</a:t>
              </a:r>
              <a:endParaRPr lang="zh-CN" altLang="en-US" dirty="0"/>
            </a:p>
          </p:txBody>
        </p:sp>
      </p:grpSp>
      <p:sp>
        <p:nvSpPr>
          <p:cNvPr id="12" name="矩形 11"/>
          <p:cNvSpPr/>
          <p:nvPr/>
        </p:nvSpPr>
        <p:spPr>
          <a:xfrm>
            <a:off x="2890449" y="1739355"/>
            <a:ext cx="2091258" cy="32370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35"/>
          </a:p>
        </p:txBody>
      </p:sp>
      <p:sp>
        <p:nvSpPr>
          <p:cNvPr id="13" name="矩形 12"/>
          <p:cNvSpPr/>
          <p:nvPr/>
        </p:nvSpPr>
        <p:spPr>
          <a:xfrm>
            <a:off x="2152395" y="2494345"/>
            <a:ext cx="1568443" cy="32370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35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13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1523" y="4798933"/>
            <a:ext cx="6509468" cy="2025906"/>
          </a:xfrm>
          <a:prstGeom prst="rect">
            <a:avLst/>
          </a:prstGeom>
        </p:spPr>
      </p:pic>
      <p:sp>
        <p:nvSpPr>
          <p:cNvPr id="7" name="椭圆 6"/>
          <p:cNvSpPr/>
          <p:nvPr/>
        </p:nvSpPr>
        <p:spPr>
          <a:xfrm>
            <a:off x="9816505" y="4818461"/>
            <a:ext cx="849573" cy="226224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1186180" rtl="0" eaLnBrk="1" latinLnBrk="0" hangingPunct="1">
              <a:defRPr sz="23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3090" algn="l" defTabSz="1186180" rtl="0" eaLnBrk="1" latinLnBrk="0" hangingPunct="1">
              <a:defRPr sz="23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86180" algn="l" defTabSz="1186180" rtl="0" eaLnBrk="1" latinLnBrk="0" hangingPunct="1">
              <a:defRPr sz="23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79270" algn="l" defTabSz="1186180" rtl="0" eaLnBrk="1" latinLnBrk="0" hangingPunct="1">
              <a:defRPr sz="23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72360" algn="l" defTabSz="1186180" rtl="0" eaLnBrk="1" latinLnBrk="0" hangingPunct="1">
              <a:defRPr sz="23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66085" algn="l" defTabSz="1186180" rtl="0" eaLnBrk="1" latinLnBrk="0" hangingPunct="1">
              <a:defRPr sz="23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59175" algn="l" defTabSz="1186180" rtl="0" eaLnBrk="1" latinLnBrk="0" hangingPunct="1">
              <a:defRPr sz="23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52265" algn="l" defTabSz="1186180" rtl="0" eaLnBrk="1" latinLnBrk="0" hangingPunct="1">
              <a:defRPr sz="23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45355" algn="l" defTabSz="1186180" rtl="0" eaLnBrk="1" latinLnBrk="0" hangingPunct="1">
              <a:defRPr sz="23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085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6622" y="1191274"/>
            <a:ext cx="2143845" cy="1910443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7574" y="3345935"/>
            <a:ext cx="2161134" cy="1253458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8161" y="591134"/>
            <a:ext cx="5033379" cy="3664146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8343" y="4284571"/>
            <a:ext cx="5407239" cy="429308"/>
          </a:xfrm>
          <a:prstGeom prst="rect">
            <a:avLst/>
          </a:prstGeom>
        </p:spPr>
      </p:pic>
      <p:grpSp>
        <p:nvGrpSpPr>
          <p:cNvPr id="29" name="组合 28"/>
          <p:cNvGrpSpPr/>
          <p:nvPr/>
        </p:nvGrpSpPr>
        <p:grpSpPr>
          <a:xfrm>
            <a:off x="1405649" y="1370507"/>
            <a:ext cx="5190997" cy="1740441"/>
            <a:chOff x="1061765" y="3688002"/>
            <a:chExt cx="5719710" cy="1917708"/>
          </a:xfrm>
        </p:grpSpPr>
        <p:grpSp>
          <p:nvGrpSpPr>
            <p:cNvPr id="24" name="组合 23"/>
            <p:cNvGrpSpPr/>
            <p:nvPr/>
          </p:nvGrpSpPr>
          <p:grpSpPr>
            <a:xfrm>
              <a:off x="1061765" y="3688002"/>
              <a:ext cx="5719710" cy="882336"/>
              <a:chOff x="1205782" y="1259451"/>
              <a:chExt cx="5719710" cy="882336"/>
            </a:xfrm>
          </p:grpSpPr>
          <p:sp>
            <p:nvSpPr>
              <p:cNvPr id="25" name="矩形 24"/>
              <p:cNvSpPr/>
              <p:nvPr/>
            </p:nvSpPr>
            <p:spPr>
              <a:xfrm>
                <a:off x="1205782" y="1259451"/>
                <a:ext cx="1656184" cy="882336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82954" tIns="41478" rIns="82954" bIns="41478" rtlCol="0" anchor="ctr"/>
              <a:lstStyle/>
              <a:p>
                <a:pPr algn="ctr"/>
                <a:endParaRPr lang="zh-CN" altLang="en-US" sz="1635"/>
              </a:p>
            </p:txBody>
          </p:sp>
          <p:sp>
            <p:nvSpPr>
              <p:cNvPr id="26" name="圆角矩形标注 4"/>
              <p:cNvSpPr/>
              <p:nvPr/>
            </p:nvSpPr>
            <p:spPr>
              <a:xfrm>
                <a:off x="3393009" y="1259451"/>
                <a:ext cx="3532483" cy="639811"/>
              </a:xfrm>
              <a:prstGeom prst="wedgeRoundRectCallout">
                <a:avLst>
                  <a:gd name="adj1" fmla="val -74132"/>
                  <a:gd name="adj2" fmla="val -22046"/>
                  <a:gd name="adj3" fmla="val 16667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82954" tIns="41478" rIns="82954" bIns="41478" rtlCol="0" anchor="ctr"/>
              <a:lstStyle/>
              <a:p>
                <a:r>
                  <a:rPr lang="en-US" altLang="zh-CN" dirty="0"/>
                  <a:t>Deletes all the building files and directory by </a:t>
                </a:r>
                <a:r>
                  <a:rPr lang="en-US" altLang="zh-CN" dirty="0" err="1"/>
                  <a:t>CMake</a:t>
                </a:r>
                <a:r>
                  <a:rPr lang="en-US" altLang="zh-CN" dirty="0"/>
                  <a:t>.</a:t>
                </a:r>
                <a:endParaRPr lang="zh-CN" altLang="en-US" dirty="0"/>
              </a:p>
            </p:txBody>
          </p:sp>
        </p:grpSp>
        <p:sp>
          <p:nvSpPr>
            <p:cNvPr id="27" name="矩形 26"/>
            <p:cNvSpPr/>
            <p:nvPr/>
          </p:nvSpPr>
          <p:spPr>
            <a:xfrm>
              <a:off x="1104797" y="4789928"/>
              <a:ext cx="567680" cy="2450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954" tIns="41478" rIns="82954" bIns="41478" rtlCol="0" anchor="ctr"/>
            <a:lstStyle/>
            <a:p>
              <a:pPr algn="ctr"/>
              <a:endParaRPr lang="zh-CN" altLang="en-US" sz="1635"/>
            </a:p>
          </p:txBody>
        </p:sp>
        <p:sp>
          <p:nvSpPr>
            <p:cNvPr id="28" name="矩形 27"/>
            <p:cNvSpPr/>
            <p:nvPr/>
          </p:nvSpPr>
          <p:spPr>
            <a:xfrm>
              <a:off x="1070149" y="5333366"/>
              <a:ext cx="999728" cy="27234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954" tIns="41478" rIns="82954" bIns="41478" rtlCol="0" anchor="ctr"/>
            <a:lstStyle/>
            <a:p>
              <a:pPr algn="ctr"/>
              <a:endParaRPr lang="zh-CN" altLang="en-US" sz="1635"/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1387185" y="3562842"/>
            <a:ext cx="4527946" cy="1073504"/>
            <a:chOff x="1358181" y="4608854"/>
            <a:chExt cx="4989126" cy="1182842"/>
          </a:xfrm>
        </p:grpSpPr>
        <p:sp>
          <p:nvSpPr>
            <p:cNvPr id="32" name="矩形 31"/>
            <p:cNvSpPr/>
            <p:nvPr/>
          </p:nvSpPr>
          <p:spPr>
            <a:xfrm>
              <a:off x="1358181" y="4940558"/>
              <a:ext cx="966048" cy="30190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954" tIns="41478" rIns="82954" bIns="41478" rtlCol="0" anchor="ctr"/>
            <a:lstStyle/>
            <a:p>
              <a:pPr algn="ctr"/>
              <a:endParaRPr lang="zh-CN" altLang="en-US" sz="1635"/>
            </a:p>
          </p:txBody>
        </p:sp>
        <p:sp>
          <p:nvSpPr>
            <p:cNvPr id="33" name="圆角矩形标注 6"/>
            <p:cNvSpPr/>
            <p:nvPr/>
          </p:nvSpPr>
          <p:spPr>
            <a:xfrm>
              <a:off x="2940030" y="4608854"/>
              <a:ext cx="3407277" cy="1182842"/>
            </a:xfrm>
            <a:prstGeom prst="wedgeRoundRectCallout">
              <a:avLst>
                <a:gd name="adj1" fmla="val -74432"/>
                <a:gd name="adj2" fmla="val -11258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954" tIns="41478" rIns="82954" bIns="41478" rtlCol="0" anchor="ctr"/>
            <a:lstStyle/>
            <a:p>
              <a:pPr algn="ctr"/>
              <a:r>
                <a:rPr lang="en-US" altLang="zh-CN" dirty="0"/>
                <a:t>Creates an empty folder to store the building files and directory by </a:t>
              </a:r>
              <a:r>
                <a:rPr lang="en-US" altLang="zh-CN" dirty="0" err="1"/>
                <a:t>CMake</a:t>
              </a:r>
              <a:r>
                <a:rPr lang="en-US" altLang="zh-CN" dirty="0"/>
                <a:t>.</a:t>
              </a:r>
              <a:endParaRPr lang="zh-CN" altLang="en-US" dirty="0"/>
            </a:p>
          </p:txBody>
        </p:sp>
      </p:grpSp>
      <p:sp>
        <p:nvSpPr>
          <p:cNvPr id="34" name="椭圆 33"/>
          <p:cNvSpPr/>
          <p:nvPr/>
        </p:nvSpPr>
        <p:spPr>
          <a:xfrm>
            <a:off x="9980164" y="561844"/>
            <a:ext cx="849573" cy="226224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35"/>
          </a:p>
        </p:txBody>
      </p:sp>
      <p:sp>
        <p:nvSpPr>
          <p:cNvPr id="35" name="椭圆 34"/>
          <p:cNvSpPr/>
          <p:nvPr/>
        </p:nvSpPr>
        <p:spPr>
          <a:xfrm>
            <a:off x="10568330" y="787190"/>
            <a:ext cx="849573" cy="226224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35"/>
          </a:p>
        </p:txBody>
      </p:sp>
      <p:sp>
        <p:nvSpPr>
          <p:cNvPr id="36" name="矩形 35"/>
          <p:cNvSpPr/>
          <p:nvPr/>
        </p:nvSpPr>
        <p:spPr>
          <a:xfrm>
            <a:off x="9064360" y="4411707"/>
            <a:ext cx="876749" cy="32675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954" tIns="41478" rIns="82954" bIns="41478" rtlCol="0" anchor="ctr"/>
          <a:lstStyle/>
          <a:p>
            <a:pPr algn="ctr"/>
            <a:endParaRPr lang="zh-CN" altLang="en-US" sz="1635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34" grpId="0" bldLvl="0" animBg="1"/>
      <p:bldP spid="35" grpId="0" bldLvl="0" animBg="1"/>
      <p:bldP spid="36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2059" y="1761907"/>
            <a:ext cx="8039420" cy="18067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87908" y="175628"/>
            <a:ext cx="5714263" cy="611488"/>
          </a:xfrm>
          <a:prstGeom prst="rect">
            <a:avLst/>
          </a:prstGeom>
          <a:noFill/>
        </p:spPr>
        <p:txBody>
          <a:bodyPr wrap="none" lIns="107667" tIns="53835" rIns="107667" bIns="53835" rtlCol="0">
            <a:spAutoFit/>
          </a:bodyPr>
          <a:lstStyle/>
          <a:p>
            <a:r>
              <a:rPr lang="en-US" altLang="zh-CN" sz="3265" b="1" dirty="0">
                <a:solidFill>
                  <a:prstClr val="black"/>
                </a:solidFill>
              </a:rPr>
              <a:t>2. Multi-source files in a project</a:t>
            </a:r>
            <a:endParaRPr lang="zh-CN" altLang="en-US" sz="3265" b="1" dirty="0">
              <a:solidFill>
                <a:prstClr val="black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88548" y="901445"/>
            <a:ext cx="6926423" cy="541789"/>
          </a:xfrm>
          <a:prstGeom prst="rect">
            <a:avLst/>
          </a:prstGeom>
          <a:noFill/>
        </p:spPr>
        <p:txBody>
          <a:bodyPr wrap="square" lIns="107667" tIns="53835" rIns="107667" bIns="53835" rtlCol="0">
            <a:spAutoFit/>
          </a:bodyPr>
          <a:lstStyle/>
          <a:p>
            <a:r>
              <a:rPr lang="en-US" altLang="zh-CN" sz="2815" dirty="0">
                <a:solidFill>
                  <a:prstClr val="black"/>
                </a:solidFill>
              </a:rPr>
              <a:t>There are three files in the same directory.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6849485" y="3278001"/>
            <a:ext cx="5128177" cy="883815"/>
            <a:chOff x="2203113" y="677235"/>
            <a:chExt cx="5650491" cy="973833"/>
          </a:xfrm>
        </p:grpSpPr>
        <p:sp>
          <p:nvSpPr>
            <p:cNvPr id="17" name="TextBox 16"/>
            <p:cNvSpPr txBox="1"/>
            <p:nvPr/>
          </p:nvSpPr>
          <p:spPr>
            <a:xfrm>
              <a:off x="2203113" y="1223474"/>
              <a:ext cx="5650491" cy="427594"/>
            </a:xfrm>
            <a:prstGeom prst="rect">
              <a:avLst/>
            </a:prstGeom>
            <a:noFill/>
          </p:spPr>
          <p:txBody>
            <a:bodyPr wrap="square" lIns="107710" tIns="53855" rIns="107710" bIns="53855" rtlCol="0">
              <a:spAutoFit/>
            </a:bodyPr>
            <a:lstStyle/>
            <a:p>
              <a:r>
                <a:rPr lang="en-US" altLang="zh-CN" sz="1815" dirty="0">
                  <a:solidFill>
                    <a:prstClr val="black"/>
                  </a:solidFill>
                </a:rPr>
                <a:t>List all the source files using space as the separator.</a:t>
              </a:r>
            </a:p>
          </p:txBody>
        </p:sp>
        <p:sp>
          <p:nvSpPr>
            <p:cNvPr id="18" name="矩形 17"/>
            <p:cNvSpPr/>
            <p:nvPr/>
          </p:nvSpPr>
          <p:spPr>
            <a:xfrm>
              <a:off x="5189308" y="677235"/>
              <a:ext cx="2304256" cy="287940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35">
                <a:solidFill>
                  <a:prstClr val="white"/>
                </a:solidFill>
              </a:endParaRPr>
            </a:p>
          </p:txBody>
        </p:sp>
        <p:cxnSp>
          <p:nvCxnSpPr>
            <p:cNvPr id="19" name="直接箭头连接符 18"/>
            <p:cNvCxnSpPr/>
            <p:nvPr/>
          </p:nvCxnSpPr>
          <p:spPr>
            <a:xfrm flipV="1">
              <a:off x="5803512" y="1034459"/>
              <a:ext cx="432048" cy="25093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617" y="1634226"/>
            <a:ext cx="2619295" cy="2195713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3954" y="262223"/>
            <a:ext cx="6836771" cy="6027883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7723689" y="926988"/>
            <a:ext cx="849573" cy="26140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35"/>
          </a:p>
        </p:txBody>
      </p:sp>
      <p:sp>
        <p:nvSpPr>
          <p:cNvPr id="5" name="矩形 4"/>
          <p:cNvSpPr/>
          <p:nvPr/>
        </p:nvSpPr>
        <p:spPr>
          <a:xfrm>
            <a:off x="7723689" y="4949071"/>
            <a:ext cx="522814" cy="26140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35"/>
          </a:p>
        </p:txBody>
      </p:sp>
      <p:sp>
        <p:nvSpPr>
          <p:cNvPr id="6" name="矩形 5"/>
          <p:cNvSpPr/>
          <p:nvPr/>
        </p:nvSpPr>
        <p:spPr>
          <a:xfrm>
            <a:off x="2887655" y="5968839"/>
            <a:ext cx="2418017" cy="32675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35"/>
          </a:p>
        </p:txBody>
      </p:sp>
      <p:sp>
        <p:nvSpPr>
          <p:cNvPr id="7" name="矩形 6"/>
          <p:cNvSpPr/>
          <p:nvPr/>
        </p:nvSpPr>
        <p:spPr>
          <a:xfrm>
            <a:off x="2495545" y="4687664"/>
            <a:ext cx="6535180" cy="26140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35"/>
          </a:p>
        </p:txBody>
      </p:sp>
      <p:grpSp>
        <p:nvGrpSpPr>
          <p:cNvPr id="10" name="组合 9"/>
          <p:cNvGrpSpPr/>
          <p:nvPr/>
        </p:nvGrpSpPr>
        <p:grpSpPr>
          <a:xfrm>
            <a:off x="7070170" y="305263"/>
            <a:ext cx="3140719" cy="395104"/>
            <a:chOff x="1358181" y="4781659"/>
            <a:chExt cx="3460607" cy="435346"/>
          </a:xfrm>
        </p:grpSpPr>
        <p:sp>
          <p:nvSpPr>
            <p:cNvPr id="11" name="矩形 10"/>
            <p:cNvSpPr/>
            <p:nvPr/>
          </p:nvSpPr>
          <p:spPr>
            <a:xfrm>
              <a:off x="1358181" y="4928973"/>
              <a:ext cx="1440160" cy="288032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954" tIns="41478" rIns="82954" bIns="41478" rtlCol="0" anchor="ctr"/>
            <a:lstStyle/>
            <a:p>
              <a:pPr algn="ctr"/>
              <a:endParaRPr lang="zh-CN" altLang="en-US" sz="1635"/>
            </a:p>
          </p:txBody>
        </p:sp>
        <p:sp>
          <p:nvSpPr>
            <p:cNvPr id="12" name="圆角矩形标注 6"/>
            <p:cNvSpPr/>
            <p:nvPr/>
          </p:nvSpPr>
          <p:spPr>
            <a:xfrm>
              <a:off x="2938137" y="4781659"/>
              <a:ext cx="1880651" cy="435346"/>
            </a:xfrm>
            <a:prstGeom prst="wedgeRoundRectCallout">
              <a:avLst>
                <a:gd name="adj1" fmla="val -61392"/>
                <a:gd name="adj2" fmla="val 24541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954" tIns="41478" rIns="82954" bIns="41478" rtlCol="0" anchor="ctr"/>
            <a:lstStyle/>
            <a:p>
              <a:pPr algn="ctr"/>
              <a:r>
                <a:rPr lang="en-US" altLang="zh-CN" dirty="0"/>
                <a:t>Creates a folder</a:t>
              </a:r>
              <a:endParaRPr lang="zh-CN" altLang="en-US" dirty="0"/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  <p:bldP spid="6" grpId="0" bldLvl="0" animBg="1"/>
      <p:bldP spid="7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558075" y="481963"/>
            <a:ext cx="5732986" cy="611167"/>
          </a:xfrm>
          <a:prstGeom prst="rect">
            <a:avLst/>
          </a:prstGeom>
          <a:noFill/>
        </p:spPr>
        <p:txBody>
          <a:bodyPr wrap="none" lIns="107667" tIns="53835" rIns="107667" bIns="53835" rtlCol="0">
            <a:spAutoFit/>
          </a:bodyPr>
          <a:lstStyle/>
          <a:p>
            <a:r>
              <a:rPr lang="en-US" altLang="zh-CN" sz="3265" b="1" dirty="0">
                <a:solidFill>
                  <a:prstClr val="black"/>
                </a:solidFill>
              </a:rPr>
              <a:t>2. Multi-source files in Project-1</a:t>
            </a:r>
            <a:endParaRPr lang="zh-CN" altLang="en-US" sz="3265" b="1" dirty="0">
              <a:solidFill>
                <a:prstClr val="black"/>
              </a:solidFill>
            </a:endParaRPr>
          </a:p>
        </p:txBody>
      </p:sp>
      <p:sp>
        <p:nvSpPr>
          <p:cNvPr id="12" name="TextBox 14"/>
          <p:cNvSpPr txBox="1"/>
          <p:nvPr/>
        </p:nvSpPr>
        <p:spPr>
          <a:xfrm>
            <a:off x="2036620" y="2711057"/>
            <a:ext cx="5749890" cy="488813"/>
          </a:xfrm>
          <a:prstGeom prst="rect">
            <a:avLst/>
          </a:prstGeom>
          <a:noFill/>
        </p:spPr>
        <p:txBody>
          <a:bodyPr wrap="none" lIns="82954" tIns="41478" rIns="82954" bIns="41478" rtlCol="0">
            <a:spAutoFit/>
          </a:bodyPr>
          <a:lstStyle/>
          <a:p>
            <a:r>
              <a:rPr lang="en-US" altLang="zh-CN" sz="2630" b="1" dirty="0" err="1">
                <a:solidFill>
                  <a:srgbClr val="00B0F0"/>
                </a:solidFill>
              </a:rPr>
              <a:t>aux_source_directory</a:t>
            </a:r>
            <a:r>
              <a:rPr lang="en-US" altLang="zh-CN" sz="2630" b="1" dirty="0"/>
              <a:t> (&lt;</a:t>
            </a:r>
            <a:r>
              <a:rPr lang="en-US" altLang="zh-CN" sz="2630" b="1" dirty="0" err="1"/>
              <a:t>dir</a:t>
            </a:r>
            <a:r>
              <a:rPr lang="en-US" altLang="zh-CN" sz="2630" b="1" dirty="0"/>
              <a:t>&gt; &lt;variable&gt;)</a:t>
            </a:r>
            <a:endParaRPr lang="zh-CN" altLang="en-US" sz="2630" b="1" dirty="0"/>
          </a:p>
        </p:txBody>
      </p:sp>
      <p:grpSp>
        <p:nvGrpSpPr>
          <p:cNvPr id="13" name="组合 12"/>
          <p:cNvGrpSpPr/>
          <p:nvPr/>
        </p:nvGrpSpPr>
        <p:grpSpPr>
          <a:xfrm>
            <a:off x="2080417" y="3176143"/>
            <a:ext cx="6364938" cy="1065938"/>
            <a:chOff x="889312" y="5840497"/>
            <a:chExt cx="7013219" cy="1174506"/>
          </a:xfrm>
        </p:grpSpPr>
        <p:cxnSp>
          <p:nvCxnSpPr>
            <p:cNvPr id="14" name="直接箭头连接符 13"/>
            <p:cNvCxnSpPr/>
            <p:nvPr/>
          </p:nvCxnSpPr>
          <p:spPr>
            <a:xfrm flipV="1">
              <a:off x="4419652" y="5840497"/>
              <a:ext cx="432048" cy="25093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矩形 15"/>
            <p:cNvSpPr/>
            <p:nvPr/>
          </p:nvSpPr>
          <p:spPr>
            <a:xfrm>
              <a:off x="889312" y="6091427"/>
              <a:ext cx="7013219" cy="923576"/>
            </a:xfrm>
            <a:prstGeom prst="rect">
              <a:avLst/>
            </a:prstGeom>
          </p:spPr>
          <p:txBody>
            <a:bodyPr wrap="square" lIns="82954" tIns="41478" rIns="82954" bIns="41478">
              <a:spAutoFit/>
            </a:bodyPr>
            <a:lstStyle/>
            <a:p>
              <a:r>
                <a:rPr lang="en-US" altLang="zh-CN" sz="1635" dirty="0"/>
                <a:t>The  command finds all the source files in the specified directory indicated by &lt;</a:t>
              </a:r>
              <a:r>
                <a:rPr lang="en-US" altLang="zh-CN" sz="1635" dirty="0" err="1"/>
                <a:t>dir</a:t>
              </a:r>
              <a:r>
                <a:rPr lang="en-US" altLang="zh-CN" sz="1635" dirty="0"/>
                <a:t>&gt; and stores the results in the specified variable indicated by &lt;variable&gt;.</a:t>
              </a:r>
              <a:endParaRPr lang="zh-CN" altLang="en-US" sz="1635" dirty="0"/>
            </a:p>
          </p:txBody>
        </p:sp>
      </p:grpSp>
      <p:sp>
        <p:nvSpPr>
          <p:cNvPr id="17" name="TextBox 4"/>
          <p:cNvSpPr txBox="1"/>
          <p:nvPr/>
        </p:nvSpPr>
        <p:spPr>
          <a:xfrm>
            <a:off x="1012503" y="1306671"/>
            <a:ext cx="11179497" cy="1281735"/>
          </a:xfrm>
          <a:prstGeom prst="rect">
            <a:avLst/>
          </a:prstGeom>
          <a:noFill/>
        </p:spPr>
        <p:txBody>
          <a:bodyPr wrap="square" lIns="107667" tIns="53835" rIns="107667" bIns="53835" rtlCol="0">
            <a:spAutoFit/>
          </a:bodyPr>
          <a:lstStyle/>
          <a:p>
            <a:r>
              <a:rPr lang="en-US" altLang="zh-CN" sz="2540" dirty="0">
                <a:solidFill>
                  <a:prstClr val="black"/>
                </a:solidFill>
              </a:rPr>
              <a:t>If there are several files in directory, put each file into the </a:t>
            </a:r>
            <a:r>
              <a:rPr lang="en-US" altLang="zh-CN" sz="2540" b="1" dirty="0" err="1">
                <a:solidFill>
                  <a:prstClr val="black"/>
                </a:solidFill>
              </a:rPr>
              <a:t>add_executable</a:t>
            </a:r>
            <a:r>
              <a:rPr lang="en-US" altLang="zh-CN" sz="2540" b="1" dirty="0">
                <a:solidFill>
                  <a:prstClr val="black"/>
                </a:solidFill>
              </a:rPr>
              <a:t> </a:t>
            </a:r>
            <a:r>
              <a:rPr lang="en-US" altLang="zh-CN" sz="2540" dirty="0">
                <a:solidFill>
                  <a:prstClr val="black"/>
                </a:solidFill>
              </a:rPr>
              <a:t>command is not recommended. The better way is using </a:t>
            </a:r>
            <a:r>
              <a:rPr lang="en-US" altLang="zh-CN" sz="2540" b="1" dirty="0" err="1">
                <a:solidFill>
                  <a:prstClr val="black"/>
                </a:solidFill>
              </a:rPr>
              <a:t>aux_source_directory</a:t>
            </a:r>
            <a:r>
              <a:rPr lang="en-US" altLang="zh-CN" sz="2540" b="1" dirty="0">
                <a:solidFill>
                  <a:prstClr val="black"/>
                </a:solidFill>
              </a:rPr>
              <a:t> </a:t>
            </a:r>
            <a:r>
              <a:rPr lang="en-US" altLang="zh-CN" sz="2540" dirty="0">
                <a:solidFill>
                  <a:prstClr val="black"/>
                </a:solidFill>
              </a:rPr>
              <a:t>command.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576" y="1771627"/>
            <a:ext cx="7515457" cy="235585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88341" y="490989"/>
            <a:ext cx="5732986" cy="611167"/>
          </a:xfrm>
          <a:prstGeom prst="rect">
            <a:avLst/>
          </a:prstGeom>
          <a:noFill/>
        </p:spPr>
        <p:txBody>
          <a:bodyPr wrap="none" lIns="107667" tIns="53835" rIns="107667" bIns="53835" rtlCol="0">
            <a:spAutoFit/>
          </a:bodyPr>
          <a:lstStyle/>
          <a:p>
            <a:pPr defTabSz="1076960">
              <a:defRPr/>
            </a:pPr>
            <a:r>
              <a:rPr lang="en-US" altLang="zh-CN" sz="3265" b="1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2. Multi-source files in Project-2</a:t>
            </a:r>
            <a:endParaRPr lang="zh-CN" altLang="en-US" sz="3265" b="1" dirty="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4619221" y="2268903"/>
            <a:ext cx="7651023" cy="1171605"/>
            <a:chOff x="5281882" y="576584"/>
            <a:chExt cx="8430292" cy="1290935"/>
          </a:xfrm>
        </p:grpSpPr>
        <p:sp>
          <p:nvSpPr>
            <p:cNvPr id="28" name="TextBox 27"/>
            <p:cNvSpPr txBox="1"/>
            <p:nvPr/>
          </p:nvSpPr>
          <p:spPr>
            <a:xfrm>
              <a:off x="9705672" y="576584"/>
              <a:ext cx="4006502" cy="704546"/>
            </a:xfrm>
            <a:prstGeom prst="rect">
              <a:avLst/>
            </a:prstGeom>
            <a:noFill/>
          </p:spPr>
          <p:txBody>
            <a:bodyPr wrap="square" lIns="107710" tIns="53855" rIns="107710" bIns="53855" rtlCol="0">
              <a:spAutoFit/>
            </a:bodyPr>
            <a:lstStyle/>
            <a:p>
              <a:pPr defTabSz="1076960">
                <a:defRPr/>
              </a:pPr>
              <a:r>
                <a:rPr lang="en-US" altLang="zh-CN" sz="1725" dirty="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rPr>
                <a:t>Stores all files in the current directory</a:t>
              </a:r>
            </a:p>
            <a:p>
              <a:pPr defTabSz="1076960">
                <a:defRPr/>
              </a:pPr>
              <a:r>
                <a:rPr lang="en-US" altLang="zh-CN" sz="1725" dirty="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rPr>
                <a:t>into DIR_SRCS variable.</a:t>
              </a:r>
              <a:endParaRPr lang="zh-CN" altLang="en-US" sz="1725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5281882" y="1468036"/>
              <a:ext cx="3705362" cy="399483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6960">
                <a:defRPr/>
              </a:pPr>
              <a:endParaRPr lang="zh-CN" altLang="en-US" sz="2085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cxnSp>
          <p:nvCxnSpPr>
            <p:cNvPr id="30" name="直接箭头连接符 29"/>
            <p:cNvCxnSpPr/>
            <p:nvPr/>
          </p:nvCxnSpPr>
          <p:spPr>
            <a:xfrm flipH="1">
              <a:off x="7822725" y="928891"/>
              <a:ext cx="1995661" cy="598962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组合 14"/>
          <p:cNvGrpSpPr/>
          <p:nvPr/>
        </p:nvGrpSpPr>
        <p:grpSpPr>
          <a:xfrm>
            <a:off x="6841182" y="3552943"/>
            <a:ext cx="4570297" cy="1312732"/>
            <a:chOff x="5820629" y="242107"/>
            <a:chExt cx="5035791" cy="1446438"/>
          </a:xfrm>
        </p:grpSpPr>
        <p:sp>
          <p:nvSpPr>
            <p:cNvPr id="20" name="TextBox 19"/>
            <p:cNvSpPr txBox="1"/>
            <p:nvPr/>
          </p:nvSpPr>
          <p:spPr>
            <a:xfrm>
              <a:off x="5820629" y="983998"/>
              <a:ext cx="5035791" cy="704547"/>
            </a:xfrm>
            <a:prstGeom prst="rect">
              <a:avLst/>
            </a:prstGeom>
            <a:noFill/>
          </p:spPr>
          <p:txBody>
            <a:bodyPr wrap="square" lIns="107710" tIns="53855" rIns="107710" bIns="53855" rtlCol="0">
              <a:spAutoFit/>
            </a:bodyPr>
            <a:lstStyle/>
            <a:p>
              <a:pPr defTabSz="1076960">
                <a:defRPr/>
              </a:pPr>
              <a:r>
                <a:rPr lang="en-US" altLang="zh-CN" sz="1725" dirty="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rPr>
                <a:t>Compiles the  source files in the variable by </a:t>
              </a:r>
              <a:r>
                <a:rPr lang="en-US" altLang="zh-CN" sz="1725" b="1" dirty="0">
                  <a:solidFill>
                    <a:srgbClr val="FF0000"/>
                  </a:solidFill>
                  <a:latin typeface="Calibri" panose="020F0502020204030204"/>
                  <a:ea typeface="宋体" panose="02010600030101010101" pitchFamily="2" charset="-122"/>
                </a:rPr>
                <a:t>${ }</a:t>
              </a:r>
              <a:r>
                <a:rPr lang="en-US" altLang="zh-CN" sz="1725" dirty="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rPr>
                <a:t> into an executable file named CmakeDemo2</a:t>
              </a:r>
              <a:endParaRPr lang="zh-CN" altLang="en-US" sz="1725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6329048" y="242107"/>
              <a:ext cx="1219773" cy="399483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6960">
                <a:defRPr/>
              </a:pPr>
              <a:endParaRPr lang="zh-CN" altLang="en-US" sz="2085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cxnSp>
          <p:nvCxnSpPr>
            <p:cNvPr id="22" name="直接箭头连接符 21"/>
            <p:cNvCxnSpPr/>
            <p:nvPr/>
          </p:nvCxnSpPr>
          <p:spPr>
            <a:xfrm flipV="1">
              <a:off x="6684719" y="586666"/>
              <a:ext cx="216030" cy="366131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2288" y="716985"/>
            <a:ext cx="6469828" cy="5653348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3243695" y="4849873"/>
            <a:ext cx="6208421" cy="26140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35"/>
          </a:p>
        </p:txBody>
      </p:sp>
      <p:sp>
        <p:nvSpPr>
          <p:cNvPr id="5" name="矩形 4"/>
          <p:cNvSpPr/>
          <p:nvPr/>
        </p:nvSpPr>
        <p:spPr>
          <a:xfrm>
            <a:off x="3635806" y="6095359"/>
            <a:ext cx="2352665" cy="32675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35"/>
          </a:p>
        </p:txBody>
      </p:sp>
      <p:sp>
        <p:nvSpPr>
          <p:cNvPr id="7" name="矩形 6"/>
          <p:cNvSpPr/>
          <p:nvPr/>
        </p:nvSpPr>
        <p:spPr>
          <a:xfrm>
            <a:off x="7491562" y="932567"/>
            <a:ext cx="1372388" cy="26140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35"/>
          </a:p>
        </p:txBody>
      </p:sp>
      <p:sp>
        <p:nvSpPr>
          <p:cNvPr id="8" name="矩形 7"/>
          <p:cNvSpPr/>
          <p:nvPr/>
        </p:nvSpPr>
        <p:spPr>
          <a:xfrm>
            <a:off x="8079729" y="1370503"/>
            <a:ext cx="914925" cy="32675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35"/>
          </a:p>
        </p:txBody>
      </p:sp>
      <p:sp>
        <p:nvSpPr>
          <p:cNvPr id="9" name="矩形 8"/>
          <p:cNvSpPr/>
          <p:nvPr/>
        </p:nvSpPr>
        <p:spPr>
          <a:xfrm>
            <a:off x="8079729" y="5107767"/>
            <a:ext cx="588166" cy="26140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954" tIns="41478" rIns="82954" bIns="41478" rtlCol="0" anchor="ctr"/>
          <a:lstStyle>
            <a:defPPr>
              <a:defRPr lang="zh-CN"/>
            </a:defPPr>
            <a:lvl1pPr marL="0" algn="l" defTabSz="1186180" rtl="0" eaLnBrk="1" latinLnBrk="0" hangingPunct="1">
              <a:defRPr sz="23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3090" algn="l" defTabSz="1186180" rtl="0" eaLnBrk="1" latinLnBrk="0" hangingPunct="1">
              <a:defRPr sz="23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86180" algn="l" defTabSz="1186180" rtl="0" eaLnBrk="1" latinLnBrk="0" hangingPunct="1">
              <a:defRPr sz="23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79270" algn="l" defTabSz="1186180" rtl="0" eaLnBrk="1" latinLnBrk="0" hangingPunct="1">
              <a:defRPr sz="23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72360" algn="l" defTabSz="1186180" rtl="0" eaLnBrk="1" latinLnBrk="0" hangingPunct="1">
              <a:defRPr sz="23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66085" algn="l" defTabSz="1186180" rtl="0" eaLnBrk="1" latinLnBrk="0" hangingPunct="1">
              <a:defRPr sz="23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59175" algn="l" defTabSz="1186180" rtl="0" eaLnBrk="1" latinLnBrk="0" hangingPunct="1">
              <a:defRPr sz="23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52265" algn="l" defTabSz="1186180" rtl="0" eaLnBrk="1" latinLnBrk="0" hangingPunct="1">
              <a:defRPr sz="23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45355" algn="l" defTabSz="1186180" rtl="0" eaLnBrk="1" latinLnBrk="0" hangingPunct="1">
              <a:defRPr sz="23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085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  <p:bldP spid="7" grpId="0" bldLvl="0" animBg="1"/>
      <p:bldP spid="8" grpId="0" bldLvl="0" animBg="1"/>
      <p:bldP spid="9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9634" y="1403094"/>
            <a:ext cx="7987553" cy="390733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62511" y="345549"/>
            <a:ext cx="9700226" cy="611488"/>
          </a:xfrm>
          <a:prstGeom prst="rect">
            <a:avLst/>
          </a:prstGeom>
          <a:noFill/>
        </p:spPr>
        <p:txBody>
          <a:bodyPr wrap="none" lIns="107667" tIns="53835" rIns="107667" bIns="53835" rtlCol="0">
            <a:spAutoFit/>
          </a:bodyPr>
          <a:lstStyle/>
          <a:p>
            <a:r>
              <a:rPr lang="en-US" altLang="zh-CN" sz="3265" b="1" dirty="0">
                <a:solidFill>
                  <a:prstClr val="black"/>
                </a:solidFill>
              </a:rPr>
              <a:t>3. Multi-source files in a project in different directories</a:t>
            </a:r>
            <a:endParaRPr lang="zh-CN" altLang="en-US" sz="3265" b="1" dirty="0">
              <a:solidFill>
                <a:prstClr val="black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86068" y="933075"/>
            <a:ext cx="6912115" cy="447276"/>
          </a:xfrm>
          <a:prstGeom prst="rect">
            <a:avLst/>
          </a:prstGeom>
          <a:noFill/>
        </p:spPr>
        <p:txBody>
          <a:bodyPr wrap="square" lIns="107667" tIns="53835" rIns="107667" bIns="53835" rtlCol="0">
            <a:spAutoFit/>
          </a:bodyPr>
          <a:lstStyle/>
          <a:p>
            <a:r>
              <a:rPr lang="en-US" altLang="zh-CN" sz="2200" dirty="0">
                <a:solidFill>
                  <a:prstClr val="black"/>
                </a:solidFill>
              </a:rPr>
              <a:t>We write CMakeLists.txt in CmakeDemo3 folder.</a:t>
            </a:r>
            <a:endParaRPr lang="zh-CN" altLang="en-US" sz="2200" dirty="0">
              <a:solidFill>
                <a:prstClr val="black"/>
              </a:solidFill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6202793" y="4278574"/>
            <a:ext cx="4243540" cy="1795036"/>
            <a:chOff x="5146210" y="958338"/>
            <a:chExt cx="4675752" cy="1977868"/>
          </a:xfrm>
        </p:grpSpPr>
        <p:sp>
          <p:nvSpPr>
            <p:cNvPr id="9" name="TextBox 8"/>
            <p:cNvSpPr txBox="1"/>
            <p:nvPr/>
          </p:nvSpPr>
          <p:spPr>
            <a:xfrm>
              <a:off x="5146210" y="2231658"/>
              <a:ext cx="4675752" cy="704548"/>
            </a:xfrm>
            <a:prstGeom prst="rect">
              <a:avLst/>
            </a:prstGeom>
            <a:noFill/>
          </p:spPr>
          <p:txBody>
            <a:bodyPr wrap="square" lIns="107710" tIns="53855" rIns="107710" bIns="53855" rtlCol="0">
              <a:spAutoFit/>
            </a:bodyPr>
            <a:lstStyle/>
            <a:p>
              <a:r>
                <a:rPr lang="en-US" altLang="zh-CN" sz="1725" dirty="0">
                  <a:solidFill>
                    <a:prstClr val="black"/>
                  </a:solidFill>
                </a:rPr>
                <a:t>Include the header file which is stored in</a:t>
              </a:r>
            </a:p>
            <a:p>
              <a:r>
                <a:rPr lang="en-US" altLang="zh-CN" sz="1725" b="1" dirty="0">
                  <a:solidFill>
                    <a:prstClr val="black"/>
                  </a:solidFill>
                </a:rPr>
                <a:t>include</a:t>
              </a:r>
              <a:r>
                <a:rPr lang="en-US" altLang="zh-CN" sz="1725" dirty="0">
                  <a:solidFill>
                    <a:prstClr val="black"/>
                  </a:solidFill>
                </a:rPr>
                <a:t> directory.</a:t>
              </a:r>
              <a:endParaRPr lang="zh-CN" altLang="en-US" sz="1725" dirty="0">
                <a:solidFill>
                  <a:prstClr val="black"/>
                </a:solidFill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6396692" y="958338"/>
              <a:ext cx="3240359" cy="33721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35">
                <a:solidFill>
                  <a:prstClr val="white"/>
                </a:solidFill>
              </a:endParaRPr>
            </a:p>
          </p:txBody>
        </p:sp>
        <p:cxnSp>
          <p:nvCxnSpPr>
            <p:cNvPr id="11" name="直接箭头连接符 10"/>
            <p:cNvCxnSpPr/>
            <p:nvPr/>
          </p:nvCxnSpPr>
          <p:spPr>
            <a:xfrm flipV="1">
              <a:off x="5856634" y="1295552"/>
              <a:ext cx="1116122" cy="936106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组合 14"/>
          <p:cNvGrpSpPr/>
          <p:nvPr/>
        </p:nvGrpSpPr>
        <p:grpSpPr>
          <a:xfrm>
            <a:off x="1259967" y="3597426"/>
            <a:ext cx="9802770" cy="2087455"/>
            <a:chOff x="-274252" y="171545"/>
            <a:chExt cx="10801201" cy="2300066"/>
          </a:xfrm>
        </p:grpSpPr>
        <p:sp>
          <p:nvSpPr>
            <p:cNvPr id="16" name="TextBox 15"/>
            <p:cNvSpPr txBox="1"/>
            <p:nvPr/>
          </p:nvSpPr>
          <p:spPr>
            <a:xfrm>
              <a:off x="-274252" y="2059418"/>
              <a:ext cx="3770613" cy="412193"/>
            </a:xfrm>
            <a:prstGeom prst="rect">
              <a:avLst/>
            </a:prstGeom>
            <a:noFill/>
          </p:spPr>
          <p:txBody>
            <a:bodyPr wrap="square" lIns="107710" tIns="53855" rIns="107710" bIns="53855" rtlCol="0">
              <a:spAutoFit/>
            </a:bodyPr>
            <a:lstStyle/>
            <a:p>
              <a:r>
                <a:rPr lang="en-US" altLang="zh-CN" sz="1725" dirty="0">
                  <a:solidFill>
                    <a:prstClr val="black"/>
                  </a:solidFill>
                </a:rPr>
                <a:t>All .</a:t>
              </a:r>
              <a:r>
                <a:rPr lang="en-US" altLang="zh-CN" sz="1725" dirty="0" err="1">
                  <a:solidFill>
                    <a:prstClr val="black"/>
                  </a:solidFill>
                </a:rPr>
                <a:t>cpp</a:t>
              </a:r>
              <a:r>
                <a:rPr lang="en-US" altLang="zh-CN" sz="1725" dirty="0">
                  <a:solidFill>
                    <a:prstClr val="black"/>
                  </a:solidFill>
                </a:rPr>
                <a:t> files are in the </a:t>
              </a:r>
              <a:r>
                <a:rPr lang="en-US" altLang="zh-CN" sz="1725" b="1" dirty="0" err="1">
                  <a:solidFill>
                    <a:prstClr val="black"/>
                  </a:solidFill>
                </a:rPr>
                <a:t>src</a:t>
              </a:r>
              <a:r>
                <a:rPr lang="en-US" altLang="zh-CN" sz="1725" dirty="0">
                  <a:solidFill>
                    <a:prstClr val="black"/>
                  </a:solidFill>
                </a:rPr>
                <a:t> directory</a:t>
              </a:r>
              <a:endParaRPr lang="zh-CN" altLang="en-US" sz="1725" dirty="0">
                <a:solidFill>
                  <a:prstClr val="black"/>
                </a:solidFill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6422493" y="171545"/>
              <a:ext cx="4104456" cy="288032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35">
                <a:solidFill>
                  <a:prstClr val="white"/>
                </a:solidFill>
              </a:endParaRPr>
            </a:p>
          </p:txBody>
        </p:sp>
        <p:cxnSp>
          <p:nvCxnSpPr>
            <p:cNvPr id="18" name="直接箭头连接符 17"/>
            <p:cNvCxnSpPr>
              <a:endCxn id="17" idx="1"/>
            </p:cNvCxnSpPr>
            <p:nvPr/>
          </p:nvCxnSpPr>
          <p:spPr>
            <a:xfrm flipV="1">
              <a:off x="2934016" y="315561"/>
              <a:ext cx="3488476" cy="182027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组合 4"/>
          <p:cNvGrpSpPr/>
          <p:nvPr/>
        </p:nvGrpSpPr>
        <p:grpSpPr>
          <a:xfrm>
            <a:off x="483961" y="1538003"/>
            <a:ext cx="3350433" cy="3138388"/>
            <a:chOff x="178397" y="1217900"/>
            <a:chExt cx="3691681" cy="3458039"/>
          </a:xfrm>
        </p:grpSpPr>
        <p:pic>
          <p:nvPicPr>
            <p:cNvPr id="4100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5677" y="1348539"/>
              <a:ext cx="3454401" cy="3327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" name="文本框 1"/>
            <p:cNvSpPr txBox="1"/>
            <p:nvPr/>
          </p:nvSpPr>
          <p:spPr>
            <a:xfrm>
              <a:off x="178397" y="1217900"/>
              <a:ext cx="1837842" cy="40949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sz="1815" dirty="0"/>
                <a:t>./CMakeDemo3</a:t>
              </a:r>
              <a:endParaRPr lang="zh-CN" altLang="en-US" sz="1815" dirty="0"/>
            </a:p>
          </p:txBody>
        </p:sp>
      </p:grp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2239" y="139584"/>
            <a:ext cx="6986413" cy="579334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027" name="矩形 1026"/>
          <p:cNvSpPr/>
          <p:nvPr/>
        </p:nvSpPr>
        <p:spPr>
          <a:xfrm>
            <a:off x="7622266" y="324890"/>
            <a:ext cx="1241684" cy="24919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954" tIns="41478" rIns="82954" bIns="41478" rtlCol="0" anchor="ctr"/>
          <a:lstStyle/>
          <a:p>
            <a:pPr algn="ctr"/>
            <a:endParaRPr lang="zh-CN" altLang="en-US" sz="1635"/>
          </a:p>
        </p:txBody>
      </p:sp>
      <p:sp>
        <p:nvSpPr>
          <p:cNvPr id="5" name="矩形 4"/>
          <p:cNvSpPr/>
          <p:nvPr/>
        </p:nvSpPr>
        <p:spPr>
          <a:xfrm>
            <a:off x="8145081" y="4658317"/>
            <a:ext cx="661654" cy="22898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954" tIns="41478" rIns="82954" bIns="41478" rtlCol="0" anchor="ctr"/>
          <a:lstStyle/>
          <a:p>
            <a:pPr algn="ctr"/>
            <a:endParaRPr lang="zh-CN" altLang="en-US" sz="1635"/>
          </a:p>
        </p:txBody>
      </p:sp>
      <p:sp>
        <p:nvSpPr>
          <p:cNvPr id="6" name="矩形 5"/>
          <p:cNvSpPr/>
          <p:nvPr/>
        </p:nvSpPr>
        <p:spPr>
          <a:xfrm>
            <a:off x="3112993" y="4362806"/>
            <a:ext cx="6404476" cy="29551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954" tIns="41478" rIns="82954" bIns="41478" rtlCol="0" anchor="ctr"/>
          <a:lstStyle/>
          <a:p>
            <a:pPr algn="ctr"/>
            <a:endParaRPr lang="zh-CN" altLang="en-US" sz="1635"/>
          </a:p>
        </p:txBody>
      </p:sp>
      <p:sp>
        <p:nvSpPr>
          <p:cNvPr id="7" name="矩形 6"/>
          <p:cNvSpPr/>
          <p:nvPr/>
        </p:nvSpPr>
        <p:spPr>
          <a:xfrm>
            <a:off x="3505103" y="5680034"/>
            <a:ext cx="2614072" cy="25289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954" tIns="41478" rIns="82954" bIns="41478" rtlCol="0" anchor="ctr"/>
          <a:lstStyle/>
          <a:p>
            <a:pPr algn="ctr"/>
            <a:endParaRPr lang="zh-CN" altLang="en-US" sz="1635"/>
          </a:p>
        </p:txBody>
      </p:sp>
      <p:sp>
        <p:nvSpPr>
          <p:cNvPr id="8" name="矩形 7"/>
          <p:cNvSpPr/>
          <p:nvPr/>
        </p:nvSpPr>
        <p:spPr>
          <a:xfrm>
            <a:off x="8210432" y="782352"/>
            <a:ext cx="980277" cy="24919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954" tIns="41478" rIns="82954" bIns="41478" rtlCol="0" anchor="ctr"/>
          <a:lstStyle/>
          <a:p>
            <a:pPr algn="ctr"/>
            <a:endParaRPr lang="zh-CN" altLang="en-US" sz="1635"/>
          </a:p>
        </p:txBody>
      </p:sp>
      <p:sp>
        <p:nvSpPr>
          <p:cNvPr id="11" name="TextBox 6"/>
          <p:cNvSpPr txBox="1"/>
          <p:nvPr/>
        </p:nvSpPr>
        <p:spPr>
          <a:xfrm>
            <a:off x="1980019" y="6000269"/>
            <a:ext cx="68839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For more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cmake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tutorial: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  <a:hlinkClick r:id="rId4"/>
              </a:rPr>
              <a:t>https://cmake.org/cmake/help/latest/guide/tutorial/index.html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  <a:hlinkClick r:id="rId5"/>
              </a:rPr>
              <a:t>https://riptutorial.com/cmake</a:t>
            </a:r>
            <a:endParaRPr lang="en-US" altLang="zh-CN" dirty="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7" grpId="0" bldLvl="0" animBg="1"/>
      <p:bldP spid="5" grpId="0" bldLvl="0" animBg="1"/>
      <p:bldP spid="6" grpId="0" bldLvl="0" animBg="1"/>
      <p:bldP spid="7" grpId="0" bldLvl="0" animBg="1"/>
      <p:bldP spid="8" grpId="0" bldLvl="0" animBg="1"/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2. Inputs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27150"/>
            <a:ext cx="6697345" cy="4090035"/>
          </a:xfrm>
        </p:spPr>
        <p:txBody>
          <a:bodyPr>
            <a:normAutofit lnSpcReduction="10000"/>
          </a:bodyPr>
          <a:lstStyle/>
          <a:p>
            <a:r>
              <a:rPr lang="en-US" altLang="zh-CN"/>
              <a:t>2. Inputs</a:t>
            </a:r>
          </a:p>
          <a:p>
            <a:pPr lvl="1"/>
            <a:r>
              <a:rPr lang="en-US" altLang="zh-CN">
                <a:sym typeface="+mn-ea"/>
              </a:rPr>
              <a:t>2.1 Command-Line Arguments</a:t>
            </a:r>
          </a:p>
          <a:p>
            <a:pPr lvl="2"/>
            <a:r>
              <a:rPr lang="en-US" altLang="zh-CN" sz="2000">
                <a:sym typeface="+mn-ea"/>
              </a:rPr>
              <a:t> int main(int argc, char*argv[])</a:t>
            </a:r>
          </a:p>
          <a:p>
            <a:pPr lvl="2"/>
            <a:endParaRPr lang="en-US" altLang="zh-CN">
              <a:sym typeface="+mn-ea"/>
            </a:endParaRPr>
          </a:p>
          <a:p>
            <a:pPr lvl="1"/>
            <a:r>
              <a:rPr lang="en-US" altLang="zh-CN"/>
              <a:t>2.2 Standard Input</a:t>
            </a:r>
          </a:p>
          <a:p>
            <a:pPr lvl="2"/>
            <a:r>
              <a:rPr lang="en-US" altLang="zh-CN">
                <a:sym typeface="+mn-ea"/>
              </a:rPr>
              <a:t>2.2.1 C style</a:t>
            </a:r>
            <a:r>
              <a:rPr lang="zh-CN" altLang="en-US">
                <a:sym typeface="+mn-ea"/>
              </a:rPr>
              <a:t>：</a:t>
            </a:r>
            <a:r>
              <a:rPr lang="en-US" altLang="zh-CN">
                <a:sym typeface="+mn-ea"/>
              </a:rPr>
              <a:t>scanf, gets vs fgets</a:t>
            </a:r>
            <a:endParaRPr lang="zh-CN" altLang="en-US"/>
          </a:p>
          <a:p>
            <a:pPr lvl="2"/>
            <a:r>
              <a:rPr lang="en-US" altLang="zh-CN">
                <a:sym typeface="+mn-ea"/>
              </a:rPr>
              <a:t>2.2.2 C++ style: cin, cin.gets vs cin.getline, getline()</a:t>
            </a:r>
          </a:p>
          <a:p>
            <a:pPr lvl="2"/>
            <a:endParaRPr lang="en-US" altLang="zh-CN"/>
          </a:p>
          <a:p>
            <a:pPr lvl="1"/>
            <a:r>
              <a:rPr lang="en-US" altLang="zh-CN"/>
              <a:t>others inputs</a:t>
            </a:r>
          </a:p>
          <a:p>
            <a:pPr lvl="2"/>
            <a:r>
              <a:rPr lang="en-US" altLang="zh-CN">
                <a:sym typeface="+mn-ea"/>
              </a:rPr>
              <a:t> file, network, GUI, database, </a:t>
            </a:r>
            <a:r>
              <a:rPr lang="en-US" altLang="zh-CN"/>
              <a:t>sensor</a:t>
            </a:r>
          </a:p>
          <a:p>
            <a:pPr marL="457200" lvl="1" indent="0">
              <a:buNone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2.1 Command-Line Arguments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09980" y="1046480"/>
            <a:ext cx="6947535" cy="2132965"/>
          </a:xfrm>
        </p:spPr>
        <p:txBody>
          <a:bodyPr>
            <a:normAutofit fontScale="90000"/>
          </a:bodyPr>
          <a:lstStyle/>
          <a:p>
            <a:r>
              <a:rPr lang="en-US" altLang="zh-CN"/>
              <a:t>At the beginning of program execution, arguments are read.</a:t>
            </a:r>
          </a:p>
          <a:p>
            <a:r>
              <a:rPr lang="en-US" altLang="zh-CN"/>
              <a:t>All the arguments here are treated as string.</a:t>
            </a:r>
          </a:p>
          <a:p>
            <a:r>
              <a:rPr lang="en-US" altLang="zh-CN"/>
              <a:t>Suitable for scenarios involving scripts and tools, but lacks interactivity.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8188960" y="894715"/>
            <a:ext cx="3598545" cy="28670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CC"/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zh-CN" sz="1600"/>
              <a:t>#include &lt;stdio.h&gt;   </a:t>
            </a:r>
            <a:r>
              <a:rPr lang="en-US" altLang="zh-CN" sz="1600">
                <a:solidFill>
                  <a:schemeClr val="bg2">
                    <a:lumMod val="50000"/>
                  </a:schemeClr>
                </a:solidFill>
              </a:rPr>
              <a:t>// c_a_demo.c</a:t>
            </a:r>
          </a:p>
          <a:p>
            <a:endParaRPr lang="en-US" altLang="zh-CN" sz="1600"/>
          </a:p>
          <a:p>
            <a:r>
              <a:rPr lang="en-US" altLang="zh-CN" sz="1600"/>
              <a:t>int main(</a:t>
            </a:r>
            <a:r>
              <a:rPr lang="en-US" altLang="zh-CN" sz="1600" b="1"/>
              <a:t>int argc, char*argv[]</a:t>
            </a:r>
            <a:r>
              <a:rPr lang="en-US" altLang="zh-CN" sz="1600"/>
              <a:t>){</a:t>
            </a:r>
          </a:p>
          <a:p>
            <a:r>
              <a:rPr lang="en-US" altLang="zh-CN" sz="1600"/>
              <a:t>    if(argc ==1)</a:t>
            </a:r>
          </a:p>
          <a:p>
            <a:r>
              <a:rPr lang="en-US" altLang="zh-CN" sz="1600"/>
              <a:t>        printf("ONLY argv[0]:%s\n",argv[0]);</a:t>
            </a:r>
          </a:p>
          <a:p>
            <a:r>
              <a:rPr lang="en-US" altLang="zh-CN" sz="1600"/>
              <a:t>    else</a:t>
            </a:r>
          </a:p>
          <a:p>
            <a:r>
              <a:rPr lang="en-US" altLang="zh-CN" sz="1600"/>
              <a:t>        for(int i=0;i&lt;argc;i++)</a:t>
            </a:r>
          </a:p>
          <a:p>
            <a:r>
              <a:rPr lang="en-US" altLang="zh-CN" sz="1600"/>
              <a:t>            printf("argv[%d]: %s\n",i, argv[i]);</a:t>
            </a:r>
          </a:p>
          <a:p>
            <a:endParaRPr lang="en-US" altLang="zh-CN" sz="1600"/>
          </a:p>
          <a:p>
            <a:r>
              <a:rPr lang="en-US" altLang="zh-CN" sz="1600"/>
              <a:t>    return 0;</a:t>
            </a:r>
          </a:p>
          <a:p>
            <a:r>
              <a:rPr lang="en-US" altLang="zh-CN" sz="1600"/>
              <a:t>}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785" y="3848100"/>
            <a:ext cx="9105900" cy="2924175"/>
          </a:xfrm>
          <a:prstGeom prst="rect">
            <a:avLst/>
          </a:prstGeom>
        </p:spPr>
      </p:pic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2.2 Standard Input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4035" y="1327150"/>
            <a:ext cx="5120640" cy="2102485"/>
          </a:xfrm>
        </p:spPr>
        <p:txBody>
          <a:bodyPr>
            <a:normAutofit/>
          </a:bodyPr>
          <a:lstStyle/>
          <a:p>
            <a:pPr marL="228600" lvl="1" indent="-228600" algn="l">
              <a:spcBef>
                <a:spcPts val="1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>
                <a:sym typeface="+mn-ea"/>
              </a:rPr>
              <a:t>During program execution, read input data from standard input devices.</a:t>
            </a:r>
            <a:endParaRPr lang="en-US" altLang="zh-CN"/>
          </a:p>
          <a:p>
            <a:pPr marL="228600" lvl="1" indent="-228600" algn="l">
              <a:spcBef>
                <a:spcPts val="1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>
                <a:sym typeface="+mn-ea"/>
              </a:rPr>
              <a:t>Support different types of input data.</a:t>
            </a:r>
            <a:endParaRPr lang="en-US" altLang="zh-CN"/>
          </a:p>
          <a:p>
            <a:pPr marL="228600" lvl="1" indent="-228600" algn="l">
              <a:spcBef>
                <a:spcPts val="1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>
                <a:sym typeface="+mn-ea"/>
              </a:rPr>
              <a:t>Suitable for interacting with users.</a:t>
            </a:r>
            <a:endParaRPr lang="en-US" altLang="zh-CN"/>
          </a:p>
          <a:p>
            <a:pPr lvl="1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" y="4567555"/>
            <a:ext cx="12127230" cy="171831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875655" y="427990"/>
            <a:ext cx="6218555" cy="38449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CC"/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zh-CN" sz="1600"/>
              <a:t>#include &lt;stdio.h&gt;</a:t>
            </a:r>
          </a:p>
          <a:p>
            <a:endParaRPr lang="en-US" altLang="zh-CN" sz="1600"/>
          </a:p>
          <a:p>
            <a:r>
              <a:rPr lang="en-US" altLang="zh-CN" sz="1600"/>
              <a:t>int main(int argc, char*argv[]){</a:t>
            </a:r>
          </a:p>
          <a:p>
            <a:r>
              <a:rPr lang="en-US" altLang="zh-CN" sz="1600"/>
              <a:t>    char uname[10]={""};</a:t>
            </a:r>
          </a:p>
          <a:p>
            <a:r>
              <a:rPr lang="en-US" altLang="zh-CN" sz="1600"/>
              <a:t>    char dname[10]={""};</a:t>
            </a:r>
          </a:p>
          <a:p>
            <a:r>
              <a:rPr lang="en-US" altLang="zh-CN" sz="1600"/>
              <a:t>    char cname[10]={""};</a:t>
            </a:r>
          </a:p>
          <a:p>
            <a:r>
              <a:rPr lang="en-US" altLang="zh-CN" sz="1600"/>
              <a:t>    printf("please input the name of University: ");</a:t>
            </a:r>
          </a:p>
          <a:p>
            <a:r>
              <a:rPr lang="en-US" altLang="zh-CN" sz="1600"/>
              <a:t>  </a:t>
            </a:r>
            <a:r>
              <a:rPr lang="en-US" altLang="zh-CN" sz="1600" b="1"/>
              <a:t>  scanf("%s", uname); </a:t>
            </a:r>
            <a:endParaRPr lang="en-US" altLang="zh-CN" sz="1600"/>
          </a:p>
          <a:p>
            <a:r>
              <a:rPr lang="en-US" altLang="zh-CN" sz="1600"/>
              <a:t>    printf("please input the name of department: ");</a:t>
            </a:r>
          </a:p>
          <a:p>
            <a:r>
              <a:rPr lang="en-US" altLang="zh-CN" sz="1600"/>
              <a:t>    </a:t>
            </a:r>
            <a:r>
              <a:rPr lang="en-US" altLang="zh-CN" sz="1600" b="1"/>
              <a:t>scanf("%s", dname);</a:t>
            </a:r>
          </a:p>
          <a:p>
            <a:r>
              <a:rPr lang="en-US" altLang="zh-CN" sz="1600"/>
              <a:t>    printf("please input the name of course: ");</a:t>
            </a:r>
          </a:p>
          <a:p>
            <a:r>
              <a:rPr lang="en-US" altLang="zh-CN" sz="1600"/>
              <a:t>   </a:t>
            </a:r>
            <a:r>
              <a:rPr lang="en-US" altLang="zh-CN" sz="1600" b="1"/>
              <a:t> scanf("%s", cname);    </a:t>
            </a:r>
            <a:r>
              <a:rPr lang="en-US" altLang="zh-CN" sz="1600"/>
              <a:t> </a:t>
            </a:r>
          </a:p>
          <a:p>
            <a:r>
              <a:rPr lang="en-US" altLang="zh-CN" sz="1600"/>
              <a:t>    printf("uname: %s, dname: %s, cname:%s\n",uname,dname,cname);  </a:t>
            </a:r>
          </a:p>
          <a:p>
            <a:r>
              <a:rPr lang="en-US" altLang="zh-CN" sz="1600"/>
              <a:t>    return 0;</a:t>
            </a:r>
          </a:p>
          <a:p>
            <a:r>
              <a:rPr lang="en-US" altLang="zh-CN" sz="1600"/>
              <a:t>}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7688" y="4097377"/>
            <a:ext cx="5374735" cy="218450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7978" y="831173"/>
            <a:ext cx="4619625" cy="29432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84585" y="212357"/>
            <a:ext cx="848042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800" b="1" dirty="0"/>
              <a:t>   2.2.1 C style function about Standard Input processing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2866" y="831173"/>
            <a:ext cx="2444750" cy="2245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/>
              <a:t>1-1.</a:t>
            </a:r>
            <a:r>
              <a:rPr lang="en-US" altLang="zh-CN" sz="2800" b="1" dirty="0">
                <a:solidFill>
                  <a:schemeClr val="tx1"/>
                </a:solidFill>
              </a:rPr>
              <a:t> C:</a:t>
            </a:r>
            <a:r>
              <a:rPr lang="en-US" altLang="zh-CN" sz="2800" b="1" dirty="0">
                <a:solidFill>
                  <a:srgbClr val="00B0F0"/>
                </a:solidFill>
              </a:rPr>
              <a:t> </a:t>
            </a:r>
            <a:r>
              <a:rPr lang="en-US" altLang="zh-CN" sz="2800" b="1" dirty="0" err="1">
                <a:solidFill>
                  <a:srgbClr val="00B0F0"/>
                </a:solidFill>
              </a:rPr>
              <a:t>scanf</a:t>
            </a:r>
            <a:endParaRPr lang="en-US" altLang="zh-CN" sz="2800" b="1" dirty="0">
              <a:solidFill>
                <a:srgbClr val="00B0F0"/>
              </a:solidFill>
            </a:endParaRPr>
          </a:p>
          <a:p>
            <a:r>
              <a:rPr lang="en-US" altLang="zh-CN" sz="2800" b="1" dirty="0"/>
              <a:t>     %</a:t>
            </a:r>
            <a:r>
              <a:rPr lang="en-US" altLang="zh-CN" sz="2800" b="1" dirty="0">
                <a:solidFill>
                  <a:srgbClr val="00B0F0"/>
                </a:solidFill>
              </a:rPr>
              <a:t>d</a:t>
            </a:r>
            <a:r>
              <a:rPr lang="en-US" altLang="zh-CN" sz="2800" b="1" dirty="0"/>
              <a:t> ----</a:t>
            </a:r>
            <a:r>
              <a:rPr lang="en-US" altLang="zh-CN" sz="2800" b="1" dirty="0" err="1"/>
              <a:t>int</a:t>
            </a:r>
            <a:endParaRPr lang="en-US" altLang="zh-CN" sz="2800" b="1" dirty="0"/>
          </a:p>
          <a:p>
            <a:r>
              <a:rPr lang="en-US" altLang="zh-CN" sz="2800" b="1" dirty="0"/>
              <a:t>     %</a:t>
            </a:r>
            <a:r>
              <a:rPr lang="en-US" altLang="zh-CN" sz="2800" b="1" dirty="0">
                <a:solidFill>
                  <a:srgbClr val="00B0F0"/>
                </a:solidFill>
              </a:rPr>
              <a:t>f</a:t>
            </a:r>
            <a:r>
              <a:rPr lang="en-US" altLang="zh-CN" sz="2800" b="1" dirty="0"/>
              <a:t> ----float</a:t>
            </a:r>
          </a:p>
          <a:p>
            <a:r>
              <a:rPr lang="en-US" altLang="zh-CN" sz="2800" b="1" dirty="0"/>
              <a:t>     %</a:t>
            </a:r>
            <a:r>
              <a:rPr lang="en-US" altLang="zh-CN" sz="2800" b="1" dirty="0">
                <a:solidFill>
                  <a:srgbClr val="00B0F0"/>
                </a:solidFill>
              </a:rPr>
              <a:t>c</a:t>
            </a:r>
            <a:r>
              <a:rPr lang="en-US" altLang="zh-CN" sz="2800" b="1" dirty="0"/>
              <a:t> -----char</a:t>
            </a:r>
          </a:p>
          <a:p>
            <a:r>
              <a:rPr lang="en-US" altLang="zh-CN" sz="2800" b="1" dirty="0"/>
              <a:t> </a:t>
            </a:r>
            <a:r>
              <a:rPr lang="en-US" altLang="zh-CN" sz="2800" b="1" dirty="0">
                <a:highlight>
                  <a:srgbClr val="FFFF00"/>
                </a:highlight>
              </a:rPr>
              <a:t>    %</a:t>
            </a:r>
            <a:r>
              <a:rPr lang="en-US" altLang="zh-CN" sz="2800" b="1" dirty="0">
                <a:solidFill>
                  <a:srgbClr val="00B0F0"/>
                </a:solidFill>
                <a:highlight>
                  <a:srgbClr val="FFFF00"/>
                </a:highlight>
              </a:rPr>
              <a:t>s</a:t>
            </a:r>
            <a:r>
              <a:rPr lang="en-US" altLang="zh-CN" sz="2800" b="1" dirty="0">
                <a:highlight>
                  <a:srgbClr val="FFFF00"/>
                </a:highlight>
              </a:rPr>
              <a:t> -----string</a:t>
            </a:r>
          </a:p>
        </p:txBody>
      </p:sp>
      <p:sp>
        <p:nvSpPr>
          <p:cNvPr id="8" name="矩形 7"/>
          <p:cNvSpPr/>
          <p:nvPr/>
        </p:nvSpPr>
        <p:spPr>
          <a:xfrm>
            <a:off x="3297520" y="4611331"/>
            <a:ext cx="2198712" cy="742222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320396" y="5539789"/>
            <a:ext cx="2198712" cy="74208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1686420" y="4940302"/>
            <a:ext cx="1633976" cy="970531"/>
            <a:chOff x="162420" y="4940301"/>
            <a:chExt cx="1633976" cy="970531"/>
          </a:xfrm>
        </p:grpSpPr>
        <p:cxnSp>
          <p:nvCxnSpPr>
            <p:cNvPr id="7" name="直接箭头连接符 6"/>
            <p:cNvCxnSpPr>
              <a:endCxn id="9" idx="1"/>
            </p:cNvCxnSpPr>
            <p:nvPr/>
          </p:nvCxnSpPr>
          <p:spPr>
            <a:xfrm>
              <a:off x="1220332" y="5539788"/>
              <a:ext cx="576064" cy="371044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162420" y="4940301"/>
              <a:ext cx="128823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Why only</a:t>
              </a:r>
            </a:p>
            <a:p>
              <a:r>
                <a:rPr lang="en-US" altLang="zh-CN" b="1" dirty="0"/>
                <a:t>Computer? </a:t>
              </a:r>
              <a:endParaRPr lang="zh-CN" altLang="en-US" b="1" dirty="0"/>
            </a:p>
          </p:txBody>
        </p:sp>
      </p:grpSp>
      <p:sp>
        <p:nvSpPr>
          <p:cNvPr id="3" name="矩形 2"/>
          <p:cNvSpPr/>
          <p:nvPr/>
        </p:nvSpPr>
        <p:spPr>
          <a:xfrm>
            <a:off x="6780215" y="2725688"/>
            <a:ext cx="436661" cy="229040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308869" y="2990876"/>
            <a:ext cx="242658" cy="216024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2744332" y="6341173"/>
            <a:ext cx="7837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err="1">
                <a:solidFill>
                  <a:srgbClr val="00B0F0"/>
                </a:solidFill>
              </a:rPr>
              <a:t>scanf</a:t>
            </a:r>
            <a:r>
              <a:rPr lang="en-US" altLang="zh-CN" sz="2000" b="1" dirty="0"/>
              <a:t> uses </a:t>
            </a:r>
            <a:r>
              <a:rPr lang="en-US" altLang="zh-CN" sz="2000" b="1" dirty="0">
                <a:solidFill>
                  <a:srgbClr val="FF0000"/>
                </a:solidFill>
              </a:rPr>
              <a:t>whitespace</a:t>
            </a:r>
            <a:r>
              <a:rPr lang="en-US" altLang="zh-CN" sz="2000" b="1" dirty="0"/>
              <a:t>—</a:t>
            </a:r>
            <a:r>
              <a:rPr lang="en-US" altLang="zh-CN" sz="2000" b="1" dirty="0">
                <a:solidFill>
                  <a:srgbClr val="FF0000"/>
                </a:solidFill>
              </a:rPr>
              <a:t>spaces</a:t>
            </a:r>
            <a:r>
              <a:rPr lang="en-US" altLang="zh-CN" sz="2000" b="1" dirty="0"/>
              <a:t>,</a:t>
            </a:r>
            <a:r>
              <a:rPr lang="en-US" altLang="zh-CN" sz="2000" b="1" dirty="0">
                <a:solidFill>
                  <a:srgbClr val="00B0F0"/>
                </a:solidFill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tabs</a:t>
            </a:r>
            <a:r>
              <a:rPr lang="en-US" altLang="zh-CN" sz="2000" b="1" dirty="0"/>
              <a:t>, and </a:t>
            </a:r>
            <a:r>
              <a:rPr lang="en-US" altLang="zh-CN" sz="2000" b="1" dirty="0">
                <a:solidFill>
                  <a:srgbClr val="FF0000"/>
                </a:solidFill>
              </a:rPr>
              <a:t>newlines </a:t>
            </a:r>
            <a:r>
              <a:rPr lang="en-US" altLang="zh-CN" sz="2000" b="1" dirty="0"/>
              <a:t>to delineate a string.</a:t>
            </a:r>
            <a:endParaRPr lang="zh-CN" altLang="en-US" sz="2000" b="1" dirty="0"/>
          </a:p>
        </p:txBody>
      </p:sp>
      <p:grpSp>
        <p:nvGrpSpPr>
          <p:cNvPr id="14" name="组合 13"/>
          <p:cNvGrpSpPr/>
          <p:nvPr/>
        </p:nvGrpSpPr>
        <p:grpSpPr>
          <a:xfrm>
            <a:off x="7385775" y="2600593"/>
            <a:ext cx="3234411" cy="400111"/>
            <a:chOff x="4060566" y="2303435"/>
            <a:chExt cx="3913634" cy="400111"/>
          </a:xfrm>
        </p:grpSpPr>
        <p:sp>
          <p:nvSpPr>
            <p:cNvPr id="16" name="矩形 15"/>
            <p:cNvSpPr/>
            <p:nvPr/>
          </p:nvSpPr>
          <p:spPr>
            <a:xfrm>
              <a:off x="4060566" y="2435178"/>
              <a:ext cx="435648" cy="22904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8" name="圆角矩形标注 7"/>
            <p:cNvSpPr/>
            <p:nvPr/>
          </p:nvSpPr>
          <p:spPr>
            <a:xfrm>
              <a:off x="5939038" y="2303435"/>
              <a:ext cx="2035162" cy="400111"/>
            </a:xfrm>
            <a:prstGeom prst="wedgeRoundRectCallout">
              <a:avLst>
                <a:gd name="adj1" fmla="val -123029"/>
                <a:gd name="adj2" fmla="val 32206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There is no &amp;</a:t>
              </a:r>
              <a:endParaRPr lang="zh-CN" altLang="en-US" dirty="0"/>
            </a:p>
          </p:txBody>
        </p:sp>
      </p:grpSp>
      <p:sp>
        <p:nvSpPr>
          <p:cNvPr id="25" name="椭圆 24"/>
          <p:cNvSpPr/>
          <p:nvPr/>
        </p:nvSpPr>
        <p:spPr>
          <a:xfrm>
            <a:off x="4546942" y="6026827"/>
            <a:ext cx="949290" cy="255050"/>
          </a:xfrm>
          <a:prstGeom prst="ellipse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nimBg="1"/>
      <p:bldP spid="9" grpId="0" animBg="1"/>
      <p:bldP spid="3" grpId="0" animBg="1"/>
      <p:bldP spid="12" grpId="0" animBg="1"/>
      <p:bldP spid="13" grpId="0"/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384585" y="212357"/>
            <a:ext cx="848042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800" b="1" dirty="0">
                <a:sym typeface="+mn-ea"/>
              </a:rPr>
              <a:t>   2.2.1 C style function about Standard Input processing </a:t>
            </a:r>
            <a:endParaRPr lang="en-US" altLang="zh-CN" sz="2800" b="1" dirty="0">
              <a:highlight>
                <a:srgbClr val="FFFF00"/>
              </a:highligh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02866" y="831173"/>
            <a:ext cx="2444750" cy="2245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/>
              <a:t>1-2.</a:t>
            </a:r>
            <a:r>
              <a:rPr lang="en-US" altLang="zh-CN" sz="2800" b="1" dirty="0">
                <a:solidFill>
                  <a:schemeClr val="tx1"/>
                </a:solidFill>
              </a:rPr>
              <a:t> C:</a:t>
            </a:r>
            <a:r>
              <a:rPr lang="en-US" altLang="zh-CN" sz="2800" b="1" dirty="0">
                <a:solidFill>
                  <a:srgbClr val="00B0F0"/>
                </a:solidFill>
              </a:rPr>
              <a:t> </a:t>
            </a:r>
            <a:r>
              <a:rPr lang="en-US" altLang="zh-CN" sz="2800" b="1" dirty="0" err="1">
                <a:solidFill>
                  <a:srgbClr val="00B0F0"/>
                </a:solidFill>
              </a:rPr>
              <a:t>scanf</a:t>
            </a:r>
            <a:r>
              <a:rPr lang="en-US" altLang="zh-CN" sz="2800" b="1" dirty="0">
                <a:solidFill>
                  <a:srgbClr val="00B0F0"/>
                </a:solidFill>
              </a:rPr>
              <a:t> </a:t>
            </a:r>
          </a:p>
          <a:p>
            <a:r>
              <a:rPr lang="en-US" altLang="zh-CN" sz="2800" b="1" dirty="0"/>
              <a:t>     </a:t>
            </a:r>
            <a:r>
              <a:rPr lang="en-US" altLang="zh-CN" sz="2800" b="1" dirty="0">
                <a:highlight>
                  <a:srgbClr val="FFFF00"/>
                </a:highlight>
              </a:rPr>
              <a:t>%</a:t>
            </a:r>
            <a:r>
              <a:rPr lang="en-US" altLang="zh-CN" sz="2800" b="1" dirty="0">
                <a:solidFill>
                  <a:srgbClr val="00B0F0"/>
                </a:solidFill>
                <a:highlight>
                  <a:srgbClr val="FFFF00"/>
                </a:highlight>
              </a:rPr>
              <a:t>d</a:t>
            </a:r>
            <a:r>
              <a:rPr lang="en-US" altLang="zh-CN" sz="2800" b="1" dirty="0">
                <a:highlight>
                  <a:srgbClr val="FFFF00"/>
                </a:highlight>
              </a:rPr>
              <a:t> ----</a:t>
            </a:r>
            <a:r>
              <a:rPr lang="en-US" altLang="zh-CN" sz="2800" b="1" dirty="0" err="1">
                <a:highlight>
                  <a:srgbClr val="FFFF00"/>
                </a:highlight>
              </a:rPr>
              <a:t>int</a:t>
            </a:r>
            <a:endParaRPr lang="en-US" altLang="zh-CN" sz="2800" b="1" dirty="0">
              <a:highlight>
                <a:srgbClr val="FFFF00"/>
              </a:highlight>
            </a:endParaRPr>
          </a:p>
          <a:p>
            <a:r>
              <a:rPr lang="en-US" altLang="zh-CN" sz="2800" b="1" dirty="0"/>
              <a:t>     </a:t>
            </a:r>
            <a:r>
              <a:rPr lang="en-US" altLang="zh-CN" sz="2800" b="1" dirty="0">
                <a:highlight>
                  <a:srgbClr val="FFFF00"/>
                </a:highlight>
              </a:rPr>
              <a:t>%</a:t>
            </a:r>
            <a:r>
              <a:rPr lang="en-US" altLang="zh-CN" sz="2800" b="1" dirty="0">
                <a:solidFill>
                  <a:srgbClr val="00B0F0"/>
                </a:solidFill>
                <a:highlight>
                  <a:srgbClr val="FFFF00"/>
                </a:highlight>
              </a:rPr>
              <a:t>f</a:t>
            </a:r>
            <a:r>
              <a:rPr lang="en-US" altLang="zh-CN" sz="2800" b="1" dirty="0">
                <a:highlight>
                  <a:srgbClr val="FFFF00"/>
                </a:highlight>
              </a:rPr>
              <a:t> ----float</a:t>
            </a:r>
            <a:endParaRPr lang="en-US" altLang="zh-CN" sz="2800" b="1" dirty="0"/>
          </a:p>
          <a:p>
            <a:r>
              <a:rPr lang="en-US" altLang="zh-CN" sz="2800" b="1" dirty="0"/>
              <a:t>     </a:t>
            </a:r>
            <a:r>
              <a:rPr lang="en-US" altLang="zh-CN" sz="2800" b="1" dirty="0">
                <a:highlight>
                  <a:srgbClr val="FFFF00"/>
                </a:highlight>
              </a:rPr>
              <a:t>%</a:t>
            </a:r>
            <a:r>
              <a:rPr lang="en-US" altLang="zh-CN" sz="2800" b="1" dirty="0">
                <a:solidFill>
                  <a:srgbClr val="00B0F0"/>
                </a:solidFill>
                <a:highlight>
                  <a:srgbClr val="FFFF00"/>
                </a:highlight>
              </a:rPr>
              <a:t>c</a:t>
            </a:r>
            <a:r>
              <a:rPr lang="en-US" altLang="zh-CN" sz="2800" b="1" dirty="0">
                <a:highlight>
                  <a:srgbClr val="FFFF00"/>
                </a:highlight>
              </a:rPr>
              <a:t> -----char</a:t>
            </a:r>
          </a:p>
          <a:p>
            <a:r>
              <a:rPr lang="en-US" altLang="zh-CN" sz="2800" b="1" dirty="0"/>
              <a:t>     %</a:t>
            </a:r>
            <a:r>
              <a:rPr lang="en-US" altLang="zh-CN" sz="2800" b="1" dirty="0">
                <a:solidFill>
                  <a:srgbClr val="00B0F0"/>
                </a:solidFill>
              </a:rPr>
              <a:t>s</a:t>
            </a:r>
            <a:r>
              <a:rPr lang="en-US" altLang="zh-CN" sz="2800" b="1" dirty="0"/>
              <a:t> -----string</a:t>
            </a:r>
            <a:endParaRPr lang="zh-CN" altLang="en-US" sz="2800" b="1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1035" y="5230495"/>
            <a:ext cx="9897110" cy="145986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607050" y="734060"/>
            <a:ext cx="6236970" cy="42640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CC"/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zh-CN" sz="1600"/>
              <a:t>#include &lt;stdio.h&gt;</a:t>
            </a:r>
          </a:p>
          <a:p>
            <a:endParaRPr lang="en-US" altLang="zh-CN" sz="1600"/>
          </a:p>
          <a:p>
            <a:r>
              <a:rPr lang="en-US" altLang="zh-CN" sz="1600"/>
              <a:t>int main(){</a:t>
            </a:r>
          </a:p>
          <a:p>
            <a:r>
              <a:rPr lang="en-US" altLang="zh-CN" sz="1600"/>
              <a:t>    int prj_id=0;</a:t>
            </a:r>
          </a:p>
          <a:p>
            <a:r>
              <a:rPr lang="en-US" altLang="zh-CN" sz="1600"/>
              <a:t>    float prj_sc=0.0f;</a:t>
            </a:r>
          </a:p>
          <a:p>
            <a:r>
              <a:rPr lang="en-US" altLang="zh-CN" sz="1600"/>
              <a:t>    char valid=0;</a:t>
            </a:r>
          </a:p>
          <a:p>
            <a:r>
              <a:rPr lang="en-US" altLang="zh-CN" sz="1600"/>
              <a:t>    printf("please input 'project id' in decimal int: ");</a:t>
            </a:r>
          </a:p>
          <a:p>
            <a:r>
              <a:rPr lang="en-US" altLang="zh-CN" sz="1600"/>
              <a:t>   </a:t>
            </a:r>
            <a:r>
              <a:rPr lang="en-US" altLang="zh-CN" sz="1600" b="1"/>
              <a:t> scanf("%d", &amp;prj_id); </a:t>
            </a:r>
          </a:p>
          <a:p>
            <a:r>
              <a:rPr lang="en-US" altLang="zh-CN" sz="1600"/>
              <a:t>    printf("please input the score : ");</a:t>
            </a:r>
          </a:p>
          <a:p>
            <a:r>
              <a:rPr lang="en-US" altLang="zh-CN" sz="1600"/>
              <a:t>   </a:t>
            </a:r>
            <a:r>
              <a:rPr lang="en-US" altLang="zh-CN" sz="1600" b="1"/>
              <a:t> scanf("%f", &amp;prj_sc);</a:t>
            </a:r>
          </a:p>
          <a:p>
            <a:r>
              <a:rPr lang="en-US" altLang="zh-CN" sz="1600"/>
              <a:t>    printf("please input the score is valid or not(Y/N): ");</a:t>
            </a:r>
          </a:p>
          <a:p>
            <a:r>
              <a:rPr lang="en-US" altLang="zh-CN" sz="1600"/>
              <a:t>    while (getchar() != '\n');</a:t>
            </a:r>
          </a:p>
          <a:p>
            <a:r>
              <a:rPr lang="en-US" altLang="zh-CN" sz="1600"/>
              <a:t>   </a:t>
            </a:r>
            <a:r>
              <a:rPr lang="en-US" altLang="zh-CN" sz="1600" b="1"/>
              <a:t> scanf("%c", &amp;valid);     </a:t>
            </a:r>
          </a:p>
          <a:p>
            <a:r>
              <a:rPr lang="en-US" altLang="zh-CN" sz="1600"/>
              <a:t>    printf("project id: %d, score: %.1f, %s\n",</a:t>
            </a:r>
          </a:p>
          <a:p>
            <a:r>
              <a:rPr lang="en-US" altLang="zh-CN" sz="1600"/>
              <a:t>               prj_id, prj_sc, (valid=='y'||valid=='Y')?"VALID":"NOT VALIDE" );  </a:t>
            </a:r>
          </a:p>
          <a:p>
            <a:r>
              <a:rPr lang="en-US" altLang="zh-CN" sz="1600"/>
              <a:t>    return 0;</a:t>
            </a:r>
          </a:p>
          <a:p>
            <a:r>
              <a:rPr lang="en-US" altLang="zh-CN" sz="1600"/>
              <a:t>}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266700" y="3270885"/>
            <a:ext cx="516001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Tips:</a:t>
            </a:r>
          </a:p>
          <a:p>
            <a:r>
              <a:rPr lang="en-US" altLang="zh-CN"/>
              <a:t>When using scanf ("% d") or scanf ("% f") to read values, scanf skips leading whitespace characters (spaces, line breaks, etc.), but does not consume line breaks in the input stream (i.e., those generated by pressing enter).</a:t>
            </a:r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5790565" y="3462020"/>
            <a:ext cx="2335530" cy="27051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1" name="组合 20"/>
          <p:cNvGrpSpPr/>
          <p:nvPr/>
        </p:nvGrpSpPr>
        <p:grpSpPr>
          <a:xfrm>
            <a:off x="6898005" y="2494915"/>
            <a:ext cx="3907790" cy="238760"/>
            <a:chOff x="3167744" y="2303435"/>
            <a:chExt cx="4806456" cy="401320"/>
          </a:xfrm>
        </p:grpSpPr>
        <p:sp>
          <p:nvSpPr>
            <p:cNvPr id="23" name="矩形 22"/>
            <p:cNvSpPr/>
            <p:nvPr/>
          </p:nvSpPr>
          <p:spPr>
            <a:xfrm>
              <a:off x="3167744" y="2304502"/>
              <a:ext cx="185885" cy="400253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4" name="圆角矩形标注 7"/>
            <p:cNvSpPr/>
            <p:nvPr/>
          </p:nvSpPr>
          <p:spPr>
            <a:xfrm>
              <a:off x="5939038" y="2303435"/>
              <a:ext cx="2035162" cy="400111"/>
            </a:xfrm>
            <a:prstGeom prst="wedgeRoundRectCallout">
              <a:avLst>
                <a:gd name="adj1" fmla="val -123029"/>
                <a:gd name="adj2" fmla="val 32206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There is &amp;</a:t>
              </a:r>
              <a:endParaRPr lang="zh-CN" altLang="en-US" dirty="0"/>
            </a:p>
          </p:txBody>
        </p:sp>
      </p:grpSp>
      <p:sp>
        <p:nvSpPr>
          <p:cNvPr id="26" name="矩形 25"/>
          <p:cNvSpPr/>
          <p:nvPr/>
        </p:nvSpPr>
        <p:spPr>
          <a:xfrm>
            <a:off x="6863080" y="2978785"/>
            <a:ext cx="151130" cy="2381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895465" y="3745230"/>
            <a:ext cx="151130" cy="2381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8" name="灯片编号占位符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2481" y="4067472"/>
            <a:ext cx="8848725" cy="27527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11230" y="783694"/>
            <a:ext cx="159194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2.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C: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gets </a:t>
            </a:r>
          </a:p>
        </p:txBody>
      </p:sp>
      <p:sp>
        <p:nvSpPr>
          <p:cNvPr id="9" name="矩形 8"/>
          <p:cNvSpPr/>
          <p:nvPr/>
        </p:nvSpPr>
        <p:spPr>
          <a:xfrm>
            <a:off x="2592481" y="6229492"/>
            <a:ext cx="2854427" cy="58625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281089" y="4749610"/>
            <a:ext cx="2311392" cy="1773011"/>
            <a:chOff x="-1242911" y="4833588"/>
            <a:chExt cx="2311392" cy="1773011"/>
          </a:xfrm>
        </p:grpSpPr>
        <p:cxnSp>
          <p:nvCxnSpPr>
            <p:cNvPr id="7" name="直接箭头连接符 6"/>
            <p:cNvCxnSpPr>
              <a:endCxn id="9" idx="1"/>
            </p:cNvCxnSpPr>
            <p:nvPr/>
          </p:nvCxnSpPr>
          <p:spPr>
            <a:xfrm>
              <a:off x="492417" y="6334250"/>
              <a:ext cx="576064" cy="272349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-1242911" y="4833588"/>
              <a:ext cx="2297059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Use gets to gain a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sentence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with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a space.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gets()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stops reading input when it encounters a newline or end of file.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1634135" y="3271138"/>
            <a:ext cx="3783215" cy="2033537"/>
            <a:chOff x="110134" y="3271137"/>
            <a:chExt cx="3783215" cy="2033537"/>
          </a:xfrm>
        </p:grpSpPr>
        <p:sp>
          <p:nvSpPr>
            <p:cNvPr id="8" name="矩形 7"/>
            <p:cNvSpPr/>
            <p:nvPr/>
          </p:nvSpPr>
          <p:spPr>
            <a:xfrm>
              <a:off x="1053989" y="4555431"/>
              <a:ext cx="2297059" cy="749243"/>
            </a:xfrm>
            <a:prstGeom prst="rect">
              <a:avLst/>
            </a:prstGeom>
            <a:noFill/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10134" y="3271137"/>
              <a:ext cx="378321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There is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warning due to using gets().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You can use </a:t>
              </a:r>
              <a:r>
                <a:rPr kumimoji="0" lang="en-US" altLang="zh-CN" sz="18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fgets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() function instead.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5" name="直接箭头连接符 14"/>
            <p:cNvCxnSpPr/>
            <p:nvPr/>
          </p:nvCxnSpPr>
          <p:spPr>
            <a:xfrm>
              <a:off x="602927" y="3854659"/>
              <a:ext cx="1376785" cy="798477"/>
            </a:xfrm>
            <a:prstGeom prst="straightConnector1">
              <a:avLst/>
            </a:prstGeom>
            <a:ln w="19050">
              <a:solidFill>
                <a:srgbClr val="00B0F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>
          <a:xfrm>
            <a:off x="3235960" y="673100"/>
            <a:ext cx="6661150" cy="3244215"/>
            <a:chOff x="5096" y="349"/>
            <a:chExt cx="11038" cy="5820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34" y="349"/>
              <a:ext cx="6600" cy="5820"/>
            </a:xfrm>
            <a:prstGeom prst="rect">
              <a:avLst/>
            </a:prstGeom>
          </p:spPr>
        </p:pic>
        <p:grpSp>
          <p:nvGrpSpPr>
            <p:cNvPr id="18" name="组合 17"/>
            <p:cNvGrpSpPr/>
            <p:nvPr/>
          </p:nvGrpSpPr>
          <p:grpSpPr>
            <a:xfrm>
              <a:off x="5096" y="3301"/>
              <a:ext cx="6123" cy="519"/>
              <a:chOff x="1712183" y="2096339"/>
              <a:chExt cx="3888170" cy="329874"/>
            </a:xfrm>
          </p:grpSpPr>
          <p:graphicFrame>
            <p:nvGraphicFramePr>
              <p:cNvPr id="16" name="对象 15"/>
              <p:cNvGraphicFramePr>
                <a:graphicFrameLocks noChangeAspect="1"/>
              </p:cNvGraphicFramePr>
              <p:nvPr/>
            </p:nvGraphicFramePr>
            <p:xfrm>
              <a:off x="1712183" y="2096339"/>
              <a:ext cx="2347926" cy="32987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Image" r:id="rId5" imgW="2305050" imgH="323850" progId="Photoshop.Image.13">
                      <p:embed/>
                    </p:oleObj>
                  </mc:Choice>
                  <mc:Fallback>
                    <p:oleObj name="Image" r:id="rId5" imgW="2305050" imgH="323850" progId="Photoshop.Image.13">
                      <p:embed/>
                      <p:pic>
                        <p:nvPicPr>
                          <p:cNvPr id="0" name="对象 15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1712183" y="2096339"/>
                            <a:ext cx="2347926" cy="329874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19" name="直接箭头连接符 18"/>
              <p:cNvCxnSpPr>
                <a:endCxn id="17" idx="1"/>
              </p:cNvCxnSpPr>
              <p:nvPr/>
            </p:nvCxnSpPr>
            <p:spPr>
              <a:xfrm flipV="1">
                <a:off x="3922907" y="2207387"/>
                <a:ext cx="1677446" cy="96643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" name="矩形 16"/>
            <p:cNvSpPr/>
            <p:nvPr/>
          </p:nvSpPr>
          <p:spPr>
            <a:xfrm>
              <a:off x="11219" y="3240"/>
              <a:ext cx="1913" cy="472"/>
            </a:xfrm>
            <a:prstGeom prst="rect">
              <a:avLst/>
            </a:prstGeom>
            <a:noFill/>
            <a:ln w="19050" cmpd="sng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1243" y="4471"/>
              <a:ext cx="1913" cy="472"/>
            </a:xfrm>
            <a:prstGeom prst="rect">
              <a:avLst/>
            </a:prstGeom>
            <a:noFill/>
            <a:ln w="19050" cmpd="sng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1123600" y="-14973"/>
            <a:ext cx="848042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800" b="1" dirty="0">
                <a:sym typeface="+mn-ea"/>
              </a:rPr>
              <a:t>   2.2.1 C style function about Standard Input processing </a:t>
            </a:r>
            <a:endParaRPr lang="en-US" altLang="zh-CN" sz="2800" b="1" dirty="0">
              <a:highlight>
                <a:srgbClr val="FFFF00"/>
              </a:highlight>
            </a:endParaRP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151890" y="986790"/>
            <a:ext cx="2851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1. C++: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cin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62355" y="1779270"/>
            <a:ext cx="476059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The </a:t>
            </a:r>
            <a:r>
              <a:rPr kumimoji="0" lang="en-US" altLang="zh-CN" sz="22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cin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is to use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whitespace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--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spaces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,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tabs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, and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newlines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to separate a string.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151890" y="3051175"/>
            <a:ext cx="4610735" cy="1167130"/>
            <a:chOff x="1472" y="8179"/>
            <a:chExt cx="5940" cy="1392"/>
          </a:xfrm>
        </p:grpSpPr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72" y="8179"/>
              <a:ext cx="5940" cy="1365"/>
            </a:xfrm>
            <a:prstGeom prst="rect">
              <a:avLst/>
            </a:prstGeom>
          </p:spPr>
        </p:pic>
        <p:grpSp>
          <p:nvGrpSpPr>
            <p:cNvPr id="7" name="组合 6"/>
            <p:cNvGrpSpPr/>
            <p:nvPr/>
          </p:nvGrpSpPr>
          <p:grpSpPr>
            <a:xfrm>
              <a:off x="3318" y="8787"/>
              <a:ext cx="4063" cy="784"/>
              <a:chOff x="2195736" y="5579667"/>
              <a:chExt cx="2579996" cy="497705"/>
            </a:xfrm>
          </p:grpSpPr>
          <p:sp>
            <p:nvSpPr>
              <p:cNvPr id="9" name="矩形 8"/>
              <p:cNvSpPr/>
              <p:nvPr/>
            </p:nvSpPr>
            <p:spPr>
              <a:xfrm>
                <a:off x="2195736" y="5836622"/>
                <a:ext cx="987166" cy="24075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" name="矩形 18"/>
              <p:cNvSpPr/>
              <p:nvPr/>
            </p:nvSpPr>
            <p:spPr>
              <a:xfrm>
                <a:off x="2937851" y="5579667"/>
                <a:ext cx="1837881" cy="256955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3286" y="8257"/>
              <a:ext cx="833" cy="558"/>
              <a:chOff x="2214590" y="5272728"/>
              <a:chExt cx="529161" cy="354220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403361" y="5272728"/>
                <a:ext cx="340390" cy="172194"/>
              </a:xfrm>
              <a:prstGeom prst="rect">
                <a:avLst/>
              </a:prstGeom>
              <a:noFill/>
              <a:ln w="1905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" name="矩形 19"/>
              <p:cNvSpPr/>
              <p:nvPr/>
            </p:nvSpPr>
            <p:spPr>
              <a:xfrm>
                <a:off x="2214590" y="5454754"/>
                <a:ext cx="340390" cy="172194"/>
              </a:xfrm>
              <a:prstGeom prst="rect">
                <a:avLst/>
              </a:prstGeom>
              <a:noFill/>
              <a:ln w="1905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12" name="组合 11"/>
          <p:cNvGrpSpPr/>
          <p:nvPr/>
        </p:nvGrpSpPr>
        <p:grpSpPr>
          <a:xfrm>
            <a:off x="6079490" y="1189355"/>
            <a:ext cx="5380990" cy="4705350"/>
            <a:chOff x="7933" y="196"/>
            <a:chExt cx="8474" cy="7410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33" y="196"/>
              <a:ext cx="8475" cy="7410"/>
            </a:xfrm>
            <a:prstGeom prst="rect">
              <a:avLst/>
            </a:prstGeom>
          </p:spPr>
        </p:pic>
        <p:sp>
          <p:nvSpPr>
            <p:cNvPr id="13" name="矩形 12"/>
            <p:cNvSpPr/>
            <p:nvPr/>
          </p:nvSpPr>
          <p:spPr>
            <a:xfrm>
              <a:off x="9574" y="3907"/>
              <a:ext cx="2041" cy="349"/>
            </a:xfrm>
            <a:prstGeom prst="rect">
              <a:avLst/>
            </a:prstGeom>
            <a:noFill/>
            <a:ln w="19050" cmpd="sng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9652" y="5540"/>
              <a:ext cx="2041" cy="349"/>
            </a:xfrm>
            <a:prstGeom prst="rect">
              <a:avLst/>
            </a:prstGeom>
            <a:noFill/>
            <a:ln w="19050" cmpd="sng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151890" y="4598035"/>
            <a:ext cx="4611370" cy="1022985"/>
            <a:chOff x="8453" y="8341"/>
            <a:chExt cx="6750" cy="1126"/>
          </a:xfrm>
        </p:grpSpPr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453" y="8376"/>
              <a:ext cx="6750" cy="1005"/>
            </a:xfrm>
            <a:prstGeom prst="rect">
              <a:avLst/>
            </a:prstGeom>
          </p:spPr>
        </p:pic>
        <p:sp>
          <p:nvSpPr>
            <p:cNvPr id="22" name="矩形 21"/>
            <p:cNvSpPr/>
            <p:nvPr/>
          </p:nvSpPr>
          <p:spPr>
            <a:xfrm>
              <a:off x="10577" y="8341"/>
              <a:ext cx="3714" cy="377"/>
            </a:xfrm>
            <a:prstGeom prst="rect">
              <a:avLst/>
            </a:prstGeom>
            <a:noFill/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206" y="8730"/>
              <a:ext cx="835" cy="35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13251" y="9091"/>
              <a:ext cx="1784" cy="377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1275365" y="124727"/>
            <a:ext cx="87649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800" b="1" dirty="0">
                <a:sym typeface="+mn-ea"/>
              </a:rPr>
              <a:t>   2.2.2 C++ style method about Standard Input processing</a:t>
            </a:r>
            <a:r>
              <a:rPr lang="en-US" altLang="zh-CN" sz="2800" b="1" dirty="0">
                <a:highlight>
                  <a:srgbClr val="FFFF00"/>
                </a:highlight>
                <a:sym typeface="+mn-ea"/>
              </a:rPr>
              <a:t> </a:t>
            </a:r>
            <a:endParaRPr lang="en-US" altLang="zh-CN" sz="2800" b="1" dirty="0">
              <a:highlight>
                <a:srgbClr val="FFFF00"/>
              </a:highlight>
            </a:endParaRPr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226" y="5058360"/>
            <a:ext cx="5049687" cy="9787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45416" y="724067"/>
            <a:ext cx="255587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prstClr val="black"/>
                </a:solidFill>
              </a:rPr>
              <a:t>2</a:t>
            </a:r>
            <a:r>
              <a:rPr lang="en-US" altLang="zh-CN" sz="2800" b="1" dirty="0">
                <a:solidFill>
                  <a:schemeClr val="tx1"/>
                </a:solidFill>
              </a:rPr>
              <a:t>. C++:</a:t>
            </a:r>
            <a:r>
              <a:rPr lang="en-US" altLang="zh-CN" sz="2800" b="1" dirty="0">
                <a:solidFill>
                  <a:srgbClr val="00B0F0"/>
                </a:solidFill>
              </a:rPr>
              <a:t> </a:t>
            </a:r>
            <a:r>
              <a:rPr lang="en-US" altLang="zh-CN" sz="2800" b="1" dirty="0" err="1">
                <a:solidFill>
                  <a:srgbClr val="00B0F0"/>
                </a:solidFill>
              </a:rPr>
              <a:t>cin.get</a:t>
            </a:r>
            <a:r>
              <a:rPr lang="en-US" altLang="zh-CN" sz="2800" b="1" dirty="0">
                <a:solidFill>
                  <a:srgbClr val="00B0F0"/>
                </a:solidFill>
              </a:rPr>
              <a:t>( )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2509182" y="5099190"/>
            <a:ext cx="1295902" cy="449283"/>
            <a:chOff x="1293932" y="5749404"/>
            <a:chExt cx="1295902" cy="449283"/>
          </a:xfrm>
        </p:grpSpPr>
        <p:sp>
          <p:nvSpPr>
            <p:cNvPr id="9" name="矩形 8"/>
            <p:cNvSpPr/>
            <p:nvPr/>
          </p:nvSpPr>
          <p:spPr>
            <a:xfrm>
              <a:off x="1513364" y="5749404"/>
              <a:ext cx="1076470" cy="202953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1293932" y="5963198"/>
              <a:ext cx="1295902" cy="235489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2538676" y="5586182"/>
            <a:ext cx="3688236" cy="449893"/>
            <a:chOff x="1239968" y="6141981"/>
            <a:chExt cx="3688236" cy="449893"/>
          </a:xfrm>
        </p:grpSpPr>
        <p:sp>
          <p:nvSpPr>
            <p:cNvPr id="8" name="矩形 7"/>
            <p:cNvSpPr/>
            <p:nvPr/>
          </p:nvSpPr>
          <p:spPr>
            <a:xfrm>
              <a:off x="2142845" y="6141981"/>
              <a:ext cx="2785359" cy="235489"/>
            </a:xfrm>
            <a:prstGeom prst="rect">
              <a:avLst/>
            </a:prstGeom>
            <a:noFill/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1239968" y="6356385"/>
              <a:ext cx="2088232" cy="235489"/>
            </a:xfrm>
            <a:prstGeom prst="rect">
              <a:avLst/>
            </a:prstGeom>
            <a:noFill/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2" name="矩形 11"/>
          <p:cNvSpPr/>
          <p:nvPr/>
        </p:nvSpPr>
        <p:spPr>
          <a:xfrm>
            <a:off x="5354370" y="2358143"/>
            <a:ext cx="1800200" cy="227740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5336587" y="3561460"/>
            <a:ext cx="1847478" cy="227740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383002" y="1444457"/>
            <a:ext cx="26933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Input a single character:</a:t>
            </a:r>
          </a:p>
          <a:p>
            <a:r>
              <a:rPr lang="en-US" altLang="zh-CN" sz="2000" b="1" dirty="0" err="1">
                <a:solidFill>
                  <a:srgbClr val="00B0F0"/>
                </a:solidFill>
              </a:rPr>
              <a:t>istream</a:t>
            </a:r>
            <a:r>
              <a:rPr lang="en-US" altLang="zh-CN" sz="2000" b="1" dirty="0">
                <a:solidFill>
                  <a:srgbClr val="00B0F0"/>
                </a:solidFill>
              </a:rPr>
              <a:t>&amp; get(char&amp;);</a:t>
            </a:r>
          </a:p>
          <a:p>
            <a:r>
              <a:rPr lang="en-US" altLang="zh-CN" sz="2000" b="1" dirty="0">
                <a:solidFill>
                  <a:srgbClr val="00B0F0"/>
                </a:solidFill>
              </a:rPr>
              <a:t>int get(void);</a:t>
            </a:r>
            <a:endParaRPr lang="zh-CN" altLang="en-US" sz="2000" b="1" dirty="0">
              <a:solidFill>
                <a:srgbClr val="00B0F0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413067" y="2781785"/>
            <a:ext cx="27368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Input a string:</a:t>
            </a:r>
          </a:p>
          <a:p>
            <a:r>
              <a:rPr lang="en-US" altLang="zh-CN" sz="2000" b="1" dirty="0" err="1">
                <a:solidFill>
                  <a:srgbClr val="00B0F0"/>
                </a:solidFill>
              </a:rPr>
              <a:t>istream</a:t>
            </a:r>
            <a:r>
              <a:rPr lang="en-US" altLang="zh-CN" sz="2000" b="1" dirty="0">
                <a:solidFill>
                  <a:srgbClr val="00B0F0"/>
                </a:solidFill>
              </a:rPr>
              <a:t>&amp; get(char*,int);</a:t>
            </a:r>
          </a:p>
        </p:txBody>
      </p:sp>
      <p:grpSp>
        <p:nvGrpSpPr>
          <p:cNvPr id="31" name="组合 30"/>
          <p:cNvGrpSpPr/>
          <p:nvPr/>
        </p:nvGrpSpPr>
        <p:grpSpPr>
          <a:xfrm>
            <a:off x="1216554" y="6079029"/>
            <a:ext cx="4669968" cy="680005"/>
            <a:chOff x="837900" y="6190057"/>
            <a:chExt cx="4669968" cy="680005"/>
          </a:xfrm>
        </p:grpSpPr>
        <p:cxnSp>
          <p:nvCxnSpPr>
            <p:cNvPr id="32" name="直接箭头连接符 31"/>
            <p:cNvCxnSpPr/>
            <p:nvPr/>
          </p:nvCxnSpPr>
          <p:spPr>
            <a:xfrm flipV="1">
              <a:off x="3036994" y="6190057"/>
              <a:ext cx="389436" cy="185759"/>
            </a:xfrm>
            <a:prstGeom prst="straightConnector1">
              <a:avLst/>
            </a:prstGeom>
            <a:ln w="19050">
              <a:solidFill>
                <a:srgbClr val="00B0F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9"/>
            <p:cNvSpPr txBox="1"/>
            <p:nvPr/>
          </p:nvSpPr>
          <p:spPr>
            <a:xfrm>
              <a:off x="837900" y="6286497"/>
              <a:ext cx="4669968" cy="5835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>
                  <a:solidFill>
                    <a:prstClr val="black"/>
                  </a:solidFill>
                </a:rPr>
                <a:t>If the length of input string is greater than 20,</a:t>
              </a:r>
            </a:p>
            <a:p>
              <a:r>
                <a:rPr lang="en-US" altLang="zh-CN" sz="1600" b="1" dirty="0">
                  <a:solidFill>
                    <a:prstClr val="black"/>
                  </a:solidFill>
                </a:rPr>
                <a:t>it can only store first 19 characters in it. </a:t>
              </a:r>
              <a:endParaRPr lang="zh-CN" altLang="en-US" sz="1600" b="1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4627245" y="737870"/>
            <a:ext cx="7473315" cy="4277995"/>
            <a:chOff x="6929" y="299"/>
            <a:chExt cx="12127" cy="72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29" y="299"/>
              <a:ext cx="7707" cy="7251"/>
            </a:xfrm>
            <a:prstGeom prst="rect">
              <a:avLst/>
            </a:prstGeom>
          </p:spPr>
        </p:pic>
        <p:grpSp>
          <p:nvGrpSpPr>
            <p:cNvPr id="18" name="组合 17"/>
            <p:cNvGrpSpPr/>
            <p:nvPr/>
          </p:nvGrpSpPr>
          <p:grpSpPr>
            <a:xfrm>
              <a:off x="8514" y="4528"/>
              <a:ext cx="10542" cy="671"/>
              <a:chOff x="4293922" y="3219128"/>
              <a:chExt cx="6694014" cy="425896"/>
            </a:xfrm>
          </p:grpSpPr>
          <p:sp>
            <p:nvSpPr>
              <p:cNvPr id="19" name="矩形 18"/>
              <p:cNvSpPr/>
              <p:nvPr/>
            </p:nvSpPr>
            <p:spPr>
              <a:xfrm>
                <a:off x="4293922" y="3453873"/>
                <a:ext cx="1152128" cy="191151"/>
              </a:xfrm>
              <a:prstGeom prst="rect">
                <a:avLst/>
              </a:prstGeom>
              <a:noFill/>
              <a:ln w="1905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对话气泡: 圆角矩形 19"/>
              <p:cNvSpPr/>
              <p:nvPr/>
            </p:nvSpPr>
            <p:spPr>
              <a:xfrm>
                <a:off x="5807968" y="3219128"/>
                <a:ext cx="5179968" cy="353888"/>
              </a:xfrm>
              <a:prstGeom prst="wedgeRoundRectCallout">
                <a:avLst>
                  <a:gd name="adj1" fmla="val -58795"/>
                  <a:gd name="adj2" fmla="val 20825"/>
                  <a:gd name="adj3" fmla="val 16667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If the statement is omitted, what will be the output?</a:t>
                </a:r>
                <a:endParaRPr lang="zh-CN" altLang="en-US" dirty="0"/>
              </a:p>
            </p:txBody>
          </p:sp>
        </p:grpSp>
      </p:grpSp>
      <p:pic>
        <p:nvPicPr>
          <p:cNvPr id="22" name="图片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0268" y="5116402"/>
            <a:ext cx="4024583" cy="797665"/>
          </a:xfrm>
          <a:prstGeom prst="rect">
            <a:avLst/>
          </a:prstGeom>
        </p:spPr>
      </p:pic>
      <p:sp>
        <p:nvSpPr>
          <p:cNvPr id="23" name="椭圆 22"/>
          <p:cNvSpPr/>
          <p:nvPr/>
        </p:nvSpPr>
        <p:spPr>
          <a:xfrm>
            <a:off x="7401560" y="5628005"/>
            <a:ext cx="3750945" cy="388620"/>
          </a:xfrm>
          <a:prstGeom prst="ellipse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7" name="直接箭头连接符 26"/>
          <p:cNvCxnSpPr/>
          <p:nvPr/>
        </p:nvCxnSpPr>
        <p:spPr>
          <a:xfrm flipH="1">
            <a:off x="9943465" y="3629025"/>
            <a:ext cx="902335" cy="2016125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10920" y="124460"/>
            <a:ext cx="10564495" cy="5556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zh-CN" sz="2800" b="1" dirty="0">
                <a:sym typeface="+mn-ea"/>
              </a:rPr>
              <a:t>   2.2.2 C++ style method about Standard Input processing</a:t>
            </a:r>
            <a:r>
              <a:rPr lang="en-US" altLang="zh-CN" sz="2800" b="1" dirty="0">
                <a:highlight>
                  <a:srgbClr val="FFFF00"/>
                </a:highlight>
                <a:sym typeface="+mn-ea"/>
              </a:rPr>
              <a:t> </a:t>
            </a:r>
            <a:endParaRPr lang="en-US" altLang="zh-CN" sz="2800" b="1" dirty="0">
              <a:highlight>
                <a:srgbClr val="FFFF00"/>
              </a:highlight>
            </a:endParaRP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290" y="5120861"/>
            <a:ext cx="5571632" cy="10705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2522" y="934371"/>
            <a:ext cx="31819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3. </a:t>
            </a:r>
            <a:r>
              <a:rPr lang="en-US" altLang="zh-CN" sz="2800" b="1" dirty="0">
                <a:solidFill>
                  <a:schemeClr val="tx1"/>
                </a:solidFill>
                <a:latin typeface="Calibri" panose="020F0502020204030204"/>
                <a:ea typeface="宋体" panose="02010600030101010101" pitchFamily="2" charset="-122"/>
              </a:rPr>
              <a:t>C++: </a:t>
            </a:r>
            <a:r>
              <a:rPr lang="en-US" altLang="zh-CN" sz="2800" b="1" dirty="0" err="1">
                <a:solidFill>
                  <a:srgbClr val="00B0F0"/>
                </a:solidFill>
                <a:latin typeface="Calibri" panose="020F0502020204030204"/>
                <a:ea typeface="宋体" panose="02010600030101010101" pitchFamily="2" charset="-122"/>
              </a:rPr>
              <a:t>cin.getline</a:t>
            </a:r>
            <a:r>
              <a:rPr lang="en-US" altLang="zh-CN" sz="2800" b="1" dirty="0">
                <a:solidFill>
                  <a:srgbClr val="00B0F0"/>
                </a:solidFill>
                <a:latin typeface="Calibri" panose="020F0502020204030204"/>
                <a:ea typeface="宋体" panose="02010600030101010101" pitchFamily="2" charset="-122"/>
              </a:rPr>
              <a:t>( ) 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3143391" y="5154780"/>
            <a:ext cx="1515886" cy="481582"/>
            <a:chOff x="1264436" y="5755187"/>
            <a:chExt cx="1515886" cy="481582"/>
          </a:xfrm>
        </p:grpSpPr>
        <p:sp>
          <p:nvSpPr>
            <p:cNvPr id="9" name="矩形 8"/>
            <p:cNvSpPr/>
            <p:nvPr/>
          </p:nvSpPr>
          <p:spPr>
            <a:xfrm>
              <a:off x="1513364" y="5755187"/>
              <a:ext cx="1266958" cy="21558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altLang="en-US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1264436" y="6021181"/>
              <a:ext cx="1266958" cy="21558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3215400" y="5692283"/>
            <a:ext cx="3922819" cy="489221"/>
            <a:chOff x="1200640" y="6141981"/>
            <a:chExt cx="3922819" cy="489221"/>
          </a:xfrm>
        </p:grpSpPr>
        <p:sp>
          <p:nvSpPr>
            <p:cNvPr id="8" name="矩形 7"/>
            <p:cNvSpPr/>
            <p:nvPr/>
          </p:nvSpPr>
          <p:spPr>
            <a:xfrm>
              <a:off x="2182173" y="6141981"/>
              <a:ext cx="2941286" cy="235489"/>
            </a:xfrm>
            <a:prstGeom prst="rect">
              <a:avLst/>
            </a:prstGeom>
            <a:noFill/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1200640" y="6395713"/>
              <a:ext cx="2088232" cy="235489"/>
            </a:xfrm>
            <a:prstGeom prst="rect">
              <a:avLst/>
            </a:prstGeom>
            <a:noFill/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149850" y="656590"/>
            <a:ext cx="5083175" cy="4328160"/>
            <a:chOff x="7337" y="327"/>
            <a:chExt cx="8022" cy="7168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37" y="327"/>
              <a:ext cx="8023" cy="7168"/>
            </a:xfrm>
            <a:prstGeom prst="rect">
              <a:avLst/>
            </a:prstGeom>
          </p:spPr>
        </p:pic>
        <p:sp>
          <p:nvSpPr>
            <p:cNvPr id="12" name="矩形 11"/>
            <p:cNvSpPr/>
            <p:nvPr/>
          </p:nvSpPr>
          <p:spPr>
            <a:xfrm>
              <a:off x="8956" y="3930"/>
              <a:ext cx="3555" cy="352"/>
            </a:xfrm>
            <a:prstGeom prst="rect">
              <a:avLst/>
            </a:prstGeom>
            <a:noFill/>
            <a:ln w="19050" cmpd="sng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8953" y="5517"/>
              <a:ext cx="3555" cy="352"/>
            </a:xfrm>
            <a:prstGeom prst="rect">
              <a:avLst/>
            </a:prstGeom>
            <a:noFill/>
            <a:ln w="19050" cmpd="sng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5356123" y="6171628"/>
            <a:ext cx="4996911" cy="694198"/>
            <a:chOff x="3832122" y="6171628"/>
            <a:chExt cx="4996911" cy="694198"/>
          </a:xfrm>
        </p:grpSpPr>
        <p:cxnSp>
          <p:nvCxnSpPr>
            <p:cNvPr id="17" name="直接箭头连接符 16"/>
            <p:cNvCxnSpPr/>
            <p:nvPr/>
          </p:nvCxnSpPr>
          <p:spPr>
            <a:xfrm flipH="1" flipV="1">
              <a:off x="3832122" y="6171628"/>
              <a:ext cx="387951" cy="196761"/>
            </a:xfrm>
            <a:prstGeom prst="straightConnector1">
              <a:avLst/>
            </a:prstGeom>
            <a:ln w="19050">
              <a:solidFill>
                <a:srgbClr val="00B0F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9"/>
            <p:cNvSpPr txBox="1"/>
            <p:nvPr/>
          </p:nvSpPr>
          <p:spPr>
            <a:xfrm>
              <a:off x="4294331" y="6219495"/>
              <a:ext cx="4534702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prstClr val="black"/>
                  </a:solidFill>
                </a:rPr>
                <a:t>If the length of input string is greater than 20,</a:t>
              </a:r>
            </a:p>
            <a:p>
              <a:r>
                <a:rPr lang="en-US" altLang="zh-CN" b="1" dirty="0">
                  <a:solidFill>
                    <a:prstClr val="black"/>
                  </a:solidFill>
                </a:rPr>
                <a:t>it can only store first 19 characters in it. </a:t>
              </a:r>
              <a:endParaRPr lang="zh-CN" altLang="en-US" b="1" dirty="0">
                <a:solidFill>
                  <a:prstClr val="black"/>
                </a:solidFill>
              </a:endParaRPr>
            </a:p>
          </p:txBody>
        </p:sp>
      </p:grpSp>
      <p:sp>
        <p:nvSpPr>
          <p:cNvPr id="21" name="文本框 20"/>
          <p:cNvSpPr txBox="1"/>
          <p:nvPr/>
        </p:nvSpPr>
        <p:spPr>
          <a:xfrm>
            <a:off x="1059211" y="1697174"/>
            <a:ext cx="31295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Input a string:</a:t>
            </a:r>
          </a:p>
          <a:p>
            <a:r>
              <a:rPr lang="en-US" altLang="zh-CN" sz="2000" b="1" dirty="0" err="1">
                <a:solidFill>
                  <a:srgbClr val="00B0F0"/>
                </a:solidFill>
              </a:rPr>
              <a:t>istream</a:t>
            </a:r>
            <a:r>
              <a:rPr lang="en-US" altLang="zh-CN" sz="2000" b="1" dirty="0">
                <a:solidFill>
                  <a:srgbClr val="00B0F0"/>
                </a:solidFill>
              </a:rPr>
              <a:t>&amp; </a:t>
            </a:r>
            <a:r>
              <a:rPr lang="en-US" altLang="zh-CN" sz="2000" b="1" dirty="0" err="1">
                <a:solidFill>
                  <a:srgbClr val="00B0F0"/>
                </a:solidFill>
              </a:rPr>
              <a:t>getline</a:t>
            </a:r>
            <a:r>
              <a:rPr lang="en-US" altLang="zh-CN" sz="2000" b="1" dirty="0">
                <a:solidFill>
                  <a:srgbClr val="00B0F0"/>
                </a:solidFill>
              </a:rPr>
              <a:t>(char*,int);</a:t>
            </a:r>
          </a:p>
        </p:txBody>
      </p:sp>
      <p:sp>
        <p:nvSpPr>
          <p:cNvPr id="10" name="TextBox 3"/>
          <p:cNvSpPr txBox="1"/>
          <p:nvPr/>
        </p:nvSpPr>
        <p:spPr>
          <a:xfrm>
            <a:off x="889285" y="134887"/>
            <a:ext cx="87649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800" b="1" dirty="0">
                <a:sym typeface="+mn-ea"/>
              </a:rPr>
              <a:t>   2.2.2 C++ style method about Standard Input processing</a:t>
            </a:r>
            <a:r>
              <a:rPr lang="en-US" altLang="zh-CN" sz="2800" b="1" dirty="0">
                <a:highlight>
                  <a:srgbClr val="FFFF00"/>
                </a:highlight>
                <a:sym typeface="+mn-ea"/>
              </a:rPr>
              <a:t> </a:t>
            </a:r>
            <a:endParaRPr lang="en-US" altLang="zh-CN" sz="2800" b="1" dirty="0">
              <a:highlight>
                <a:srgbClr val="FFFF00"/>
              </a:highlight>
            </a:endParaRP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594" y="5328762"/>
            <a:ext cx="3810159" cy="79966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11885" y="606425"/>
            <a:ext cx="498411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err="1">
                <a:solidFill>
                  <a:schemeClr val="tx1"/>
                </a:solidFill>
              </a:rPr>
              <a:t>4.</a:t>
            </a:r>
            <a:r>
              <a:rPr lang="en-US" altLang="zh-CN" sz="2800" b="1" dirty="0" err="1">
                <a:solidFill>
                  <a:srgbClr val="00B0F0"/>
                </a:solidFill>
              </a:rPr>
              <a:t> </a:t>
            </a:r>
            <a:r>
              <a:rPr lang="en-US" altLang="zh-CN" sz="2800" b="1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sz="2800" b="1" dirty="0">
                <a:latin typeface="Calibri" panose="020F0502020204030204"/>
                <a:ea typeface="宋体" panose="02010600030101010101" pitchFamily="2" charset="-122"/>
                <a:sym typeface="+mn-ea"/>
              </a:rPr>
              <a:t>C++: </a:t>
            </a:r>
          </a:p>
          <a:p>
            <a:r>
              <a:rPr lang="en-US" altLang="zh-CN" sz="2800" b="1" dirty="0" err="1">
                <a:solidFill>
                  <a:srgbClr val="00B0F0"/>
                </a:solidFill>
              </a:rPr>
              <a:t>cin.get</a:t>
            </a:r>
            <a:r>
              <a:rPr lang="en-US" altLang="zh-CN" sz="2800" b="1" dirty="0">
                <a:solidFill>
                  <a:srgbClr val="00B0F0"/>
                </a:solidFill>
              </a:rPr>
              <a:t>( ) </a:t>
            </a:r>
            <a:r>
              <a:rPr lang="en-US" altLang="zh-CN" sz="2800" b="1" dirty="0">
                <a:solidFill>
                  <a:prstClr val="black"/>
                </a:solidFill>
              </a:rPr>
              <a:t>vs </a:t>
            </a:r>
            <a:r>
              <a:rPr lang="en-US" altLang="zh-CN" sz="2800" b="1" dirty="0" err="1">
                <a:solidFill>
                  <a:srgbClr val="00B0F0"/>
                </a:solidFill>
              </a:rPr>
              <a:t>cin.getline</a:t>
            </a:r>
            <a:r>
              <a:rPr lang="en-US" altLang="zh-CN" sz="2800" b="1" dirty="0">
                <a:solidFill>
                  <a:srgbClr val="00B0F0"/>
                </a:solidFill>
              </a:rPr>
              <a:t>( 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0765" y="2346325"/>
            <a:ext cx="517207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err="1">
                <a:solidFill>
                  <a:srgbClr val="00B0F0"/>
                </a:solidFill>
              </a:rPr>
              <a:t>getline</a:t>
            </a:r>
            <a:r>
              <a:rPr lang="en-US" altLang="zh-CN" sz="2000" b="1" dirty="0">
                <a:solidFill>
                  <a:srgbClr val="00B0F0"/>
                </a:solidFill>
              </a:rPr>
              <a:t>() </a:t>
            </a:r>
            <a:r>
              <a:rPr lang="en-US" altLang="zh-CN" sz="2000" b="1" dirty="0">
                <a:solidFill>
                  <a:prstClr val="black"/>
                </a:solidFill>
              </a:rPr>
              <a:t>and </a:t>
            </a:r>
            <a:r>
              <a:rPr lang="en-US" altLang="zh-CN" sz="2000" b="1" dirty="0">
                <a:solidFill>
                  <a:srgbClr val="00B0F0"/>
                </a:solidFill>
              </a:rPr>
              <a:t>get()</a:t>
            </a:r>
            <a:r>
              <a:rPr lang="en-US" altLang="zh-CN" sz="2000" b="1" dirty="0">
                <a:solidFill>
                  <a:prstClr val="black"/>
                </a:solidFill>
              </a:rPr>
              <a:t> both read an entire input line—that is, up until a newline character. </a:t>
            </a:r>
          </a:p>
          <a:p>
            <a:endParaRPr lang="en-US" altLang="zh-CN" sz="2000" b="1" dirty="0">
              <a:solidFill>
                <a:prstClr val="black"/>
              </a:solidFill>
            </a:endParaRPr>
          </a:p>
          <a:p>
            <a:r>
              <a:rPr lang="en-US" altLang="zh-CN" sz="2000" b="1" dirty="0">
                <a:solidFill>
                  <a:prstClr val="black"/>
                </a:solidFill>
              </a:rPr>
              <a:t>However</a:t>
            </a:r>
            <a:r>
              <a:rPr lang="en-US" altLang="zh-CN" sz="2000" b="1" dirty="0"/>
              <a:t>, </a:t>
            </a:r>
            <a:r>
              <a:rPr lang="en-US" altLang="zh-CN" sz="2000" b="1" dirty="0" err="1">
                <a:solidFill>
                  <a:srgbClr val="00B0F0"/>
                </a:solidFill>
              </a:rPr>
              <a:t>getline</a:t>
            </a:r>
            <a:r>
              <a:rPr lang="en-US" altLang="zh-CN" sz="2000" b="1" dirty="0">
                <a:solidFill>
                  <a:srgbClr val="00B0F0"/>
                </a:solidFill>
              </a:rPr>
              <a:t>() </a:t>
            </a:r>
            <a:r>
              <a:rPr lang="en-US" altLang="zh-CN" sz="2000" b="1" dirty="0">
                <a:solidFill>
                  <a:prstClr val="black"/>
                </a:solidFill>
              </a:rPr>
              <a:t>discard the newline character, whereas </a:t>
            </a:r>
            <a:r>
              <a:rPr lang="en-US" altLang="zh-CN" sz="2000" b="1" dirty="0">
                <a:solidFill>
                  <a:srgbClr val="00B0F0"/>
                </a:solidFill>
              </a:rPr>
              <a:t>get() </a:t>
            </a:r>
            <a:r>
              <a:rPr lang="en-US" altLang="zh-CN" sz="2000" b="1" dirty="0">
                <a:solidFill>
                  <a:prstClr val="black"/>
                </a:solidFill>
              </a:rPr>
              <a:t>leave it in the input queue.</a:t>
            </a:r>
            <a:endParaRPr lang="zh-CN" altLang="en-US" sz="2000" b="1" dirty="0">
              <a:solidFill>
                <a:prstClr val="black"/>
              </a:solidFill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1415480" y="5421854"/>
            <a:ext cx="5898202" cy="923330"/>
            <a:chOff x="-108521" y="5530005"/>
            <a:chExt cx="5898202" cy="923330"/>
          </a:xfrm>
        </p:grpSpPr>
        <p:sp>
          <p:nvSpPr>
            <p:cNvPr id="8" name="矩形 7"/>
            <p:cNvSpPr/>
            <p:nvPr/>
          </p:nvSpPr>
          <p:spPr>
            <a:xfrm>
              <a:off x="1964660" y="5996562"/>
              <a:ext cx="3825021" cy="240015"/>
            </a:xfrm>
            <a:prstGeom prst="rect">
              <a:avLst/>
            </a:prstGeom>
            <a:noFill/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-108521" y="5530005"/>
              <a:ext cx="1795556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prstClr val="black"/>
                  </a:solidFill>
                </a:rPr>
                <a:t>Program runs</a:t>
              </a:r>
            </a:p>
            <a:p>
              <a:r>
                <a:rPr lang="en-US" altLang="zh-CN" b="1" dirty="0">
                  <a:solidFill>
                    <a:prstClr val="black"/>
                  </a:solidFill>
                </a:rPr>
                <a:t>without entering</a:t>
              </a:r>
            </a:p>
            <a:p>
              <a:r>
                <a:rPr lang="en-US" altLang="zh-CN" b="1" dirty="0">
                  <a:solidFill>
                    <a:prstClr val="black"/>
                  </a:solidFill>
                </a:rPr>
                <a:t>another string</a:t>
              </a:r>
              <a:endParaRPr lang="zh-CN" altLang="en-US" b="1" dirty="0">
                <a:solidFill>
                  <a:prstClr val="black"/>
                </a:solidFill>
              </a:endParaRPr>
            </a:p>
          </p:txBody>
        </p:sp>
        <p:cxnSp>
          <p:nvCxnSpPr>
            <p:cNvPr id="15" name="直接箭头连接符 14"/>
            <p:cNvCxnSpPr>
              <a:endCxn id="8" idx="1"/>
            </p:cNvCxnSpPr>
            <p:nvPr/>
          </p:nvCxnSpPr>
          <p:spPr>
            <a:xfrm>
              <a:off x="1650156" y="5871547"/>
              <a:ext cx="314504" cy="245023"/>
            </a:xfrm>
            <a:prstGeom prst="straightConnector1">
              <a:avLst/>
            </a:prstGeom>
            <a:ln w="19050">
              <a:solidFill>
                <a:srgbClr val="00B0F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组合 5"/>
          <p:cNvGrpSpPr/>
          <p:nvPr/>
        </p:nvGrpSpPr>
        <p:grpSpPr>
          <a:xfrm>
            <a:off x="4943455" y="5377860"/>
            <a:ext cx="1269674" cy="461238"/>
            <a:chOff x="2771800" y="5545010"/>
            <a:chExt cx="1269674" cy="461238"/>
          </a:xfrm>
        </p:grpSpPr>
        <p:sp>
          <p:nvSpPr>
            <p:cNvPr id="9" name="矩形 8"/>
            <p:cNvSpPr/>
            <p:nvPr/>
          </p:nvSpPr>
          <p:spPr>
            <a:xfrm>
              <a:off x="2987824" y="5545010"/>
              <a:ext cx="1053650" cy="221223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2771800" y="5766233"/>
              <a:ext cx="1152545" cy="24001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6507480" y="763905"/>
            <a:ext cx="4733290" cy="4457700"/>
            <a:chOff x="9016" y="576"/>
            <a:chExt cx="7454" cy="702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016" y="576"/>
              <a:ext cx="7455" cy="7020"/>
            </a:xfrm>
            <a:prstGeom prst="rect">
              <a:avLst/>
            </a:prstGeom>
          </p:spPr>
        </p:pic>
        <p:sp>
          <p:nvSpPr>
            <p:cNvPr id="16" name="矩形 15"/>
            <p:cNvSpPr/>
            <p:nvPr/>
          </p:nvSpPr>
          <p:spPr>
            <a:xfrm>
              <a:off x="9784" y="3868"/>
              <a:ext cx="2912" cy="454"/>
            </a:xfrm>
            <a:prstGeom prst="rect">
              <a:avLst/>
            </a:prstGeom>
            <a:noFill/>
            <a:ln w="19050" cmpd="sng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/>
          </p:nvSpPr>
          <p:spPr>
            <a:xfrm>
              <a:off x="9769" y="5544"/>
              <a:ext cx="3656" cy="454"/>
            </a:xfrm>
            <a:prstGeom prst="rect">
              <a:avLst/>
            </a:prstGeom>
            <a:noFill/>
            <a:ln w="19050" cmpd="sng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TextBox 3"/>
          <p:cNvSpPr txBox="1"/>
          <p:nvPr/>
        </p:nvSpPr>
        <p:spPr>
          <a:xfrm>
            <a:off x="889285" y="134887"/>
            <a:ext cx="87649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800" b="1" dirty="0">
                <a:sym typeface="+mn-ea"/>
              </a:rPr>
              <a:t>   2.2.2 C++ style method about Standard Input processing</a:t>
            </a:r>
            <a:r>
              <a:rPr lang="en-US" altLang="zh-CN" sz="2800" b="1" dirty="0">
                <a:highlight>
                  <a:srgbClr val="FFFF00"/>
                </a:highlight>
                <a:sym typeface="+mn-ea"/>
              </a:rPr>
              <a:t> </a:t>
            </a:r>
            <a:endParaRPr lang="en-US" altLang="zh-CN" sz="2800" b="1" dirty="0">
              <a:highlight>
                <a:srgbClr val="FFFF00"/>
              </a:highlight>
            </a:endParaRPr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181735" y="882015"/>
            <a:ext cx="36442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prstClr val="black"/>
                </a:solidFill>
              </a:rPr>
              <a:t>5. </a:t>
            </a:r>
            <a:r>
              <a:rPr lang="en-US" altLang="zh-CN" sz="2800" b="1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sz="2800" b="1" dirty="0">
                <a:latin typeface="Calibri" panose="020F0502020204030204"/>
                <a:ea typeface="宋体" panose="02010600030101010101" pitchFamily="2" charset="-122"/>
                <a:sym typeface="+mn-ea"/>
              </a:rPr>
              <a:t>C++: </a:t>
            </a:r>
            <a:r>
              <a:rPr lang="en-US" altLang="zh-CN" sz="2800" b="1" dirty="0">
                <a:solidFill>
                  <a:prstClr val="black"/>
                </a:solidFill>
              </a:rPr>
              <a:t>string class I/O</a:t>
            </a:r>
            <a:endParaRPr lang="en-US" altLang="zh-CN" sz="2800" b="1" dirty="0">
              <a:solidFill>
                <a:srgbClr val="00B0F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82020" y="1637717"/>
            <a:ext cx="42069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err="1">
                <a:solidFill>
                  <a:srgbClr val="00B0F0"/>
                </a:solidFill>
              </a:rPr>
              <a:t>getline</a:t>
            </a:r>
            <a:r>
              <a:rPr lang="en-US" altLang="zh-CN" sz="2000" b="1" dirty="0">
                <a:solidFill>
                  <a:srgbClr val="00B0F0"/>
                </a:solidFill>
              </a:rPr>
              <a:t>() </a:t>
            </a:r>
            <a:r>
              <a:rPr lang="en-US" altLang="zh-CN" sz="2000" b="1" dirty="0">
                <a:solidFill>
                  <a:prstClr val="black"/>
                </a:solidFill>
              </a:rPr>
              <a:t>function takes the input </a:t>
            </a:r>
          </a:p>
          <a:p>
            <a:r>
              <a:rPr lang="en-US" altLang="zh-CN" sz="2000" b="1" dirty="0">
                <a:solidFill>
                  <a:prstClr val="black"/>
                </a:solidFill>
              </a:rPr>
              <a:t>stream as the first parameter which</a:t>
            </a:r>
          </a:p>
          <a:p>
            <a:r>
              <a:rPr lang="en-US" altLang="zh-CN" sz="2000" b="1" dirty="0">
                <a:solidFill>
                  <a:prstClr val="black"/>
                </a:solidFill>
              </a:rPr>
              <a:t>is </a:t>
            </a:r>
            <a:r>
              <a:rPr lang="en-US" altLang="zh-CN" sz="2000" b="1" dirty="0" err="1">
                <a:solidFill>
                  <a:srgbClr val="00B0F0"/>
                </a:solidFill>
              </a:rPr>
              <a:t>cin</a:t>
            </a:r>
            <a:r>
              <a:rPr lang="en-US" altLang="zh-CN" sz="2000" b="1" dirty="0">
                <a:solidFill>
                  <a:prstClr val="black"/>
                </a:solidFill>
              </a:rPr>
              <a:t> and </a:t>
            </a:r>
            <a:r>
              <a:rPr lang="en-US" altLang="zh-CN" sz="2000" b="1" dirty="0" err="1">
                <a:solidFill>
                  <a:srgbClr val="00B0F0"/>
                </a:solidFill>
              </a:rPr>
              <a:t>str</a:t>
            </a:r>
            <a:r>
              <a:rPr lang="en-US" altLang="zh-CN" sz="2000" b="1" dirty="0">
                <a:solidFill>
                  <a:prstClr val="black"/>
                </a:solidFill>
              </a:rPr>
              <a:t> as the location of the </a:t>
            </a:r>
          </a:p>
          <a:p>
            <a:r>
              <a:rPr lang="en-US" altLang="zh-CN" sz="2000" b="1" dirty="0">
                <a:solidFill>
                  <a:prstClr val="black"/>
                </a:solidFill>
              </a:rPr>
              <a:t>line to be stored.</a:t>
            </a:r>
            <a:endParaRPr lang="zh-CN" altLang="en-US" sz="2000" b="1" dirty="0">
              <a:solidFill>
                <a:prstClr val="black"/>
              </a:solidFill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450850" y="4540250"/>
            <a:ext cx="5701030" cy="1137920"/>
            <a:chOff x="7945" y="7620"/>
            <a:chExt cx="8978" cy="1792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45" y="7620"/>
              <a:ext cx="8927" cy="1793"/>
            </a:xfrm>
            <a:prstGeom prst="rect">
              <a:avLst/>
            </a:prstGeom>
          </p:spPr>
        </p:pic>
        <p:grpSp>
          <p:nvGrpSpPr>
            <p:cNvPr id="6" name="组合 5"/>
            <p:cNvGrpSpPr/>
            <p:nvPr/>
          </p:nvGrpSpPr>
          <p:grpSpPr>
            <a:xfrm>
              <a:off x="10400" y="7689"/>
              <a:ext cx="2436" cy="796"/>
              <a:chOff x="1524816" y="5055046"/>
              <a:chExt cx="1547172" cy="505584"/>
            </a:xfrm>
          </p:grpSpPr>
          <p:sp>
            <p:nvSpPr>
              <p:cNvPr id="9" name="矩形 8"/>
              <p:cNvSpPr/>
              <p:nvPr/>
            </p:nvSpPr>
            <p:spPr>
              <a:xfrm>
                <a:off x="1790404" y="5055046"/>
                <a:ext cx="1281584" cy="251118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1524816" y="5309512"/>
                <a:ext cx="1281584" cy="251118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10449" y="8539"/>
              <a:ext cx="6475" cy="831"/>
              <a:chOff x="2557713" y="5530706"/>
              <a:chExt cx="4111526" cy="527546"/>
            </a:xfrm>
          </p:grpSpPr>
          <p:sp>
            <p:nvSpPr>
              <p:cNvPr id="18" name="矩形 17"/>
              <p:cNvSpPr/>
              <p:nvPr/>
            </p:nvSpPr>
            <p:spPr>
              <a:xfrm>
                <a:off x="3516595" y="5530706"/>
                <a:ext cx="3152644" cy="271199"/>
              </a:xfrm>
              <a:prstGeom prst="rect">
                <a:avLst/>
              </a:prstGeom>
              <a:noFill/>
              <a:ln w="1905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9" name="矩形 18"/>
              <p:cNvSpPr/>
              <p:nvPr/>
            </p:nvSpPr>
            <p:spPr>
              <a:xfrm>
                <a:off x="2557713" y="5805253"/>
                <a:ext cx="3152644" cy="252999"/>
              </a:xfrm>
              <a:prstGeom prst="rect">
                <a:avLst/>
              </a:prstGeom>
              <a:noFill/>
              <a:ln w="1905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</p:grpSp>
      <p:grpSp>
        <p:nvGrpSpPr>
          <p:cNvPr id="8" name="组合 7"/>
          <p:cNvGrpSpPr/>
          <p:nvPr/>
        </p:nvGrpSpPr>
        <p:grpSpPr>
          <a:xfrm>
            <a:off x="6475730" y="1230630"/>
            <a:ext cx="5323840" cy="4447540"/>
            <a:chOff x="8487" y="145"/>
            <a:chExt cx="8384" cy="7004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487" y="145"/>
              <a:ext cx="8385" cy="7005"/>
            </a:xfrm>
            <a:prstGeom prst="rect">
              <a:avLst/>
            </a:prstGeom>
          </p:spPr>
        </p:pic>
        <p:sp>
          <p:nvSpPr>
            <p:cNvPr id="16" name="矩形 15"/>
            <p:cNvSpPr/>
            <p:nvPr/>
          </p:nvSpPr>
          <p:spPr>
            <a:xfrm>
              <a:off x="10215" y="3440"/>
              <a:ext cx="3210" cy="399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10198" y="5097"/>
              <a:ext cx="3014" cy="399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10043" y="2579"/>
              <a:ext cx="2870" cy="454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TextBox 3"/>
          <p:cNvSpPr txBox="1"/>
          <p:nvPr/>
        </p:nvSpPr>
        <p:spPr>
          <a:xfrm>
            <a:off x="889285" y="134887"/>
            <a:ext cx="87649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800" b="1" dirty="0">
                <a:sym typeface="+mn-ea"/>
              </a:rPr>
              <a:t>   2.2.2 C++ style method about Standard Input processing</a:t>
            </a:r>
            <a:r>
              <a:rPr lang="en-US" altLang="zh-CN" sz="2800" b="1" dirty="0">
                <a:highlight>
                  <a:srgbClr val="FFFF00"/>
                </a:highlight>
                <a:sym typeface="+mn-ea"/>
              </a:rPr>
              <a:t> </a:t>
            </a:r>
            <a:endParaRPr lang="en-US" altLang="zh-CN" sz="2800" b="1" dirty="0">
              <a:highlight>
                <a:srgbClr val="FFFF00"/>
              </a:highlight>
            </a:endParaRPr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2. Data storage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196975"/>
            <a:ext cx="11238865" cy="4980305"/>
          </a:xfrm>
        </p:spPr>
        <p:txBody>
          <a:bodyPr>
            <a:normAutofit/>
          </a:bodyPr>
          <a:lstStyle/>
          <a:p>
            <a:r>
              <a:rPr lang="en-US" altLang="zh-CN" dirty="0"/>
              <a:t>2.1.Data storage on construction type</a:t>
            </a:r>
          </a:p>
          <a:p>
            <a:pPr lvl="1"/>
            <a:r>
              <a:rPr lang="en-US" sz="2400" dirty="0"/>
              <a:t>array: </a:t>
            </a:r>
          </a:p>
          <a:p>
            <a:pPr lvl="2"/>
            <a:r>
              <a:rPr lang="en-US" altLang="zh-CN" sz="2000" dirty="0"/>
              <a:t>One dimensional array and two-dimensional array</a:t>
            </a:r>
          </a:p>
          <a:p>
            <a:pPr lvl="1"/>
            <a:r>
              <a:rPr lang="en-US" sz="2400" dirty="0"/>
              <a:t>string: </a:t>
            </a:r>
          </a:p>
          <a:p>
            <a:pPr lvl="2"/>
            <a:r>
              <a:rPr lang="en-US" sz="2000" dirty="0"/>
              <a:t>char array vs string</a:t>
            </a:r>
          </a:p>
          <a:p>
            <a:pPr lvl="1"/>
            <a:r>
              <a:rPr lang="en-US" sz="2400" dirty="0"/>
              <a:t>struct: </a:t>
            </a:r>
          </a:p>
          <a:p>
            <a:pPr lvl="2"/>
            <a:r>
              <a:rPr lang="en-US" sz="2000" dirty="0"/>
              <a:t>align</a:t>
            </a:r>
          </a:p>
          <a:p>
            <a:pPr lvl="1"/>
            <a:r>
              <a:rPr lang="en-US" sz="2400" dirty="0"/>
              <a:t>union: </a:t>
            </a:r>
          </a:p>
          <a:p>
            <a:pPr lvl="2"/>
            <a:r>
              <a:rPr lang="en-US" sz="2000" dirty="0"/>
              <a:t>share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2.1 Data storage-array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449580" y="1032510"/>
            <a:ext cx="2487930" cy="25806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noAutofit/>
          </a:bodyPr>
          <a:lstStyle/>
          <a:p>
            <a:r>
              <a:rPr lang="en-US" altLang="zh-CN" sz="2000"/>
              <a:t>int main(){</a:t>
            </a:r>
          </a:p>
          <a:p>
            <a:r>
              <a:rPr lang="en-US" altLang="zh-CN" sz="2000"/>
              <a:t>    int ds[ ]={1,2,3 };</a:t>
            </a:r>
          </a:p>
          <a:p>
            <a:endParaRPr lang="en-US" altLang="zh-CN" sz="2000"/>
          </a:p>
          <a:p>
            <a:r>
              <a:rPr lang="en-US" altLang="zh-CN" sz="2000"/>
              <a:t>    int ds2 [2] [3]= {</a:t>
            </a:r>
          </a:p>
          <a:p>
            <a:r>
              <a:rPr lang="en-US" altLang="zh-CN" sz="2000"/>
              <a:t>          {4,5,6}, {7,8,9}</a:t>
            </a:r>
          </a:p>
          <a:p>
            <a:r>
              <a:rPr lang="en-US" altLang="zh-CN" sz="2000"/>
              <a:t>    };</a:t>
            </a:r>
          </a:p>
          <a:p>
            <a:r>
              <a:rPr lang="en-US" altLang="zh-CN" sz="2000"/>
              <a:t>    return 0;</a:t>
            </a:r>
          </a:p>
          <a:p>
            <a:r>
              <a:rPr lang="en-US" altLang="zh-CN" sz="2000"/>
              <a:t>}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5460" y="1032510"/>
            <a:ext cx="1481455" cy="15544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4350" y="3757930"/>
            <a:ext cx="1496060" cy="302831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1610" y="1032510"/>
            <a:ext cx="3029585" cy="182499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7295" y="4712335"/>
            <a:ext cx="4272915" cy="180149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1535" y="3493770"/>
            <a:ext cx="2409825" cy="294322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476625" y="3048000"/>
            <a:ext cx="4878070" cy="14693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/>
              <a:t>using ‘x’ command in gdb to examine the data storage details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400"/>
              <a:t>1)address: starting from the position specified by the subsequent parameters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400"/>
              <a:t>2) datas:  for example, option “/</a:t>
            </a:r>
            <a:r>
              <a:rPr lang="en-US" altLang="zh-CN" sz="1400" b="1"/>
              <a:t>3dw</a:t>
            </a:r>
            <a:r>
              <a:rPr lang="en-US" altLang="zh-CN" sz="1400"/>
              <a:t>” here means show the data stored in the space of</a:t>
            </a:r>
            <a:r>
              <a:rPr lang="en-US" altLang="zh-CN" sz="1400" b="1"/>
              <a:t> 3</a:t>
            </a:r>
            <a:r>
              <a:rPr lang="en-US" altLang="zh-CN" sz="1400"/>
              <a:t> consecutive </a:t>
            </a:r>
            <a:r>
              <a:rPr lang="en-US" altLang="zh-CN" sz="1400" b="1"/>
              <a:t>w</a:t>
            </a:r>
            <a:r>
              <a:rPr lang="en-US" altLang="zh-CN" sz="1400"/>
              <a:t>ords starting from the address in </a:t>
            </a:r>
            <a:r>
              <a:rPr lang="en-US" altLang="zh-CN" sz="1400" b="1"/>
              <a:t>d</a:t>
            </a:r>
            <a:r>
              <a:rPr lang="en-US" altLang="zh-CN" sz="1400"/>
              <a:t>ecimal.</a:t>
            </a:r>
          </a:p>
        </p:txBody>
      </p:sp>
      <p:sp>
        <p:nvSpPr>
          <p:cNvPr id="13" name="矩形 12"/>
          <p:cNvSpPr/>
          <p:nvPr/>
        </p:nvSpPr>
        <p:spPr>
          <a:xfrm>
            <a:off x="6508115" y="994410"/>
            <a:ext cx="1543050" cy="282575"/>
          </a:xfrm>
          <a:prstGeom prst="rect">
            <a:avLst/>
          </a:prstGeom>
          <a:noFill/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6508115" y="1298575"/>
            <a:ext cx="3053715" cy="207010"/>
          </a:xfrm>
          <a:prstGeom prst="rect">
            <a:avLst/>
          </a:prstGeom>
          <a:noFill/>
          <a:ln w="28575" cmpd="sng">
            <a:solidFill>
              <a:srgbClr val="FFC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曲线连接符 14"/>
          <p:cNvCxnSpPr/>
          <p:nvPr/>
        </p:nvCxnSpPr>
        <p:spPr>
          <a:xfrm rot="10800000" flipV="1">
            <a:off x="8018780" y="569595"/>
            <a:ext cx="641350" cy="358775"/>
          </a:xfrm>
          <a:prstGeom prst="curvedConnector3">
            <a:avLst>
              <a:gd name="adj1" fmla="val 49901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曲线连接符 15"/>
          <p:cNvCxnSpPr>
            <a:endCxn id="14" idx="3"/>
          </p:cNvCxnSpPr>
          <p:nvPr/>
        </p:nvCxnSpPr>
        <p:spPr>
          <a:xfrm rot="10800000">
            <a:off x="9561830" y="1401445"/>
            <a:ext cx="608330" cy="92075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9561195" y="1461770"/>
            <a:ext cx="24314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staring address:  data(s)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8764905" y="398145"/>
            <a:ext cx="2984500" cy="4540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/>
              <a:t>command executed in gdb</a:t>
            </a:r>
          </a:p>
        </p:txBody>
      </p:sp>
      <p:sp>
        <p:nvSpPr>
          <p:cNvPr id="19" name="矩形 18"/>
          <p:cNvSpPr/>
          <p:nvPr/>
        </p:nvSpPr>
        <p:spPr>
          <a:xfrm>
            <a:off x="6406515" y="2184400"/>
            <a:ext cx="1412875" cy="185420"/>
          </a:xfrm>
          <a:prstGeom prst="rect">
            <a:avLst/>
          </a:prstGeom>
          <a:noFill/>
          <a:ln w="20320" cmpd="sng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927340" y="2202815"/>
            <a:ext cx="316230" cy="156845"/>
          </a:xfrm>
          <a:prstGeom prst="rect">
            <a:avLst/>
          </a:prstGeom>
          <a:noFill/>
          <a:ln w="20320" cmpd="sng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4739005" y="2359660"/>
            <a:ext cx="1743075" cy="6870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/>
              <a:t>starting address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9794240" y="2309495"/>
            <a:ext cx="9404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data(s)</a:t>
            </a:r>
          </a:p>
        </p:txBody>
      </p:sp>
      <p:cxnSp>
        <p:nvCxnSpPr>
          <p:cNvPr id="24" name="曲线连接符 23"/>
          <p:cNvCxnSpPr>
            <a:endCxn id="19" idx="1"/>
          </p:cNvCxnSpPr>
          <p:nvPr/>
        </p:nvCxnSpPr>
        <p:spPr>
          <a:xfrm flipV="1">
            <a:off x="5997575" y="2277110"/>
            <a:ext cx="408940" cy="194945"/>
          </a:xfrm>
          <a:prstGeom prst="curvedConnector3">
            <a:avLst>
              <a:gd name="adj1" fmla="val 50155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曲线连接符 24"/>
          <p:cNvCxnSpPr>
            <a:stCxn id="23" idx="1"/>
          </p:cNvCxnSpPr>
          <p:nvPr/>
        </p:nvCxnSpPr>
        <p:spPr>
          <a:xfrm rot="10800000">
            <a:off x="8366760" y="2243455"/>
            <a:ext cx="1427480" cy="249555"/>
          </a:xfrm>
          <a:prstGeom prst="curvedConnector3">
            <a:avLst>
              <a:gd name="adj1" fmla="val 49956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2.1 Data storage: char-array vs string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55955" y="1189355"/>
            <a:ext cx="6009005" cy="231457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noAutofit/>
          </a:bodyPr>
          <a:lstStyle/>
          <a:p>
            <a:r>
              <a:rPr lang="en-US" altLang="zh-CN"/>
              <a:t>int main(){</a:t>
            </a:r>
          </a:p>
          <a:p>
            <a:r>
              <a:rPr lang="en-US" altLang="zh-CN"/>
              <a:t>    char SC[ ]="SUSTECH";</a:t>
            </a:r>
          </a:p>
          <a:p>
            <a:r>
              <a:rPr lang="en-US" altLang="zh-CN"/>
              <a:t>    char sc[ ]= {'s','u','s','t','e','c','h'};</a:t>
            </a:r>
          </a:p>
          <a:p>
            <a:endParaRPr lang="en-US" altLang="zh-CN"/>
          </a:p>
          <a:p>
            <a:r>
              <a:rPr lang="en-US" altLang="zh-CN"/>
              <a:t>    printf("size of SC: %ld bytes, sc: %ld\n",sizeof(SC), sizeof(sc));</a:t>
            </a:r>
          </a:p>
          <a:p>
            <a:endParaRPr lang="en-US" altLang="zh-CN"/>
          </a:p>
          <a:p>
            <a:r>
              <a:rPr lang="en-US" altLang="zh-CN"/>
              <a:t>    return 0;</a:t>
            </a:r>
          </a:p>
          <a:p>
            <a:r>
              <a:rPr lang="en-US" altLang="zh-CN"/>
              <a:t>}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1575" y="2807335"/>
            <a:ext cx="9345295" cy="126555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7460" y="1668780"/>
            <a:ext cx="4651375" cy="44386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064260" y="4732020"/>
            <a:ext cx="98012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The string terminator character(\000, value 0) is automatically included at the end of the string, but there is no such automatic operation in character arrays </a:t>
            </a: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29</a:t>
            </a:fld>
            <a:endParaRPr lang="zh-C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2.1 Data storage: struct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4355" y="1656715"/>
            <a:ext cx="3736340" cy="74041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55930" y="1396365"/>
            <a:ext cx="5770245" cy="45237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/>
          <a:p>
            <a:r>
              <a:rPr lang="en-US" altLang="zh-CN"/>
              <a:t>#include&lt;stdio.h&gt;</a:t>
            </a:r>
          </a:p>
          <a:p>
            <a:r>
              <a:rPr lang="en-US" altLang="zh-CN"/>
              <a:t>struct data{</a:t>
            </a:r>
          </a:p>
          <a:p>
            <a:r>
              <a:rPr lang="en-US" altLang="zh-CN"/>
              <a:t>    int a;</a:t>
            </a:r>
          </a:p>
          <a:p>
            <a:r>
              <a:rPr lang="en-US" altLang="zh-CN"/>
              <a:t>    char c;</a:t>
            </a:r>
          </a:p>
          <a:p>
            <a:r>
              <a:rPr lang="en-US" altLang="zh-CN"/>
              <a:t>};</a:t>
            </a:r>
          </a:p>
          <a:p>
            <a:endParaRPr lang="en-US" altLang="zh-CN"/>
          </a:p>
          <a:p>
            <a:r>
              <a:rPr lang="en-US" altLang="zh-CN"/>
              <a:t>int main(){</a:t>
            </a:r>
          </a:p>
          <a:p>
            <a:r>
              <a:rPr lang="en-US" altLang="zh-CN"/>
              <a:t>    struct data icx;</a:t>
            </a:r>
          </a:p>
          <a:p>
            <a:r>
              <a:rPr lang="en-US" altLang="zh-CN"/>
              <a:t>    icx.a = 0x11223344;</a:t>
            </a:r>
          </a:p>
          <a:p>
            <a:r>
              <a:rPr lang="en-US" altLang="zh-CN"/>
              <a:t>    icx.c = 0x56;</a:t>
            </a:r>
          </a:p>
          <a:p>
            <a:endParaRPr lang="en-US" altLang="zh-CN"/>
          </a:p>
          <a:p>
            <a:r>
              <a:rPr lang="en-US" altLang="zh-CN"/>
              <a:t>    printf("size of icx: %ld\n",sizeof(icx));</a:t>
            </a:r>
          </a:p>
          <a:p>
            <a:r>
              <a:rPr lang="en-US" altLang="zh-CN"/>
              <a:t>    printf("size of icx.a: %ld, icx.a=0x%x\n",sizeof(icx.a),icx.a);</a:t>
            </a:r>
          </a:p>
          <a:p>
            <a:r>
              <a:rPr lang="en-US" altLang="zh-CN"/>
              <a:t>    printf("size of icx.c: %ld, icx.c=0x%x\n",sizeof(icx.c),icx.c);</a:t>
            </a:r>
          </a:p>
          <a:p>
            <a:r>
              <a:rPr lang="en-US" altLang="zh-CN"/>
              <a:t>    return 0;</a:t>
            </a:r>
          </a:p>
          <a:p>
            <a:r>
              <a:rPr lang="en-US" altLang="zh-CN"/>
              <a:t>}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9630" y="2955925"/>
            <a:ext cx="7153275" cy="146685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362065" y="5062220"/>
            <a:ext cx="55295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Each member in the struct occupies exclusive space and is filled with necessary padding to achieve alignment.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8833485" y="65144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2.2 Data storage: union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54685" y="1097915"/>
            <a:ext cx="7260590" cy="52698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noAutofit/>
          </a:bodyPr>
          <a:lstStyle/>
          <a:p>
            <a:r>
              <a:rPr lang="en-US" altLang="zh-CN" dirty="0">
                <a:sym typeface="+mn-ea"/>
              </a:rPr>
              <a:t>#include&lt;stdio.h&gt;</a:t>
            </a:r>
            <a:endParaRPr lang="en-US" altLang="zh-CN" dirty="0"/>
          </a:p>
          <a:p>
            <a:r>
              <a:rPr lang="en-US" altLang="zh-CN" dirty="0">
                <a:sym typeface="+mn-ea"/>
              </a:rPr>
              <a:t>union data</a:t>
            </a:r>
            <a:endParaRPr lang="en-US" altLang="zh-CN" dirty="0"/>
          </a:p>
          <a:p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r>
              <a:rPr lang="en-US" altLang="zh-CN" dirty="0">
                <a:sym typeface="+mn-ea"/>
              </a:rPr>
              <a:t>    int a;</a:t>
            </a:r>
            <a:endParaRPr lang="en-US" altLang="zh-CN" dirty="0"/>
          </a:p>
          <a:p>
            <a:r>
              <a:rPr lang="en-US" altLang="zh-CN" dirty="0">
                <a:sym typeface="+mn-ea"/>
              </a:rPr>
              <a:t>    char c;</a:t>
            </a:r>
            <a:endParaRPr lang="en-US" altLang="zh-CN" dirty="0"/>
          </a:p>
          <a:p>
            <a:r>
              <a:rPr lang="en-US" altLang="zh-CN" dirty="0">
                <a:sym typeface="+mn-ea"/>
              </a:rPr>
              <a:t>};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>
                <a:sym typeface="+mn-ea"/>
              </a:rPr>
              <a:t>int main()</a:t>
            </a:r>
            <a:endParaRPr lang="en-US" altLang="zh-CN" dirty="0"/>
          </a:p>
          <a:p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r>
              <a:rPr lang="en-US" altLang="zh-CN" dirty="0">
                <a:sym typeface="+mn-ea"/>
              </a:rPr>
              <a:t>    union data endian;</a:t>
            </a:r>
            <a:endParaRPr lang="en-US" altLang="zh-CN" dirty="0"/>
          </a:p>
          <a:p>
            <a:r>
              <a:rPr lang="en-US" altLang="zh-CN" dirty="0">
                <a:sym typeface="+mn-ea"/>
              </a:rPr>
              <a:t>    </a:t>
            </a:r>
            <a:r>
              <a:rPr lang="en-US" altLang="zh-CN" dirty="0" err="1">
                <a:sym typeface="+mn-ea"/>
              </a:rPr>
              <a:t>endian.a</a:t>
            </a:r>
            <a:r>
              <a:rPr lang="en-US" altLang="zh-CN" dirty="0">
                <a:sym typeface="+mn-ea"/>
              </a:rPr>
              <a:t> = 0x11223344;</a:t>
            </a:r>
          </a:p>
          <a:p>
            <a:r>
              <a:rPr lang="en-US" altLang="zh-CN" dirty="0">
                <a:sym typeface="+mn-ea"/>
              </a:rPr>
              <a:t>    endian.c = 0x56;</a:t>
            </a:r>
          </a:p>
          <a:p>
            <a:endParaRPr lang="en-US" altLang="zh-CN" dirty="0">
              <a:sym typeface="+mn-ea"/>
            </a:endParaRPr>
          </a:p>
          <a:p>
            <a:r>
              <a:rPr lang="en-US" altLang="zh-CN" dirty="0"/>
              <a:t>    printf("size of endian: %ld\n",sizeof(endian));</a:t>
            </a:r>
          </a:p>
          <a:p>
            <a:r>
              <a:rPr lang="en-US" altLang="zh-CN" dirty="0"/>
              <a:t>    printf("size of endian.a: %ld,endian.a=0x%x\n",sizeof(endian.a),endian.a);</a:t>
            </a:r>
          </a:p>
          <a:p>
            <a:r>
              <a:rPr lang="en-US" altLang="zh-CN" dirty="0"/>
              <a:t>    printf("size of endian.c: %ld,endian.c=0x%x\n",sizeof(endian.c),endian.c);</a:t>
            </a:r>
          </a:p>
          <a:p>
            <a:endParaRPr lang="en-US" altLang="zh-CN" dirty="0"/>
          </a:p>
          <a:p>
            <a:r>
              <a:rPr lang="en-US" altLang="zh-CN" dirty="0">
                <a:sym typeface="+mn-ea"/>
              </a:rPr>
              <a:t>     return 0;</a:t>
            </a:r>
            <a:endParaRPr lang="en-US" altLang="zh-CN" dirty="0"/>
          </a:p>
          <a:p>
            <a:r>
              <a:rPr lang="en-US" altLang="zh-CN" dirty="0">
                <a:sym typeface="+mn-ea"/>
              </a:rPr>
              <a:t>}</a:t>
            </a:r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8600" y="1421130"/>
            <a:ext cx="4053205" cy="7461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4735" y="2491105"/>
            <a:ext cx="5278120" cy="187579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121650" y="5062220"/>
            <a:ext cx="376999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All members in the union share the same space.</a:t>
            </a: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31</a:t>
            </a:fld>
            <a:endParaRPr lang="zh-CN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81380" y="1374140"/>
            <a:ext cx="11054715" cy="2955290"/>
          </a:xfrm>
        </p:spPr>
        <p:txBody>
          <a:bodyPr>
            <a:normAutofit/>
          </a:bodyPr>
          <a:lstStyle/>
          <a:p>
            <a:r>
              <a:rPr kumimoji="1" lang="en-US" altLang="zh-CN" sz="2400" dirty="0"/>
              <a:t>Please refer to </a:t>
            </a:r>
            <a:r>
              <a:rPr kumimoji="1" lang="en-US" altLang="zh-CN" sz="2400" dirty="0">
                <a:hlinkClick r:id="rId2" action="ppaction://hlinksldjump"/>
              </a:rPr>
              <a:t>p14-p15</a:t>
            </a:r>
            <a:r>
              <a:rPr kumimoji="1" lang="en-US" altLang="zh-CN" sz="2400" dirty="0"/>
              <a:t> to generate a makefile using cmake tool and CMakeLists.txt, run the makefile to generate an executable file, and then run the executable file.</a:t>
            </a:r>
            <a:br>
              <a:rPr kumimoji="1" lang="en-US" altLang="zh-CN" sz="2400" dirty="0"/>
            </a:br>
            <a:br>
              <a:rPr kumimoji="1" lang="en-US" altLang="zh-CN" sz="2400" dirty="0"/>
            </a:br>
            <a:r>
              <a:rPr kumimoji="1" lang="en-US" altLang="zh-CN" sz="2400" dirty="0"/>
              <a:t>NOTES:</a:t>
            </a:r>
            <a:br>
              <a:rPr kumimoji="1" lang="en-US" altLang="zh-CN" sz="2400" dirty="0"/>
            </a:br>
            <a:r>
              <a:rPr kumimoji="1" lang="en-US" altLang="zh-CN" sz="2400" dirty="0"/>
              <a:t>all the source files are in ./src , all the head files are in ./include,  all the build files are in ./build.</a:t>
            </a:r>
            <a:br>
              <a:rPr kumimoji="1" lang="en-US" altLang="zh-CN" sz="2400" dirty="0"/>
            </a:br>
            <a:endParaRPr kumimoji="1" lang="en-US" altLang="zh-CN" sz="2400" dirty="0"/>
          </a:p>
        </p:txBody>
      </p:sp>
      <p:sp>
        <p:nvSpPr>
          <p:cNvPr id="10" name="Title 1"/>
          <p:cNvSpPr txBox="1"/>
          <p:nvPr/>
        </p:nvSpPr>
        <p:spPr>
          <a:xfrm>
            <a:off x="1377311" y="508057"/>
            <a:ext cx="8100392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j-cs"/>
              </a:rPr>
              <a:t> </a:t>
            </a:r>
            <a:r>
              <a:rPr lang="en-US" altLang="zh-CN" dirty="0"/>
              <a:t>Exercise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j-cs"/>
              </a:rPr>
              <a:t> 1</a:t>
            </a:r>
            <a:endParaRPr kumimoji="0" lang="en-US" altLang="zh-CN" sz="3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j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32</a:t>
            </a:fld>
            <a:endParaRPr lang="zh-CN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71205" y="1179195"/>
            <a:ext cx="3641090" cy="4822190"/>
          </a:xfrm>
        </p:spPr>
        <p:txBody>
          <a:bodyPr>
            <a:noAutofit/>
          </a:bodyPr>
          <a:lstStyle/>
          <a:p>
            <a:pPr marL="128905" lvl="1" indent="0">
              <a:spcBef>
                <a:spcPts val="1410"/>
              </a:spcBef>
              <a:buSzPct val="68000"/>
              <a:buNone/>
            </a:pPr>
            <a:r>
              <a:rPr lang="en-US" sz="1500" dirty="0"/>
              <a:t>First, complete the code, then run the program, and explain the results. If it has bugs, fix them.</a:t>
            </a:r>
          </a:p>
          <a:p>
            <a:pPr marL="128905" lvl="1" indent="0">
              <a:spcBef>
                <a:spcPts val="1410"/>
              </a:spcBef>
              <a:buSzPct val="68000"/>
              <a:buNone/>
            </a:pPr>
            <a:endParaRPr lang="en-US" sz="1500" dirty="0"/>
          </a:p>
          <a:p>
            <a:pPr marL="128905" lvl="1" indent="0">
              <a:spcBef>
                <a:spcPts val="1410"/>
              </a:spcBef>
              <a:buSzPct val="68000"/>
              <a:buNone/>
            </a:pPr>
            <a:r>
              <a:rPr lang="en-US" sz="1500" dirty="0"/>
              <a:t>Q. </a:t>
            </a:r>
            <a:r>
              <a:rPr lang="en-US" altLang="zh-CN" sz="1500" dirty="0"/>
              <a:t>Which of the following code can be added between the definitions of ‘direction’ and ‘title’ to make </a:t>
            </a:r>
            <a:r>
              <a:rPr lang="en-US" altLang="zh-CN" sz="1500" dirty="0" err="1"/>
              <a:t>strlen</a:t>
            </a:r>
            <a:r>
              <a:rPr lang="en-US" altLang="zh-CN" sz="1500" dirty="0"/>
              <a:t>(direction) return 4, and why?</a:t>
            </a:r>
          </a:p>
          <a:p>
            <a:pPr marL="128905" lvl="1" indent="0">
              <a:spcBef>
                <a:spcPts val="1410"/>
              </a:spcBef>
              <a:buSzPct val="68000"/>
              <a:buNone/>
            </a:pPr>
            <a:r>
              <a:rPr lang="en-US" altLang="zh-CN" sz="1500" dirty="0"/>
              <a:t>A. char x = ' ';  //a spce in ' '</a:t>
            </a:r>
          </a:p>
          <a:p>
            <a:pPr marL="128905" lvl="1" indent="0">
              <a:spcBef>
                <a:spcPts val="1410"/>
              </a:spcBef>
              <a:buSzPct val="68000"/>
              <a:buNone/>
            </a:pPr>
            <a:r>
              <a:rPr lang="en-US" altLang="zh-CN" sz="1500" dirty="0"/>
              <a:t>B. char x= 0;</a:t>
            </a:r>
          </a:p>
          <a:p>
            <a:pPr marL="128905" lvl="1" indent="0">
              <a:spcBef>
                <a:spcPts val="1410"/>
              </a:spcBef>
              <a:buSzPct val="68000"/>
              <a:buNone/>
            </a:pPr>
            <a:r>
              <a:rPr lang="en-US" altLang="zh-CN" sz="1500" dirty="0"/>
              <a:t>C. char x='\0'</a:t>
            </a:r>
          </a:p>
          <a:p>
            <a:pPr marL="128905" lvl="1" indent="0">
              <a:spcBef>
                <a:spcPts val="1410"/>
              </a:spcBef>
              <a:buSzPct val="68000"/>
              <a:buNone/>
            </a:pPr>
            <a:r>
              <a:rPr lang="en-US" altLang="zh-CN" sz="1500" dirty="0"/>
              <a:t>D. char </a:t>
            </a:r>
            <a:r>
              <a:rPr lang="en-US" altLang="zh-CN" sz="1500" dirty="0" err="1"/>
              <a:t>xs</a:t>
            </a:r>
            <a:r>
              <a:rPr lang="en-US" altLang="zh-CN" sz="1500" dirty="0"/>
              <a:t>[]=" "  // a space in " "</a:t>
            </a:r>
          </a:p>
          <a:p>
            <a:pPr marL="128905" lvl="1" indent="0">
              <a:spcBef>
                <a:spcPts val="1410"/>
              </a:spcBef>
              <a:buSzPct val="68000"/>
              <a:buNone/>
            </a:pPr>
            <a:r>
              <a:rPr lang="en-US" altLang="zh-CN" sz="1500" dirty="0"/>
              <a:t>E. None of above</a:t>
            </a:r>
            <a:endParaRPr lang="zh-CN" altLang="en-US" sz="1500" dirty="0"/>
          </a:p>
          <a:p>
            <a:pPr marL="128905" lvl="1" indent="0">
              <a:spcBef>
                <a:spcPts val="1410"/>
              </a:spcBef>
              <a:buSzPct val="68000"/>
              <a:buNone/>
            </a:pPr>
            <a:endParaRPr lang="en-US" sz="1500" dirty="0"/>
          </a:p>
          <a:p>
            <a:pPr marL="128905" lvl="1" indent="0">
              <a:spcBef>
                <a:spcPts val="1410"/>
              </a:spcBef>
              <a:buSzPct val="68000"/>
              <a:buNone/>
            </a:pPr>
            <a:endParaRPr lang="en-US" sz="800" dirty="0"/>
          </a:p>
        </p:txBody>
      </p:sp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1390744" y="338589"/>
            <a:ext cx="6980370" cy="697002"/>
          </a:xfrm>
        </p:spPr>
        <p:txBody>
          <a:bodyPr>
            <a:noAutofit/>
          </a:bodyPr>
          <a:lstStyle/>
          <a:p>
            <a:r>
              <a:rPr lang="en-US" altLang="zh-CN" sz="4705" dirty="0"/>
              <a:t>Exercise 2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75683" y="1667371"/>
            <a:ext cx="7797165" cy="375348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zh-CN" sz="1400" b="0" dirty="0">
                <a:effectLst/>
              </a:rPr>
              <a:t>#include &lt;iostream&gt;</a:t>
            </a:r>
          </a:p>
          <a:p>
            <a:pPr algn="l"/>
            <a:r>
              <a:rPr lang="en-US" altLang="zh-CN" sz="1400" b="0" dirty="0">
                <a:effectLst/>
              </a:rPr>
              <a:t>#include &lt;</a:t>
            </a:r>
            <a:r>
              <a:rPr lang="en-US" altLang="zh-CN" sz="1400" b="0" dirty="0" err="1">
                <a:effectLst/>
              </a:rPr>
              <a:t>string.h</a:t>
            </a:r>
            <a:r>
              <a:rPr lang="en-US" altLang="zh-CN" sz="1400" b="0" dirty="0">
                <a:effectLst/>
              </a:rPr>
              <a:t>&gt;</a:t>
            </a:r>
          </a:p>
          <a:p>
            <a:pPr algn="l"/>
            <a:r>
              <a:rPr lang="en-US" altLang="zh-CN" sz="1400" b="0" dirty="0">
                <a:effectLst/>
              </a:rPr>
              <a:t>using namespace std;</a:t>
            </a:r>
          </a:p>
          <a:p>
            <a:pPr algn="l"/>
            <a:r>
              <a:rPr lang="en-US" altLang="zh-CN" sz="1400" b="0" dirty="0">
                <a:effectLst/>
              </a:rPr>
              <a:t>int main()</a:t>
            </a:r>
          </a:p>
          <a:p>
            <a:pPr algn="l"/>
            <a:r>
              <a:rPr lang="en-US" altLang="zh-CN" sz="1400" b="0" dirty="0">
                <a:effectLst/>
              </a:rPr>
              <a:t>{</a:t>
            </a:r>
          </a:p>
          <a:p>
            <a:pPr algn="l"/>
            <a:r>
              <a:rPr lang="en-US" altLang="zh-CN" sz="1400" b="0" dirty="0">
                <a:effectLst/>
              </a:rPr>
              <a:t>    int cards[4]{};</a:t>
            </a:r>
          </a:p>
          <a:p>
            <a:pPr algn="l"/>
            <a:r>
              <a:rPr lang="en-US" altLang="zh-CN" sz="1400" b="0" dirty="0">
                <a:effectLst/>
              </a:rPr>
              <a:t>    int hands[4];</a:t>
            </a:r>
          </a:p>
          <a:p>
            <a:pPr algn="l"/>
            <a:r>
              <a:rPr lang="en-US" altLang="zh-CN" sz="1400" b="0" dirty="0">
                <a:effectLst/>
              </a:rPr>
              <a:t>    int price[] = {2.8,3.7,5,9,’C’, “D”}; </a:t>
            </a:r>
          </a:p>
          <a:p>
            <a:pPr algn="l"/>
            <a:r>
              <a:rPr lang="en-US" altLang="zh-CN" sz="1400" b="0" dirty="0">
                <a:effectLst/>
              </a:rPr>
              <a:t>    char direction[4] {'L',82,'U',68};</a:t>
            </a:r>
          </a:p>
          <a:p>
            <a:pPr algn="l"/>
            <a:r>
              <a:rPr lang="en-US" altLang="zh-CN" sz="1400" b="0" dirty="0">
                <a:effectLst/>
              </a:rPr>
              <a:t>    char title[] = "</a:t>
            </a:r>
            <a:r>
              <a:rPr lang="en-US" altLang="zh-CN" sz="1400" b="0" dirty="0" err="1">
                <a:effectLst/>
              </a:rPr>
              <a:t>DeepSeek </a:t>
            </a:r>
            <a:r>
              <a:rPr lang="en-US" altLang="zh-CN" sz="1400" b="0" dirty="0">
                <a:effectLst/>
              </a:rPr>
              <a:t>is an awesome tool.";   </a:t>
            </a:r>
          </a:p>
          <a:p>
            <a:pPr algn="l"/>
            <a:r>
              <a:rPr lang="en-US" altLang="zh-CN" sz="1400" b="0" dirty="0">
                <a:effectLst/>
              </a:rPr>
              <a:t>    </a:t>
            </a:r>
            <a:r>
              <a:rPr lang="en-US" altLang="zh-CN" sz="1400" b="0" dirty="0" err="1">
                <a:effectLst/>
              </a:rPr>
              <a:t>cout</a:t>
            </a:r>
            <a:r>
              <a:rPr lang="en-US" altLang="zh-CN" sz="1400" b="0" dirty="0">
                <a:effectLst/>
              </a:rPr>
              <a:t> &lt;&lt; "</a:t>
            </a:r>
            <a:r>
              <a:rPr lang="en-US" altLang="zh-CN" sz="1400" b="0" dirty="0" err="1">
                <a:effectLst/>
              </a:rPr>
              <a:t>sizeof</a:t>
            </a:r>
            <a:r>
              <a:rPr lang="en-US" altLang="zh-CN" sz="1400" b="0" dirty="0">
                <a:effectLst/>
              </a:rPr>
              <a:t>(cards) = " &lt;&lt; </a:t>
            </a:r>
            <a:r>
              <a:rPr lang="en-US" altLang="zh-CN" sz="1400" b="0" dirty="0" err="1">
                <a:effectLst/>
              </a:rPr>
              <a:t>sizeof</a:t>
            </a:r>
            <a:r>
              <a:rPr lang="en-US" altLang="zh-CN" sz="1400" b="0" dirty="0">
                <a:effectLst/>
              </a:rPr>
              <a:t>(cards) &lt;&lt; ",</a:t>
            </a:r>
            <a:r>
              <a:rPr lang="en-US" altLang="zh-CN" sz="1400" b="0" dirty="0" err="1">
                <a:effectLst/>
              </a:rPr>
              <a:t>sizeof</a:t>
            </a:r>
            <a:r>
              <a:rPr lang="en-US" altLang="zh-CN" sz="1400" b="0" dirty="0">
                <a:effectLst/>
              </a:rPr>
              <a:t> of cards[0] = " &lt;&lt; </a:t>
            </a:r>
            <a:r>
              <a:rPr lang="en-US" altLang="zh-CN" sz="1400" b="0" dirty="0" err="1">
                <a:effectLst/>
              </a:rPr>
              <a:t>sizeof</a:t>
            </a:r>
            <a:r>
              <a:rPr lang="en-US" altLang="zh-CN" sz="1400" b="0" dirty="0">
                <a:effectLst/>
              </a:rPr>
              <a:t>(cards[0]) &lt;&lt; </a:t>
            </a:r>
            <a:r>
              <a:rPr lang="en-US" altLang="zh-CN" sz="1400" b="0" dirty="0" err="1">
                <a:effectLst/>
              </a:rPr>
              <a:t>endl</a:t>
            </a:r>
            <a:r>
              <a:rPr lang="en-US" altLang="zh-CN" sz="1400" b="0" dirty="0">
                <a:effectLst/>
              </a:rPr>
              <a:t>;</a:t>
            </a:r>
          </a:p>
          <a:p>
            <a:pPr algn="l"/>
            <a:r>
              <a:rPr lang="en-US" altLang="zh-CN" sz="1400" b="0" dirty="0">
                <a:effectLst/>
              </a:rPr>
              <a:t>    </a:t>
            </a:r>
            <a:r>
              <a:rPr lang="en-US" altLang="zh-CN" sz="1400" b="0" dirty="0" err="1">
                <a:effectLst/>
              </a:rPr>
              <a:t>cout</a:t>
            </a:r>
            <a:r>
              <a:rPr lang="en-US" altLang="zh-CN" sz="1400" b="0" dirty="0">
                <a:effectLst/>
              </a:rPr>
              <a:t> &lt;&lt; "</a:t>
            </a:r>
            <a:r>
              <a:rPr lang="en-US" altLang="zh-CN" sz="1400" b="0" dirty="0" err="1">
                <a:effectLst/>
              </a:rPr>
              <a:t>sizeof</a:t>
            </a:r>
            <a:r>
              <a:rPr lang="en-US" altLang="zh-CN" sz="1400" b="0" dirty="0">
                <a:effectLst/>
              </a:rPr>
              <a:t>(price) = " &lt;&lt; </a:t>
            </a:r>
            <a:r>
              <a:rPr lang="en-US" altLang="zh-CN" sz="1400" b="0" dirty="0" err="1">
                <a:effectLst/>
              </a:rPr>
              <a:t>sizeof</a:t>
            </a:r>
            <a:r>
              <a:rPr lang="en-US" altLang="zh-CN" sz="1400" b="0" dirty="0">
                <a:effectLst/>
              </a:rPr>
              <a:t>(price) &lt;&lt; ",</a:t>
            </a:r>
            <a:r>
              <a:rPr lang="en-US" altLang="zh-CN" sz="1400" b="0" dirty="0" err="1">
                <a:effectLst/>
              </a:rPr>
              <a:t>sizeof</a:t>
            </a:r>
            <a:r>
              <a:rPr lang="en-US" altLang="zh-CN" sz="1400" b="0" dirty="0">
                <a:effectLst/>
              </a:rPr>
              <a:t> of price[0] = " &lt;&lt; </a:t>
            </a:r>
            <a:r>
              <a:rPr lang="en-US" altLang="zh-CN" sz="1400" b="0" dirty="0" err="1">
                <a:effectLst/>
              </a:rPr>
              <a:t>sizeof</a:t>
            </a:r>
            <a:r>
              <a:rPr lang="en-US" altLang="zh-CN" sz="1400" b="0" dirty="0">
                <a:effectLst/>
              </a:rPr>
              <a:t>(price[0]) &lt;&lt; </a:t>
            </a:r>
            <a:r>
              <a:rPr lang="en-US" altLang="zh-CN" sz="1400" b="0" dirty="0" err="1">
                <a:effectLst/>
              </a:rPr>
              <a:t>endl</a:t>
            </a:r>
            <a:r>
              <a:rPr lang="en-US" altLang="zh-CN" sz="1400" b="0" dirty="0">
                <a:effectLst/>
              </a:rPr>
              <a:t>;</a:t>
            </a:r>
          </a:p>
          <a:p>
            <a:pPr algn="l"/>
            <a:r>
              <a:rPr lang="en-US" altLang="zh-CN" sz="1400" b="0" dirty="0">
                <a:effectLst/>
              </a:rPr>
              <a:t>    </a:t>
            </a:r>
            <a:r>
              <a:rPr lang="en-US" altLang="zh-CN" sz="1400" b="0" dirty="0" err="1">
                <a:effectLst/>
              </a:rPr>
              <a:t>cout</a:t>
            </a:r>
            <a:r>
              <a:rPr lang="en-US" altLang="zh-CN" sz="1400" b="0" dirty="0">
                <a:effectLst/>
              </a:rPr>
              <a:t> &lt;&lt; "</a:t>
            </a:r>
            <a:r>
              <a:rPr lang="en-US" altLang="zh-CN" sz="1400" b="0" dirty="0" err="1">
                <a:effectLst/>
              </a:rPr>
              <a:t>sizeof</a:t>
            </a:r>
            <a:r>
              <a:rPr lang="en-US" altLang="zh-CN" sz="1400" b="0" dirty="0">
                <a:effectLst/>
              </a:rPr>
              <a:t>(direction) = " &lt;&lt; </a:t>
            </a:r>
            <a:r>
              <a:rPr lang="en-US" altLang="zh-CN" sz="1400" b="0" dirty="0" err="1">
                <a:effectLst/>
              </a:rPr>
              <a:t>sizeof</a:t>
            </a:r>
            <a:r>
              <a:rPr lang="en-US" altLang="zh-CN" sz="1400" b="0" dirty="0">
                <a:effectLst/>
              </a:rPr>
              <a:t>(direction) &lt;&lt; ",length of direction = " &lt;&lt; </a:t>
            </a:r>
            <a:r>
              <a:rPr lang="en-US" altLang="zh-CN" sz="1400" b="0" dirty="0" err="1">
                <a:effectLst/>
              </a:rPr>
              <a:t>strlen</a:t>
            </a:r>
            <a:r>
              <a:rPr lang="en-US" altLang="zh-CN" sz="1400" b="0" dirty="0">
                <a:effectLst/>
              </a:rPr>
              <a:t>(direction) &lt;&lt; </a:t>
            </a:r>
            <a:r>
              <a:rPr lang="en-US" altLang="zh-CN" sz="1400" b="0" dirty="0" err="1">
                <a:effectLst/>
              </a:rPr>
              <a:t>endl</a:t>
            </a:r>
            <a:r>
              <a:rPr lang="en-US" altLang="zh-CN" sz="1400" b="0" dirty="0">
                <a:effectLst/>
              </a:rPr>
              <a:t>;</a:t>
            </a:r>
          </a:p>
          <a:p>
            <a:pPr algn="l"/>
            <a:r>
              <a:rPr lang="en-US" altLang="zh-CN" sz="1400" b="0" dirty="0">
                <a:effectLst/>
              </a:rPr>
              <a:t>    </a:t>
            </a:r>
            <a:r>
              <a:rPr lang="en-US" altLang="zh-CN" sz="1400" b="0" dirty="0" err="1">
                <a:effectLst/>
              </a:rPr>
              <a:t>cout</a:t>
            </a:r>
            <a:r>
              <a:rPr lang="en-US" altLang="zh-CN" sz="1400" b="0" dirty="0">
                <a:effectLst/>
              </a:rPr>
              <a:t> &lt;&lt; "</a:t>
            </a:r>
            <a:r>
              <a:rPr lang="en-US" altLang="zh-CN" sz="1400" b="0" dirty="0" err="1">
                <a:effectLst/>
              </a:rPr>
              <a:t>sizeof</a:t>
            </a:r>
            <a:r>
              <a:rPr lang="en-US" altLang="zh-CN" sz="1400" b="0" dirty="0">
                <a:effectLst/>
              </a:rPr>
              <a:t>(title) = " &lt;&lt; </a:t>
            </a:r>
            <a:r>
              <a:rPr lang="en-US" altLang="zh-CN" sz="1400" b="0" dirty="0" err="1">
                <a:effectLst/>
              </a:rPr>
              <a:t>sizeof</a:t>
            </a:r>
            <a:r>
              <a:rPr lang="en-US" altLang="zh-CN" sz="1400" b="0" dirty="0">
                <a:effectLst/>
              </a:rPr>
              <a:t>(title) &lt;&lt; ",length of title = " &lt;&lt; </a:t>
            </a:r>
            <a:r>
              <a:rPr lang="en-US" altLang="zh-CN" sz="1400" b="0" dirty="0" err="1">
                <a:effectLst/>
              </a:rPr>
              <a:t>strlen</a:t>
            </a:r>
            <a:r>
              <a:rPr lang="en-US" altLang="zh-CN" sz="1400" b="0" dirty="0">
                <a:effectLst/>
              </a:rPr>
              <a:t>(title) &lt;&lt; </a:t>
            </a:r>
            <a:r>
              <a:rPr lang="en-US" altLang="zh-CN" sz="1400" b="0" dirty="0" err="1">
                <a:effectLst/>
              </a:rPr>
              <a:t>endl</a:t>
            </a:r>
            <a:r>
              <a:rPr lang="en-US" altLang="zh-CN" sz="1400" b="0" dirty="0">
                <a:effectLst/>
              </a:rPr>
              <a:t>;</a:t>
            </a:r>
          </a:p>
          <a:p>
            <a:pPr algn="l"/>
            <a:endParaRPr lang="en-US" altLang="zh-CN" sz="1400" b="0" dirty="0">
              <a:effectLst/>
            </a:endParaRPr>
          </a:p>
          <a:p>
            <a:pPr algn="l"/>
            <a:r>
              <a:rPr lang="en-US" altLang="zh-CN" sz="1400" b="0" dirty="0">
                <a:effectLst/>
              </a:rPr>
              <a:t>    return 0;</a:t>
            </a:r>
          </a:p>
          <a:p>
            <a:pPr algn="l"/>
            <a:r>
              <a:rPr lang="en-US" altLang="zh-CN" sz="1400" b="0" dirty="0">
                <a:effectLst/>
              </a:rPr>
              <a:t>}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33</a:t>
            </a:fld>
            <a:endParaRPr lang="zh-CN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72664" y="1278346"/>
            <a:ext cx="2830830" cy="4679950"/>
          </a:xfrm>
        </p:spPr>
        <p:txBody>
          <a:bodyPr>
            <a:normAutofit fontScale="95000"/>
          </a:bodyPr>
          <a:lstStyle/>
          <a:p>
            <a:pPr marL="128905" lvl="1" indent="0">
              <a:spcBef>
                <a:spcPts val="1410"/>
              </a:spcBef>
              <a:buSzPct val="68000"/>
              <a:buNone/>
            </a:pPr>
            <a:r>
              <a:rPr lang="en-US" dirty="0"/>
              <a:t>Run the program and explain the results. </a:t>
            </a:r>
          </a:p>
          <a:p>
            <a:pPr marL="128905" lvl="1" indent="0">
              <a:spcBef>
                <a:spcPts val="1410"/>
              </a:spcBef>
              <a:buSzPct val="68000"/>
              <a:buNone/>
            </a:pPr>
            <a:endParaRPr lang="en-US" dirty="0"/>
          </a:p>
        </p:txBody>
      </p:sp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1390744" y="338589"/>
            <a:ext cx="6980370" cy="697002"/>
          </a:xfrm>
        </p:spPr>
        <p:txBody>
          <a:bodyPr>
            <a:noAutofit/>
          </a:bodyPr>
          <a:lstStyle/>
          <a:p>
            <a:r>
              <a:rPr lang="en-US" altLang="zh-CN" sz="4705" dirty="0"/>
              <a:t>Exercise 3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613149" y="1027918"/>
            <a:ext cx="5876222" cy="57554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</a:rPr>
              <a:t>//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</a:rPr>
              <a:t>print.c</a:t>
            </a:r>
            <a:endParaRPr lang="en-US" altLang="zh-CN" sz="1600" b="0" dirty="0">
              <a:effectLst/>
            </a:endParaRPr>
          </a:p>
          <a:p>
            <a:r>
              <a:rPr lang="en-US" altLang="zh-CN" sz="1600" b="0" dirty="0">
                <a:effectLst/>
              </a:rPr>
              <a:t>#include &lt;</a:t>
            </a:r>
            <a:r>
              <a:rPr lang="en-US" altLang="zh-CN" sz="1600" b="0" dirty="0" err="1">
                <a:effectLst/>
              </a:rPr>
              <a:t>stdio.h</a:t>
            </a:r>
            <a:r>
              <a:rPr lang="en-US" altLang="zh-CN" sz="1600" b="0" dirty="0">
                <a:effectLst/>
              </a:rPr>
              <a:t>&gt;</a:t>
            </a:r>
            <a:br>
              <a:rPr lang="en-US" altLang="zh-CN" sz="1600" b="0" dirty="0">
                <a:effectLst/>
              </a:rPr>
            </a:br>
            <a:r>
              <a:rPr lang="en-US" altLang="zh-CN" sz="1600" b="0" dirty="0">
                <a:effectLst/>
              </a:rPr>
              <a:t>union data{</a:t>
            </a:r>
          </a:p>
          <a:p>
            <a:r>
              <a:rPr lang="en-US" altLang="zh-CN" sz="1600" b="0" dirty="0">
                <a:effectLst/>
              </a:rPr>
              <a:t>    int n;</a:t>
            </a:r>
          </a:p>
          <a:p>
            <a:r>
              <a:rPr lang="en-US" altLang="zh-CN" sz="1600" b="0" dirty="0">
                <a:effectLst/>
              </a:rPr>
              <a:t>    char </a:t>
            </a:r>
            <a:r>
              <a:rPr lang="en-US" altLang="zh-CN" sz="1600" b="0" dirty="0" err="1">
                <a:effectLst/>
              </a:rPr>
              <a:t>ch</a:t>
            </a:r>
            <a:r>
              <a:rPr lang="en-US" altLang="zh-CN" sz="1600" b="0" dirty="0">
                <a:effectLst/>
              </a:rPr>
              <a:t>;</a:t>
            </a:r>
          </a:p>
          <a:p>
            <a:r>
              <a:rPr lang="en-US" altLang="zh-CN" sz="1600" b="0" dirty="0">
                <a:effectLst/>
              </a:rPr>
              <a:t>    short m;</a:t>
            </a:r>
          </a:p>
          <a:p>
            <a:r>
              <a:rPr lang="en-US" altLang="zh-CN" sz="1600" b="0" dirty="0">
                <a:effectLst/>
              </a:rPr>
              <a:t>};</a:t>
            </a:r>
          </a:p>
          <a:p>
            <a:br>
              <a:rPr lang="en-US" altLang="zh-CN" sz="1600" b="0" dirty="0">
                <a:effectLst/>
              </a:rPr>
            </a:br>
            <a:r>
              <a:rPr lang="en-US" altLang="zh-CN" sz="1600" b="0" dirty="0">
                <a:effectLst/>
              </a:rPr>
              <a:t>int main()</a:t>
            </a:r>
          </a:p>
          <a:p>
            <a:r>
              <a:rPr lang="en-US" altLang="zh-CN" sz="1600" b="0" dirty="0">
                <a:effectLst/>
              </a:rPr>
              <a:t>{</a:t>
            </a:r>
          </a:p>
          <a:p>
            <a:r>
              <a:rPr lang="en-US" altLang="zh-CN" sz="1600" b="0" dirty="0">
                <a:effectLst/>
              </a:rPr>
              <a:t>    union data a;</a:t>
            </a:r>
          </a:p>
          <a:p>
            <a:r>
              <a:rPr lang="en-US" altLang="zh-CN" sz="1600" b="0" dirty="0">
                <a:effectLst/>
              </a:rPr>
              <a:t>    </a:t>
            </a:r>
            <a:r>
              <a:rPr lang="en-US" altLang="zh-CN" sz="1600" b="0" dirty="0" err="1">
                <a:effectLst/>
              </a:rPr>
              <a:t>printf</a:t>
            </a:r>
            <a:r>
              <a:rPr lang="en-US" altLang="zh-CN" sz="1600" b="0" dirty="0">
                <a:effectLst/>
              </a:rPr>
              <a:t>("%d, %d\n", </a:t>
            </a:r>
            <a:r>
              <a:rPr lang="en-US" altLang="zh-CN" sz="1600" b="0" dirty="0" err="1">
                <a:effectLst/>
              </a:rPr>
              <a:t>sizeof</a:t>
            </a:r>
            <a:r>
              <a:rPr lang="en-US" altLang="zh-CN" sz="1600" b="0" dirty="0">
                <a:effectLst/>
              </a:rPr>
              <a:t>(a), </a:t>
            </a:r>
            <a:r>
              <a:rPr lang="en-US" altLang="zh-CN" sz="1600" b="0" dirty="0" err="1">
                <a:effectLst/>
              </a:rPr>
              <a:t>sizeof</a:t>
            </a:r>
            <a:r>
              <a:rPr lang="en-US" altLang="zh-CN" sz="1600" b="0" dirty="0">
                <a:effectLst/>
              </a:rPr>
              <a:t>(union data) );</a:t>
            </a:r>
          </a:p>
          <a:p>
            <a:r>
              <a:rPr lang="en-US" altLang="zh-CN" sz="1600" b="0" dirty="0">
                <a:effectLst/>
              </a:rPr>
              <a:t>    </a:t>
            </a:r>
            <a:r>
              <a:rPr lang="en-US" altLang="zh-CN" sz="1600" b="0" dirty="0" err="1">
                <a:effectLst/>
              </a:rPr>
              <a:t>a.n</a:t>
            </a:r>
            <a:r>
              <a:rPr lang="en-US" altLang="zh-CN" sz="1600" b="0" dirty="0">
                <a:effectLst/>
              </a:rPr>
              <a:t> = 0x40;</a:t>
            </a:r>
          </a:p>
          <a:p>
            <a:r>
              <a:rPr lang="en-US" altLang="zh-CN" sz="1600" b="0" dirty="0">
                <a:effectLst/>
              </a:rPr>
              <a:t>    </a:t>
            </a:r>
            <a:r>
              <a:rPr lang="en-US" altLang="zh-CN" sz="1600" b="0" dirty="0" err="1">
                <a:effectLst/>
              </a:rPr>
              <a:t>printf</a:t>
            </a:r>
            <a:r>
              <a:rPr lang="en-US" altLang="zh-CN" sz="1600" b="0" dirty="0">
                <a:effectLst/>
              </a:rPr>
              <a:t>("%X, %c, %</a:t>
            </a:r>
            <a:r>
              <a:rPr lang="en-US" altLang="zh-CN" sz="1600" b="0" dirty="0" err="1">
                <a:effectLst/>
              </a:rPr>
              <a:t>hX</a:t>
            </a:r>
            <a:r>
              <a:rPr lang="en-US" altLang="zh-CN" sz="1600" b="0" dirty="0">
                <a:effectLst/>
              </a:rPr>
              <a:t>\n", </a:t>
            </a:r>
            <a:r>
              <a:rPr lang="en-US" altLang="zh-CN" sz="1600" b="0" dirty="0" err="1">
                <a:effectLst/>
              </a:rPr>
              <a:t>a.n</a:t>
            </a:r>
            <a:r>
              <a:rPr lang="en-US" altLang="zh-CN" sz="1600" b="0" dirty="0">
                <a:effectLst/>
              </a:rPr>
              <a:t>, a.ch, </a:t>
            </a:r>
            <a:r>
              <a:rPr lang="en-US" altLang="zh-CN" sz="1600" b="0" dirty="0" err="1">
                <a:effectLst/>
              </a:rPr>
              <a:t>a.m</a:t>
            </a:r>
            <a:r>
              <a:rPr lang="en-US" altLang="zh-CN" sz="1600" b="0" dirty="0">
                <a:effectLst/>
              </a:rPr>
              <a:t>);</a:t>
            </a:r>
          </a:p>
          <a:p>
            <a:r>
              <a:rPr lang="en-US" altLang="zh-CN" sz="1600" b="0" dirty="0">
                <a:effectLst/>
              </a:rPr>
              <a:t>    a.ch = '9';</a:t>
            </a:r>
          </a:p>
          <a:p>
            <a:r>
              <a:rPr lang="en-US" altLang="zh-CN" sz="1600" b="0" dirty="0">
                <a:effectLst/>
              </a:rPr>
              <a:t>    </a:t>
            </a:r>
            <a:r>
              <a:rPr lang="en-US" altLang="zh-CN" sz="1600" b="0" dirty="0" err="1">
                <a:effectLst/>
              </a:rPr>
              <a:t>printf</a:t>
            </a:r>
            <a:r>
              <a:rPr lang="en-US" altLang="zh-CN" sz="1600" b="0" dirty="0">
                <a:effectLst/>
              </a:rPr>
              <a:t>("%X, %c, %</a:t>
            </a:r>
            <a:r>
              <a:rPr lang="en-US" altLang="zh-CN" sz="1600" b="0" dirty="0" err="1">
                <a:effectLst/>
              </a:rPr>
              <a:t>hX</a:t>
            </a:r>
            <a:r>
              <a:rPr lang="en-US" altLang="zh-CN" sz="1600" b="0" dirty="0">
                <a:effectLst/>
              </a:rPr>
              <a:t>\n", </a:t>
            </a:r>
            <a:r>
              <a:rPr lang="en-US" altLang="zh-CN" sz="1600" b="0" dirty="0" err="1">
                <a:effectLst/>
              </a:rPr>
              <a:t>a.n</a:t>
            </a:r>
            <a:r>
              <a:rPr lang="en-US" altLang="zh-CN" sz="1600" b="0" dirty="0">
                <a:effectLst/>
              </a:rPr>
              <a:t>, a.ch, </a:t>
            </a:r>
            <a:r>
              <a:rPr lang="en-US" altLang="zh-CN" sz="1600" b="0" dirty="0" err="1">
                <a:effectLst/>
              </a:rPr>
              <a:t>a.m</a:t>
            </a:r>
            <a:r>
              <a:rPr lang="en-US" altLang="zh-CN" sz="1600" b="0" dirty="0">
                <a:effectLst/>
              </a:rPr>
              <a:t>);</a:t>
            </a:r>
          </a:p>
          <a:p>
            <a:r>
              <a:rPr lang="en-US" altLang="zh-CN" sz="1600" b="0" dirty="0">
                <a:effectLst/>
              </a:rPr>
              <a:t>    </a:t>
            </a:r>
            <a:r>
              <a:rPr lang="en-US" altLang="zh-CN" sz="1600" b="0" dirty="0" err="1">
                <a:effectLst/>
              </a:rPr>
              <a:t>a.m</a:t>
            </a:r>
            <a:r>
              <a:rPr lang="en-US" altLang="zh-CN" sz="1600" b="0" dirty="0">
                <a:effectLst/>
              </a:rPr>
              <a:t> = 0x2059;</a:t>
            </a:r>
          </a:p>
          <a:p>
            <a:r>
              <a:rPr lang="en-US" altLang="zh-CN" sz="1600" b="0" dirty="0">
                <a:effectLst/>
              </a:rPr>
              <a:t>    </a:t>
            </a:r>
            <a:r>
              <a:rPr lang="en-US" altLang="zh-CN" sz="1600" b="0" dirty="0" err="1">
                <a:effectLst/>
              </a:rPr>
              <a:t>printf</a:t>
            </a:r>
            <a:r>
              <a:rPr lang="en-US" altLang="zh-CN" sz="1600" b="0" dirty="0">
                <a:effectLst/>
              </a:rPr>
              <a:t>("%X, %c, %</a:t>
            </a:r>
            <a:r>
              <a:rPr lang="en-US" altLang="zh-CN" sz="1600" b="0" dirty="0" err="1">
                <a:effectLst/>
              </a:rPr>
              <a:t>hX</a:t>
            </a:r>
            <a:r>
              <a:rPr lang="en-US" altLang="zh-CN" sz="1600" b="0" dirty="0">
                <a:effectLst/>
              </a:rPr>
              <a:t>\n", </a:t>
            </a:r>
            <a:r>
              <a:rPr lang="en-US" altLang="zh-CN" sz="1600" b="0" dirty="0" err="1">
                <a:effectLst/>
              </a:rPr>
              <a:t>a.n</a:t>
            </a:r>
            <a:r>
              <a:rPr lang="en-US" altLang="zh-CN" sz="1600" b="0" dirty="0">
                <a:effectLst/>
              </a:rPr>
              <a:t>, a.ch, </a:t>
            </a:r>
            <a:r>
              <a:rPr lang="en-US" altLang="zh-CN" sz="1600" b="0" dirty="0" err="1">
                <a:effectLst/>
              </a:rPr>
              <a:t>a.m</a:t>
            </a:r>
            <a:r>
              <a:rPr lang="en-US" altLang="zh-CN" sz="1600" b="0" dirty="0">
                <a:effectLst/>
              </a:rPr>
              <a:t>);</a:t>
            </a:r>
          </a:p>
          <a:p>
            <a:r>
              <a:rPr lang="en-US" altLang="zh-CN" sz="1600" b="0" dirty="0">
                <a:effectLst/>
              </a:rPr>
              <a:t>    </a:t>
            </a:r>
            <a:r>
              <a:rPr lang="en-US" altLang="zh-CN" sz="1600" b="0" dirty="0" err="1">
                <a:effectLst/>
              </a:rPr>
              <a:t>a.n</a:t>
            </a:r>
            <a:r>
              <a:rPr lang="en-US" altLang="zh-CN" sz="1600" b="0" dirty="0">
                <a:effectLst/>
              </a:rPr>
              <a:t> = 0x3E25AD54;</a:t>
            </a:r>
          </a:p>
          <a:p>
            <a:r>
              <a:rPr lang="en-US" altLang="zh-CN" sz="1600" b="0" dirty="0">
                <a:effectLst/>
              </a:rPr>
              <a:t>    </a:t>
            </a:r>
            <a:r>
              <a:rPr lang="en-US" altLang="zh-CN" sz="1600" b="0" dirty="0" err="1">
                <a:effectLst/>
              </a:rPr>
              <a:t>printf</a:t>
            </a:r>
            <a:r>
              <a:rPr lang="en-US" altLang="zh-CN" sz="1600" b="0" dirty="0">
                <a:effectLst/>
              </a:rPr>
              <a:t>("%X, %c, %</a:t>
            </a:r>
            <a:r>
              <a:rPr lang="en-US" altLang="zh-CN" sz="1600" b="0" dirty="0" err="1">
                <a:effectLst/>
              </a:rPr>
              <a:t>hX</a:t>
            </a:r>
            <a:r>
              <a:rPr lang="en-US" altLang="zh-CN" sz="1600" b="0" dirty="0">
                <a:effectLst/>
              </a:rPr>
              <a:t>\n", </a:t>
            </a:r>
            <a:r>
              <a:rPr lang="en-US" altLang="zh-CN" sz="1600" b="0" dirty="0" err="1">
                <a:effectLst/>
              </a:rPr>
              <a:t>a.n</a:t>
            </a:r>
            <a:r>
              <a:rPr lang="en-US" altLang="zh-CN" sz="1600" b="0" dirty="0">
                <a:effectLst/>
              </a:rPr>
              <a:t>, a.ch, </a:t>
            </a:r>
            <a:r>
              <a:rPr lang="en-US" altLang="zh-CN" sz="1600" b="0" dirty="0" err="1">
                <a:effectLst/>
              </a:rPr>
              <a:t>a.m</a:t>
            </a:r>
            <a:r>
              <a:rPr lang="en-US" altLang="zh-CN" sz="1600" b="0" dirty="0">
                <a:effectLst/>
              </a:rPr>
              <a:t>);</a:t>
            </a:r>
          </a:p>
          <a:p>
            <a:r>
              <a:rPr lang="en-US" altLang="zh-CN" sz="1600" b="0" dirty="0">
                <a:effectLst/>
              </a:rPr>
              <a:t>   </a:t>
            </a:r>
          </a:p>
          <a:p>
            <a:r>
              <a:rPr lang="en-US" altLang="zh-CN" sz="1600" b="0" dirty="0">
                <a:effectLst/>
              </a:rPr>
              <a:t>    return 0;</a:t>
            </a:r>
          </a:p>
          <a:p>
            <a:r>
              <a:rPr lang="en-US" altLang="zh-CN" sz="1600" b="0" dirty="0">
                <a:effectLst/>
              </a:rPr>
              <a:t>}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34</a:t>
            </a:fld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513</TotalTime>
  <Words>2790</Words>
  <Application>Microsoft Macintosh PowerPoint</Application>
  <PresentationFormat>宽屏</PresentationFormat>
  <Paragraphs>361</Paragraphs>
  <Slides>34</Slides>
  <Notes>12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3" baseType="lpstr">
      <vt:lpstr>等线</vt:lpstr>
      <vt:lpstr>Arial</vt:lpstr>
      <vt:lpstr>Calibri</vt:lpstr>
      <vt:lpstr>Franklin Gothic Demi</vt:lpstr>
      <vt:lpstr>Franklin Gothic Medium</vt:lpstr>
      <vt:lpstr>Wingdings</vt:lpstr>
      <vt:lpstr>Office 主题</vt:lpstr>
      <vt:lpstr>1_Office 主题</vt:lpstr>
      <vt:lpstr>Image</vt:lpstr>
      <vt:lpstr>Advanced Programming</vt:lpstr>
      <vt:lpstr>topics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 Inputs</vt:lpstr>
      <vt:lpstr>2.1 Command-Line Arguments</vt:lpstr>
      <vt:lpstr>2.2 Standard Input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 Data storage</vt:lpstr>
      <vt:lpstr>2.1 Data storage-array</vt:lpstr>
      <vt:lpstr>2.1 Data storage: char-array vs string</vt:lpstr>
      <vt:lpstr>2.1 Data storage: struct</vt:lpstr>
      <vt:lpstr>2.2 Data storage: union</vt:lpstr>
      <vt:lpstr>Please refer to p14-p15 to generate a makefile using cmake tool and CMakeLists.txt, run the makefile to generate an executable file, and then run the executable file.  NOTES: all the source files are in ./src , all the head files are in ./include,  all the build files are in ./build. </vt:lpstr>
      <vt:lpstr>Exercise 2</vt:lpstr>
      <vt:lpstr>Exercise 3</vt:lpstr>
    </vt:vector>
  </TitlesOfParts>
  <Company>Southern University of Science and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C/C++ Program Design</dc:title>
  <dc:creator>Shiqi Yu</dc:creator>
  <cp:lastModifiedBy>Shiqi Yu</cp:lastModifiedBy>
  <cp:revision>762</cp:revision>
  <dcterms:created xsi:type="dcterms:W3CDTF">2020-09-05T08:11:00Z</dcterms:created>
  <dcterms:modified xsi:type="dcterms:W3CDTF">2026-03-23T15:00:41Z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FBAB74A29C0A4511BAEB953D88E3F5A7_13</vt:lpwstr>
  </property>
  <property fmtid="{D5CDD505-2E9C-101B-9397-08002B2CF9AE}" pid="3" name="KSOProductBuildVer">
    <vt:lpwstr>2052-12.1.0.20305</vt:lpwstr>
  </property>
</Properties>
</file>