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2" r:id="rId9"/>
    <p:sldId id="266" r:id="rId10"/>
    <p:sldId id="267" r:id="rId11"/>
    <p:sldId id="422" r:id="rId12"/>
    <p:sldId id="265" r:id="rId13"/>
    <p:sldId id="279" r:id="rId14"/>
    <p:sldId id="268" r:id="rId15"/>
    <p:sldId id="424" r:id="rId16"/>
    <p:sldId id="425" r:id="rId17"/>
    <p:sldId id="270" r:id="rId18"/>
    <p:sldId id="271" r:id="rId19"/>
    <p:sldId id="269" r:id="rId20"/>
    <p:sldId id="273" r:id="rId21"/>
    <p:sldId id="420" r:id="rId22"/>
    <p:sldId id="423" r:id="rId23"/>
    <p:sldId id="421" r:id="rId24"/>
    <p:sldId id="272" r:id="rId25"/>
    <p:sldId id="288" r:id="rId26"/>
    <p:sldId id="277" r:id="rId27"/>
    <p:sldId id="276" r:id="rId28"/>
    <p:sldId id="275" r:id="rId29"/>
    <p:sldId id="280" r:id="rId30"/>
    <p:sldId id="286" r:id="rId31"/>
    <p:sldId id="274" r:id="rId32"/>
    <p:sldId id="281" r:id="rId33"/>
    <p:sldId id="282" r:id="rId34"/>
    <p:sldId id="283" r:id="rId35"/>
    <p:sldId id="285" r:id="rId36"/>
    <p:sldId id="287" r:id="rId37"/>
    <p:sldId id="418" r:id="rId38"/>
    <p:sldId id="419" r:id="rId39"/>
    <p:sldId id="426" r:id="rId40"/>
    <p:sldId id="284" r:id="rId4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53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208" y="4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773E5E3-89CC-C241-AE50-D218E71A8019}" type="doc">
      <dgm:prSet loTypeId="urn:microsoft.com/office/officeart/2005/8/layout/process2" loCatId="" qsTypeId="urn:microsoft.com/office/officeart/2005/8/quickstyle/simple1" qsCatId="simple" csTypeId="urn:microsoft.com/office/officeart/2005/8/colors/accent1_2" csCatId="accent1" phldr="1"/>
      <dgm:spPr/>
    </dgm:pt>
    <dgm:pt modelId="{6270E6F2-3DF1-C44D-AAB3-419D207B7F0F}">
      <dgm:prSet phldrT="[文本]"/>
      <dgm:spPr/>
      <dgm:t>
        <a:bodyPr/>
        <a:lstStyle/>
        <a:p>
          <a:r>
            <a:rPr lang="en-US" altLang="zh-CN" dirty="0"/>
            <a:t>long double</a:t>
          </a:r>
          <a:endParaRPr lang="zh-CN" altLang="en-US" dirty="0"/>
        </a:p>
      </dgm:t>
    </dgm:pt>
    <dgm:pt modelId="{3391AE86-7BD4-4947-9516-2ED894C958AD}" type="parTrans" cxnId="{A3C60269-B053-974A-9573-D9DB912E1CC8}">
      <dgm:prSet/>
      <dgm:spPr/>
      <dgm:t>
        <a:bodyPr/>
        <a:lstStyle/>
        <a:p>
          <a:endParaRPr lang="zh-CN" altLang="en-US"/>
        </a:p>
      </dgm:t>
    </dgm:pt>
    <dgm:pt modelId="{CFCCE7D7-86A4-9A4D-B800-8B7E91888C32}" type="sibTrans" cxnId="{A3C60269-B053-974A-9573-D9DB912E1CC8}">
      <dgm:prSet/>
      <dgm:spPr/>
      <dgm:t>
        <a:bodyPr/>
        <a:lstStyle/>
        <a:p>
          <a:endParaRPr lang="zh-CN" altLang="en-US"/>
        </a:p>
      </dgm:t>
    </dgm:pt>
    <dgm:pt modelId="{C0E168E7-E7AF-7444-98AA-B59BEE74C927}">
      <dgm:prSet phldrT="[文本]"/>
      <dgm:spPr/>
      <dgm:t>
        <a:bodyPr/>
        <a:lstStyle/>
        <a:p>
          <a:r>
            <a:rPr lang="en-US" altLang="zh-CN" dirty="0"/>
            <a:t>double</a:t>
          </a:r>
          <a:endParaRPr lang="zh-CN" altLang="en-US" dirty="0"/>
        </a:p>
      </dgm:t>
    </dgm:pt>
    <dgm:pt modelId="{C9E37E0D-63AE-0E4F-904E-4D84E503D007}" type="parTrans" cxnId="{633A5AE6-E59A-6F4D-9F06-A2760A4B2329}">
      <dgm:prSet/>
      <dgm:spPr/>
      <dgm:t>
        <a:bodyPr/>
        <a:lstStyle/>
        <a:p>
          <a:endParaRPr lang="zh-CN" altLang="en-US"/>
        </a:p>
      </dgm:t>
    </dgm:pt>
    <dgm:pt modelId="{BAD7540E-F402-724B-AC5E-17BFCA813264}" type="sibTrans" cxnId="{633A5AE6-E59A-6F4D-9F06-A2760A4B2329}">
      <dgm:prSet/>
      <dgm:spPr/>
      <dgm:t>
        <a:bodyPr/>
        <a:lstStyle/>
        <a:p>
          <a:endParaRPr lang="zh-CN" altLang="en-US"/>
        </a:p>
      </dgm:t>
    </dgm:pt>
    <dgm:pt modelId="{8F74B83B-2991-2B45-A21D-C5370DE56B97}">
      <dgm:prSet phldrT="[文本]"/>
      <dgm:spPr/>
      <dgm:t>
        <a:bodyPr/>
        <a:lstStyle/>
        <a:p>
          <a:r>
            <a:rPr lang="en-US" altLang="zh-CN" dirty="0"/>
            <a:t>float</a:t>
          </a:r>
          <a:endParaRPr lang="zh-CN" altLang="en-US" dirty="0"/>
        </a:p>
      </dgm:t>
    </dgm:pt>
    <dgm:pt modelId="{456EE65E-E8B6-C446-B3C2-4FA589A3CBC0}" type="parTrans" cxnId="{0F141C8D-BE53-C549-8A9E-A3465B706304}">
      <dgm:prSet/>
      <dgm:spPr/>
      <dgm:t>
        <a:bodyPr/>
        <a:lstStyle/>
        <a:p>
          <a:endParaRPr lang="zh-CN" altLang="en-US"/>
        </a:p>
      </dgm:t>
    </dgm:pt>
    <dgm:pt modelId="{FA5757EB-FA22-D040-AD00-EB323EAAC4A4}" type="sibTrans" cxnId="{0F141C8D-BE53-C549-8A9E-A3465B706304}">
      <dgm:prSet/>
      <dgm:spPr/>
      <dgm:t>
        <a:bodyPr/>
        <a:lstStyle/>
        <a:p>
          <a:endParaRPr lang="zh-CN" altLang="en-US"/>
        </a:p>
      </dgm:t>
    </dgm:pt>
    <dgm:pt modelId="{53CE0B6A-E679-DF40-856D-73DFB09B7F63}">
      <dgm:prSet phldrT="[文本]"/>
      <dgm:spPr/>
      <dgm:t>
        <a:bodyPr/>
        <a:lstStyle/>
        <a:p>
          <a:r>
            <a:rPr lang="en-US" altLang="zh-CN" dirty="0"/>
            <a:t>long</a:t>
          </a:r>
          <a:endParaRPr lang="zh-CN" altLang="en-US" dirty="0"/>
        </a:p>
      </dgm:t>
    </dgm:pt>
    <dgm:pt modelId="{F9706C68-5063-894A-8EBB-EF4E488B00B0}" type="parTrans" cxnId="{330882AA-9BB9-D741-9622-83047688B53F}">
      <dgm:prSet/>
      <dgm:spPr/>
      <dgm:t>
        <a:bodyPr/>
        <a:lstStyle/>
        <a:p>
          <a:endParaRPr lang="zh-CN" altLang="en-US"/>
        </a:p>
      </dgm:t>
    </dgm:pt>
    <dgm:pt modelId="{3E6066C9-EF4E-C144-9F1C-9E1E4C96FA0A}" type="sibTrans" cxnId="{330882AA-9BB9-D741-9622-83047688B53F}">
      <dgm:prSet/>
      <dgm:spPr/>
      <dgm:t>
        <a:bodyPr/>
        <a:lstStyle/>
        <a:p>
          <a:endParaRPr lang="zh-CN" altLang="en-US"/>
        </a:p>
      </dgm:t>
    </dgm:pt>
    <dgm:pt modelId="{93E29DA6-4AFF-9D4C-BEF0-95BEC5FF4207}">
      <dgm:prSet phldrT="[文本]"/>
      <dgm:spPr/>
      <dgm:t>
        <a:bodyPr/>
        <a:lstStyle/>
        <a:p>
          <a:r>
            <a:rPr lang="en-US" altLang="zh-CN" dirty="0"/>
            <a:t>int</a:t>
          </a:r>
          <a:endParaRPr lang="zh-CN" altLang="en-US" dirty="0"/>
        </a:p>
      </dgm:t>
    </dgm:pt>
    <dgm:pt modelId="{57D78BA7-A060-EF4F-8E5E-AC80BC211564}" type="parTrans" cxnId="{AB7BADEB-6AE7-744D-BE80-90EF147D0B6C}">
      <dgm:prSet/>
      <dgm:spPr/>
      <dgm:t>
        <a:bodyPr/>
        <a:lstStyle/>
        <a:p>
          <a:endParaRPr lang="zh-CN" altLang="en-US"/>
        </a:p>
      </dgm:t>
    </dgm:pt>
    <dgm:pt modelId="{8871ACF5-C6BF-BA42-9B9B-CC5013FBCE5F}" type="sibTrans" cxnId="{AB7BADEB-6AE7-744D-BE80-90EF147D0B6C}">
      <dgm:prSet/>
      <dgm:spPr/>
      <dgm:t>
        <a:bodyPr/>
        <a:lstStyle/>
        <a:p>
          <a:endParaRPr lang="zh-CN" altLang="en-US"/>
        </a:p>
      </dgm:t>
    </dgm:pt>
    <dgm:pt modelId="{6CFF9DA0-2DAE-AF47-BFAD-2491C55670A1}">
      <dgm:prSet phldrT="[文本]"/>
      <dgm:spPr/>
      <dgm:t>
        <a:bodyPr/>
        <a:lstStyle/>
        <a:p>
          <a:r>
            <a:rPr lang="en-US" altLang="zh-CN" dirty="0"/>
            <a:t>short</a:t>
          </a:r>
          <a:endParaRPr lang="zh-CN" altLang="en-US" dirty="0"/>
        </a:p>
      </dgm:t>
    </dgm:pt>
    <dgm:pt modelId="{11F948E1-3F2F-C74B-909D-0DAC3DA8A4CD}" type="parTrans" cxnId="{24010384-6B7D-654F-BFA3-9224116F52DB}">
      <dgm:prSet/>
      <dgm:spPr/>
      <dgm:t>
        <a:bodyPr/>
        <a:lstStyle/>
        <a:p>
          <a:endParaRPr lang="zh-CN" altLang="en-US"/>
        </a:p>
      </dgm:t>
    </dgm:pt>
    <dgm:pt modelId="{1A2C408B-B56D-7446-8FEE-2BDDC1EC4209}" type="sibTrans" cxnId="{24010384-6B7D-654F-BFA3-9224116F52DB}">
      <dgm:prSet/>
      <dgm:spPr/>
      <dgm:t>
        <a:bodyPr/>
        <a:lstStyle/>
        <a:p>
          <a:endParaRPr lang="zh-CN" altLang="en-US"/>
        </a:p>
      </dgm:t>
    </dgm:pt>
    <dgm:pt modelId="{DA7BCB46-D26A-C740-B698-1CA235B7A36E}">
      <dgm:prSet phldrT="[文本]"/>
      <dgm:spPr/>
      <dgm:t>
        <a:bodyPr/>
        <a:lstStyle/>
        <a:p>
          <a:r>
            <a:rPr lang="en-US" altLang="zh-CN" dirty="0"/>
            <a:t>char</a:t>
          </a:r>
          <a:endParaRPr lang="zh-CN" altLang="en-US" dirty="0"/>
        </a:p>
      </dgm:t>
    </dgm:pt>
    <dgm:pt modelId="{424D3C4F-E04C-994E-AE04-D6CBFB356C0A}" type="parTrans" cxnId="{935AA20C-297E-A74F-839C-A985977DEAF1}">
      <dgm:prSet/>
      <dgm:spPr/>
      <dgm:t>
        <a:bodyPr/>
        <a:lstStyle/>
        <a:p>
          <a:endParaRPr lang="zh-CN" altLang="en-US"/>
        </a:p>
      </dgm:t>
    </dgm:pt>
    <dgm:pt modelId="{9EEDC359-A12C-FE4E-BCEF-6CA1A88009ED}" type="sibTrans" cxnId="{935AA20C-297E-A74F-839C-A985977DEAF1}">
      <dgm:prSet/>
      <dgm:spPr/>
      <dgm:t>
        <a:bodyPr/>
        <a:lstStyle/>
        <a:p>
          <a:endParaRPr lang="zh-CN" altLang="en-US"/>
        </a:p>
      </dgm:t>
    </dgm:pt>
    <dgm:pt modelId="{50665DDE-50DB-4440-8B01-F10D3A706DAB}" type="pres">
      <dgm:prSet presAssocID="{2773E5E3-89CC-C241-AE50-D218E71A8019}" presName="linearFlow" presStyleCnt="0">
        <dgm:presLayoutVars>
          <dgm:resizeHandles val="exact"/>
        </dgm:presLayoutVars>
      </dgm:prSet>
      <dgm:spPr/>
    </dgm:pt>
    <dgm:pt modelId="{7906AD5C-DA51-5C4B-9578-87505EE2597D}" type="pres">
      <dgm:prSet presAssocID="{6270E6F2-3DF1-C44D-AAB3-419D207B7F0F}" presName="node" presStyleLbl="node1" presStyleIdx="0" presStyleCnt="7">
        <dgm:presLayoutVars>
          <dgm:bulletEnabled val="1"/>
        </dgm:presLayoutVars>
      </dgm:prSet>
      <dgm:spPr/>
    </dgm:pt>
    <dgm:pt modelId="{8829E2E6-1575-AA4E-BCEE-4968ABC81C63}" type="pres">
      <dgm:prSet presAssocID="{CFCCE7D7-86A4-9A4D-B800-8B7E91888C32}" presName="sibTrans" presStyleLbl="sibTrans2D1" presStyleIdx="0" presStyleCnt="6"/>
      <dgm:spPr/>
    </dgm:pt>
    <dgm:pt modelId="{877632A0-145F-2642-8FD6-8DA678072BB5}" type="pres">
      <dgm:prSet presAssocID="{CFCCE7D7-86A4-9A4D-B800-8B7E91888C32}" presName="connectorText" presStyleLbl="sibTrans2D1" presStyleIdx="0" presStyleCnt="6"/>
      <dgm:spPr/>
    </dgm:pt>
    <dgm:pt modelId="{115B6E76-8CC3-8E4A-8761-0724E7572C0E}" type="pres">
      <dgm:prSet presAssocID="{C0E168E7-E7AF-7444-98AA-B59BEE74C927}" presName="node" presStyleLbl="node1" presStyleIdx="1" presStyleCnt="7">
        <dgm:presLayoutVars>
          <dgm:bulletEnabled val="1"/>
        </dgm:presLayoutVars>
      </dgm:prSet>
      <dgm:spPr/>
    </dgm:pt>
    <dgm:pt modelId="{AC2CB434-BDF3-434A-B5C6-31C7B2022203}" type="pres">
      <dgm:prSet presAssocID="{BAD7540E-F402-724B-AC5E-17BFCA813264}" presName="sibTrans" presStyleLbl="sibTrans2D1" presStyleIdx="1" presStyleCnt="6"/>
      <dgm:spPr/>
    </dgm:pt>
    <dgm:pt modelId="{326CBEE7-42AC-8E41-8674-99D98DF81C64}" type="pres">
      <dgm:prSet presAssocID="{BAD7540E-F402-724B-AC5E-17BFCA813264}" presName="connectorText" presStyleLbl="sibTrans2D1" presStyleIdx="1" presStyleCnt="6"/>
      <dgm:spPr/>
    </dgm:pt>
    <dgm:pt modelId="{2E8DC594-9DAE-F14F-8013-41D2AB3896DE}" type="pres">
      <dgm:prSet presAssocID="{8F74B83B-2991-2B45-A21D-C5370DE56B97}" presName="node" presStyleLbl="node1" presStyleIdx="2" presStyleCnt="7">
        <dgm:presLayoutVars>
          <dgm:bulletEnabled val="1"/>
        </dgm:presLayoutVars>
      </dgm:prSet>
      <dgm:spPr/>
    </dgm:pt>
    <dgm:pt modelId="{51A61BF9-C432-BA4B-B571-540012275FA4}" type="pres">
      <dgm:prSet presAssocID="{FA5757EB-FA22-D040-AD00-EB323EAAC4A4}" presName="sibTrans" presStyleLbl="sibTrans2D1" presStyleIdx="2" presStyleCnt="6"/>
      <dgm:spPr/>
    </dgm:pt>
    <dgm:pt modelId="{95C1D095-F3D4-4F44-A409-5FB24A94B92A}" type="pres">
      <dgm:prSet presAssocID="{FA5757EB-FA22-D040-AD00-EB323EAAC4A4}" presName="connectorText" presStyleLbl="sibTrans2D1" presStyleIdx="2" presStyleCnt="6"/>
      <dgm:spPr/>
    </dgm:pt>
    <dgm:pt modelId="{1CFB0198-0139-7A45-BDA6-D0BC1666719A}" type="pres">
      <dgm:prSet presAssocID="{53CE0B6A-E679-DF40-856D-73DFB09B7F63}" presName="node" presStyleLbl="node1" presStyleIdx="3" presStyleCnt="7">
        <dgm:presLayoutVars>
          <dgm:bulletEnabled val="1"/>
        </dgm:presLayoutVars>
      </dgm:prSet>
      <dgm:spPr/>
    </dgm:pt>
    <dgm:pt modelId="{58543BD1-0A02-AE40-956E-21283CF7EC7D}" type="pres">
      <dgm:prSet presAssocID="{3E6066C9-EF4E-C144-9F1C-9E1E4C96FA0A}" presName="sibTrans" presStyleLbl="sibTrans2D1" presStyleIdx="3" presStyleCnt="6"/>
      <dgm:spPr/>
    </dgm:pt>
    <dgm:pt modelId="{97F42FAC-0888-7641-A667-452D98635D49}" type="pres">
      <dgm:prSet presAssocID="{3E6066C9-EF4E-C144-9F1C-9E1E4C96FA0A}" presName="connectorText" presStyleLbl="sibTrans2D1" presStyleIdx="3" presStyleCnt="6"/>
      <dgm:spPr/>
    </dgm:pt>
    <dgm:pt modelId="{30B5F5CA-DB2E-0740-BC2E-65C14703B3B5}" type="pres">
      <dgm:prSet presAssocID="{93E29DA6-4AFF-9D4C-BEF0-95BEC5FF4207}" presName="node" presStyleLbl="node1" presStyleIdx="4" presStyleCnt="7">
        <dgm:presLayoutVars>
          <dgm:bulletEnabled val="1"/>
        </dgm:presLayoutVars>
      </dgm:prSet>
      <dgm:spPr/>
    </dgm:pt>
    <dgm:pt modelId="{AF0A2952-9279-5844-91C4-857862F431AA}" type="pres">
      <dgm:prSet presAssocID="{8871ACF5-C6BF-BA42-9B9B-CC5013FBCE5F}" presName="sibTrans" presStyleLbl="sibTrans2D1" presStyleIdx="4" presStyleCnt="6"/>
      <dgm:spPr/>
    </dgm:pt>
    <dgm:pt modelId="{EA1D6D67-EE20-EA49-91A6-0688FDF14EF9}" type="pres">
      <dgm:prSet presAssocID="{8871ACF5-C6BF-BA42-9B9B-CC5013FBCE5F}" presName="connectorText" presStyleLbl="sibTrans2D1" presStyleIdx="4" presStyleCnt="6"/>
      <dgm:spPr/>
    </dgm:pt>
    <dgm:pt modelId="{01526F09-CA2D-4345-934F-08773F76B62A}" type="pres">
      <dgm:prSet presAssocID="{6CFF9DA0-2DAE-AF47-BFAD-2491C55670A1}" presName="node" presStyleLbl="node1" presStyleIdx="5" presStyleCnt="7">
        <dgm:presLayoutVars>
          <dgm:bulletEnabled val="1"/>
        </dgm:presLayoutVars>
      </dgm:prSet>
      <dgm:spPr/>
    </dgm:pt>
    <dgm:pt modelId="{1DF14911-51CA-A64A-B489-6669F37AB516}" type="pres">
      <dgm:prSet presAssocID="{1A2C408B-B56D-7446-8FEE-2BDDC1EC4209}" presName="sibTrans" presStyleLbl="sibTrans2D1" presStyleIdx="5" presStyleCnt="6"/>
      <dgm:spPr/>
    </dgm:pt>
    <dgm:pt modelId="{5D5F9E49-6888-6441-9FE4-8DF6F217DCDF}" type="pres">
      <dgm:prSet presAssocID="{1A2C408B-B56D-7446-8FEE-2BDDC1EC4209}" presName="connectorText" presStyleLbl="sibTrans2D1" presStyleIdx="5" presStyleCnt="6"/>
      <dgm:spPr/>
    </dgm:pt>
    <dgm:pt modelId="{B8129B69-C10B-AE4B-99EF-10E02F654B22}" type="pres">
      <dgm:prSet presAssocID="{DA7BCB46-D26A-C740-B698-1CA235B7A36E}" presName="node" presStyleLbl="node1" presStyleIdx="6" presStyleCnt="7">
        <dgm:presLayoutVars>
          <dgm:bulletEnabled val="1"/>
        </dgm:presLayoutVars>
      </dgm:prSet>
      <dgm:spPr/>
    </dgm:pt>
  </dgm:ptLst>
  <dgm:cxnLst>
    <dgm:cxn modelId="{F4E01909-2CD4-2846-A869-44FE70B706BD}" type="presOf" srcId="{53CE0B6A-E679-DF40-856D-73DFB09B7F63}" destId="{1CFB0198-0139-7A45-BDA6-D0BC1666719A}" srcOrd="0" destOrd="0" presId="urn:microsoft.com/office/officeart/2005/8/layout/process2"/>
    <dgm:cxn modelId="{935AA20C-297E-A74F-839C-A985977DEAF1}" srcId="{2773E5E3-89CC-C241-AE50-D218E71A8019}" destId="{DA7BCB46-D26A-C740-B698-1CA235B7A36E}" srcOrd="6" destOrd="0" parTransId="{424D3C4F-E04C-994E-AE04-D6CBFB356C0A}" sibTransId="{9EEDC359-A12C-FE4E-BCEF-6CA1A88009ED}"/>
    <dgm:cxn modelId="{8DACF92F-4229-4041-892D-A0C93A263432}" type="presOf" srcId="{BAD7540E-F402-724B-AC5E-17BFCA813264}" destId="{326CBEE7-42AC-8E41-8674-99D98DF81C64}" srcOrd="1" destOrd="0" presId="urn:microsoft.com/office/officeart/2005/8/layout/process2"/>
    <dgm:cxn modelId="{89255742-BCD4-1E4D-B5CE-EA263BAD4B69}" type="presOf" srcId="{CFCCE7D7-86A4-9A4D-B800-8B7E91888C32}" destId="{877632A0-145F-2642-8FD6-8DA678072BB5}" srcOrd="1" destOrd="0" presId="urn:microsoft.com/office/officeart/2005/8/layout/process2"/>
    <dgm:cxn modelId="{7840BF49-AD9A-314C-B7CE-1391452BB6FE}" type="presOf" srcId="{3E6066C9-EF4E-C144-9F1C-9E1E4C96FA0A}" destId="{58543BD1-0A02-AE40-956E-21283CF7EC7D}" srcOrd="0" destOrd="0" presId="urn:microsoft.com/office/officeart/2005/8/layout/process2"/>
    <dgm:cxn modelId="{A3C60269-B053-974A-9573-D9DB912E1CC8}" srcId="{2773E5E3-89CC-C241-AE50-D218E71A8019}" destId="{6270E6F2-3DF1-C44D-AAB3-419D207B7F0F}" srcOrd="0" destOrd="0" parTransId="{3391AE86-7BD4-4947-9516-2ED894C958AD}" sibTransId="{CFCCE7D7-86A4-9A4D-B800-8B7E91888C32}"/>
    <dgm:cxn modelId="{DB47446C-0CDC-5B43-8740-3D08E50DFD2E}" type="presOf" srcId="{8871ACF5-C6BF-BA42-9B9B-CC5013FBCE5F}" destId="{EA1D6D67-EE20-EA49-91A6-0688FDF14EF9}" srcOrd="1" destOrd="0" presId="urn:microsoft.com/office/officeart/2005/8/layout/process2"/>
    <dgm:cxn modelId="{20FBD277-C45D-544B-AE9E-2D9E560665F0}" type="presOf" srcId="{C0E168E7-E7AF-7444-98AA-B59BEE74C927}" destId="{115B6E76-8CC3-8E4A-8761-0724E7572C0E}" srcOrd="0" destOrd="0" presId="urn:microsoft.com/office/officeart/2005/8/layout/process2"/>
    <dgm:cxn modelId="{C614F178-A1D9-BC48-812A-FD41EA7A5262}" type="presOf" srcId="{3E6066C9-EF4E-C144-9F1C-9E1E4C96FA0A}" destId="{97F42FAC-0888-7641-A667-452D98635D49}" srcOrd="1" destOrd="0" presId="urn:microsoft.com/office/officeart/2005/8/layout/process2"/>
    <dgm:cxn modelId="{428F1E79-11B2-2447-8E6B-CE2BF10FE994}" type="presOf" srcId="{2773E5E3-89CC-C241-AE50-D218E71A8019}" destId="{50665DDE-50DB-4440-8B01-F10D3A706DAB}" srcOrd="0" destOrd="0" presId="urn:microsoft.com/office/officeart/2005/8/layout/process2"/>
    <dgm:cxn modelId="{F3D6F379-2193-D749-96A8-22F5B6A0FEBB}" type="presOf" srcId="{93E29DA6-4AFF-9D4C-BEF0-95BEC5FF4207}" destId="{30B5F5CA-DB2E-0740-BC2E-65C14703B3B5}" srcOrd="0" destOrd="0" presId="urn:microsoft.com/office/officeart/2005/8/layout/process2"/>
    <dgm:cxn modelId="{5D1DC180-6BF0-3A4D-A6A7-A8A5343CE65C}" type="presOf" srcId="{1A2C408B-B56D-7446-8FEE-2BDDC1EC4209}" destId="{1DF14911-51CA-A64A-B489-6669F37AB516}" srcOrd="0" destOrd="0" presId="urn:microsoft.com/office/officeart/2005/8/layout/process2"/>
    <dgm:cxn modelId="{77AD3482-8B41-4B4F-8C25-A511A903143D}" type="presOf" srcId="{6270E6F2-3DF1-C44D-AAB3-419D207B7F0F}" destId="{7906AD5C-DA51-5C4B-9578-87505EE2597D}" srcOrd="0" destOrd="0" presId="urn:microsoft.com/office/officeart/2005/8/layout/process2"/>
    <dgm:cxn modelId="{E1D17682-C172-4346-862C-F289AF7E0BCB}" type="presOf" srcId="{8F74B83B-2991-2B45-A21D-C5370DE56B97}" destId="{2E8DC594-9DAE-F14F-8013-41D2AB3896DE}" srcOrd="0" destOrd="0" presId="urn:microsoft.com/office/officeart/2005/8/layout/process2"/>
    <dgm:cxn modelId="{24010384-6B7D-654F-BFA3-9224116F52DB}" srcId="{2773E5E3-89CC-C241-AE50-D218E71A8019}" destId="{6CFF9DA0-2DAE-AF47-BFAD-2491C55670A1}" srcOrd="5" destOrd="0" parTransId="{11F948E1-3F2F-C74B-909D-0DAC3DA8A4CD}" sibTransId="{1A2C408B-B56D-7446-8FEE-2BDDC1EC4209}"/>
    <dgm:cxn modelId="{8DA23889-BA4B-D840-B37C-C953053E66E6}" type="presOf" srcId="{BAD7540E-F402-724B-AC5E-17BFCA813264}" destId="{AC2CB434-BDF3-434A-B5C6-31C7B2022203}" srcOrd="0" destOrd="0" presId="urn:microsoft.com/office/officeart/2005/8/layout/process2"/>
    <dgm:cxn modelId="{8322218A-6D4C-A74E-8D9F-A2539A5FC5A9}" type="presOf" srcId="{CFCCE7D7-86A4-9A4D-B800-8B7E91888C32}" destId="{8829E2E6-1575-AA4E-BCEE-4968ABC81C63}" srcOrd="0" destOrd="0" presId="urn:microsoft.com/office/officeart/2005/8/layout/process2"/>
    <dgm:cxn modelId="{0F141C8D-BE53-C549-8A9E-A3465B706304}" srcId="{2773E5E3-89CC-C241-AE50-D218E71A8019}" destId="{8F74B83B-2991-2B45-A21D-C5370DE56B97}" srcOrd="2" destOrd="0" parTransId="{456EE65E-E8B6-C446-B3C2-4FA589A3CBC0}" sibTransId="{FA5757EB-FA22-D040-AD00-EB323EAAC4A4}"/>
    <dgm:cxn modelId="{CCA22D8E-F15E-EA44-9C37-FCBB08626152}" type="presOf" srcId="{6CFF9DA0-2DAE-AF47-BFAD-2491C55670A1}" destId="{01526F09-CA2D-4345-934F-08773F76B62A}" srcOrd="0" destOrd="0" presId="urn:microsoft.com/office/officeart/2005/8/layout/process2"/>
    <dgm:cxn modelId="{4BF6B095-B487-8840-82DC-7C7DC2E963F3}" type="presOf" srcId="{DA7BCB46-D26A-C740-B698-1CA235B7A36E}" destId="{B8129B69-C10B-AE4B-99EF-10E02F654B22}" srcOrd="0" destOrd="0" presId="urn:microsoft.com/office/officeart/2005/8/layout/process2"/>
    <dgm:cxn modelId="{F2A674A9-658B-A744-B387-85DB497B30BA}" type="presOf" srcId="{8871ACF5-C6BF-BA42-9B9B-CC5013FBCE5F}" destId="{AF0A2952-9279-5844-91C4-857862F431AA}" srcOrd="0" destOrd="0" presId="urn:microsoft.com/office/officeart/2005/8/layout/process2"/>
    <dgm:cxn modelId="{330882AA-9BB9-D741-9622-83047688B53F}" srcId="{2773E5E3-89CC-C241-AE50-D218E71A8019}" destId="{53CE0B6A-E679-DF40-856D-73DFB09B7F63}" srcOrd="3" destOrd="0" parTransId="{F9706C68-5063-894A-8EBB-EF4E488B00B0}" sibTransId="{3E6066C9-EF4E-C144-9F1C-9E1E4C96FA0A}"/>
    <dgm:cxn modelId="{67BCBEB2-6DF3-844B-88BC-4FF1E680A8B1}" type="presOf" srcId="{FA5757EB-FA22-D040-AD00-EB323EAAC4A4}" destId="{95C1D095-F3D4-4F44-A409-5FB24A94B92A}" srcOrd="1" destOrd="0" presId="urn:microsoft.com/office/officeart/2005/8/layout/process2"/>
    <dgm:cxn modelId="{EB17CCBB-A0BE-CA43-9E83-CC55E1BD85A7}" type="presOf" srcId="{1A2C408B-B56D-7446-8FEE-2BDDC1EC4209}" destId="{5D5F9E49-6888-6441-9FE4-8DF6F217DCDF}" srcOrd="1" destOrd="0" presId="urn:microsoft.com/office/officeart/2005/8/layout/process2"/>
    <dgm:cxn modelId="{BE1B9BCC-5D28-7A45-A1D7-77EE49A68ACC}" type="presOf" srcId="{FA5757EB-FA22-D040-AD00-EB323EAAC4A4}" destId="{51A61BF9-C432-BA4B-B571-540012275FA4}" srcOrd="0" destOrd="0" presId="urn:microsoft.com/office/officeart/2005/8/layout/process2"/>
    <dgm:cxn modelId="{633A5AE6-E59A-6F4D-9F06-A2760A4B2329}" srcId="{2773E5E3-89CC-C241-AE50-D218E71A8019}" destId="{C0E168E7-E7AF-7444-98AA-B59BEE74C927}" srcOrd="1" destOrd="0" parTransId="{C9E37E0D-63AE-0E4F-904E-4D84E503D007}" sibTransId="{BAD7540E-F402-724B-AC5E-17BFCA813264}"/>
    <dgm:cxn modelId="{AB7BADEB-6AE7-744D-BE80-90EF147D0B6C}" srcId="{2773E5E3-89CC-C241-AE50-D218E71A8019}" destId="{93E29DA6-4AFF-9D4C-BEF0-95BEC5FF4207}" srcOrd="4" destOrd="0" parTransId="{57D78BA7-A060-EF4F-8E5E-AC80BC211564}" sibTransId="{8871ACF5-C6BF-BA42-9B9B-CC5013FBCE5F}"/>
    <dgm:cxn modelId="{E4BE935A-FF1D-BA4A-8198-684FC662F094}" type="presParOf" srcId="{50665DDE-50DB-4440-8B01-F10D3A706DAB}" destId="{7906AD5C-DA51-5C4B-9578-87505EE2597D}" srcOrd="0" destOrd="0" presId="urn:microsoft.com/office/officeart/2005/8/layout/process2"/>
    <dgm:cxn modelId="{A8BC2807-4179-B144-858C-59BFFCBFE5BA}" type="presParOf" srcId="{50665DDE-50DB-4440-8B01-F10D3A706DAB}" destId="{8829E2E6-1575-AA4E-BCEE-4968ABC81C63}" srcOrd="1" destOrd="0" presId="urn:microsoft.com/office/officeart/2005/8/layout/process2"/>
    <dgm:cxn modelId="{E0059419-D304-F446-BADB-B753079F5012}" type="presParOf" srcId="{8829E2E6-1575-AA4E-BCEE-4968ABC81C63}" destId="{877632A0-145F-2642-8FD6-8DA678072BB5}" srcOrd="0" destOrd="0" presId="urn:microsoft.com/office/officeart/2005/8/layout/process2"/>
    <dgm:cxn modelId="{E62DEFF7-3661-434D-B90E-6AE16C2B388C}" type="presParOf" srcId="{50665DDE-50DB-4440-8B01-F10D3A706DAB}" destId="{115B6E76-8CC3-8E4A-8761-0724E7572C0E}" srcOrd="2" destOrd="0" presId="urn:microsoft.com/office/officeart/2005/8/layout/process2"/>
    <dgm:cxn modelId="{8B48FD67-CD04-E145-9FB4-E28288A25A1B}" type="presParOf" srcId="{50665DDE-50DB-4440-8B01-F10D3A706DAB}" destId="{AC2CB434-BDF3-434A-B5C6-31C7B2022203}" srcOrd="3" destOrd="0" presId="urn:microsoft.com/office/officeart/2005/8/layout/process2"/>
    <dgm:cxn modelId="{EB03ABA0-4D14-8C4F-B1FF-BEE04E10BACC}" type="presParOf" srcId="{AC2CB434-BDF3-434A-B5C6-31C7B2022203}" destId="{326CBEE7-42AC-8E41-8674-99D98DF81C64}" srcOrd="0" destOrd="0" presId="urn:microsoft.com/office/officeart/2005/8/layout/process2"/>
    <dgm:cxn modelId="{EB5F59A1-DE01-9444-90F9-0AD592F6D2A9}" type="presParOf" srcId="{50665DDE-50DB-4440-8B01-F10D3A706DAB}" destId="{2E8DC594-9DAE-F14F-8013-41D2AB3896DE}" srcOrd="4" destOrd="0" presId="urn:microsoft.com/office/officeart/2005/8/layout/process2"/>
    <dgm:cxn modelId="{554C441C-55EA-A449-9ECF-7B1EACF2A669}" type="presParOf" srcId="{50665DDE-50DB-4440-8B01-F10D3A706DAB}" destId="{51A61BF9-C432-BA4B-B571-540012275FA4}" srcOrd="5" destOrd="0" presId="urn:microsoft.com/office/officeart/2005/8/layout/process2"/>
    <dgm:cxn modelId="{616A9976-5CAD-F945-9811-B54EE2D1E536}" type="presParOf" srcId="{51A61BF9-C432-BA4B-B571-540012275FA4}" destId="{95C1D095-F3D4-4F44-A409-5FB24A94B92A}" srcOrd="0" destOrd="0" presId="urn:microsoft.com/office/officeart/2005/8/layout/process2"/>
    <dgm:cxn modelId="{1825F788-CFFE-3B4D-AE5F-46C3F3A39F09}" type="presParOf" srcId="{50665DDE-50DB-4440-8B01-F10D3A706DAB}" destId="{1CFB0198-0139-7A45-BDA6-D0BC1666719A}" srcOrd="6" destOrd="0" presId="urn:microsoft.com/office/officeart/2005/8/layout/process2"/>
    <dgm:cxn modelId="{AE9EFCD4-810A-294C-B7D3-30608A94CB42}" type="presParOf" srcId="{50665DDE-50DB-4440-8B01-F10D3A706DAB}" destId="{58543BD1-0A02-AE40-956E-21283CF7EC7D}" srcOrd="7" destOrd="0" presId="urn:microsoft.com/office/officeart/2005/8/layout/process2"/>
    <dgm:cxn modelId="{9CB4A64C-B0F4-3C4C-B32E-D05C86812D45}" type="presParOf" srcId="{58543BD1-0A02-AE40-956E-21283CF7EC7D}" destId="{97F42FAC-0888-7641-A667-452D98635D49}" srcOrd="0" destOrd="0" presId="urn:microsoft.com/office/officeart/2005/8/layout/process2"/>
    <dgm:cxn modelId="{B0BF5DD8-8D09-594E-9688-84BA69455C0C}" type="presParOf" srcId="{50665DDE-50DB-4440-8B01-F10D3A706DAB}" destId="{30B5F5CA-DB2E-0740-BC2E-65C14703B3B5}" srcOrd="8" destOrd="0" presId="urn:microsoft.com/office/officeart/2005/8/layout/process2"/>
    <dgm:cxn modelId="{6898D8D2-937F-C645-88B3-B29168099402}" type="presParOf" srcId="{50665DDE-50DB-4440-8B01-F10D3A706DAB}" destId="{AF0A2952-9279-5844-91C4-857862F431AA}" srcOrd="9" destOrd="0" presId="urn:microsoft.com/office/officeart/2005/8/layout/process2"/>
    <dgm:cxn modelId="{52CD88F2-007C-5247-8CDA-6A162A12C812}" type="presParOf" srcId="{AF0A2952-9279-5844-91C4-857862F431AA}" destId="{EA1D6D67-EE20-EA49-91A6-0688FDF14EF9}" srcOrd="0" destOrd="0" presId="urn:microsoft.com/office/officeart/2005/8/layout/process2"/>
    <dgm:cxn modelId="{9F871266-ED1C-F743-A93A-E673CA0D5202}" type="presParOf" srcId="{50665DDE-50DB-4440-8B01-F10D3A706DAB}" destId="{01526F09-CA2D-4345-934F-08773F76B62A}" srcOrd="10" destOrd="0" presId="urn:microsoft.com/office/officeart/2005/8/layout/process2"/>
    <dgm:cxn modelId="{88B0FCA8-EF5C-A44A-9DBF-38D8D0AC3AC1}" type="presParOf" srcId="{50665DDE-50DB-4440-8B01-F10D3A706DAB}" destId="{1DF14911-51CA-A64A-B489-6669F37AB516}" srcOrd="11" destOrd="0" presId="urn:microsoft.com/office/officeart/2005/8/layout/process2"/>
    <dgm:cxn modelId="{B93F045F-5885-9C42-A6B9-19C72CD62006}" type="presParOf" srcId="{1DF14911-51CA-A64A-B489-6669F37AB516}" destId="{5D5F9E49-6888-6441-9FE4-8DF6F217DCDF}" srcOrd="0" destOrd="0" presId="urn:microsoft.com/office/officeart/2005/8/layout/process2"/>
    <dgm:cxn modelId="{E7F1E4C6-47B7-2944-9B89-9F474ADDF273}" type="presParOf" srcId="{50665DDE-50DB-4440-8B01-F10D3A706DAB}" destId="{B8129B69-C10B-AE4B-99EF-10E02F654B22}" srcOrd="12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06AD5C-DA51-5C4B-9578-87505EE2597D}">
      <dsp:nvSpPr>
        <dsp:cNvPr id="0" name=""/>
        <dsp:cNvSpPr/>
      </dsp:nvSpPr>
      <dsp:spPr>
        <a:xfrm>
          <a:off x="257846" y="592"/>
          <a:ext cx="1272765" cy="48486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800" kern="1200" dirty="0"/>
            <a:t>long double</a:t>
          </a:r>
          <a:endParaRPr lang="zh-CN" altLang="en-US" sz="1800" kern="1200" dirty="0"/>
        </a:p>
      </dsp:txBody>
      <dsp:txXfrm>
        <a:off x="272047" y="14793"/>
        <a:ext cx="1244363" cy="456460"/>
      </dsp:txXfrm>
    </dsp:sp>
    <dsp:sp modelId="{8829E2E6-1575-AA4E-BCEE-4968ABC81C63}">
      <dsp:nvSpPr>
        <dsp:cNvPr id="0" name=""/>
        <dsp:cNvSpPr/>
      </dsp:nvSpPr>
      <dsp:spPr>
        <a:xfrm rot="5400000">
          <a:off x="803317" y="497576"/>
          <a:ext cx="181823" cy="21818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900" kern="1200"/>
        </a:p>
      </dsp:txBody>
      <dsp:txXfrm rot="-5400000">
        <a:off x="828773" y="515759"/>
        <a:ext cx="130912" cy="127276"/>
      </dsp:txXfrm>
    </dsp:sp>
    <dsp:sp modelId="{115B6E76-8CC3-8E4A-8761-0724E7572C0E}">
      <dsp:nvSpPr>
        <dsp:cNvPr id="0" name=""/>
        <dsp:cNvSpPr/>
      </dsp:nvSpPr>
      <dsp:spPr>
        <a:xfrm>
          <a:off x="257846" y="727886"/>
          <a:ext cx="1272765" cy="48486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800" kern="1200" dirty="0"/>
            <a:t>double</a:t>
          </a:r>
          <a:endParaRPr lang="zh-CN" altLang="en-US" sz="1800" kern="1200" dirty="0"/>
        </a:p>
      </dsp:txBody>
      <dsp:txXfrm>
        <a:off x="272047" y="742087"/>
        <a:ext cx="1244363" cy="456460"/>
      </dsp:txXfrm>
    </dsp:sp>
    <dsp:sp modelId="{AC2CB434-BDF3-434A-B5C6-31C7B2022203}">
      <dsp:nvSpPr>
        <dsp:cNvPr id="0" name=""/>
        <dsp:cNvSpPr/>
      </dsp:nvSpPr>
      <dsp:spPr>
        <a:xfrm rot="5400000">
          <a:off x="803317" y="1224870"/>
          <a:ext cx="181823" cy="21818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900" kern="1200"/>
        </a:p>
      </dsp:txBody>
      <dsp:txXfrm rot="-5400000">
        <a:off x="828773" y="1243053"/>
        <a:ext cx="130912" cy="127276"/>
      </dsp:txXfrm>
    </dsp:sp>
    <dsp:sp modelId="{2E8DC594-9DAE-F14F-8013-41D2AB3896DE}">
      <dsp:nvSpPr>
        <dsp:cNvPr id="0" name=""/>
        <dsp:cNvSpPr/>
      </dsp:nvSpPr>
      <dsp:spPr>
        <a:xfrm>
          <a:off x="257846" y="1455180"/>
          <a:ext cx="1272765" cy="48486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800" kern="1200" dirty="0"/>
            <a:t>float</a:t>
          </a:r>
          <a:endParaRPr lang="zh-CN" altLang="en-US" sz="1800" kern="1200" dirty="0"/>
        </a:p>
      </dsp:txBody>
      <dsp:txXfrm>
        <a:off x="272047" y="1469381"/>
        <a:ext cx="1244363" cy="456460"/>
      </dsp:txXfrm>
    </dsp:sp>
    <dsp:sp modelId="{51A61BF9-C432-BA4B-B571-540012275FA4}">
      <dsp:nvSpPr>
        <dsp:cNvPr id="0" name=""/>
        <dsp:cNvSpPr/>
      </dsp:nvSpPr>
      <dsp:spPr>
        <a:xfrm rot="5400000">
          <a:off x="803317" y="1952165"/>
          <a:ext cx="181823" cy="21818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900" kern="1200"/>
        </a:p>
      </dsp:txBody>
      <dsp:txXfrm rot="-5400000">
        <a:off x="828773" y="1970348"/>
        <a:ext cx="130912" cy="127276"/>
      </dsp:txXfrm>
    </dsp:sp>
    <dsp:sp modelId="{1CFB0198-0139-7A45-BDA6-D0BC1666719A}">
      <dsp:nvSpPr>
        <dsp:cNvPr id="0" name=""/>
        <dsp:cNvSpPr/>
      </dsp:nvSpPr>
      <dsp:spPr>
        <a:xfrm>
          <a:off x="257846" y="2182475"/>
          <a:ext cx="1272765" cy="48486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800" kern="1200" dirty="0"/>
            <a:t>long</a:t>
          </a:r>
          <a:endParaRPr lang="zh-CN" altLang="en-US" sz="1800" kern="1200" dirty="0"/>
        </a:p>
      </dsp:txBody>
      <dsp:txXfrm>
        <a:off x="272047" y="2196676"/>
        <a:ext cx="1244363" cy="456460"/>
      </dsp:txXfrm>
    </dsp:sp>
    <dsp:sp modelId="{58543BD1-0A02-AE40-956E-21283CF7EC7D}">
      <dsp:nvSpPr>
        <dsp:cNvPr id="0" name=""/>
        <dsp:cNvSpPr/>
      </dsp:nvSpPr>
      <dsp:spPr>
        <a:xfrm rot="5400000">
          <a:off x="803317" y="2679459"/>
          <a:ext cx="181823" cy="21818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900" kern="1200"/>
        </a:p>
      </dsp:txBody>
      <dsp:txXfrm rot="-5400000">
        <a:off x="828773" y="2697642"/>
        <a:ext cx="130912" cy="127276"/>
      </dsp:txXfrm>
    </dsp:sp>
    <dsp:sp modelId="{30B5F5CA-DB2E-0740-BC2E-65C14703B3B5}">
      <dsp:nvSpPr>
        <dsp:cNvPr id="0" name=""/>
        <dsp:cNvSpPr/>
      </dsp:nvSpPr>
      <dsp:spPr>
        <a:xfrm>
          <a:off x="257846" y="2909769"/>
          <a:ext cx="1272765" cy="48486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800" kern="1200" dirty="0"/>
            <a:t>int</a:t>
          </a:r>
          <a:endParaRPr lang="zh-CN" altLang="en-US" sz="1800" kern="1200" dirty="0"/>
        </a:p>
      </dsp:txBody>
      <dsp:txXfrm>
        <a:off x="272047" y="2923970"/>
        <a:ext cx="1244363" cy="456460"/>
      </dsp:txXfrm>
    </dsp:sp>
    <dsp:sp modelId="{AF0A2952-9279-5844-91C4-857862F431AA}">
      <dsp:nvSpPr>
        <dsp:cNvPr id="0" name=""/>
        <dsp:cNvSpPr/>
      </dsp:nvSpPr>
      <dsp:spPr>
        <a:xfrm rot="5400000">
          <a:off x="803317" y="3406753"/>
          <a:ext cx="181823" cy="21818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900" kern="1200"/>
        </a:p>
      </dsp:txBody>
      <dsp:txXfrm rot="-5400000">
        <a:off x="828773" y="3424936"/>
        <a:ext cx="130912" cy="127276"/>
      </dsp:txXfrm>
    </dsp:sp>
    <dsp:sp modelId="{01526F09-CA2D-4345-934F-08773F76B62A}">
      <dsp:nvSpPr>
        <dsp:cNvPr id="0" name=""/>
        <dsp:cNvSpPr/>
      </dsp:nvSpPr>
      <dsp:spPr>
        <a:xfrm>
          <a:off x="257846" y="3637063"/>
          <a:ext cx="1272765" cy="48486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800" kern="1200" dirty="0"/>
            <a:t>short</a:t>
          </a:r>
          <a:endParaRPr lang="zh-CN" altLang="en-US" sz="1800" kern="1200" dirty="0"/>
        </a:p>
      </dsp:txBody>
      <dsp:txXfrm>
        <a:off x="272047" y="3651264"/>
        <a:ext cx="1244363" cy="456460"/>
      </dsp:txXfrm>
    </dsp:sp>
    <dsp:sp modelId="{1DF14911-51CA-A64A-B489-6669F37AB516}">
      <dsp:nvSpPr>
        <dsp:cNvPr id="0" name=""/>
        <dsp:cNvSpPr/>
      </dsp:nvSpPr>
      <dsp:spPr>
        <a:xfrm rot="5400000">
          <a:off x="803317" y="4134048"/>
          <a:ext cx="181823" cy="21818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900" kern="1200"/>
        </a:p>
      </dsp:txBody>
      <dsp:txXfrm rot="-5400000">
        <a:off x="828773" y="4152231"/>
        <a:ext cx="130912" cy="127276"/>
      </dsp:txXfrm>
    </dsp:sp>
    <dsp:sp modelId="{B8129B69-C10B-AE4B-99EF-10E02F654B22}">
      <dsp:nvSpPr>
        <dsp:cNvPr id="0" name=""/>
        <dsp:cNvSpPr/>
      </dsp:nvSpPr>
      <dsp:spPr>
        <a:xfrm>
          <a:off x="257846" y="4364358"/>
          <a:ext cx="1272765" cy="48486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800" kern="1200" dirty="0"/>
            <a:t>char</a:t>
          </a:r>
          <a:endParaRPr lang="zh-CN" altLang="en-US" sz="1800" kern="1200" dirty="0"/>
        </a:p>
      </dsp:txBody>
      <dsp:txXfrm>
        <a:off x="272047" y="4378559"/>
        <a:ext cx="1244363" cy="4564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534740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987522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09F6358-1E5B-E540-B1EC-784FFD4F98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18" t="38788" r="24589" b="40606"/>
          <a:stretch/>
        </p:blipFill>
        <p:spPr>
          <a:xfrm>
            <a:off x="65507" y="0"/>
            <a:ext cx="3515893" cy="1007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909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50B810D5-562C-6D40-A798-62FEF5ACFC2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18" t="38788" r="61357" b="40606"/>
          <a:stretch/>
        </p:blipFill>
        <p:spPr>
          <a:xfrm>
            <a:off x="65507" y="0"/>
            <a:ext cx="970813" cy="100793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76479" y="264221"/>
            <a:ext cx="10515600" cy="833631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199" y="1326995"/>
            <a:ext cx="11053879" cy="4849968"/>
          </a:xfrm>
        </p:spPr>
        <p:txBody>
          <a:bodyPr/>
          <a:lstStyle>
            <a:lvl2pPr marL="914400" indent="-457200">
              <a:buFont typeface="Wingdings" panose="05000000000000000000" pitchFamily="2" charset="2"/>
              <a:buChar char="Ø"/>
              <a:defRPr/>
            </a:lvl2pPr>
            <a:lvl3pPr marL="1143000" indent="-228600">
              <a:buFont typeface="Wingdings" panose="05000000000000000000" pitchFamily="2" charset="2"/>
              <a:buChar char="ü"/>
              <a:defRPr/>
            </a:lvl3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8424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24634" y="365125"/>
            <a:ext cx="9229165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8BBC21BE-914F-984C-819E-13DA00BEE2D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18" t="38788" r="61357" b="40606"/>
          <a:stretch/>
        </p:blipFill>
        <p:spPr>
          <a:xfrm>
            <a:off x="65507" y="0"/>
            <a:ext cx="970813" cy="1007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9147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10320" y="365125"/>
            <a:ext cx="9245067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94EF34E2-55C5-FE4B-9D4B-1C371C023E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18" t="38788" r="61357" b="40606"/>
          <a:stretch/>
        </p:blipFill>
        <p:spPr>
          <a:xfrm>
            <a:off x="65507" y="0"/>
            <a:ext cx="970813" cy="1007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538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C6DD9DA-D04B-234F-AF7F-359B1655B79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18" t="38788" r="61357" b="40606"/>
          <a:stretch/>
        </p:blipFill>
        <p:spPr>
          <a:xfrm>
            <a:off x="65507" y="0"/>
            <a:ext cx="970813" cy="1007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2166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A27BA66-27EF-F848-B5D4-C6E63ED6969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18" t="38788" r="61357" b="40606"/>
          <a:stretch/>
        </p:blipFill>
        <p:spPr>
          <a:xfrm>
            <a:off x="65507" y="0"/>
            <a:ext cx="970813" cy="1007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192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0094918-5C39-5840-99AC-03CB479DEC0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18" t="38788" r="61357" b="40606"/>
          <a:stretch/>
        </p:blipFill>
        <p:spPr>
          <a:xfrm>
            <a:off x="65507" y="0"/>
            <a:ext cx="970813" cy="1007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76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071DD87C-9BE8-504F-A482-28FE7FDABCD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18" t="38788" r="61357" b="40606"/>
          <a:stretch/>
        </p:blipFill>
        <p:spPr>
          <a:xfrm>
            <a:off x="65507" y="0"/>
            <a:ext cx="970813" cy="1007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9534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4FF3E64-915C-7F40-AA27-6031D114BFB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18" t="38788" r="61357" b="40606"/>
          <a:stretch/>
        </p:blipFill>
        <p:spPr>
          <a:xfrm>
            <a:off x="65507" y="0"/>
            <a:ext cx="970813" cy="1007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734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91144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41786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>
            <a:extLst>
              <a:ext uri="{FF2B5EF4-FFF2-40B4-BE49-F238E27FC236}">
                <a16:creationId xmlns:a16="http://schemas.microsoft.com/office/drawing/2014/main" id="{256E3FFC-E533-B542-B981-71BF4DFC58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441982"/>
            <a:ext cx="1183341" cy="416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426916" y="6356350"/>
            <a:ext cx="215448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19A4FA-3D9A-4114-B0D5-759CBD56F1AB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50666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1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lnSpc>
          <a:spcPct val="90000"/>
        </a:lnSpc>
        <a:spcBef>
          <a:spcPts val="500"/>
        </a:spcBef>
        <a:buFont typeface="Calibri" panose="020F0502020204030204" pitchFamily="34" charset="0"/>
        <a:buChar char="□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Ø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tif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hyperlink" Target="https://en.cppreference.com/book/operator_precedence" TargetMode="Externa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hyperlink" Target="https://en.cppreference.com/w/cpp/language/implicit_conversion" TargetMode="Externa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opencv/opencv" TargetMode="Externa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07592"/>
            <a:ext cx="9144000" cy="1772603"/>
          </a:xfrm>
        </p:spPr>
        <p:txBody>
          <a:bodyPr>
            <a:noAutofit/>
          </a:bodyPr>
          <a:lstStyle/>
          <a:p>
            <a:r>
              <a:rPr lang="en-US" altLang="zh-CN" b="1" dirty="0">
                <a:latin typeface="Franklin Gothic Demi" panose="020B0703020102020204" pitchFamily="34" charset="0"/>
              </a:rPr>
              <a:t>Advanced Programming</a:t>
            </a:r>
            <a:endParaRPr lang="zh-CN" altLang="en-US" b="1" dirty="0">
              <a:latin typeface="Franklin Gothic Demi" panose="020B0703020102020204" pitchFamily="34" charset="0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260035"/>
            <a:ext cx="9144000" cy="2767054"/>
          </a:xfrm>
        </p:spPr>
        <p:txBody>
          <a:bodyPr>
            <a:normAutofit/>
          </a:bodyPr>
          <a:lstStyle/>
          <a:p>
            <a:endParaRPr lang="en-US" altLang="zh-CN" dirty="0">
              <a:latin typeface="Franklin Gothic Medium" panose="020B0603020102020204" pitchFamily="34" charset="0"/>
            </a:endParaRPr>
          </a:p>
          <a:p>
            <a:r>
              <a:rPr lang="en-US" altLang="zh-CN" dirty="0">
                <a:latin typeface="Franklin Gothic Medium" panose="020B0603020102020204" pitchFamily="34" charset="0"/>
              </a:rPr>
              <a:t>Prof. </a:t>
            </a:r>
            <a:r>
              <a:rPr lang="en-US" altLang="zh-CN" dirty="0" err="1">
                <a:latin typeface="Franklin Gothic Medium" panose="020B0603020102020204" pitchFamily="34" charset="0"/>
              </a:rPr>
              <a:t>Shiqi</a:t>
            </a:r>
            <a:r>
              <a:rPr lang="en-US" altLang="zh-CN" dirty="0">
                <a:latin typeface="Franklin Gothic Medium" panose="020B0603020102020204" pitchFamily="34" charset="0"/>
              </a:rPr>
              <a:t> Yu</a:t>
            </a:r>
            <a:r>
              <a:rPr lang="zh-CN" altLang="en-US" dirty="0">
                <a:latin typeface="Franklin Gothic Medium" panose="020B0603020102020204" pitchFamily="34" charset="0"/>
              </a:rPr>
              <a:t> </a:t>
            </a:r>
            <a:r>
              <a:rPr lang="en-US" altLang="zh-CN" dirty="0">
                <a:latin typeface="Franklin Gothic Medium" panose="020B0603020102020204" pitchFamily="34" charset="0"/>
              </a:rPr>
              <a:t>(</a:t>
            </a:r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于仕琪</a:t>
            </a:r>
            <a:r>
              <a:rPr lang="en-US" altLang="zh-CN" dirty="0">
                <a:latin typeface="Franklin Gothic Medium" panose="020B0603020102020204" pitchFamily="34" charset="0"/>
              </a:rPr>
              <a:t>)</a:t>
            </a:r>
          </a:p>
          <a:p>
            <a:r>
              <a:rPr lang="en-US" altLang="zh-CN" dirty="0">
                <a:latin typeface="Courier" pitchFamily="2" charset="0"/>
              </a:rPr>
              <a:t>yusq@sustech.edu.cn</a:t>
            </a:r>
          </a:p>
          <a:p>
            <a:r>
              <a:rPr lang="en-US" altLang="zh-CN" sz="1800" dirty="0">
                <a:latin typeface="Courier" pitchFamily="2" charset="0"/>
              </a:rPr>
              <a:t>http://</a:t>
            </a:r>
            <a:r>
              <a:rPr lang="en-US" altLang="zh-CN" sz="1800" dirty="0" err="1">
                <a:latin typeface="Courier" pitchFamily="2" charset="0"/>
              </a:rPr>
              <a:t>faculty.sustech.edu.cn</a:t>
            </a:r>
            <a:r>
              <a:rPr lang="en-US" altLang="zh-CN" sz="1800" dirty="0">
                <a:latin typeface="Courier" pitchFamily="2" charset="0"/>
              </a:rPr>
              <a:t>/</a:t>
            </a:r>
            <a:r>
              <a:rPr lang="en-US" altLang="zh-CN" sz="1800" dirty="0" err="1">
                <a:latin typeface="Courier" pitchFamily="2" charset="0"/>
              </a:rPr>
              <a:t>yusq</a:t>
            </a:r>
            <a:r>
              <a:rPr lang="en-US" altLang="zh-CN" sz="1800" dirty="0">
                <a:latin typeface="Courier" pitchFamily="2" charset="0"/>
              </a:rPr>
              <a:t>/</a:t>
            </a:r>
          </a:p>
          <a:p>
            <a:endParaRPr lang="en-US" altLang="zh-CN" dirty="0"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45994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6B77703E-FBBB-AD4F-BCCE-628D5AF56D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" altLang="zh-CN" dirty="0"/>
              <a:t>Integer Numbers</a:t>
            </a:r>
            <a:endParaRPr lang="zh-CN" altLang="en-US" dirty="0"/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72D17B78-9390-7345-983D-7618BC113C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5150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030F7-AA92-0B42-86F0-2E8B05A9B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int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F6467DA-28DA-4E4F-986C-8CD5CBDC70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>
                <a:solidFill>
                  <a:schemeClr val="accent6">
                    <a:lumMod val="75000"/>
                  </a:schemeClr>
                </a:solidFill>
              </a:rPr>
              <a:t>int</a:t>
            </a:r>
            <a:r>
              <a:rPr kumimoji="1" lang="en-US" altLang="zh-CN" dirty="0"/>
              <a:t> is the most frequently used integer type</a:t>
            </a:r>
          </a:p>
          <a:p>
            <a:pPr marL="685800" lvl="1" indent="0">
              <a:buNone/>
            </a:pPr>
            <a:r>
              <a:rPr kumimoji="1" lang="en-US" altLang="zh-CN" dirty="0">
                <a:solidFill>
                  <a:schemeClr val="accent6">
                    <a:lumMod val="50000"/>
                  </a:schemeClr>
                </a:solidFill>
                <a:latin typeface="Courier" pitchFamily="2" charset="0"/>
              </a:rPr>
              <a:t>int </a:t>
            </a:r>
            <a:r>
              <a:rPr kumimoji="1" lang="en-US" altLang="zh-CN" dirty="0" err="1">
                <a:solidFill>
                  <a:schemeClr val="accent6">
                    <a:lumMod val="50000"/>
                  </a:schemeClr>
                </a:solidFill>
                <a:latin typeface="Courier" pitchFamily="2" charset="0"/>
              </a:rPr>
              <a:t>i</a:t>
            </a:r>
            <a:r>
              <a:rPr kumimoji="1" lang="en-US" altLang="zh-CN" dirty="0">
                <a:solidFill>
                  <a:schemeClr val="accent6">
                    <a:lumMod val="50000"/>
                  </a:schemeClr>
                </a:solidFill>
                <a:latin typeface="Courier" pitchFamily="2" charset="0"/>
              </a:rPr>
              <a:t>; //declare a variable</a:t>
            </a:r>
          </a:p>
          <a:p>
            <a:pPr marL="685800" lvl="1" indent="0">
              <a:buNone/>
            </a:pPr>
            <a:r>
              <a:rPr kumimoji="1" lang="en-US" altLang="zh-CN" dirty="0">
                <a:solidFill>
                  <a:schemeClr val="accent6">
                    <a:lumMod val="50000"/>
                  </a:schemeClr>
                </a:solidFill>
                <a:latin typeface="Courier" pitchFamily="2" charset="0"/>
              </a:rPr>
              <a:t>int j = 10; //declare and initialize </a:t>
            </a:r>
          </a:p>
          <a:p>
            <a:pPr marL="685800" lvl="1" indent="0">
              <a:buNone/>
            </a:pPr>
            <a:r>
              <a:rPr kumimoji="1" lang="en-US" altLang="zh-CN" dirty="0">
                <a:solidFill>
                  <a:schemeClr val="accent6">
                    <a:lumMod val="50000"/>
                  </a:schemeClr>
                </a:solidFill>
                <a:latin typeface="Courier" pitchFamily="2" charset="0"/>
              </a:rPr>
              <a:t>int k;</a:t>
            </a:r>
          </a:p>
          <a:p>
            <a:pPr marL="685800" lvl="1" indent="0">
              <a:buNone/>
            </a:pPr>
            <a:r>
              <a:rPr kumimoji="1" lang="en-US" altLang="zh-CN" dirty="0">
                <a:solidFill>
                  <a:schemeClr val="accent6">
                    <a:lumMod val="50000"/>
                  </a:schemeClr>
                </a:solidFill>
                <a:latin typeface="Courier" pitchFamily="2" charset="0"/>
              </a:rPr>
              <a:t>k = 20; //assign a value</a:t>
            </a:r>
          </a:p>
          <a:p>
            <a:endParaRPr kumimoji="1" lang="en-US" altLang="zh-CN" dirty="0"/>
          </a:p>
          <a:p>
            <a:r>
              <a:rPr kumimoji="1" lang="en-US" altLang="zh-CN" dirty="0"/>
              <a:t>Remember to initialize a variable!</a:t>
            </a:r>
          </a:p>
          <a:p>
            <a:r>
              <a:rPr kumimoji="1" lang="en-US" altLang="zh-CN" dirty="0"/>
              <a:t>Will the compiler give an error?</a:t>
            </a:r>
          </a:p>
          <a:p>
            <a:pPr marL="685800" lvl="1" indent="0">
              <a:buNone/>
            </a:pPr>
            <a:r>
              <a:rPr kumimoji="1" lang="en-US" altLang="zh-CN" dirty="0">
                <a:solidFill>
                  <a:schemeClr val="accent6">
                    <a:lumMod val="50000"/>
                  </a:schemeClr>
                </a:solidFill>
                <a:latin typeface="Courier" pitchFamily="2" charset="0"/>
              </a:rPr>
              <a:t>int </a:t>
            </a:r>
            <a:r>
              <a:rPr kumimoji="1" lang="en-US" altLang="zh-CN" dirty="0" err="1">
                <a:solidFill>
                  <a:schemeClr val="accent6">
                    <a:lumMod val="50000"/>
                  </a:schemeClr>
                </a:solidFill>
                <a:latin typeface="Courier" pitchFamily="2" charset="0"/>
              </a:rPr>
              <a:t>i</a:t>
            </a:r>
            <a:r>
              <a:rPr kumimoji="1" lang="en-US" altLang="zh-CN" dirty="0">
                <a:solidFill>
                  <a:schemeClr val="accent6">
                    <a:lumMod val="50000"/>
                  </a:schemeClr>
                </a:solidFill>
                <a:latin typeface="Courier" pitchFamily="2" charset="0"/>
              </a:rPr>
              <a:t>; </a:t>
            </a:r>
          </a:p>
          <a:p>
            <a:pPr marL="685800" lvl="1" indent="0">
              <a:buNone/>
            </a:pPr>
            <a:r>
              <a:rPr kumimoji="1" lang="en-US" altLang="zh-CN" dirty="0" err="1">
                <a:solidFill>
                  <a:schemeClr val="accent6">
                    <a:lumMod val="50000"/>
                  </a:schemeClr>
                </a:solidFill>
                <a:latin typeface="Courier" pitchFamily="2" charset="0"/>
              </a:rPr>
              <a:t>cout</a:t>
            </a:r>
            <a:r>
              <a:rPr kumimoji="1" lang="en-US" altLang="zh-CN" dirty="0">
                <a:solidFill>
                  <a:schemeClr val="accent6">
                    <a:lumMod val="50000"/>
                  </a:schemeClr>
                </a:solidFill>
                <a:latin typeface="Courier" pitchFamily="2" charset="0"/>
              </a:rPr>
              <a:t> &lt;&lt; </a:t>
            </a:r>
            <a:r>
              <a:rPr kumimoji="1" lang="en-US" altLang="zh-CN" dirty="0" err="1">
                <a:solidFill>
                  <a:schemeClr val="accent6">
                    <a:lumMod val="50000"/>
                  </a:schemeClr>
                </a:solidFill>
                <a:latin typeface="Courier" pitchFamily="2" charset="0"/>
              </a:rPr>
              <a:t>i</a:t>
            </a:r>
            <a:r>
              <a:rPr kumimoji="1" lang="en-US" altLang="zh-CN" dirty="0">
                <a:solidFill>
                  <a:schemeClr val="accent6">
                    <a:lumMod val="50000"/>
                  </a:schemeClr>
                </a:solidFill>
                <a:latin typeface="Courier" pitchFamily="2" charset="0"/>
              </a:rPr>
              <a:t>; //what is i's value?</a:t>
            </a:r>
          </a:p>
          <a:p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512627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D967A1-E05A-0642-9186-E160228B1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Variable Initialization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F4A2443-7BF8-8045-8A57-0021269164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76751" y="264221"/>
            <a:ext cx="4515328" cy="5266784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Uninitialized variables may have random values</a:t>
            </a:r>
          </a:p>
          <a:p>
            <a:r>
              <a:rPr kumimoji="1" lang="en-US" altLang="zh-CN" dirty="0"/>
              <a:t>The behavior depends on the compiler. Clang (x86_64) and Clang (arm64) in the demo.</a:t>
            </a:r>
          </a:p>
          <a:p>
            <a:r>
              <a:rPr kumimoji="1" lang="en-US" altLang="zh-CN" sz="3600" dirty="0">
                <a:solidFill>
                  <a:srgbClr val="FF0000"/>
                </a:solidFill>
              </a:rPr>
              <a:t>Please initialize variables </a:t>
            </a:r>
            <a:r>
              <a:rPr kumimoji="1" lang="en-US" altLang="zh-CN" sz="3600" b="1" dirty="0">
                <a:solidFill>
                  <a:srgbClr val="FF0000"/>
                </a:solidFill>
              </a:rPr>
              <a:t>EXPLICITLY</a:t>
            </a:r>
            <a:r>
              <a:rPr kumimoji="1" lang="en-US" altLang="zh-CN" sz="3600" dirty="0">
                <a:solidFill>
                  <a:srgbClr val="FF0000"/>
                </a:solidFill>
              </a:rPr>
              <a:t>!</a:t>
            </a:r>
            <a:endParaRPr kumimoji="1" lang="zh-CN" altLang="en-US" sz="3600" dirty="0">
              <a:solidFill>
                <a:srgbClr val="FF0000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22AD0E5-2D06-B744-A23D-841FAD23595D}"/>
              </a:ext>
            </a:extLst>
          </p:cNvPr>
          <p:cNvSpPr/>
          <p:nvPr/>
        </p:nvSpPr>
        <p:spPr>
          <a:xfrm>
            <a:off x="954950" y="1451809"/>
            <a:ext cx="6376792" cy="2585323"/>
          </a:xfrm>
          <a:prstGeom prst="rect">
            <a:avLst/>
          </a:prstGeom>
          <a:ln>
            <a:solidFill>
              <a:schemeClr val="dk1"/>
            </a:solidFill>
          </a:ln>
        </p:spPr>
        <p:txBody>
          <a:bodyPr wrap="square">
            <a:spAutoFit/>
          </a:bodyPr>
          <a:lstStyle/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#include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&lt;iostream&gt;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using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namespace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std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main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()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  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num1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 //bad: uninitialized variable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  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num2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 //bad: uninitialized variable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   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cout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"num1 = "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num1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endl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   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cout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"num2 = "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num2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endl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0882C33-47C5-CE4B-A38C-585C9A8530C3}"/>
              </a:ext>
            </a:extLst>
          </p:cNvPr>
          <p:cNvSpPr/>
          <p:nvPr/>
        </p:nvSpPr>
        <p:spPr>
          <a:xfrm>
            <a:off x="954950" y="1022611"/>
            <a:ext cx="1415772" cy="40011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" altLang="zh-CN" sz="2000" dirty="0" err="1">
                <a:solidFill>
                  <a:srgbClr val="0000C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init.cpp</a:t>
            </a:r>
            <a:endParaRPr lang="zh-CN" altLang="en-US" sz="2000" dirty="0">
              <a:solidFill>
                <a:srgbClr val="0000CC"/>
              </a:solidFill>
              <a:highlight>
                <a:srgbClr val="FFFF00"/>
              </a:highlight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5226F22-8A7F-D644-9AAB-798F6C4BE4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7906" y="4081984"/>
            <a:ext cx="4515328" cy="1324207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7510457-C24E-6D46-90C8-E04774E2B2D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970"/>
          <a:stretch/>
        </p:blipFill>
        <p:spPr>
          <a:xfrm>
            <a:off x="1467907" y="5531005"/>
            <a:ext cx="4515328" cy="1310221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3409319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0A4BBF-5678-3947-92CF-187C19BF7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How to initialize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02501AB-C632-124B-BEC9-0B32078868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26995"/>
            <a:ext cx="7516907" cy="4849968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zh-CN" dirty="0">
                <a:solidFill>
                  <a:schemeClr val="accent6">
                    <a:lumMod val="50000"/>
                  </a:schemeClr>
                </a:solidFill>
                <a:latin typeface="Courier" pitchFamily="2" charset="0"/>
              </a:rPr>
              <a:t>int num;</a:t>
            </a:r>
          </a:p>
          <a:p>
            <a:pPr marL="0" indent="0">
              <a:buNone/>
            </a:pPr>
            <a:r>
              <a:rPr kumimoji="1" lang="en-US" altLang="zh-CN" dirty="0">
                <a:solidFill>
                  <a:schemeClr val="accent6">
                    <a:lumMod val="50000"/>
                  </a:schemeClr>
                </a:solidFill>
                <a:latin typeface="Courier" pitchFamily="2" charset="0"/>
              </a:rPr>
              <a:t>num = 10;//do not forget this line</a:t>
            </a:r>
          </a:p>
          <a:p>
            <a:pPr marL="0" indent="0">
              <a:buNone/>
            </a:pPr>
            <a:endParaRPr kumimoji="1" lang="en-US" altLang="zh-CN" dirty="0">
              <a:solidFill>
                <a:schemeClr val="accent6">
                  <a:lumMod val="50000"/>
                </a:schemeClr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kumimoji="1" lang="en-US" altLang="zh-CN" dirty="0">
                <a:solidFill>
                  <a:schemeClr val="accent6">
                    <a:lumMod val="50000"/>
                  </a:schemeClr>
                </a:solidFill>
                <a:latin typeface="Courier" pitchFamily="2" charset="0"/>
              </a:rPr>
              <a:t>int num = 10;</a:t>
            </a:r>
          </a:p>
          <a:p>
            <a:pPr marL="0" indent="0">
              <a:buNone/>
            </a:pPr>
            <a:endParaRPr kumimoji="1" lang="en-US" altLang="zh-CN" dirty="0">
              <a:solidFill>
                <a:schemeClr val="accent6">
                  <a:lumMod val="50000"/>
                </a:schemeClr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kumimoji="1" lang="en-US" altLang="zh-CN" dirty="0">
                <a:solidFill>
                  <a:schemeClr val="accent6">
                    <a:lumMod val="50000"/>
                  </a:schemeClr>
                </a:solidFill>
                <a:latin typeface="Courier" pitchFamily="2" charset="0"/>
              </a:rPr>
              <a:t>int num (10);</a:t>
            </a:r>
          </a:p>
          <a:p>
            <a:pPr marL="0" indent="0">
              <a:buNone/>
            </a:pPr>
            <a:endParaRPr kumimoji="1" lang="en-US" altLang="zh-CN" dirty="0">
              <a:solidFill>
                <a:schemeClr val="accent6">
                  <a:lumMod val="50000"/>
                </a:schemeClr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kumimoji="1" lang="en-US" altLang="zh-CN" dirty="0">
                <a:solidFill>
                  <a:schemeClr val="accent6">
                    <a:lumMod val="50000"/>
                  </a:schemeClr>
                </a:solidFill>
                <a:latin typeface="Courier" pitchFamily="2" charset="0"/>
              </a:rPr>
              <a:t>int num {10};</a:t>
            </a:r>
            <a:endParaRPr kumimoji="1" lang="zh-CN" altLang="en-US" dirty="0">
              <a:solidFill>
                <a:schemeClr val="accent6">
                  <a:lumMod val="50000"/>
                </a:schemeClr>
              </a:solidFill>
              <a:latin typeface="Courie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14078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E44B5F-87ED-C04C-A0F6-C519D7098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Overflow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55CBCC2-CC84-364A-B0E1-8348FC000B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4823" y="3298306"/>
            <a:ext cx="5163671" cy="30487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en-US" altLang="zh-CN" dirty="0"/>
              <a:t>The output is a </a:t>
            </a:r>
            <a:r>
              <a:rPr kumimoji="1" lang="en-US" altLang="zh-CN" dirty="0">
                <a:solidFill>
                  <a:srgbClr val="FF0000"/>
                </a:solidFill>
              </a:rPr>
              <a:t>negative</a:t>
            </a:r>
            <a:r>
              <a:rPr kumimoji="1" lang="en-US" altLang="zh-CN" dirty="0"/>
              <a:t> number!</a:t>
            </a:r>
          </a:p>
          <a:p>
            <a:pPr marL="0" indent="0" algn="ctr">
              <a:buNone/>
            </a:pPr>
            <a:r>
              <a:rPr kumimoji="1" lang="en-US" altLang="zh-CN" b="1" dirty="0">
                <a:solidFill>
                  <a:srgbClr val="FF0000"/>
                </a:solidFill>
              </a:rPr>
              <a:t>-1069976775</a:t>
            </a:r>
          </a:p>
          <a:p>
            <a:pPr marL="0" indent="0">
              <a:buNone/>
            </a:pPr>
            <a:r>
              <a:rPr kumimoji="1" lang="en-US" altLang="zh-CN" dirty="0"/>
              <a:t>Because 56789 is 0xDDD5, 16 bits</a:t>
            </a:r>
          </a:p>
          <a:p>
            <a:pPr marL="0" indent="0">
              <a:buNone/>
            </a:pPr>
            <a:r>
              <a:rPr kumimoji="1" lang="en-US" altLang="zh-CN" dirty="0"/>
              <a:t>The correct result is 3,224,990,521 (0x C0 39 73 39).</a:t>
            </a:r>
          </a:p>
          <a:p>
            <a:pPr marL="0" indent="0">
              <a:buNone/>
            </a:pPr>
            <a:r>
              <a:rPr kumimoji="1" lang="en-US" altLang="zh-CN" dirty="0"/>
              <a:t>The sign bit is 1!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8956592-9237-5547-B4A7-E574CB97D923}"/>
              </a:ext>
            </a:extLst>
          </p:cNvPr>
          <p:cNvSpPr/>
          <p:nvPr/>
        </p:nvSpPr>
        <p:spPr>
          <a:xfrm>
            <a:off x="3854823" y="1290138"/>
            <a:ext cx="3861547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CN" sz="2800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sz="28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800" dirty="0">
                <a:solidFill>
                  <a:srgbClr val="001080"/>
                </a:solidFill>
                <a:latin typeface="Menlo" panose="020B0609030804020204" pitchFamily="49" charset="0"/>
              </a:rPr>
              <a:t>a</a:t>
            </a:r>
            <a:r>
              <a:rPr lang="en" altLang="zh-CN" sz="2800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sz="2800" dirty="0">
                <a:solidFill>
                  <a:srgbClr val="098658"/>
                </a:solidFill>
                <a:latin typeface="Menlo" panose="020B0609030804020204" pitchFamily="49" charset="0"/>
              </a:rPr>
              <a:t>56789</a:t>
            </a:r>
            <a:r>
              <a:rPr lang="en" altLang="zh-CN" sz="28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sz="2800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sz="28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800" dirty="0">
                <a:solidFill>
                  <a:srgbClr val="001080"/>
                </a:solidFill>
                <a:latin typeface="Menlo" panose="020B0609030804020204" pitchFamily="49" charset="0"/>
              </a:rPr>
              <a:t>b</a:t>
            </a:r>
            <a:r>
              <a:rPr lang="en" altLang="zh-CN" sz="2800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sz="2800" dirty="0">
                <a:solidFill>
                  <a:srgbClr val="098658"/>
                </a:solidFill>
                <a:latin typeface="Menlo" panose="020B0609030804020204" pitchFamily="49" charset="0"/>
              </a:rPr>
              <a:t>56789</a:t>
            </a:r>
            <a:r>
              <a:rPr lang="en" altLang="zh-CN" sz="28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sz="2800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sz="28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800" dirty="0">
                <a:solidFill>
                  <a:srgbClr val="001080"/>
                </a:solidFill>
                <a:latin typeface="Menlo" panose="020B0609030804020204" pitchFamily="49" charset="0"/>
              </a:rPr>
              <a:t>c</a:t>
            </a:r>
            <a:r>
              <a:rPr lang="en" altLang="zh-CN" sz="2800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sz="2800" dirty="0">
                <a:solidFill>
                  <a:srgbClr val="001080"/>
                </a:solidFill>
                <a:latin typeface="Menlo" panose="020B0609030804020204" pitchFamily="49" charset="0"/>
              </a:rPr>
              <a:t>a</a:t>
            </a:r>
            <a:r>
              <a:rPr lang="en" altLang="zh-CN" sz="2800" dirty="0">
                <a:solidFill>
                  <a:srgbClr val="000000"/>
                </a:solidFill>
                <a:latin typeface="Menlo" panose="020B0609030804020204" pitchFamily="49" charset="0"/>
              </a:rPr>
              <a:t> * </a:t>
            </a:r>
            <a:r>
              <a:rPr lang="en" altLang="zh-CN" sz="2800" dirty="0">
                <a:solidFill>
                  <a:srgbClr val="001080"/>
                </a:solidFill>
                <a:latin typeface="Menlo" panose="020B0609030804020204" pitchFamily="49" charset="0"/>
              </a:rPr>
              <a:t>b</a:t>
            </a:r>
            <a:r>
              <a:rPr lang="en" altLang="zh-CN" sz="28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sz="2800" dirty="0" err="1">
                <a:solidFill>
                  <a:srgbClr val="001080"/>
                </a:solidFill>
                <a:latin typeface="Menlo" panose="020B0609030804020204" pitchFamily="49" charset="0"/>
              </a:rPr>
              <a:t>cout</a:t>
            </a:r>
            <a:r>
              <a:rPr lang="en" altLang="zh-CN" sz="28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800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sz="28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800" dirty="0">
                <a:solidFill>
                  <a:srgbClr val="001080"/>
                </a:solidFill>
                <a:latin typeface="Menlo" panose="020B0609030804020204" pitchFamily="49" charset="0"/>
              </a:rPr>
              <a:t>c</a:t>
            </a:r>
            <a:r>
              <a:rPr lang="en" altLang="zh-CN" sz="28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800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sz="28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800" dirty="0" err="1">
                <a:solidFill>
                  <a:srgbClr val="795E26"/>
                </a:solidFill>
                <a:latin typeface="Menlo" panose="020B0609030804020204" pitchFamily="49" charset="0"/>
              </a:rPr>
              <a:t>endl</a:t>
            </a:r>
            <a:r>
              <a:rPr lang="en" altLang="zh-CN" sz="28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740CAC0-35E3-1141-950E-DFF2585713ED}"/>
              </a:ext>
            </a:extLst>
          </p:cNvPr>
          <p:cNvSpPr/>
          <p:nvPr/>
        </p:nvSpPr>
        <p:spPr>
          <a:xfrm>
            <a:off x="3854823" y="890028"/>
            <a:ext cx="2031325" cy="40011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" altLang="zh-CN" sz="2000" dirty="0" err="1">
                <a:solidFill>
                  <a:srgbClr val="0000C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overflow.cpp</a:t>
            </a:r>
            <a:endParaRPr lang="zh-CN" altLang="en-US" sz="2000" dirty="0">
              <a:solidFill>
                <a:srgbClr val="0000CC"/>
              </a:solidFill>
              <a:highlight>
                <a:srgbClr val="FFFF00"/>
              </a:highlight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64DD413-A4F9-EA47-9A1D-5C33FC1A1C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79" y="1390650"/>
            <a:ext cx="2946400" cy="407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376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2F642E-31C9-5A42-AA8D-84C21A07C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signed and unsigned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52164B-88AD-BF43-BBA8-9B7C688237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6995"/>
            <a:ext cx="8361556" cy="5408342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The following code can give the correct answer.</a:t>
            </a:r>
          </a:p>
          <a:p>
            <a:pPr marL="685800" lvl="1" indent="0">
              <a:buNone/>
            </a:pPr>
            <a:r>
              <a:rPr lang="en" altLang="zh-CN" sz="2000" dirty="0">
                <a:solidFill>
                  <a:srgbClr val="0000FF"/>
                </a:solidFill>
                <a:latin typeface="Menlo" panose="020B0609030804020204" pitchFamily="49" charset="0"/>
              </a:rPr>
              <a:t>unsigned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000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000" dirty="0">
                <a:solidFill>
                  <a:srgbClr val="001080"/>
                </a:solidFill>
                <a:latin typeface="Menlo" panose="020B0609030804020204" pitchFamily="49" charset="0"/>
              </a:rPr>
              <a:t>a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sz="2000" dirty="0">
                <a:solidFill>
                  <a:srgbClr val="098658"/>
                </a:solidFill>
                <a:latin typeface="Menlo" panose="020B0609030804020204" pitchFamily="49" charset="0"/>
              </a:rPr>
              <a:t>56789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685800" lvl="1" indent="0">
              <a:buNone/>
            </a:pPr>
            <a:r>
              <a:rPr lang="en" altLang="zh-CN" sz="2000" dirty="0">
                <a:solidFill>
                  <a:srgbClr val="0000FF"/>
                </a:solidFill>
                <a:latin typeface="Menlo" panose="020B0609030804020204" pitchFamily="49" charset="0"/>
              </a:rPr>
              <a:t>unsigned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000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000" dirty="0">
                <a:solidFill>
                  <a:srgbClr val="001080"/>
                </a:solidFill>
                <a:latin typeface="Menlo" panose="020B0609030804020204" pitchFamily="49" charset="0"/>
              </a:rPr>
              <a:t>b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sz="2000" dirty="0">
                <a:solidFill>
                  <a:srgbClr val="098658"/>
                </a:solidFill>
                <a:latin typeface="Menlo" panose="020B0609030804020204" pitchFamily="49" charset="0"/>
              </a:rPr>
              <a:t>56789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685800" lvl="1" indent="0">
              <a:buNone/>
            </a:pPr>
            <a:r>
              <a:rPr lang="en" altLang="zh-CN" sz="2000" dirty="0">
                <a:solidFill>
                  <a:srgbClr val="0000FF"/>
                </a:solidFill>
                <a:latin typeface="Menlo" panose="020B0609030804020204" pitchFamily="49" charset="0"/>
              </a:rPr>
              <a:t>unsigned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000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000" dirty="0">
                <a:solidFill>
                  <a:srgbClr val="001080"/>
                </a:solidFill>
                <a:latin typeface="Menlo" panose="020B0609030804020204" pitchFamily="49" charset="0"/>
              </a:rPr>
              <a:t>c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sz="2000" dirty="0">
                <a:solidFill>
                  <a:srgbClr val="001080"/>
                </a:solidFill>
                <a:latin typeface="Menlo" panose="020B0609030804020204" pitchFamily="49" charset="0"/>
              </a:rPr>
              <a:t>a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* </a:t>
            </a:r>
            <a:r>
              <a:rPr lang="en" altLang="zh-CN" sz="2000" dirty="0">
                <a:solidFill>
                  <a:srgbClr val="001080"/>
                </a:solidFill>
                <a:latin typeface="Menlo" panose="020B0609030804020204" pitchFamily="49" charset="0"/>
              </a:rPr>
              <a:t>b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r>
              <a:rPr lang="en-US" altLang="zh-CN" sz="2400" dirty="0">
                <a:solidFill>
                  <a:srgbClr val="0000FF"/>
                </a:solidFill>
                <a:latin typeface="Menlo" panose="020B0609030804020204" pitchFamily="49" charset="0"/>
              </a:rPr>
              <a:t>signed int </a:t>
            </a:r>
            <a:r>
              <a:rPr kumimoji="1" lang="en-US" altLang="zh-CN" dirty="0"/>
              <a:t>can be shorten as </a:t>
            </a:r>
            <a:r>
              <a:rPr lang="en-US" altLang="zh-CN" sz="2400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kumimoji="1" lang="en-US" altLang="zh-CN" dirty="0"/>
              <a:t>. Its range is</a:t>
            </a:r>
            <a:r>
              <a:rPr kumimoji="1" lang="en-US" altLang="zh-CN" b="1" dirty="0"/>
              <a:t> </a:t>
            </a:r>
            <a:r>
              <a:rPr kumimoji="1" lang="en-US" altLang="zh-CN" dirty="0"/>
              <a:t>[-2</a:t>
            </a:r>
            <a:r>
              <a:rPr kumimoji="1" lang="en-US" altLang="zh-CN" baseline="30000" dirty="0"/>
              <a:t>31</a:t>
            </a:r>
            <a:r>
              <a:rPr kumimoji="1" lang="en-US" altLang="zh-CN" dirty="0"/>
              <a:t>, 2</a:t>
            </a:r>
            <a:r>
              <a:rPr kumimoji="1" lang="en-US" altLang="zh-CN" baseline="30000" dirty="0"/>
              <a:t>31</a:t>
            </a:r>
            <a:r>
              <a:rPr kumimoji="1" lang="en-US" altLang="zh-CN" dirty="0"/>
              <a:t>-1] if it’s 32-bit.</a:t>
            </a:r>
          </a:p>
          <a:p>
            <a:r>
              <a:rPr lang="en-US" altLang="zh-CN" sz="2400" dirty="0">
                <a:solidFill>
                  <a:srgbClr val="0000FF"/>
                </a:solidFill>
                <a:latin typeface="Menlo" panose="020B0609030804020204" pitchFamily="49" charset="0"/>
              </a:rPr>
              <a:t>unsigned int</a:t>
            </a:r>
            <a:r>
              <a:rPr kumimoji="1" lang="en-US" altLang="zh-CN" dirty="0"/>
              <a:t>: Its range is</a:t>
            </a:r>
            <a:r>
              <a:rPr kumimoji="1" lang="en-US" altLang="zh-CN" b="1" dirty="0"/>
              <a:t> </a:t>
            </a:r>
            <a:r>
              <a:rPr kumimoji="1" lang="en-US" altLang="zh-CN" dirty="0"/>
              <a:t>[0, 2</a:t>
            </a:r>
            <a:r>
              <a:rPr kumimoji="1" lang="en-US" altLang="zh-CN" baseline="30000" dirty="0"/>
              <a:t>32</a:t>
            </a:r>
            <a:r>
              <a:rPr kumimoji="1" lang="en-US" altLang="zh-CN" dirty="0"/>
              <a:t>-1] if it’s 32-bit.</a:t>
            </a:r>
          </a:p>
          <a:p>
            <a:r>
              <a:rPr kumimoji="1" lang="en-US" altLang="zh-CN" dirty="0"/>
              <a:t>32 bits for most modern systems, 16 for some old ones.</a:t>
            </a:r>
          </a:p>
          <a:p>
            <a:endParaRPr kumimoji="1" lang="en-US" altLang="zh-CN" dirty="0"/>
          </a:p>
          <a:p>
            <a:endParaRPr kumimoji="1" lang="zh-CN" altLang="en-US" dirty="0"/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21EE7804-79C7-FF4C-956F-FD3E759812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95849"/>
              </p:ext>
            </p:extLst>
          </p:nvPr>
        </p:nvGraphicFramePr>
        <p:xfrm>
          <a:off x="1376479" y="2821530"/>
          <a:ext cx="6819674" cy="1214939"/>
        </p:xfrm>
        <a:graphic>
          <a:graphicData uri="http://schemas.openxmlformats.org/drawingml/2006/table">
            <a:tbl>
              <a:tblPr/>
              <a:tblGrid>
                <a:gridCol w="796538">
                  <a:extLst>
                    <a:ext uri="{9D8B030D-6E8A-4147-A177-3AD203B41FA5}">
                      <a16:colId xmlns:a16="http://schemas.microsoft.com/office/drawing/2014/main" val="699698844"/>
                    </a:ext>
                  </a:extLst>
                </a:gridCol>
                <a:gridCol w="188223">
                  <a:extLst>
                    <a:ext uri="{9D8B030D-6E8A-4147-A177-3AD203B41FA5}">
                      <a16:colId xmlns:a16="http://schemas.microsoft.com/office/drawing/2014/main" val="1235522902"/>
                    </a:ext>
                  </a:extLst>
                </a:gridCol>
                <a:gridCol w="188223">
                  <a:extLst>
                    <a:ext uri="{9D8B030D-6E8A-4147-A177-3AD203B41FA5}">
                      <a16:colId xmlns:a16="http://schemas.microsoft.com/office/drawing/2014/main" val="993963888"/>
                    </a:ext>
                  </a:extLst>
                </a:gridCol>
                <a:gridCol w="188223">
                  <a:extLst>
                    <a:ext uri="{9D8B030D-6E8A-4147-A177-3AD203B41FA5}">
                      <a16:colId xmlns:a16="http://schemas.microsoft.com/office/drawing/2014/main" val="3460901240"/>
                    </a:ext>
                  </a:extLst>
                </a:gridCol>
                <a:gridCol w="188223">
                  <a:extLst>
                    <a:ext uri="{9D8B030D-6E8A-4147-A177-3AD203B41FA5}">
                      <a16:colId xmlns:a16="http://schemas.microsoft.com/office/drawing/2014/main" val="2318172046"/>
                    </a:ext>
                  </a:extLst>
                </a:gridCol>
                <a:gridCol w="188223">
                  <a:extLst>
                    <a:ext uri="{9D8B030D-6E8A-4147-A177-3AD203B41FA5}">
                      <a16:colId xmlns:a16="http://schemas.microsoft.com/office/drawing/2014/main" val="3128419811"/>
                    </a:ext>
                  </a:extLst>
                </a:gridCol>
                <a:gridCol w="188223">
                  <a:extLst>
                    <a:ext uri="{9D8B030D-6E8A-4147-A177-3AD203B41FA5}">
                      <a16:colId xmlns:a16="http://schemas.microsoft.com/office/drawing/2014/main" val="3350436376"/>
                    </a:ext>
                  </a:extLst>
                </a:gridCol>
                <a:gridCol w="188223">
                  <a:extLst>
                    <a:ext uri="{9D8B030D-6E8A-4147-A177-3AD203B41FA5}">
                      <a16:colId xmlns:a16="http://schemas.microsoft.com/office/drawing/2014/main" val="1519223397"/>
                    </a:ext>
                  </a:extLst>
                </a:gridCol>
                <a:gridCol w="188223">
                  <a:extLst>
                    <a:ext uri="{9D8B030D-6E8A-4147-A177-3AD203B41FA5}">
                      <a16:colId xmlns:a16="http://schemas.microsoft.com/office/drawing/2014/main" val="2670310428"/>
                    </a:ext>
                  </a:extLst>
                </a:gridCol>
                <a:gridCol w="188223">
                  <a:extLst>
                    <a:ext uri="{9D8B030D-6E8A-4147-A177-3AD203B41FA5}">
                      <a16:colId xmlns:a16="http://schemas.microsoft.com/office/drawing/2014/main" val="1211376795"/>
                    </a:ext>
                  </a:extLst>
                </a:gridCol>
                <a:gridCol w="188223">
                  <a:extLst>
                    <a:ext uri="{9D8B030D-6E8A-4147-A177-3AD203B41FA5}">
                      <a16:colId xmlns:a16="http://schemas.microsoft.com/office/drawing/2014/main" val="662847415"/>
                    </a:ext>
                  </a:extLst>
                </a:gridCol>
                <a:gridCol w="188223">
                  <a:extLst>
                    <a:ext uri="{9D8B030D-6E8A-4147-A177-3AD203B41FA5}">
                      <a16:colId xmlns:a16="http://schemas.microsoft.com/office/drawing/2014/main" val="3295376958"/>
                    </a:ext>
                  </a:extLst>
                </a:gridCol>
                <a:gridCol w="188223">
                  <a:extLst>
                    <a:ext uri="{9D8B030D-6E8A-4147-A177-3AD203B41FA5}">
                      <a16:colId xmlns:a16="http://schemas.microsoft.com/office/drawing/2014/main" val="2572403797"/>
                    </a:ext>
                  </a:extLst>
                </a:gridCol>
                <a:gridCol w="188223">
                  <a:extLst>
                    <a:ext uri="{9D8B030D-6E8A-4147-A177-3AD203B41FA5}">
                      <a16:colId xmlns:a16="http://schemas.microsoft.com/office/drawing/2014/main" val="1344563638"/>
                    </a:ext>
                  </a:extLst>
                </a:gridCol>
                <a:gridCol w="188223">
                  <a:extLst>
                    <a:ext uri="{9D8B030D-6E8A-4147-A177-3AD203B41FA5}">
                      <a16:colId xmlns:a16="http://schemas.microsoft.com/office/drawing/2014/main" val="2592978276"/>
                    </a:ext>
                  </a:extLst>
                </a:gridCol>
                <a:gridCol w="188223">
                  <a:extLst>
                    <a:ext uri="{9D8B030D-6E8A-4147-A177-3AD203B41FA5}">
                      <a16:colId xmlns:a16="http://schemas.microsoft.com/office/drawing/2014/main" val="3515939218"/>
                    </a:ext>
                  </a:extLst>
                </a:gridCol>
                <a:gridCol w="188223">
                  <a:extLst>
                    <a:ext uri="{9D8B030D-6E8A-4147-A177-3AD203B41FA5}">
                      <a16:colId xmlns:a16="http://schemas.microsoft.com/office/drawing/2014/main" val="4242852791"/>
                    </a:ext>
                  </a:extLst>
                </a:gridCol>
                <a:gridCol w="188223">
                  <a:extLst>
                    <a:ext uri="{9D8B030D-6E8A-4147-A177-3AD203B41FA5}">
                      <a16:colId xmlns:a16="http://schemas.microsoft.com/office/drawing/2014/main" val="1552438722"/>
                    </a:ext>
                  </a:extLst>
                </a:gridCol>
                <a:gridCol w="188223">
                  <a:extLst>
                    <a:ext uri="{9D8B030D-6E8A-4147-A177-3AD203B41FA5}">
                      <a16:colId xmlns:a16="http://schemas.microsoft.com/office/drawing/2014/main" val="3758021884"/>
                    </a:ext>
                  </a:extLst>
                </a:gridCol>
                <a:gridCol w="188223">
                  <a:extLst>
                    <a:ext uri="{9D8B030D-6E8A-4147-A177-3AD203B41FA5}">
                      <a16:colId xmlns:a16="http://schemas.microsoft.com/office/drawing/2014/main" val="2446182970"/>
                    </a:ext>
                  </a:extLst>
                </a:gridCol>
                <a:gridCol w="188223">
                  <a:extLst>
                    <a:ext uri="{9D8B030D-6E8A-4147-A177-3AD203B41FA5}">
                      <a16:colId xmlns:a16="http://schemas.microsoft.com/office/drawing/2014/main" val="631049297"/>
                    </a:ext>
                  </a:extLst>
                </a:gridCol>
                <a:gridCol w="188223">
                  <a:extLst>
                    <a:ext uri="{9D8B030D-6E8A-4147-A177-3AD203B41FA5}">
                      <a16:colId xmlns:a16="http://schemas.microsoft.com/office/drawing/2014/main" val="989257966"/>
                    </a:ext>
                  </a:extLst>
                </a:gridCol>
                <a:gridCol w="188223">
                  <a:extLst>
                    <a:ext uri="{9D8B030D-6E8A-4147-A177-3AD203B41FA5}">
                      <a16:colId xmlns:a16="http://schemas.microsoft.com/office/drawing/2014/main" val="4130923551"/>
                    </a:ext>
                  </a:extLst>
                </a:gridCol>
                <a:gridCol w="188223">
                  <a:extLst>
                    <a:ext uri="{9D8B030D-6E8A-4147-A177-3AD203B41FA5}">
                      <a16:colId xmlns:a16="http://schemas.microsoft.com/office/drawing/2014/main" val="754523039"/>
                    </a:ext>
                  </a:extLst>
                </a:gridCol>
                <a:gridCol w="188223">
                  <a:extLst>
                    <a:ext uri="{9D8B030D-6E8A-4147-A177-3AD203B41FA5}">
                      <a16:colId xmlns:a16="http://schemas.microsoft.com/office/drawing/2014/main" val="663588075"/>
                    </a:ext>
                  </a:extLst>
                </a:gridCol>
                <a:gridCol w="188223">
                  <a:extLst>
                    <a:ext uri="{9D8B030D-6E8A-4147-A177-3AD203B41FA5}">
                      <a16:colId xmlns:a16="http://schemas.microsoft.com/office/drawing/2014/main" val="514181409"/>
                    </a:ext>
                  </a:extLst>
                </a:gridCol>
                <a:gridCol w="188223">
                  <a:extLst>
                    <a:ext uri="{9D8B030D-6E8A-4147-A177-3AD203B41FA5}">
                      <a16:colId xmlns:a16="http://schemas.microsoft.com/office/drawing/2014/main" val="331155467"/>
                    </a:ext>
                  </a:extLst>
                </a:gridCol>
                <a:gridCol w="188223">
                  <a:extLst>
                    <a:ext uri="{9D8B030D-6E8A-4147-A177-3AD203B41FA5}">
                      <a16:colId xmlns:a16="http://schemas.microsoft.com/office/drawing/2014/main" val="3442976084"/>
                    </a:ext>
                  </a:extLst>
                </a:gridCol>
                <a:gridCol w="188223">
                  <a:extLst>
                    <a:ext uri="{9D8B030D-6E8A-4147-A177-3AD203B41FA5}">
                      <a16:colId xmlns:a16="http://schemas.microsoft.com/office/drawing/2014/main" val="302937644"/>
                    </a:ext>
                  </a:extLst>
                </a:gridCol>
                <a:gridCol w="188223">
                  <a:extLst>
                    <a:ext uri="{9D8B030D-6E8A-4147-A177-3AD203B41FA5}">
                      <a16:colId xmlns:a16="http://schemas.microsoft.com/office/drawing/2014/main" val="248600138"/>
                    </a:ext>
                  </a:extLst>
                </a:gridCol>
                <a:gridCol w="188223">
                  <a:extLst>
                    <a:ext uri="{9D8B030D-6E8A-4147-A177-3AD203B41FA5}">
                      <a16:colId xmlns:a16="http://schemas.microsoft.com/office/drawing/2014/main" val="2037089083"/>
                    </a:ext>
                  </a:extLst>
                </a:gridCol>
                <a:gridCol w="188223">
                  <a:extLst>
                    <a:ext uri="{9D8B030D-6E8A-4147-A177-3AD203B41FA5}">
                      <a16:colId xmlns:a16="http://schemas.microsoft.com/office/drawing/2014/main" val="4168700311"/>
                    </a:ext>
                  </a:extLst>
                </a:gridCol>
                <a:gridCol w="188223">
                  <a:extLst>
                    <a:ext uri="{9D8B030D-6E8A-4147-A177-3AD203B41FA5}">
                      <a16:colId xmlns:a16="http://schemas.microsoft.com/office/drawing/2014/main" val="940563998"/>
                    </a:ext>
                  </a:extLst>
                </a:gridCol>
              </a:tblGrid>
              <a:tr h="265102">
                <a:tc>
                  <a:txBody>
                    <a:bodyPr/>
                    <a:lstStyle/>
                    <a:p>
                      <a:pPr algn="ctr" fontAlgn="ctr"/>
                      <a:endParaRPr lang="zh-CN" altLang="en-US" sz="11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559163"/>
                  </a:ext>
                </a:extLst>
              </a:tr>
              <a:tr h="378716">
                <a:tc>
                  <a:txBody>
                    <a:bodyPr/>
                    <a:lstStyle/>
                    <a:p>
                      <a:pPr algn="r" fontAlgn="ctr"/>
                      <a:r>
                        <a:rPr lang="en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signed int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851356"/>
                  </a:ext>
                </a:extLst>
              </a:tr>
              <a:tr h="176831">
                <a:tc>
                  <a:txBody>
                    <a:bodyPr/>
                    <a:lstStyle/>
                    <a:p>
                      <a:pPr algn="r" fontAlgn="ctr"/>
                      <a:endParaRPr lang="zh-CN" altLang="en-US" sz="12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2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7565118"/>
                  </a:ext>
                </a:extLst>
              </a:tr>
              <a:tr h="378716">
                <a:tc>
                  <a:txBody>
                    <a:bodyPr/>
                    <a:lstStyle/>
                    <a:p>
                      <a:pPr algn="r" fontAlgn="ctr"/>
                      <a:r>
                        <a:rPr lang="en" sz="12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unsigned int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94904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1922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7A6D74-402B-3E4D-AB89-6ED93C230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Different Data Types for Integer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1A67B07-3966-E94E-972D-1517834AB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sz="3200" dirty="0"/>
              <a:t>use </a:t>
            </a:r>
            <a:r>
              <a:rPr lang="en" altLang="zh-CN" sz="3200" dirty="0">
                <a:solidFill>
                  <a:srgbClr val="0000FF"/>
                </a:solidFill>
                <a:latin typeface="Menlo" panose="020B0609030804020204" pitchFamily="49" charset="0"/>
              </a:rPr>
              <a:t>long int</a:t>
            </a:r>
            <a:r>
              <a:rPr kumimoji="1" lang="en-US" altLang="zh-CN" sz="3200" dirty="0"/>
              <a:t> for longer integers.</a:t>
            </a:r>
          </a:p>
          <a:p>
            <a:r>
              <a:rPr kumimoji="1" lang="en-US" altLang="zh-CN" sz="3200" dirty="0"/>
              <a:t>use </a:t>
            </a:r>
            <a:r>
              <a:rPr lang="en" altLang="zh-CN" sz="3200" dirty="0">
                <a:solidFill>
                  <a:srgbClr val="0000FF"/>
                </a:solidFill>
                <a:latin typeface="Menlo" panose="020B0609030804020204" pitchFamily="49" charset="0"/>
              </a:rPr>
              <a:t>short int</a:t>
            </a:r>
            <a:r>
              <a:rPr kumimoji="1" lang="en-US" altLang="zh-CN" sz="3200" dirty="0"/>
              <a:t> for shorter integers.</a:t>
            </a:r>
          </a:p>
          <a:p>
            <a:r>
              <a:rPr kumimoji="1" lang="en-US" altLang="zh-CN" sz="3200" dirty="0"/>
              <a:t>and </a:t>
            </a:r>
            <a:r>
              <a:rPr lang="en" altLang="zh-CN" sz="3200" dirty="0">
                <a:solidFill>
                  <a:srgbClr val="0000FF"/>
                </a:solidFill>
                <a:latin typeface="Menlo" panose="020B0609030804020204" pitchFamily="49" charset="0"/>
              </a:rPr>
              <a:t>long long</a:t>
            </a:r>
            <a:endParaRPr kumimoji="1" lang="en-US" altLang="zh-CN" sz="3200" dirty="0"/>
          </a:p>
          <a:p>
            <a:endParaRPr kumimoji="1" lang="en-US" altLang="zh-CN" sz="3200" dirty="0"/>
          </a:p>
          <a:p>
            <a:pPr marL="0" indent="0">
              <a:buNone/>
            </a:pPr>
            <a:r>
              <a:rPr kumimoji="1" lang="en-US" altLang="zh-CN" sz="3200" dirty="0"/>
              <a:t>But</a:t>
            </a:r>
          </a:p>
          <a:p>
            <a:r>
              <a:rPr kumimoji="1" lang="en-US" altLang="zh-CN" sz="3200" dirty="0"/>
              <a:t>C and C++ standards do not fix the widths of them</a:t>
            </a:r>
            <a:endParaRPr kumimoji="1"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7202160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31CD35-8700-5F4D-B244-0C14B2AD1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493D84C-33FF-204C-A236-4E495A1C89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0353" y="1326995"/>
            <a:ext cx="4361725" cy="4849968"/>
          </a:xfrm>
        </p:spPr>
        <p:txBody>
          <a:bodyPr/>
          <a:lstStyle/>
          <a:p>
            <a:r>
              <a:rPr kumimoji="1" lang="en-US" altLang="zh-CN" dirty="0"/>
              <a:t>Width in bits of different data models</a:t>
            </a:r>
          </a:p>
          <a:p>
            <a:r>
              <a:rPr kumimoji="1" lang="en-US" altLang="zh-CN" dirty="0" err="1">
                <a:solidFill>
                  <a:srgbClr val="0000CC"/>
                </a:solidFill>
                <a:latin typeface="Courier" pitchFamily="2" charset="0"/>
              </a:rPr>
              <a:t>sizeof</a:t>
            </a:r>
            <a:r>
              <a:rPr kumimoji="1" lang="en-US" altLang="zh-CN" dirty="0"/>
              <a:t> operator can return the width in bytes.</a:t>
            </a:r>
            <a:endParaRPr kumimoji="1"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9D1398F-78F6-774E-AED5-80A83112FD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29" y="167579"/>
            <a:ext cx="7512424" cy="6612733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66905FFE-A7F7-DD4E-8D99-D6CCD9109DC3}"/>
              </a:ext>
            </a:extLst>
          </p:cNvPr>
          <p:cNvSpPr/>
          <p:nvPr/>
        </p:nvSpPr>
        <p:spPr>
          <a:xfrm>
            <a:off x="7075407" y="-35016"/>
            <a:ext cx="51165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https://en.cppreference.com/w/cpp/language/types</a:t>
            </a:r>
          </a:p>
        </p:txBody>
      </p:sp>
    </p:spTree>
    <p:extLst>
      <p:ext uri="{BB962C8B-B14F-4D97-AF65-F5344CB8AC3E}">
        <p14:creationId xmlns:p14="http://schemas.microsoft.com/office/powerpoint/2010/main" val="30965512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554AB9-C83C-2F4B-A9FF-C5B237D26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>
                <a:latin typeface="Courier" pitchFamily="2" charset="0"/>
              </a:rPr>
              <a:t>sizeof</a:t>
            </a:r>
            <a:endParaRPr kumimoji="1" lang="zh-CN" altLang="en-US" dirty="0">
              <a:latin typeface="Courier" pitchFamily="2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3E6283-3C62-0A49-BFEA-758DB4462D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26995"/>
            <a:ext cx="11053879" cy="660831"/>
          </a:xfrm>
        </p:spPr>
        <p:txBody>
          <a:bodyPr/>
          <a:lstStyle/>
          <a:p>
            <a:r>
              <a:rPr kumimoji="1" lang="en-US" altLang="zh-CN" dirty="0"/>
              <a:t>It is an operator, not a function!</a:t>
            </a:r>
          </a:p>
          <a:p>
            <a:endParaRPr kumimoji="1"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9BDD129-8447-6446-88F9-763095FF8001}"/>
              </a:ext>
            </a:extLst>
          </p:cNvPr>
          <p:cNvSpPr/>
          <p:nvPr/>
        </p:nvSpPr>
        <p:spPr>
          <a:xfrm>
            <a:off x="838198" y="2274838"/>
            <a:ext cx="8292549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i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0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short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s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0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cout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"</a:t>
            </a:r>
            <a:r>
              <a:rPr lang="en" altLang="zh-CN" dirty="0" err="1">
                <a:solidFill>
                  <a:srgbClr val="A31515"/>
                </a:solidFill>
                <a:latin typeface="Menlo" panose="020B0609030804020204" pitchFamily="49" charset="0"/>
              </a:rPr>
              <a:t>sizeof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(int)="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0000FF"/>
                </a:solidFill>
                <a:latin typeface="Menlo" panose="020B0609030804020204" pitchFamily="49" charset="0"/>
              </a:rPr>
              <a:t>sizeof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endl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cout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"</a:t>
            </a:r>
            <a:r>
              <a:rPr lang="en" altLang="zh-CN" dirty="0" err="1">
                <a:solidFill>
                  <a:srgbClr val="A31515"/>
                </a:solidFill>
                <a:latin typeface="Menlo" panose="020B0609030804020204" pitchFamily="49" charset="0"/>
              </a:rPr>
              <a:t>sizeof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 err="1">
                <a:solidFill>
                  <a:srgbClr val="A31515"/>
                </a:solidFill>
                <a:latin typeface="Menlo" panose="020B0609030804020204" pitchFamily="49" charset="0"/>
              </a:rPr>
              <a:t>i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)="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0000FF"/>
                </a:solidFill>
                <a:latin typeface="Menlo" panose="020B0609030804020204" pitchFamily="49" charset="0"/>
              </a:rPr>
              <a:t>sizeof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i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endl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cout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"</a:t>
            </a:r>
            <a:r>
              <a:rPr lang="en" altLang="zh-CN" dirty="0" err="1">
                <a:solidFill>
                  <a:srgbClr val="A31515"/>
                </a:solidFill>
                <a:latin typeface="Menlo" panose="020B0609030804020204" pitchFamily="49" charset="0"/>
              </a:rPr>
              <a:t>sizeof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(short)="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0000FF"/>
                </a:solidFill>
                <a:latin typeface="Menlo" panose="020B0609030804020204" pitchFamily="49" charset="0"/>
              </a:rPr>
              <a:t>sizeof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s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endl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cout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"</a:t>
            </a:r>
            <a:r>
              <a:rPr lang="en" altLang="zh-CN" dirty="0" err="1">
                <a:solidFill>
                  <a:srgbClr val="A31515"/>
                </a:solidFill>
                <a:latin typeface="Menlo" panose="020B0609030804020204" pitchFamily="49" charset="0"/>
              </a:rPr>
              <a:t>sizeof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(long)="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0000FF"/>
                </a:solidFill>
                <a:latin typeface="Menlo" panose="020B0609030804020204" pitchFamily="49" charset="0"/>
              </a:rPr>
              <a:t>sizeof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long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endl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cout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"</a:t>
            </a:r>
            <a:r>
              <a:rPr lang="en" altLang="zh-CN" dirty="0" err="1">
                <a:solidFill>
                  <a:srgbClr val="A31515"/>
                </a:solidFill>
                <a:latin typeface="Menlo" panose="020B0609030804020204" pitchFamily="49" charset="0"/>
              </a:rPr>
              <a:t>sizeof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 err="1">
                <a:solidFill>
                  <a:srgbClr val="A31515"/>
                </a:solidFill>
                <a:latin typeface="Menlo" panose="020B0609030804020204" pitchFamily="49" charset="0"/>
              </a:rPr>
              <a:t>size_t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)="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0000FF"/>
                </a:solidFill>
                <a:latin typeface="Menlo" panose="020B0609030804020204" pitchFamily="49" charset="0"/>
              </a:rPr>
              <a:t>sizeof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 err="1">
                <a:solidFill>
                  <a:srgbClr val="267F99"/>
                </a:solidFill>
                <a:latin typeface="Menlo" panose="020B0609030804020204" pitchFamily="49" charset="0"/>
              </a:rPr>
              <a:t>size_t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endl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13DDCB0-EA96-0748-A55A-1C52B0F89BCA}"/>
              </a:ext>
            </a:extLst>
          </p:cNvPr>
          <p:cNvSpPr/>
          <p:nvPr/>
        </p:nvSpPr>
        <p:spPr>
          <a:xfrm>
            <a:off x="838198" y="1874728"/>
            <a:ext cx="1415772" cy="40011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" altLang="zh-CN" sz="2000" dirty="0" err="1">
                <a:solidFill>
                  <a:srgbClr val="0000C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size.cpp</a:t>
            </a:r>
            <a:endParaRPr lang="zh-CN" altLang="en-US" sz="2000" dirty="0">
              <a:solidFill>
                <a:srgbClr val="0000CC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48845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0651BCE7-A04C-2C40-BD6D-5D946AFB202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More Integer Types</a:t>
            </a:r>
            <a:endParaRPr lang="zh-CN" altLang="en-US" dirty="0"/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FF6343A4-5346-5C4E-BC79-96109689CCA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80755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588890-B69D-214E-920B-ACC4BB367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char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99A502D-2B1F-4448-A252-F19CC02C97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>
                <a:solidFill>
                  <a:srgbClr val="0000CC"/>
                </a:solidFill>
                <a:latin typeface="Courier" pitchFamily="2" charset="0"/>
              </a:rPr>
              <a:t>char</a:t>
            </a:r>
            <a:r>
              <a:rPr kumimoji="1" lang="en-US" altLang="zh-CN" dirty="0"/>
              <a:t>: type for character, </a:t>
            </a:r>
            <a:r>
              <a:rPr kumimoji="1" lang="en-US" altLang="zh-CN" dirty="0">
                <a:solidFill>
                  <a:srgbClr val="7030A0"/>
                </a:solidFill>
              </a:rPr>
              <a:t>8-bit integer indeed!</a:t>
            </a:r>
          </a:p>
          <a:p>
            <a:endParaRPr kumimoji="1" lang="en-US" altLang="zh-CN" dirty="0"/>
          </a:p>
          <a:p>
            <a:r>
              <a:rPr kumimoji="1" lang="en-US" altLang="zh-CN" dirty="0">
                <a:solidFill>
                  <a:srgbClr val="0000CC"/>
                </a:solidFill>
                <a:latin typeface="Courier" pitchFamily="2" charset="0"/>
              </a:rPr>
              <a:t>signed char</a:t>
            </a:r>
            <a:r>
              <a:rPr kumimoji="1" lang="en-US" altLang="zh-CN" dirty="0"/>
              <a:t>: signed 8-bit integer</a:t>
            </a:r>
          </a:p>
          <a:p>
            <a:r>
              <a:rPr kumimoji="1" lang="en-US" altLang="zh-CN" dirty="0">
                <a:solidFill>
                  <a:srgbClr val="0000CC"/>
                </a:solidFill>
                <a:latin typeface="Courier" pitchFamily="2" charset="0"/>
              </a:rPr>
              <a:t>unsinged char</a:t>
            </a:r>
            <a:r>
              <a:rPr kumimoji="1" lang="en-US" altLang="zh-CN" dirty="0"/>
              <a:t>: unsigned 8-bit integer</a:t>
            </a:r>
          </a:p>
          <a:p>
            <a:r>
              <a:rPr kumimoji="1" lang="en-US" altLang="zh-CN" dirty="0">
                <a:solidFill>
                  <a:srgbClr val="0000CC"/>
                </a:solidFill>
                <a:latin typeface="Courier" pitchFamily="2" charset="0"/>
              </a:rPr>
              <a:t>char</a:t>
            </a:r>
            <a:r>
              <a:rPr kumimoji="1" lang="en-US" altLang="zh-CN" dirty="0"/>
              <a:t>: either </a:t>
            </a:r>
            <a:r>
              <a:rPr kumimoji="1" lang="en-US" altLang="zh-CN" dirty="0">
                <a:solidFill>
                  <a:srgbClr val="0000CC"/>
                </a:solidFill>
                <a:latin typeface="Courier" pitchFamily="2" charset="0"/>
              </a:rPr>
              <a:t>signed char </a:t>
            </a:r>
            <a:r>
              <a:rPr kumimoji="1" lang="en-US" altLang="zh-CN" dirty="0"/>
              <a:t>or </a:t>
            </a:r>
            <a:r>
              <a:rPr kumimoji="1" lang="en-US" altLang="zh-CN" dirty="0">
                <a:solidFill>
                  <a:srgbClr val="0000CC"/>
                </a:solidFill>
                <a:latin typeface="Courier" pitchFamily="2" charset="0"/>
              </a:rPr>
              <a:t>unsinged char</a:t>
            </a:r>
            <a:endParaRPr kumimoji="1" lang="en-US" altLang="zh-CN" dirty="0"/>
          </a:p>
          <a:p>
            <a:endParaRPr kumimoji="1" lang="en-US" altLang="zh-CN" dirty="0"/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05783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6DFB9A-7421-E140-9308-AD3D282F2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Integers and characters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CDC457F-9993-AF4A-947D-87C3154F95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How we </a:t>
            </a:r>
            <a:r>
              <a:rPr lang="en" altLang="zh-CN" dirty="0"/>
              <a:t>represent</a:t>
            </a:r>
            <a:r>
              <a:rPr kumimoji="1" lang="en-US" altLang="zh-CN" dirty="0"/>
              <a:t> a character?</a:t>
            </a:r>
          </a:p>
          <a:p>
            <a:pPr lvl="1"/>
            <a:r>
              <a:rPr kumimoji="1" lang="en-US" altLang="zh-CN" dirty="0"/>
              <a:t>Use an 8-bit integer</a:t>
            </a:r>
          </a:p>
          <a:p>
            <a:pPr lvl="1"/>
            <a:endParaRPr kumimoji="1" lang="en-US" altLang="zh-CN" dirty="0"/>
          </a:p>
          <a:p>
            <a:pPr marL="685800" lvl="1" indent="0">
              <a:buNone/>
            </a:pP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char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c1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'C’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  //</a:t>
            </a:r>
            <a:r>
              <a:rPr lang="en" altLang="zh-CN" dirty="0">
                <a:solidFill>
                  <a:schemeClr val="accent6">
                    <a:lumMod val="50000"/>
                  </a:schemeClr>
                </a:solidFill>
                <a:latin typeface="Menlo" panose="020B0609030804020204" pitchFamily="49" charset="0"/>
              </a:rPr>
              <a:t>its ASCII code is 80</a:t>
            </a:r>
          </a:p>
          <a:p>
            <a:pPr marL="685800" lvl="1" indent="0">
              <a:buNone/>
            </a:pP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char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c2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80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  //</a:t>
            </a:r>
            <a:r>
              <a:rPr lang="en" altLang="zh-CN" dirty="0">
                <a:solidFill>
                  <a:schemeClr val="accent6">
                    <a:lumMod val="50000"/>
                  </a:schemeClr>
                </a:solidFill>
                <a:latin typeface="Menlo" panose="020B0609030804020204" pitchFamily="49" charset="0"/>
              </a:rPr>
              <a:t>in decimal</a:t>
            </a:r>
          </a:p>
          <a:p>
            <a:pPr marL="685800" lvl="1" indent="0">
              <a:buNone/>
            </a:pP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char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c3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0x50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 //</a:t>
            </a:r>
            <a:r>
              <a:rPr lang="en" altLang="zh-CN" dirty="0">
                <a:solidFill>
                  <a:schemeClr val="accent6">
                    <a:lumMod val="50000"/>
                  </a:schemeClr>
                </a:solidFill>
                <a:latin typeface="Menlo" panose="020B0609030804020204" pitchFamily="49" charset="0"/>
              </a:rPr>
              <a:t>in hexadecimal</a:t>
            </a:r>
          </a:p>
          <a:p>
            <a:pPr lvl="1"/>
            <a:endParaRPr kumimoji="1" lang="en-US" altLang="zh-CN" dirty="0"/>
          </a:p>
          <a:p>
            <a:r>
              <a:rPr kumimoji="1" lang="en-US" altLang="zh-CN" dirty="0"/>
              <a:t>Chinese characters?</a:t>
            </a:r>
          </a:p>
          <a:p>
            <a:pPr marL="457200" lvl="1" indent="0">
              <a:buNone/>
            </a:pPr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char16_t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c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u'</a:t>
            </a:r>
            <a:r>
              <a:rPr lang="zh-CN" altLang="en-US" dirty="0">
                <a:solidFill>
                  <a:srgbClr val="A31515"/>
                </a:solidFill>
                <a:latin typeface="Menlo" panose="020B0609030804020204" pitchFamily="49" charset="0"/>
              </a:rPr>
              <a:t>于</a:t>
            </a:r>
            <a:r>
              <a:rPr lang="en-US" altLang="zh-CN" dirty="0">
                <a:solidFill>
                  <a:srgbClr val="A31515"/>
                </a:solidFill>
                <a:latin typeface="Menlo" panose="020B0609030804020204" pitchFamily="49" charset="0"/>
              </a:rPr>
              <a:t>'</a:t>
            </a:r>
            <a:r>
              <a:rPr lang="en-US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 //</a:t>
            </a:r>
            <a:r>
              <a:rPr lang="en-US" altLang="zh-CN" dirty="0" err="1">
                <a:solidFill>
                  <a:srgbClr val="000000"/>
                </a:solidFill>
                <a:latin typeface="Menlo" panose="020B0609030804020204" pitchFamily="49" charset="0"/>
              </a:rPr>
              <a:t>c++</a:t>
            </a:r>
            <a:r>
              <a:rPr lang="en-US" altLang="zh-CN" dirty="0">
                <a:solidFill>
                  <a:srgbClr val="000000"/>
                </a:solidFill>
                <a:latin typeface="Menlo" panose="020B0609030804020204" pitchFamily="49" charset="0"/>
              </a:rPr>
              <a:t>11</a:t>
            </a:r>
          </a:p>
          <a:p>
            <a:pPr marL="457200" lvl="1" indent="0">
              <a:buNone/>
            </a:pPr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char32_t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c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U'</a:t>
            </a:r>
            <a:r>
              <a:rPr lang="zh-CN" altLang="en-US" dirty="0">
                <a:solidFill>
                  <a:srgbClr val="A31515"/>
                </a:solidFill>
                <a:latin typeface="Menlo" panose="020B0609030804020204" pitchFamily="49" charset="0"/>
              </a:rPr>
              <a:t>于</a:t>
            </a:r>
            <a:r>
              <a:rPr lang="en-US" altLang="zh-CN" dirty="0">
                <a:solidFill>
                  <a:srgbClr val="A31515"/>
                </a:solidFill>
                <a:latin typeface="Menlo" panose="020B0609030804020204" pitchFamily="49" charset="0"/>
              </a:rPr>
              <a:t>'</a:t>
            </a:r>
            <a:r>
              <a:rPr lang="en-US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 //</a:t>
            </a:r>
            <a:r>
              <a:rPr lang="en-US" altLang="zh-CN" dirty="0" err="1">
                <a:solidFill>
                  <a:srgbClr val="000000"/>
                </a:solidFill>
                <a:latin typeface="Menlo" panose="020B0609030804020204" pitchFamily="49" charset="0"/>
              </a:rPr>
              <a:t>c++</a:t>
            </a:r>
            <a:r>
              <a:rPr lang="en-US" altLang="zh-CN" dirty="0">
                <a:solidFill>
                  <a:srgbClr val="000000"/>
                </a:solidFill>
                <a:latin typeface="Menlo" panose="020B0609030804020204" pitchFamily="49" charset="0"/>
              </a:rPr>
              <a:t>11</a:t>
            </a:r>
          </a:p>
          <a:p>
            <a:pPr marL="457200" lvl="1" indent="0">
              <a:buNone/>
            </a:pPr>
            <a:endParaRPr lang="en-US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lvl="1"/>
            <a:endParaRPr kumimoji="1"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F9DE142-45A7-7E48-A2AC-1C7B7818B22D}"/>
              </a:ext>
            </a:extLst>
          </p:cNvPr>
          <p:cNvSpPr/>
          <p:nvPr/>
        </p:nvSpPr>
        <p:spPr>
          <a:xfrm>
            <a:off x="1466506" y="2205012"/>
            <a:ext cx="1415772" cy="40011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" altLang="zh-CN" sz="2000" dirty="0" err="1">
                <a:solidFill>
                  <a:srgbClr val="0000C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char.cpp</a:t>
            </a:r>
            <a:endParaRPr lang="zh-CN" altLang="en-US" sz="2000" dirty="0">
              <a:solidFill>
                <a:srgbClr val="0000CC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042911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2CE23E-FBC2-AE4E-9BB0-C09A97A92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bool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1C97384-E652-CF45-B0CF-1815FCE112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26994"/>
            <a:ext cx="11053879" cy="2622153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A C++ keyword, but not a C keyword</a:t>
            </a:r>
          </a:p>
          <a:p>
            <a:r>
              <a:rPr kumimoji="1" lang="en-US" altLang="zh-CN" dirty="0"/>
              <a:t>bool width: 1 byte (8 bits), </a:t>
            </a:r>
            <a:r>
              <a:rPr kumimoji="1" lang="en-US" altLang="zh-CN" dirty="0">
                <a:solidFill>
                  <a:srgbClr val="FF0000"/>
                </a:solidFill>
              </a:rPr>
              <a:t>NOT</a:t>
            </a:r>
            <a:r>
              <a:rPr kumimoji="1" lang="en-US" altLang="zh-CN" dirty="0"/>
              <a:t> 1 bit!</a:t>
            </a:r>
          </a:p>
          <a:p>
            <a:r>
              <a:rPr kumimoji="1" lang="en-US" altLang="zh-CN" dirty="0"/>
              <a:t>Value: </a:t>
            </a:r>
            <a:r>
              <a:rPr lang="en-US" altLang="zh-CN" sz="2400" dirty="0">
                <a:solidFill>
                  <a:srgbClr val="0000FF"/>
                </a:solidFill>
                <a:latin typeface="Menlo" panose="020B0609030804020204" pitchFamily="49" charset="0"/>
              </a:rPr>
              <a:t>true</a:t>
            </a:r>
            <a:r>
              <a:rPr kumimoji="1" lang="en-US" altLang="zh-CN" dirty="0"/>
              <a:t> (1) or </a:t>
            </a:r>
            <a:r>
              <a:rPr lang="en-US" altLang="zh-CN" sz="2400" dirty="0">
                <a:solidFill>
                  <a:srgbClr val="0000FF"/>
                </a:solidFill>
                <a:latin typeface="Menlo" panose="020B0609030804020204" pitchFamily="49" charset="0"/>
              </a:rPr>
              <a:t>false</a:t>
            </a:r>
            <a:r>
              <a:rPr kumimoji="1" lang="en-US" altLang="zh-CN" dirty="0">
                <a:solidFill>
                  <a:prstClr val="black"/>
                </a:solidFill>
              </a:rPr>
              <a:t> (0) </a:t>
            </a:r>
            <a:endParaRPr lang="en-US" altLang="zh-CN" sz="2400" dirty="0">
              <a:solidFill>
                <a:srgbClr val="0000FF"/>
              </a:solidFill>
              <a:latin typeface="Menlo" panose="020B0609030804020204" pitchFamily="49" charset="0"/>
            </a:endParaRPr>
          </a:p>
          <a:p>
            <a:endParaRPr kumimoji="1" lang="en-US" altLang="zh-CN" dirty="0"/>
          </a:p>
          <a:p>
            <a:pPr marL="0" indent="0">
              <a:buNone/>
            </a:pPr>
            <a:r>
              <a:rPr kumimoji="1" lang="en-US" altLang="zh-CN" dirty="0"/>
              <a:t>What is the output?</a:t>
            </a:r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2347E18-4A23-C947-85E2-2D4C23C8C01B}"/>
              </a:ext>
            </a:extLst>
          </p:cNvPr>
          <p:cNvSpPr/>
          <p:nvPr/>
        </p:nvSpPr>
        <p:spPr>
          <a:xfrm>
            <a:off x="1099931" y="4650769"/>
            <a:ext cx="6096000" cy="156966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" altLang="zh-CN" sz="2400" dirty="0">
                <a:solidFill>
                  <a:srgbClr val="0000FF"/>
                </a:solidFill>
                <a:latin typeface="Menlo" panose="020B0609030804020204" pitchFamily="49" charset="0"/>
              </a:rPr>
              <a:t>bool</a:t>
            </a: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400" dirty="0">
                <a:solidFill>
                  <a:srgbClr val="001080"/>
                </a:solidFill>
                <a:latin typeface="Menlo" panose="020B0609030804020204" pitchFamily="49" charset="0"/>
              </a:rPr>
              <a:t>b</a:t>
            </a: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sz="2400" dirty="0">
                <a:solidFill>
                  <a:srgbClr val="0000FF"/>
                </a:solidFill>
                <a:latin typeface="Menlo" panose="020B0609030804020204" pitchFamily="49" charset="0"/>
              </a:rPr>
              <a:t>true</a:t>
            </a: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sz="2400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400" dirty="0" err="1">
                <a:solidFill>
                  <a:srgbClr val="001080"/>
                </a:solidFill>
                <a:latin typeface="Menlo" panose="020B0609030804020204" pitchFamily="49" charset="0"/>
              </a:rPr>
              <a:t>i</a:t>
            </a: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sz="2400" dirty="0">
                <a:solidFill>
                  <a:srgbClr val="001080"/>
                </a:solidFill>
                <a:latin typeface="Menlo" panose="020B0609030804020204" pitchFamily="49" charset="0"/>
              </a:rPr>
              <a:t>b</a:t>
            </a: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sz="2400" dirty="0" err="1">
                <a:solidFill>
                  <a:srgbClr val="001080"/>
                </a:solidFill>
                <a:latin typeface="Menlo" panose="020B0609030804020204" pitchFamily="49" charset="0"/>
              </a:rPr>
              <a:t>cout</a:t>
            </a: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400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400" dirty="0">
                <a:solidFill>
                  <a:srgbClr val="A31515"/>
                </a:solidFill>
                <a:latin typeface="Menlo" panose="020B0609030804020204" pitchFamily="49" charset="0"/>
              </a:rPr>
              <a:t>"</a:t>
            </a:r>
            <a:r>
              <a:rPr lang="en" altLang="zh-CN" sz="2400" dirty="0" err="1">
                <a:solidFill>
                  <a:srgbClr val="A31515"/>
                </a:solidFill>
                <a:latin typeface="Menlo" panose="020B0609030804020204" pitchFamily="49" charset="0"/>
              </a:rPr>
              <a:t>i</a:t>
            </a:r>
            <a:r>
              <a:rPr lang="en" altLang="zh-CN" sz="2400" dirty="0">
                <a:solidFill>
                  <a:srgbClr val="A31515"/>
                </a:solidFill>
                <a:latin typeface="Menlo" panose="020B0609030804020204" pitchFamily="49" charset="0"/>
              </a:rPr>
              <a:t>="</a:t>
            </a: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400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400" dirty="0" err="1">
                <a:solidFill>
                  <a:srgbClr val="001080"/>
                </a:solidFill>
                <a:latin typeface="Menlo" panose="020B0609030804020204" pitchFamily="49" charset="0"/>
              </a:rPr>
              <a:t>i</a:t>
            </a: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400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400" dirty="0" err="1">
                <a:solidFill>
                  <a:srgbClr val="795E26"/>
                </a:solidFill>
                <a:latin typeface="Menlo" panose="020B0609030804020204" pitchFamily="49" charset="0"/>
              </a:rPr>
              <a:t>endl</a:t>
            </a: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sz="2400" dirty="0" err="1">
                <a:solidFill>
                  <a:srgbClr val="001080"/>
                </a:solidFill>
                <a:latin typeface="Menlo" panose="020B0609030804020204" pitchFamily="49" charset="0"/>
              </a:rPr>
              <a:t>cout</a:t>
            </a: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400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400" dirty="0">
                <a:solidFill>
                  <a:srgbClr val="A31515"/>
                </a:solidFill>
                <a:latin typeface="Menlo" panose="020B0609030804020204" pitchFamily="49" charset="0"/>
              </a:rPr>
              <a:t>"b="</a:t>
            </a: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400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400" dirty="0">
                <a:solidFill>
                  <a:srgbClr val="001080"/>
                </a:solidFill>
                <a:latin typeface="Menlo" panose="020B0609030804020204" pitchFamily="49" charset="0"/>
              </a:rPr>
              <a:t>b</a:t>
            </a: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400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400" dirty="0" err="1">
                <a:solidFill>
                  <a:srgbClr val="795E26"/>
                </a:solidFill>
                <a:latin typeface="Menlo" panose="020B0609030804020204" pitchFamily="49" charset="0"/>
              </a:rPr>
              <a:t>endl</a:t>
            </a:r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8F63E84-4F3F-AF4F-920E-B6B57EF74504}"/>
              </a:ext>
            </a:extLst>
          </p:cNvPr>
          <p:cNvSpPr/>
          <p:nvPr/>
        </p:nvSpPr>
        <p:spPr>
          <a:xfrm>
            <a:off x="1099931" y="4250659"/>
            <a:ext cx="1415772" cy="40011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" altLang="zh-CN" sz="2000" dirty="0" err="1">
                <a:solidFill>
                  <a:srgbClr val="0000C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bool.cpp</a:t>
            </a:r>
            <a:endParaRPr lang="zh-CN" altLang="en-US" sz="2000" dirty="0">
              <a:solidFill>
                <a:srgbClr val="0000CC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542205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AFB472-4FFD-C94D-AAB8-45896F490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bool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6E6CE2C-614E-DA4C-9572-A684EE24B6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26995"/>
            <a:ext cx="11053879" cy="684685"/>
          </a:xfrm>
        </p:spPr>
        <p:txBody>
          <a:bodyPr/>
          <a:lstStyle/>
          <a:p>
            <a:r>
              <a:rPr kumimoji="1" lang="en-US" altLang="zh-CN" dirty="0"/>
              <a:t>Boolean data conversion</a:t>
            </a:r>
            <a:endParaRPr kumimoji="1"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4F00B69-B454-2A44-B291-6BD538DADAF8}"/>
              </a:ext>
            </a:extLst>
          </p:cNvPr>
          <p:cNvSpPr/>
          <p:nvPr/>
        </p:nvSpPr>
        <p:spPr>
          <a:xfrm>
            <a:off x="838199" y="2291724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bool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b =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true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000000"/>
                </a:solidFill>
                <a:latin typeface="Menlo" panose="020B0609030804020204" pitchFamily="49" charset="0"/>
              </a:rPr>
              <a:t>i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b;</a:t>
            </a:r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 // the value of </a:t>
            </a:r>
            <a:r>
              <a:rPr lang="en" altLang="zh-CN" dirty="0" err="1">
                <a:solidFill>
                  <a:srgbClr val="008000"/>
                </a:solidFill>
                <a:latin typeface="Menlo" panose="020B0609030804020204" pitchFamily="49" charset="0"/>
              </a:rPr>
              <a:t>i</a:t>
            </a:r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 is 1.</a:t>
            </a:r>
            <a:endParaRPr lang="en" altLang="zh-CN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A7BF8CA-E5A9-B341-A7A8-6F057FED74CC}"/>
              </a:ext>
            </a:extLst>
          </p:cNvPr>
          <p:cNvSpPr/>
          <p:nvPr/>
        </p:nvSpPr>
        <p:spPr>
          <a:xfrm>
            <a:off x="838199" y="3530589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bool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b = -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256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 // unrecommended conversion. the value of b is true</a:t>
            </a:r>
            <a:endParaRPr lang="en" altLang="zh-CN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F57E1FA-E5CA-8F4F-998C-BC344F038ABC}"/>
              </a:ext>
            </a:extLst>
          </p:cNvPr>
          <p:cNvSpPr/>
          <p:nvPr/>
        </p:nvSpPr>
        <p:spPr>
          <a:xfrm>
            <a:off x="835586" y="4238863"/>
            <a:ext cx="598406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bool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b = (-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256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!=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0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 // better choice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endParaRPr lang="en" altLang="zh-CN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4972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6885F2-7F03-5C42-932E-46A1D8534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Boolean in C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A9824AE-CC70-C242-9321-E63DA94CC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26995"/>
            <a:ext cx="11053879" cy="661088"/>
          </a:xfrm>
        </p:spPr>
        <p:txBody>
          <a:bodyPr/>
          <a:lstStyle/>
          <a:p>
            <a:r>
              <a:rPr kumimoji="1" lang="en-US" altLang="zh-CN" dirty="0"/>
              <a:t>Use </a:t>
            </a:r>
            <a:r>
              <a:rPr kumimoji="1" lang="en-US" altLang="zh-CN" dirty="0">
                <a:solidFill>
                  <a:srgbClr val="0000CC"/>
                </a:solidFill>
                <a:latin typeface="Courier" pitchFamily="2" charset="0"/>
              </a:rPr>
              <a:t>typedef</a:t>
            </a:r>
            <a:r>
              <a:rPr kumimoji="1" lang="en-US" altLang="zh-CN" dirty="0"/>
              <a:t> to create a type</a:t>
            </a:r>
            <a:endParaRPr kumimoji="1"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4DC79A8-3607-DF44-8FB2-1C8AFD7B84FD}"/>
              </a:ext>
            </a:extLst>
          </p:cNvPr>
          <p:cNvSpPr/>
          <p:nvPr/>
        </p:nvSpPr>
        <p:spPr>
          <a:xfrm>
            <a:off x="838199" y="2064734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typedef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char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bool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#define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true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1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#define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false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0</a:t>
            </a:r>
            <a:endParaRPr lang="en" altLang="zh-CN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635A7C8B-EF1A-134E-8124-597ED6F15807}"/>
              </a:ext>
            </a:extLst>
          </p:cNvPr>
          <p:cNvSpPr txBox="1">
            <a:spLocks/>
          </p:cNvSpPr>
          <p:nvPr/>
        </p:nvSpPr>
        <p:spPr>
          <a:xfrm>
            <a:off x="838199" y="3485176"/>
            <a:ext cx="11053879" cy="661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ü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dirty="0"/>
              <a:t>Defined in </a:t>
            </a:r>
            <a:r>
              <a:rPr kumimoji="1" lang="en-US" altLang="zh-CN" dirty="0" err="1">
                <a:solidFill>
                  <a:srgbClr val="0000CC"/>
                </a:solidFill>
                <a:latin typeface="Courier" pitchFamily="2" charset="0"/>
              </a:rPr>
              <a:t>stdbool.h</a:t>
            </a:r>
            <a:r>
              <a:rPr kumimoji="1" lang="en-US" altLang="zh-CN" dirty="0"/>
              <a:t> since </a:t>
            </a:r>
            <a:r>
              <a:rPr lang="en" altLang="zh-CN" dirty="0"/>
              <a:t>C99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2646722-DA6B-7948-84FF-A5E5C26E1DB0}"/>
              </a:ext>
            </a:extLst>
          </p:cNvPr>
          <p:cNvSpPr/>
          <p:nvPr/>
        </p:nvSpPr>
        <p:spPr>
          <a:xfrm>
            <a:off x="912308" y="4221170"/>
            <a:ext cx="29738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#include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&lt;</a:t>
            </a:r>
            <a:r>
              <a:rPr lang="en" altLang="zh-CN" dirty="0" err="1">
                <a:solidFill>
                  <a:srgbClr val="A31515"/>
                </a:solidFill>
                <a:latin typeface="Menlo" panose="020B0609030804020204" pitchFamily="49" charset="0"/>
              </a:rPr>
              <a:t>stdbool.h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&gt;</a:t>
            </a:r>
            <a:endParaRPr lang="en" altLang="zh-CN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07983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8E0A06-FFC5-0F44-999A-ABDF7485A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/>
              <a:t>size_t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777597B-B18B-3D4F-B628-E1A568D00C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26995"/>
            <a:ext cx="8729871" cy="4849968"/>
          </a:xfrm>
        </p:spPr>
        <p:txBody>
          <a:bodyPr/>
          <a:lstStyle/>
          <a:p>
            <a:r>
              <a:rPr kumimoji="1" lang="en-US" altLang="zh-CN" dirty="0"/>
              <a:t>Computer memory keeps increasing</a:t>
            </a:r>
          </a:p>
          <a:p>
            <a:r>
              <a:rPr kumimoji="1" lang="en-US" altLang="zh-CN" dirty="0"/>
              <a:t>32-bit int was enough in the past to for data length</a:t>
            </a:r>
          </a:p>
          <a:p>
            <a:r>
              <a:rPr kumimoji="1" lang="en-US" altLang="zh-CN" dirty="0"/>
              <a:t>But now it is not.</a:t>
            </a:r>
          </a:p>
          <a:p>
            <a:endParaRPr kumimoji="1" lang="en-US" altLang="zh-CN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C54D2B6-61C0-9C42-A2FB-B3B96F33BE96}"/>
              </a:ext>
            </a:extLst>
          </p:cNvPr>
          <p:cNvSpPr/>
          <p:nvPr/>
        </p:nvSpPr>
        <p:spPr>
          <a:xfrm>
            <a:off x="838198" y="3214463"/>
            <a:ext cx="7066937" cy="2932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kumimoji="1" lang="en-US" altLang="zh-CN" sz="2800" dirty="0" err="1">
                <a:solidFill>
                  <a:srgbClr val="0000CC"/>
                </a:solidFill>
                <a:latin typeface="Courier" pitchFamily="2" charset="0"/>
              </a:rPr>
              <a:t>size_t</a:t>
            </a:r>
            <a:r>
              <a:rPr kumimoji="1" lang="en-US" altLang="zh-CN" sz="2800" dirty="0">
                <a:solidFill>
                  <a:prstClr val="black"/>
                </a:solidFill>
              </a:rPr>
              <a:t>:</a:t>
            </a:r>
          </a:p>
          <a:p>
            <a: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kumimoji="1" lang="en-US" altLang="zh-CN" sz="2800" dirty="0">
                <a:solidFill>
                  <a:prstClr val="black"/>
                </a:solidFill>
              </a:rPr>
              <a:t>Unsigned integer</a:t>
            </a:r>
          </a:p>
          <a:p>
            <a: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kumimoji="1" lang="en-US" altLang="zh-CN" sz="2800" dirty="0">
                <a:solidFill>
                  <a:prstClr val="black"/>
                </a:solidFill>
              </a:rPr>
              <a:t>Type of the result of </a:t>
            </a:r>
            <a:r>
              <a:rPr kumimoji="1" lang="en-US" altLang="zh-CN" sz="2800" dirty="0" err="1">
                <a:solidFill>
                  <a:srgbClr val="0000CC"/>
                </a:solidFill>
                <a:latin typeface="Courier" pitchFamily="2" charset="0"/>
              </a:rPr>
              <a:t>sizeof</a:t>
            </a:r>
            <a:r>
              <a:rPr kumimoji="1" lang="en-US" altLang="zh-CN" sz="2800" dirty="0">
                <a:solidFill>
                  <a:prstClr val="black"/>
                </a:solidFill>
              </a:rPr>
              <a:t> operator</a:t>
            </a:r>
          </a:p>
          <a:p>
            <a: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kumimoji="1" lang="en-US" altLang="zh-CN" sz="2800" dirty="0">
                <a:solidFill>
                  <a:prstClr val="black"/>
                </a:solidFill>
              </a:rPr>
              <a:t>Can store the maximum size of a theoretically possible object of any type</a:t>
            </a:r>
          </a:p>
          <a:p>
            <a: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kumimoji="1" lang="en-US" altLang="zh-CN" sz="2800" dirty="0">
                <a:solidFill>
                  <a:prstClr val="black"/>
                </a:solidFill>
              </a:rPr>
              <a:t>32-bit, or 64-bit</a:t>
            </a:r>
            <a:endParaRPr kumimoji="1" lang="zh-CN" altLang="en-US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5533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7B4B09-68C4-6443-8E50-A998AB427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" altLang="zh-CN" dirty="0"/>
              <a:t>Fixed width integer types </a:t>
            </a:r>
            <a:r>
              <a:rPr kumimoji="1" lang="en" altLang="zh-CN" sz="3200" dirty="0">
                <a:solidFill>
                  <a:schemeClr val="accent6">
                    <a:lumMod val="75000"/>
                  </a:schemeClr>
                </a:solidFill>
              </a:rPr>
              <a:t>(since C++11)</a:t>
            </a:r>
            <a:endParaRPr kumimoji="1" lang="zh-CN" alt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300E01-B25C-1A41-85EB-DA9F18524E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26995"/>
            <a:ext cx="3866323" cy="4849968"/>
          </a:xfrm>
        </p:spPr>
        <p:txBody>
          <a:bodyPr/>
          <a:lstStyle/>
          <a:p>
            <a:pPr marL="0" indent="0">
              <a:buNone/>
            </a:pPr>
            <a:r>
              <a:rPr kumimoji="1" lang="en" altLang="zh-CN" dirty="0"/>
              <a:t>Defined in &lt;</a:t>
            </a:r>
            <a:r>
              <a:rPr kumimoji="1" lang="en" altLang="zh-CN" dirty="0" err="1"/>
              <a:t>cstdint</a:t>
            </a:r>
            <a:r>
              <a:rPr kumimoji="1" lang="en" altLang="zh-CN" dirty="0"/>
              <a:t>&gt;</a:t>
            </a:r>
          </a:p>
          <a:p>
            <a:pPr marL="0" indent="0">
              <a:buNone/>
            </a:pPr>
            <a:r>
              <a:rPr kumimoji="1" lang="en" altLang="zh-CN" sz="2400" dirty="0">
                <a:solidFill>
                  <a:srgbClr val="0000CC"/>
                </a:solidFill>
                <a:latin typeface="Courier" pitchFamily="2" charset="0"/>
                <a:ea typeface="Menlo" panose="020B0609030804020204" pitchFamily="49" charset="0"/>
                <a:cs typeface="Menlo" panose="020B0609030804020204" pitchFamily="49" charset="0"/>
              </a:rPr>
              <a:t>int8_t</a:t>
            </a:r>
          </a:p>
          <a:p>
            <a:pPr marL="0" indent="0">
              <a:buNone/>
            </a:pPr>
            <a:r>
              <a:rPr kumimoji="1" lang="en" altLang="zh-CN" sz="2400" dirty="0">
                <a:solidFill>
                  <a:srgbClr val="0000CC"/>
                </a:solidFill>
                <a:latin typeface="Courier" pitchFamily="2" charset="0"/>
                <a:ea typeface="Menlo" panose="020B0609030804020204" pitchFamily="49" charset="0"/>
                <a:cs typeface="Menlo" panose="020B0609030804020204" pitchFamily="49" charset="0"/>
              </a:rPr>
              <a:t>int16_t</a:t>
            </a:r>
          </a:p>
          <a:p>
            <a:pPr marL="0" indent="0">
              <a:buNone/>
            </a:pPr>
            <a:r>
              <a:rPr kumimoji="1" lang="en" altLang="zh-CN" sz="2400" dirty="0">
                <a:solidFill>
                  <a:srgbClr val="0000CC"/>
                </a:solidFill>
                <a:latin typeface="Courier" pitchFamily="2" charset="0"/>
                <a:ea typeface="Menlo" panose="020B0609030804020204" pitchFamily="49" charset="0"/>
                <a:cs typeface="Menlo" panose="020B0609030804020204" pitchFamily="49" charset="0"/>
              </a:rPr>
              <a:t>int32_t</a:t>
            </a:r>
          </a:p>
          <a:p>
            <a:pPr marL="0" indent="0">
              <a:buNone/>
            </a:pPr>
            <a:r>
              <a:rPr kumimoji="1" lang="en" altLang="zh-CN" sz="2400" dirty="0">
                <a:solidFill>
                  <a:srgbClr val="0000CC"/>
                </a:solidFill>
                <a:latin typeface="Courier" pitchFamily="2" charset="0"/>
                <a:ea typeface="Menlo" panose="020B0609030804020204" pitchFamily="49" charset="0"/>
                <a:cs typeface="Menlo" panose="020B0609030804020204" pitchFamily="49" charset="0"/>
              </a:rPr>
              <a:t>int64_t</a:t>
            </a:r>
          </a:p>
          <a:p>
            <a:pPr marL="0" indent="0">
              <a:buNone/>
            </a:pPr>
            <a:r>
              <a:rPr kumimoji="1" lang="en" altLang="zh-CN" sz="2400" dirty="0">
                <a:solidFill>
                  <a:srgbClr val="0000CC"/>
                </a:solidFill>
                <a:latin typeface="Courier" pitchFamily="2" charset="0"/>
                <a:ea typeface="Menlo" panose="020B0609030804020204" pitchFamily="49" charset="0"/>
                <a:cs typeface="Menlo" panose="020B0609030804020204" pitchFamily="49" charset="0"/>
              </a:rPr>
              <a:t>uint8_t</a:t>
            </a:r>
          </a:p>
          <a:p>
            <a:pPr marL="0" indent="0">
              <a:buNone/>
            </a:pPr>
            <a:r>
              <a:rPr kumimoji="1" lang="en" altLang="zh-CN" sz="2400" dirty="0">
                <a:solidFill>
                  <a:srgbClr val="0000CC"/>
                </a:solidFill>
                <a:latin typeface="Courier" pitchFamily="2" charset="0"/>
                <a:ea typeface="Menlo" panose="020B0609030804020204" pitchFamily="49" charset="0"/>
                <a:cs typeface="Menlo" panose="020B0609030804020204" pitchFamily="49" charset="0"/>
              </a:rPr>
              <a:t>uint16_t</a:t>
            </a:r>
          </a:p>
          <a:p>
            <a:pPr marL="0" indent="0">
              <a:buNone/>
            </a:pPr>
            <a:r>
              <a:rPr kumimoji="1" lang="en" altLang="zh-CN" sz="2400" dirty="0">
                <a:solidFill>
                  <a:srgbClr val="0000CC"/>
                </a:solidFill>
                <a:latin typeface="Courier" pitchFamily="2" charset="0"/>
                <a:ea typeface="Menlo" panose="020B0609030804020204" pitchFamily="49" charset="0"/>
                <a:cs typeface="Menlo" panose="020B0609030804020204" pitchFamily="49" charset="0"/>
              </a:rPr>
              <a:t>uint32_t</a:t>
            </a:r>
          </a:p>
          <a:p>
            <a:pPr marL="0" indent="0">
              <a:buNone/>
            </a:pPr>
            <a:r>
              <a:rPr kumimoji="1" lang="en" altLang="zh-CN" sz="2400" dirty="0">
                <a:solidFill>
                  <a:srgbClr val="0000CC"/>
                </a:solidFill>
                <a:latin typeface="Courier" pitchFamily="2" charset="0"/>
                <a:ea typeface="Menlo" panose="020B0609030804020204" pitchFamily="49" charset="0"/>
                <a:cs typeface="Menlo" panose="020B0609030804020204" pitchFamily="49" charset="0"/>
              </a:rPr>
              <a:t>uint64_t</a:t>
            </a:r>
          </a:p>
          <a:p>
            <a:pPr marL="0" indent="0">
              <a:buNone/>
            </a:pPr>
            <a:r>
              <a:rPr kumimoji="1" lang="en" altLang="zh-CN" sz="2400" dirty="0">
                <a:solidFill>
                  <a:srgbClr val="0000CC"/>
                </a:solidFill>
                <a:latin typeface="Courier" pitchFamily="2" charset="0"/>
                <a:ea typeface="Menlo" panose="020B0609030804020204" pitchFamily="49" charset="0"/>
                <a:cs typeface="Menlo" panose="020B0609030804020204" pitchFamily="49" charset="0"/>
              </a:rPr>
              <a:t>...</a:t>
            </a:r>
            <a:endParaRPr kumimoji="1" lang="zh-CN" altLang="en-US" sz="2400" dirty="0">
              <a:solidFill>
                <a:srgbClr val="0000CC"/>
              </a:solidFill>
              <a:latin typeface="Courier" pitchFamily="2" charset="0"/>
              <a:cs typeface="Menlo" panose="020B0609030804020204" pitchFamily="49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E13F604-34C6-C947-9798-EB519F088461}"/>
              </a:ext>
            </a:extLst>
          </p:cNvPr>
          <p:cNvSpPr/>
          <p:nvPr/>
        </p:nvSpPr>
        <p:spPr>
          <a:xfrm>
            <a:off x="2925328" y="2158789"/>
            <a:ext cx="3866322" cy="38779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kumimoji="1" lang="en" altLang="zh-CN" sz="2800" dirty="0">
                <a:solidFill>
                  <a:prstClr val="black"/>
                </a:solidFill>
              </a:rPr>
              <a:t>Some useful macros </a:t>
            </a:r>
            <a:endParaRPr kumimoji="1" lang="en" altLang="zh-CN" dirty="0">
              <a:solidFill>
                <a:srgbClr val="0000CC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kumimoji="1" lang="en" altLang="zh-CN" dirty="0">
                <a:solidFill>
                  <a:srgbClr val="0000CC"/>
                </a:solidFill>
                <a:latin typeface="Courier" pitchFamily="2" charset="0"/>
                <a:ea typeface="Menlo" panose="020B0609030804020204" pitchFamily="49" charset="0"/>
                <a:cs typeface="Menlo" panose="020B0609030804020204" pitchFamily="49" charset="0"/>
              </a:rPr>
              <a:t>INT8_MIN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kumimoji="1" lang="en" altLang="zh-CN" dirty="0">
                <a:solidFill>
                  <a:srgbClr val="0000CC"/>
                </a:solidFill>
                <a:latin typeface="Courier" pitchFamily="2" charset="0"/>
                <a:ea typeface="Menlo" panose="020B0609030804020204" pitchFamily="49" charset="0"/>
                <a:cs typeface="Menlo" panose="020B0609030804020204" pitchFamily="49" charset="0"/>
              </a:rPr>
              <a:t>INT16_MIN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kumimoji="1" lang="en" altLang="zh-CN" dirty="0">
                <a:solidFill>
                  <a:srgbClr val="0000CC"/>
                </a:solidFill>
                <a:latin typeface="Courier" pitchFamily="2" charset="0"/>
                <a:ea typeface="Menlo" panose="020B0609030804020204" pitchFamily="49" charset="0"/>
                <a:cs typeface="Menlo" panose="020B0609030804020204" pitchFamily="49" charset="0"/>
              </a:rPr>
              <a:t>INT32_MIN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kumimoji="1" lang="en" altLang="zh-CN" dirty="0">
                <a:solidFill>
                  <a:srgbClr val="0000CC"/>
                </a:solidFill>
                <a:latin typeface="Courier" pitchFamily="2" charset="0"/>
                <a:ea typeface="Menlo" panose="020B0609030804020204" pitchFamily="49" charset="0"/>
                <a:cs typeface="Menlo" panose="020B0609030804020204" pitchFamily="49" charset="0"/>
              </a:rPr>
              <a:t>INT64_MIN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kumimoji="1" lang="en" altLang="zh-CN" dirty="0">
                <a:solidFill>
                  <a:srgbClr val="0000CC"/>
                </a:solidFill>
                <a:latin typeface="Courier" pitchFamily="2" charset="0"/>
                <a:ea typeface="Menlo" panose="020B0609030804020204" pitchFamily="49" charset="0"/>
                <a:cs typeface="Menlo" panose="020B0609030804020204" pitchFamily="49" charset="0"/>
              </a:rPr>
              <a:t>INT8_MAX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kumimoji="1" lang="en" altLang="zh-CN" dirty="0">
                <a:solidFill>
                  <a:srgbClr val="0000CC"/>
                </a:solidFill>
                <a:latin typeface="Courier" pitchFamily="2" charset="0"/>
                <a:ea typeface="Menlo" panose="020B0609030804020204" pitchFamily="49" charset="0"/>
                <a:cs typeface="Menlo" panose="020B0609030804020204" pitchFamily="49" charset="0"/>
              </a:rPr>
              <a:t>INT16_MAX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kumimoji="1" lang="en" altLang="zh-CN" dirty="0">
                <a:solidFill>
                  <a:srgbClr val="0000CC"/>
                </a:solidFill>
                <a:latin typeface="Courier" pitchFamily="2" charset="0"/>
                <a:ea typeface="Menlo" panose="020B0609030804020204" pitchFamily="49" charset="0"/>
                <a:cs typeface="Menlo" panose="020B0609030804020204" pitchFamily="49" charset="0"/>
              </a:rPr>
              <a:t>INT32_MAX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kumimoji="1" lang="en" altLang="zh-CN" dirty="0">
                <a:solidFill>
                  <a:srgbClr val="0000CC"/>
                </a:solidFill>
                <a:latin typeface="Courier" pitchFamily="2" charset="0"/>
                <a:ea typeface="Menlo" panose="020B0609030804020204" pitchFamily="49" charset="0"/>
                <a:cs typeface="Menlo" panose="020B0609030804020204" pitchFamily="49" charset="0"/>
              </a:rPr>
              <a:t>INT64_MAX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kumimoji="1" lang="en" altLang="zh-CN" dirty="0">
                <a:solidFill>
                  <a:srgbClr val="0000CC"/>
                </a:solidFill>
                <a:latin typeface="Courier" pitchFamily="2" charset="0"/>
                <a:ea typeface="Menlo" panose="020B0609030804020204" pitchFamily="49" charset="0"/>
                <a:cs typeface="Menlo" panose="020B0609030804020204" pitchFamily="49" charset="0"/>
              </a:rPr>
              <a:t>...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683D83A-6A65-664B-A860-D4A6B8AEC918}"/>
              </a:ext>
            </a:extLst>
          </p:cNvPr>
          <p:cNvSpPr/>
          <p:nvPr/>
        </p:nvSpPr>
        <p:spPr>
          <a:xfrm>
            <a:off x="5966789" y="1929646"/>
            <a:ext cx="6225211" cy="203132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#include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&lt;iostream&gt;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#include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&lt;</a:t>
            </a:r>
            <a:r>
              <a:rPr lang="en" altLang="zh-CN" dirty="0" err="1">
                <a:solidFill>
                  <a:srgbClr val="A31515"/>
                </a:solidFill>
                <a:latin typeface="Menlo" panose="020B0609030804020204" pitchFamily="49" charset="0"/>
              </a:rPr>
              <a:t>cstdint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&gt;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using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namespace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std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main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()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   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cout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"INT8_MAX="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INT8_MAX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endl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83834A1-A6B0-814E-AA1E-7E1BD41ADE3B}"/>
              </a:ext>
            </a:extLst>
          </p:cNvPr>
          <p:cNvSpPr/>
          <p:nvPr/>
        </p:nvSpPr>
        <p:spPr>
          <a:xfrm>
            <a:off x="5966789" y="1505766"/>
            <a:ext cx="1723549" cy="40011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" altLang="zh-CN" sz="2000" dirty="0" err="1">
                <a:solidFill>
                  <a:srgbClr val="0000C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intmax.cpp</a:t>
            </a:r>
            <a:endParaRPr lang="zh-CN" altLang="en-US" sz="2000" dirty="0">
              <a:solidFill>
                <a:srgbClr val="0000CC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525689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草地上有许多树&#10;&#10;描述已自动生成">
            <a:extLst>
              <a:ext uri="{FF2B5EF4-FFF2-40B4-BE49-F238E27FC236}">
                <a16:creationId xmlns:a16="http://schemas.microsoft.com/office/drawing/2014/main" id="{9BD2C686-89E1-B44C-80D4-98716A22F3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4932" y="2520176"/>
            <a:ext cx="7711687" cy="4337824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3D103682-BA12-8B4F-80DC-1013DDD0A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CN" dirty="0"/>
              <a:t>Choose</a:t>
            </a:r>
            <a:r>
              <a:rPr kumimoji="1" lang="zh-CN" altLang="en-US" dirty="0"/>
              <a:t> </a:t>
            </a:r>
            <a:r>
              <a:rPr kumimoji="1" lang="en" altLang="zh-CN" dirty="0"/>
              <a:t>appropriate</a:t>
            </a:r>
            <a:r>
              <a:rPr kumimoji="1" lang="zh-CN" altLang="en-US" dirty="0"/>
              <a:t> </a:t>
            </a:r>
            <a:r>
              <a:rPr kumimoji="1" lang="en-US" altLang="zh-CN" dirty="0"/>
              <a:t>integer types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21CF7D-B83E-334A-A5F1-4628375B70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821" y="1159398"/>
            <a:ext cx="11325563" cy="1360778"/>
          </a:xfrm>
        </p:spPr>
        <p:txBody>
          <a:bodyPr>
            <a:normAutofit/>
          </a:bodyPr>
          <a:lstStyle/>
          <a:p>
            <a:r>
              <a:rPr kumimoji="1" lang="en-US" altLang="zh-CN" sz="2000" dirty="0"/>
              <a:t>Wider integers consume more memory, and slower sometimes</a:t>
            </a:r>
          </a:p>
          <a:p>
            <a:r>
              <a:rPr kumimoji="1" lang="en-US" altLang="zh-CN" sz="2000" dirty="0">
                <a:solidFill>
                  <a:srgbClr val="0000CC"/>
                </a:solidFill>
                <a:latin typeface="Courier" pitchFamily="2" charset="0"/>
              </a:rPr>
              <a:t>char</a:t>
            </a:r>
            <a:r>
              <a:rPr kumimoji="1" lang="en-US" altLang="zh-CN" sz="2000" dirty="0"/>
              <a:t>(</a:t>
            </a:r>
            <a:r>
              <a:rPr kumimoji="1" lang="en-US" altLang="zh-CN" sz="2000" dirty="0">
                <a:solidFill>
                  <a:srgbClr val="0000CC"/>
                </a:solidFill>
                <a:latin typeface="Courier" pitchFamily="2" charset="0"/>
              </a:rPr>
              <a:t>byte</a:t>
            </a:r>
            <a:r>
              <a:rPr kumimoji="1" lang="en-US" altLang="zh-CN" sz="2000" dirty="0"/>
              <a:t>) is widely used for image pixels</a:t>
            </a:r>
          </a:p>
          <a:p>
            <a:r>
              <a:rPr kumimoji="1" lang="en-US" altLang="zh-CN" sz="2000" dirty="0"/>
              <a:t>Choose a data type carefully, and consider all possibilities (short for wide dynamic range images)</a:t>
            </a:r>
            <a:endParaRPr kumimoji="1" lang="zh-CN" altLang="en-US" sz="2000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551490D-E14A-F540-B763-C9E4DD4609AE}"/>
              </a:ext>
            </a:extLst>
          </p:cNvPr>
          <p:cNvSpPr/>
          <p:nvPr/>
        </p:nvSpPr>
        <p:spPr>
          <a:xfrm>
            <a:off x="2978754" y="2897432"/>
            <a:ext cx="4374211" cy="369332"/>
          </a:xfrm>
          <a:prstGeom prst="rect">
            <a:avLst/>
          </a:prstGeom>
          <a:solidFill>
            <a:srgbClr val="FFFF00">
              <a:alpha val="44000"/>
            </a:srgbClr>
          </a:solidFill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0070C0"/>
                </a:solidFill>
              </a:rPr>
              <a:t>6720 × 3780 ×</a:t>
            </a:r>
            <a:r>
              <a:rPr lang="en-US" altLang="zh-CN" b="1" dirty="0">
                <a:solidFill>
                  <a:srgbClr val="0070C0"/>
                </a:solidFill>
              </a:rPr>
              <a:t>3 = 76,204,800 = 76M Bytes </a:t>
            </a:r>
            <a:endParaRPr lang="zh-CN" altLang="en-US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74522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0AC0775F-980B-3B49-9DFF-873BEADE182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Floating-point Numbers</a:t>
            </a:r>
            <a:endParaRPr lang="zh-CN" altLang="en-US" dirty="0"/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208DAF44-5162-214F-8C1A-50F345DEF59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58999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8AA0EB-8D06-3A42-986C-8FCB909E6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What’s the output?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3868BED-849F-184A-8C4D-F3876C3979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26995"/>
            <a:ext cx="11593011" cy="52667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" altLang="zh-CN" sz="2000" dirty="0">
                <a:solidFill>
                  <a:srgbClr val="AF00DB"/>
                </a:solidFill>
                <a:latin typeface="Menlo" panose="020B0609030804020204" pitchFamily="49" charset="0"/>
              </a:rPr>
              <a:t>#include</a:t>
            </a:r>
            <a:r>
              <a:rPr lang="en" altLang="zh-CN" sz="2000" dirty="0">
                <a:solidFill>
                  <a:srgbClr val="0000FF"/>
                </a:solidFill>
                <a:latin typeface="Menlo" panose="020B0609030804020204" pitchFamily="49" charset="0"/>
              </a:rPr>
              <a:t> </a:t>
            </a:r>
            <a:r>
              <a:rPr lang="en" altLang="zh-CN" sz="2000" dirty="0">
                <a:solidFill>
                  <a:srgbClr val="A31515"/>
                </a:solidFill>
                <a:latin typeface="Menlo" panose="020B0609030804020204" pitchFamily="49" charset="0"/>
              </a:rPr>
              <a:t>&lt;iostream&gt;</a:t>
            </a:r>
            <a:endParaRPr lang="en" altLang="zh-CN" sz="20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en" altLang="zh-CN" sz="2000" dirty="0">
                <a:solidFill>
                  <a:srgbClr val="AF00DB"/>
                </a:solidFill>
                <a:latin typeface="Menlo" panose="020B0609030804020204" pitchFamily="49" charset="0"/>
              </a:rPr>
              <a:t>#include</a:t>
            </a:r>
            <a:r>
              <a:rPr lang="en" altLang="zh-CN" sz="2000" dirty="0">
                <a:solidFill>
                  <a:srgbClr val="0000FF"/>
                </a:solidFill>
                <a:latin typeface="Menlo" panose="020B0609030804020204" pitchFamily="49" charset="0"/>
              </a:rPr>
              <a:t> </a:t>
            </a:r>
            <a:r>
              <a:rPr lang="en" altLang="zh-CN" sz="2000" dirty="0">
                <a:solidFill>
                  <a:srgbClr val="A31515"/>
                </a:solidFill>
                <a:latin typeface="Menlo" panose="020B0609030804020204" pitchFamily="49" charset="0"/>
              </a:rPr>
              <a:t>&lt;</a:t>
            </a:r>
            <a:r>
              <a:rPr lang="en" altLang="zh-CN" sz="2000" dirty="0" err="1">
                <a:solidFill>
                  <a:srgbClr val="A31515"/>
                </a:solidFill>
                <a:latin typeface="Menlo" panose="020B0609030804020204" pitchFamily="49" charset="0"/>
              </a:rPr>
              <a:t>iomanip</a:t>
            </a:r>
            <a:r>
              <a:rPr lang="en" altLang="zh-CN" sz="2000" dirty="0">
                <a:solidFill>
                  <a:srgbClr val="A31515"/>
                </a:solidFill>
                <a:latin typeface="Menlo" panose="020B0609030804020204" pitchFamily="49" charset="0"/>
              </a:rPr>
              <a:t>&gt;</a:t>
            </a:r>
            <a:endParaRPr lang="en" altLang="zh-CN" sz="20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en" altLang="zh-CN" sz="2000" dirty="0">
                <a:solidFill>
                  <a:srgbClr val="AF00DB"/>
                </a:solidFill>
                <a:latin typeface="Menlo" panose="020B0609030804020204" pitchFamily="49" charset="0"/>
              </a:rPr>
              <a:t>using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000" dirty="0">
                <a:solidFill>
                  <a:srgbClr val="0000FF"/>
                </a:solidFill>
                <a:latin typeface="Menlo" panose="020B0609030804020204" pitchFamily="49" charset="0"/>
              </a:rPr>
              <a:t>namespace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000" dirty="0">
                <a:solidFill>
                  <a:srgbClr val="267F99"/>
                </a:solidFill>
                <a:latin typeface="Menlo" panose="020B0609030804020204" pitchFamily="49" charset="0"/>
              </a:rPr>
              <a:t>std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en" altLang="zh-CN" sz="2000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000" dirty="0">
                <a:solidFill>
                  <a:srgbClr val="795E26"/>
                </a:solidFill>
                <a:latin typeface="Menlo" panose="020B0609030804020204" pitchFamily="49" charset="0"/>
              </a:rPr>
              <a:t>main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()</a:t>
            </a:r>
          </a:p>
          <a:p>
            <a:pPr marL="0" indent="0">
              <a:buNone/>
            </a:pP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pPr marL="0" indent="0">
              <a:buNone/>
            </a:pPr>
            <a:r>
              <a:rPr lang="en" altLang="zh-CN" sz="2000" dirty="0">
                <a:solidFill>
                  <a:srgbClr val="0000FF"/>
                </a:solidFill>
                <a:latin typeface="Menlo" panose="020B0609030804020204" pitchFamily="49" charset="0"/>
              </a:rPr>
              <a:t>    float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000" dirty="0">
                <a:solidFill>
                  <a:srgbClr val="001080"/>
                </a:solidFill>
                <a:latin typeface="Menlo" panose="020B0609030804020204" pitchFamily="49" charset="0"/>
              </a:rPr>
              <a:t>f1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sz="2000" dirty="0">
                <a:solidFill>
                  <a:srgbClr val="098658"/>
                </a:solidFill>
                <a:latin typeface="Menlo" panose="020B0609030804020204" pitchFamily="49" charset="0"/>
              </a:rPr>
              <a:t>1.2f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en" altLang="zh-CN" sz="2000" dirty="0">
                <a:solidFill>
                  <a:srgbClr val="0000FF"/>
                </a:solidFill>
                <a:latin typeface="Menlo" panose="020B0609030804020204" pitchFamily="49" charset="0"/>
              </a:rPr>
              <a:t>    float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000" dirty="0">
                <a:solidFill>
                  <a:srgbClr val="001080"/>
                </a:solidFill>
                <a:latin typeface="Menlo" panose="020B0609030804020204" pitchFamily="49" charset="0"/>
              </a:rPr>
              <a:t>f2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sz="2000" dirty="0">
                <a:solidFill>
                  <a:srgbClr val="001080"/>
                </a:solidFill>
                <a:latin typeface="Menlo" panose="020B0609030804020204" pitchFamily="49" charset="0"/>
              </a:rPr>
              <a:t>f1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* </a:t>
            </a:r>
            <a:r>
              <a:rPr lang="en" altLang="zh-CN" sz="2000" dirty="0">
                <a:solidFill>
                  <a:srgbClr val="098658"/>
                </a:solidFill>
                <a:latin typeface="Menlo" panose="020B0609030804020204" pitchFamily="49" charset="0"/>
              </a:rPr>
              <a:t>1000000000000000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; </a:t>
            </a:r>
            <a:r>
              <a:rPr lang="en" altLang="zh-CN" sz="2000" dirty="0">
                <a:solidFill>
                  <a:srgbClr val="098658"/>
                </a:solidFill>
                <a:latin typeface="Menlo" panose="020B0609030804020204" pitchFamily="49" charset="0"/>
              </a:rPr>
              <a:t>//1.0e15</a:t>
            </a:r>
          </a:p>
          <a:p>
            <a:pPr marL="0" indent="0">
              <a:buNone/>
            </a:pPr>
            <a:r>
              <a:rPr lang="en" altLang="zh-CN" sz="2000" dirty="0">
                <a:solidFill>
                  <a:srgbClr val="001080"/>
                </a:solidFill>
                <a:latin typeface="Menlo" panose="020B0609030804020204" pitchFamily="49" charset="0"/>
              </a:rPr>
              <a:t>    </a:t>
            </a:r>
            <a:r>
              <a:rPr lang="en" altLang="zh-CN" sz="2000" dirty="0" err="1">
                <a:solidFill>
                  <a:srgbClr val="001080"/>
                </a:solidFill>
                <a:latin typeface="Menlo" panose="020B0609030804020204" pitchFamily="49" charset="0"/>
              </a:rPr>
              <a:t>cout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000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000" dirty="0">
                <a:solidFill>
                  <a:srgbClr val="267F99"/>
                </a:solidFill>
                <a:latin typeface="Menlo" panose="020B0609030804020204" pitchFamily="49" charset="0"/>
              </a:rPr>
              <a:t>std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::</a:t>
            </a:r>
            <a:r>
              <a:rPr lang="en" altLang="zh-CN" sz="2000" dirty="0">
                <a:solidFill>
                  <a:srgbClr val="795E26"/>
                </a:solidFill>
                <a:latin typeface="Menlo" panose="020B0609030804020204" pitchFamily="49" charset="0"/>
              </a:rPr>
              <a:t>fixed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000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000" dirty="0">
                <a:solidFill>
                  <a:srgbClr val="267F99"/>
                </a:solidFill>
                <a:latin typeface="Menlo" panose="020B0609030804020204" pitchFamily="49" charset="0"/>
              </a:rPr>
              <a:t>std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::</a:t>
            </a:r>
            <a:r>
              <a:rPr lang="en" altLang="zh-CN" sz="2000" dirty="0" err="1">
                <a:solidFill>
                  <a:srgbClr val="795E26"/>
                </a:solidFill>
                <a:latin typeface="Menlo" panose="020B0609030804020204" pitchFamily="49" charset="0"/>
              </a:rPr>
              <a:t>setprecision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sz="2000" dirty="0">
                <a:solidFill>
                  <a:srgbClr val="098658"/>
                </a:solidFill>
                <a:latin typeface="Menlo" panose="020B0609030804020204" pitchFamily="49" charset="0"/>
              </a:rPr>
              <a:t>15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) </a:t>
            </a:r>
            <a:r>
              <a:rPr lang="en" altLang="zh-CN" sz="2000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000" dirty="0">
                <a:solidFill>
                  <a:srgbClr val="001080"/>
                </a:solidFill>
                <a:latin typeface="Menlo" panose="020B0609030804020204" pitchFamily="49" charset="0"/>
              </a:rPr>
              <a:t>f1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000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000" dirty="0" err="1">
                <a:solidFill>
                  <a:srgbClr val="795E26"/>
                </a:solidFill>
                <a:latin typeface="Menlo" panose="020B0609030804020204" pitchFamily="49" charset="0"/>
              </a:rPr>
              <a:t>endl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en" altLang="zh-CN" sz="2000" dirty="0">
                <a:solidFill>
                  <a:srgbClr val="001080"/>
                </a:solidFill>
                <a:latin typeface="Menlo" panose="020B0609030804020204" pitchFamily="49" charset="0"/>
              </a:rPr>
              <a:t>    </a:t>
            </a:r>
            <a:r>
              <a:rPr lang="en" altLang="zh-CN" sz="2000" dirty="0" err="1">
                <a:solidFill>
                  <a:srgbClr val="001080"/>
                </a:solidFill>
                <a:latin typeface="Menlo" panose="020B0609030804020204" pitchFamily="49" charset="0"/>
              </a:rPr>
              <a:t>cout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000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000" dirty="0">
                <a:solidFill>
                  <a:srgbClr val="267F99"/>
                </a:solidFill>
                <a:latin typeface="Menlo" panose="020B0609030804020204" pitchFamily="49" charset="0"/>
              </a:rPr>
              <a:t>std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::</a:t>
            </a:r>
            <a:r>
              <a:rPr lang="en" altLang="zh-CN" sz="2000" dirty="0">
                <a:solidFill>
                  <a:srgbClr val="795E26"/>
                </a:solidFill>
                <a:latin typeface="Menlo" panose="020B0609030804020204" pitchFamily="49" charset="0"/>
              </a:rPr>
              <a:t>fixed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000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000" dirty="0">
                <a:solidFill>
                  <a:srgbClr val="267F99"/>
                </a:solidFill>
                <a:latin typeface="Menlo" panose="020B0609030804020204" pitchFamily="49" charset="0"/>
              </a:rPr>
              <a:t>std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::</a:t>
            </a:r>
            <a:r>
              <a:rPr lang="en" altLang="zh-CN" sz="2000" dirty="0" err="1">
                <a:solidFill>
                  <a:srgbClr val="795E26"/>
                </a:solidFill>
                <a:latin typeface="Menlo" panose="020B0609030804020204" pitchFamily="49" charset="0"/>
              </a:rPr>
              <a:t>setprecision</a:t>
            </a:r>
            <a:r>
              <a:rPr lang="en" altLang="zh-CN" sz="200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sz="2000">
                <a:solidFill>
                  <a:srgbClr val="098658"/>
                </a:solidFill>
                <a:latin typeface="Menlo" panose="020B0609030804020204" pitchFamily="49" charset="0"/>
              </a:rPr>
              <a:t>1</a:t>
            </a:r>
            <a:r>
              <a:rPr lang="en" altLang="zh-CN" sz="2000">
                <a:solidFill>
                  <a:srgbClr val="000000"/>
                </a:solidFill>
                <a:latin typeface="Menlo" panose="020B0609030804020204" pitchFamily="49" charset="0"/>
              </a:rPr>
              <a:t>) </a:t>
            </a:r>
            <a:r>
              <a:rPr lang="en" altLang="zh-CN" sz="2000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000" dirty="0">
                <a:solidFill>
                  <a:srgbClr val="001080"/>
                </a:solidFill>
                <a:latin typeface="Menlo" panose="020B0609030804020204" pitchFamily="49" charset="0"/>
              </a:rPr>
              <a:t>f2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000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000" dirty="0" err="1">
                <a:solidFill>
                  <a:srgbClr val="795E26"/>
                </a:solidFill>
                <a:latin typeface="Menlo" panose="020B0609030804020204" pitchFamily="49" charset="0"/>
              </a:rPr>
              <a:t>endl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en" altLang="zh-CN" sz="2000" dirty="0">
                <a:solidFill>
                  <a:srgbClr val="AF00DB"/>
                </a:solidFill>
                <a:latin typeface="Menlo" panose="020B0609030804020204" pitchFamily="49" charset="0"/>
              </a:rPr>
              <a:t>    return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000" dirty="0">
                <a:solidFill>
                  <a:srgbClr val="098658"/>
                </a:solidFill>
                <a:latin typeface="Menlo" panose="020B0609030804020204" pitchFamily="49" charset="0"/>
              </a:rPr>
              <a:t>0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673816E-9281-004A-B1FD-CD3DBF779347}"/>
              </a:ext>
            </a:extLst>
          </p:cNvPr>
          <p:cNvSpPr/>
          <p:nvPr/>
        </p:nvSpPr>
        <p:spPr>
          <a:xfrm>
            <a:off x="838199" y="926885"/>
            <a:ext cx="1569660" cy="40011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" altLang="zh-CN" sz="2000" dirty="0" err="1">
                <a:solidFill>
                  <a:srgbClr val="0000C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float.cpp</a:t>
            </a:r>
            <a:endParaRPr lang="zh-CN" altLang="en-US" sz="2000" dirty="0">
              <a:solidFill>
                <a:srgbClr val="0000CC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5219100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E93136-FBE3-FD48-ADCD-25038F4AA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FDA8672-6AE6-4F40-ABC8-20BF114276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How many numbers in range [0, 1]? </a:t>
            </a:r>
          </a:p>
          <a:p>
            <a:pPr marL="0" indent="0">
              <a:buNone/>
            </a:pPr>
            <a:r>
              <a:rPr kumimoji="1" lang="en" altLang="zh-CN" dirty="0">
                <a:solidFill>
                  <a:srgbClr val="C00000"/>
                </a:solidFill>
              </a:rPr>
              <a:t>		</a:t>
            </a:r>
            <a:r>
              <a:rPr kumimoji="1" lang="en" altLang="zh-CN" sz="3600" dirty="0">
                <a:solidFill>
                  <a:srgbClr val="C00000"/>
                </a:solidFill>
              </a:rPr>
              <a:t>Infinite! </a:t>
            </a:r>
            <a:endParaRPr kumimoji="1" lang="zh-CN" altLang="en-US" sz="3600" dirty="0">
              <a:solidFill>
                <a:srgbClr val="C00000"/>
              </a:solidFill>
            </a:endParaRPr>
          </a:p>
          <a:p>
            <a:endParaRPr kumimoji="1" lang="en-US" altLang="zh-CN" dirty="0"/>
          </a:p>
          <a:p>
            <a:r>
              <a:rPr kumimoji="1" lang="en-US" altLang="zh-CN" dirty="0"/>
              <a:t>How many numbers can 32 bits </a:t>
            </a:r>
            <a:r>
              <a:rPr lang="en" altLang="zh-CN" dirty="0"/>
              <a:t>represent</a:t>
            </a:r>
            <a:r>
              <a:rPr kumimoji="1" lang="en-US" altLang="zh-CN" dirty="0"/>
              <a:t>?</a:t>
            </a:r>
          </a:p>
          <a:p>
            <a:pPr marL="0" indent="0">
              <a:buNone/>
            </a:pPr>
            <a:r>
              <a:rPr kumimoji="1" lang="en-US" altLang="zh-CN" dirty="0"/>
              <a:t>		</a:t>
            </a:r>
            <a:r>
              <a:rPr kumimoji="1" lang="en-US" altLang="zh-CN" sz="4800" dirty="0">
                <a:solidFill>
                  <a:srgbClr val="C00000"/>
                </a:solidFill>
              </a:rPr>
              <a:t>2</a:t>
            </a:r>
            <a:r>
              <a:rPr kumimoji="1" lang="en-US" altLang="zh-CN" sz="4800" baseline="30000" dirty="0">
                <a:solidFill>
                  <a:srgbClr val="C00000"/>
                </a:solidFill>
              </a:rPr>
              <a:t>32</a:t>
            </a:r>
            <a:endParaRPr kumimoji="1" lang="en-US" altLang="zh-CN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kumimoji="1" lang="en-US" altLang="zh-CN" dirty="0"/>
              <a:t>	</a:t>
            </a:r>
          </a:p>
          <a:p>
            <a:r>
              <a:rPr kumimoji="1" lang="en-US" altLang="zh-CN" dirty="0"/>
              <a:t>You want 1.2, but </a:t>
            </a:r>
            <a:r>
              <a:rPr kumimoji="1" lang="en-US" altLang="zh-CN" dirty="0">
                <a:solidFill>
                  <a:srgbClr val="0000CC"/>
                </a:solidFill>
                <a:latin typeface="Courier" pitchFamily="2" charset="0"/>
              </a:rPr>
              <a:t>float</a:t>
            </a:r>
            <a:r>
              <a:rPr kumimoji="1" lang="en-US" altLang="zh-CN" dirty="0"/>
              <a:t> can only provide you 1.200000047683716... </a:t>
            </a:r>
          </a:p>
        </p:txBody>
      </p:sp>
    </p:spTree>
    <p:extLst>
      <p:ext uri="{BB962C8B-B14F-4D97-AF65-F5344CB8AC3E}">
        <p14:creationId xmlns:p14="http://schemas.microsoft.com/office/powerpoint/2010/main" val="20535754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E8CB9D-6233-E14F-8D51-9BAA79DF8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CN" dirty="0"/>
              <a:t>Understanding Computing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F6D0CDA-7F4F-A248-A606-FC1E9153B6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" altLang="zh-CN" dirty="0"/>
              <a:t>Are computers always accurate?</a:t>
            </a:r>
          </a:p>
          <a:p>
            <a:r>
              <a:rPr lang="en" altLang="zh-CN" dirty="0"/>
              <a:t>Floating-point operations always bring some tiny errors.</a:t>
            </a:r>
          </a:p>
          <a:p>
            <a:r>
              <a:rPr lang="en" altLang="zh-CN" dirty="0"/>
              <a:t>Those errors cannot be eliminated. </a:t>
            </a:r>
          </a:p>
          <a:p>
            <a:r>
              <a:rPr lang="en" altLang="zh-CN" dirty="0"/>
              <a:t>What we can do: to manage them not to cause a problem.</a:t>
            </a:r>
          </a:p>
          <a:p>
            <a:endParaRPr lang="en" altLang="zh-CN" dirty="0"/>
          </a:p>
          <a:p>
            <a:endParaRPr kumimoji="1" lang="en" altLang="zh-CN" dirty="0"/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364867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03F270-6D15-B148-879A-2F44B1D0D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Floating-point types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B3DC151-4001-E349-A051-16B8091AE8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en-US" altLang="zh-CN" dirty="0">
                <a:solidFill>
                  <a:srgbClr val="0000CC"/>
                </a:solidFill>
                <a:latin typeface="Courier" pitchFamily="2" charset="0"/>
                <a:ea typeface="Menlo" panose="020B0609030804020204" pitchFamily="49" charset="0"/>
                <a:cs typeface="Menlo" panose="020B0609030804020204" pitchFamily="49" charset="0"/>
              </a:rPr>
              <a:t>float</a:t>
            </a:r>
            <a:r>
              <a:rPr kumimoji="1" lang="en-US" altLang="zh-CN" dirty="0"/>
              <a:t>: single precision floating-point type, 32 bits</a:t>
            </a:r>
          </a:p>
          <a:p>
            <a:endParaRPr kumimoji="1" lang="en-US" altLang="zh-CN" dirty="0"/>
          </a:p>
          <a:p>
            <a:endParaRPr kumimoji="1" lang="en-US" altLang="zh-CN" dirty="0"/>
          </a:p>
          <a:p>
            <a:pPr marL="0" indent="0">
              <a:buNone/>
            </a:pPr>
            <a:endParaRPr kumimoji="1" lang="en-US" altLang="zh-CN" dirty="0"/>
          </a:p>
          <a:p>
            <a:pPr marL="0" indent="0">
              <a:buNone/>
            </a:pPr>
            <a:endParaRPr kumimoji="1" lang="en-US" altLang="zh-CN" dirty="0"/>
          </a:p>
          <a:p>
            <a:r>
              <a:rPr kumimoji="1" lang="en-US" altLang="zh-CN" dirty="0">
                <a:solidFill>
                  <a:srgbClr val="0000CC"/>
                </a:solidFill>
                <a:latin typeface="Courier" pitchFamily="2" charset="0"/>
                <a:ea typeface="Menlo" panose="020B0609030804020204" pitchFamily="49" charset="0"/>
                <a:cs typeface="Menlo" panose="020B0609030804020204" pitchFamily="49" charset="0"/>
              </a:rPr>
              <a:t>double</a:t>
            </a:r>
            <a:r>
              <a:rPr kumimoji="1" lang="en-US" altLang="zh-CN" dirty="0"/>
              <a:t>: double precision floating-point type, 64 bits</a:t>
            </a:r>
          </a:p>
          <a:p>
            <a:r>
              <a:rPr kumimoji="1" lang="en-US" altLang="zh-CN" dirty="0">
                <a:solidFill>
                  <a:srgbClr val="0000CC"/>
                </a:solidFill>
                <a:latin typeface="Courier" pitchFamily="2" charset="0"/>
                <a:ea typeface="Menlo" panose="020B0609030804020204" pitchFamily="49" charset="0"/>
                <a:cs typeface="Menlo" panose="020B0609030804020204" pitchFamily="49" charset="0"/>
              </a:rPr>
              <a:t>long double</a:t>
            </a:r>
            <a:r>
              <a:rPr kumimoji="1" lang="en-US" altLang="zh-CN" dirty="0"/>
              <a:t>: extended precision floating-point type</a:t>
            </a:r>
          </a:p>
          <a:p>
            <a:pPr lvl="1"/>
            <a:r>
              <a:rPr kumimoji="1" lang="en-US" altLang="zh-CN" dirty="0"/>
              <a:t>128 bits if supported</a:t>
            </a:r>
          </a:p>
          <a:p>
            <a:pPr lvl="1"/>
            <a:r>
              <a:rPr kumimoji="1" lang="en-US" altLang="zh-CN" dirty="0"/>
              <a:t>64 bits otherwise</a:t>
            </a:r>
          </a:p>
          <a:p>
            <a:r>
              <a:rPr kumimoji="1" lang="en-US" altLang="zh-CN" dirty="0"/>
              <a:t>half precision floating-point, 16 bits</a:t>
            </a:r>
            <a:br>
              <a:rPr kumimoji="1" lang="en-US" altLang="zh-CN" dirty="0"/>
            </a:br>
            <a:r>
              <a:rPr kumimoji="1" lang="en-US" altLang="zh-CN" dirty="0"/>
              <a:t> </a:t>
            </a:r>
            <a:r>
              <a:rPr kumimoji="1" lang="en-US" altLang="zh-CN" sz="2000" dirty="0"/>
              <a:t>(popular in deep learning, but not a C++ standard)</a:t>
            </a:r>
            <a:endParaRPr kumimoji="1"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991CECC-7908-E941-9857-F36F5207C706}"/>
              </a:ext>
            </a:extLst>
          </p:cNvPr>
          <p:cNvSpPr/>
          <p:nvPr/>
        </p:nvSpPr>
        <p:spPr>
          <a:xfrm>
            <a:off x="1249905" y="6468925"/>
            <a:ext cx="69102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https://en.wikipedia.org/wiki/Single-precision_floating-point_format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297049F7-272A-454B-8D07-84CC544E2C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9905" y="1864011"/>
            <a:ext cx="7493000" cy="95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A498AE2E-1A5B-6F49-86B3-40392F5B06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6479" y="3045654"/>
            <a:ext cx="6332260" cy="472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353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EC34C0-B606-874C-B09A-0A5EEDFFC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Floating-point VS integers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830767-A7C7-9043-BA5A-CCB4BC6062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Represent values between integers</a:t>
            </a:r>
          </a:p>
          <a:p>
            <a:r>
              <a:rPr kumimoji="1" lang="en-US" altLang="zh-CN" dirty="0"/>
              <a:t>A much greater range of values</a:t>
            </a:r>
          </a:p>
          <a:p>
            <a:r>
              <a:rPr kumimoji="1" lang="en-US" altLang="zh-CN" dirty="0"/>
              <a:t>Floating-point operations are slower than integer operations</a:t>
            </a:r>
          </a:p>
          <a:p>
            <a:r>
              <a:rPr kumimoji="1" lang="en-US" altLang="zh-CN" dirty="0"/>
              <a:t>Lose precision</a:t>
            </a:r>
          </a:p>
          <a:p>
            <a:endParaRPr kumimoji="1" lang="en-US" altLang="zh-CN" dirty="0"/>
          </a:p>
          <a:p>
            <a:r>
              <a:rPr kumimoji="1" lang="en-US" altLang="zh-CN" dirty="0">
                <a:solidFill>
                  <a:srgbClr val="0000CC"/>
                </a:solidFill>
                <a:latin typeface="Courier" pitchFamily="2" charset="0"/>
              </a:rPr>
              <a:t>double</a:t>
            </a:r>
            <a:r>
              <a:rPr kumimoji="1" lang="en-US" altLang="zh-CN" dirty="0"/>
              <a:t> operations is slower than </a:t>
            </a:r>
            <a:r>
              <a:rPr kumimoji="1" lang="en-US" altLang="zh-CN" dirty="0">
                <a:solidFill>
                  <a:srgbClr val="0000CC"/>
                </a:solidFill>
                <a:latin typeface="Courier" pitchFamily="2" charset="0"/>
              </a:rPr>
              <a:t>float</a:t>
            </a:r>
            <a:endParaRPr kumimoji="1" lang="zh-CN" altLang="en-US" dirty="0">
              <a:solidFill>
                <a:srgbClr val="0000CC"/>
              </a:solidFill>
              <a:latin typeface="Courie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43621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7DF240-BFA4-564D-9B0E-BE0F77DE5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Precision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614D5F6-3D87-FD42-9577-A574881148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26995"/>
            <a:ext cx="8458201" cy="4849968"/>
          </a:xfrm>
        </p:spPr>
        <p:txBody>
          <a:bodyPr/>
          <a:lstStyle/>
          <a:p>
            <a:r>
              <a:rPr kumimoji="1" lang="en-US" altLang="zh-CN" dirty="0"/>
              <a:t>Will f2 be greater than f1?</a:t>
            </a:r>
          </a:p>
          <a:p>
            <a:endParaRPr kumimoji="1" lang="en-US" altLang="zh-CN" dirty="0"/>
          </a:p>
          <a:p>
            <a:endParaRPr kumimoji="1" lang="en-US" altLang="zh-CN" dirty="0"/>
          </a:p>
          <a:p>
            <a:pPr marL="685800" lvl="1" indent="0">
              <a:buNone/>
            </a:pP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float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f1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234</a:t>
            </a:r>
            <a:r>
              <a:rPr lang="en-US" altLang="zh-CN">
                <a:solidFill>
                  <a:srgbClr val="098658"/>
                </a:solidFill>
                <a:latin typeface="Menlo" panose="020B0609030804020204" pitchFamily="49" charset="0"/>
              </a:rPr>
              <a:t>00000000</a:t>
            </a:r>
            <a:r>
              <a:rPr lang="en" altLang="zh-CN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685800" lvl="1" indent="0">
              <a:buNone/>
            </a:pP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float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f2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f1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+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10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  <a:r>
              <a:rPr lang="zh-CN" alt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// but f2 = f1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kumimoji="1" lang="en-US" altLang="zh-CN" dirty="0"/>
              <a:t>Why?</a:t>
            </a:r>
          </a:p>
          <a:p>
            <a:endParaRPr kumimoji="1" lang="en-US" altLang="zh-CN" dirty="0"/>
          </a:p>
          <a:p>
            <a:r>
              <a:rPr kumimoji="1" lang="en-US" altLang="zh-CN" dirty="0"/>
              <a:t>Can we use == operator to compare two floating point numbers?</a:t>
            </a:r>
            <a:endParaRPr kumimoji="1"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0BFE841-8422-1644-A918-690D8726BADA}"/>
              </a:ext>
            </a:extLst>
          </p:cNvPr>
          <p:cNvSpPr/>
          <p:nvPr/>
        </p:nvSpPr>
        <p:spPr>
          <a:xfrm>
            <a:off x="1475471" y="2348448"/>
            <a:ext cx="2185214" cy="40011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" altLang="zh-CN" sz="2000" dirty="0" err="1">
                <a:solidFill>
                  <a:srgbClr val="0000C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precision.cpp</a:t>
            </a:r>
            <a:endParaRPr lang="zh-CN" altLang="en-US" sz="2000" dirty="0">
              <a:solidFill>
                <a:srgbClr val="0000CC"/>
              </a:solidFill>
              <a:highlight>
                <a:srgbClr val="FFFF00"/>
              </a:highlight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BFF2CCF-41B5-DD47-AEB0-292841B6D5BB}"/>
              </a:ext>
            </a:extLst>
          </p:cNvPr>
          <p:cNvSpPr/>
          <p:nvPr/>
        </p:nvSpPr>
        <p:spPr>
          <a:xfrm>
            <a:off x="1376479" y="5531005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if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(f1 == f2)</a:t>
            </a:r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 //bad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if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fabs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(f1 - f2) &lt; FLT_EPSILON)</a:t>
            </a:r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 // good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1203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2F5ACC-7979-F94C-9460-039CF0015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solidFill>
                  <a:srgbClr val="0000CC"/>
                </a:solidFill>
                <a:latin typeface="Courier" pitchFamily="2" charset="0"/>
              </a:rPr>
              <a:t>inf</a:t>
            </a:r>
            <a:r>
              <a:rPr kumimoji="1" lang="en-US" altLang="zh-CN" dirty="0"/>
              <a:t> and </a:t>
            </a:r>
            <a:r>
              <a:rPr kumimoji="1" lang="en-US" altLang="zh-CN" dirty="0">
                <a:solidFill>
                  <a:srgbClr val="0000CC"/>
                </a:solidFill>
                <a:latin typeface="Courier" pitchFamily="2" charset="0"/>
              </a:rPr>
              <a:t>nan</a:t>
            </a:r>
            <a:endParaRPr kumimoji="1" lang="zh-CN" altLang="en-US" dirty="0">
              <a:solidFill>
                <a:srgbClr val="0000CC"/>
              </a:solidFill>
              <a:latin typeface="Courier" pitchFamily="2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6385CCA-CFD9-534D-BB0E-70D5DB2DDE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What will f1 and f2 be?</a:t>
            </a:r>
            <a:endParaRPr kumimoji="1" lang="zh-CN" altLang="en-US" dirty="0"/>
          </a:p>
          <a:p>
            <a:pPr marL="685800" lvl="1" indent="0">
              <a:buNone/>
            </a:pPr>
            <a:endParaRPr lang="en" altLang="zh-CN" dirty="0">
              <a:solidFill>
                <a:srgbClr val="0000FF"/>
              </a:solidFill>
              <a:latin typeface="Menlo" panose="020B0609030804020204" pitchFamily="49" charset="0"/>
            </a:endParaRPr>
          </a:p>
          <a:p>
            <a:pPr marL="457200" lvl="1" indent="0">
              <a:buNone/>
            </a:pP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float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f1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2.0f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/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0.0f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457200" lvl="1" indent="0">
              <a:buNone/>
            </a:pP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float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f2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0.0f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/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0.0f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endParaRPr kumimoji="1" lang="en-US" altLang="zh-CN" dirty="0"/>
          </a:p>
          <a:p>
            <a:r>
              <a:rPr kumimoji="1" lang="en-US" altLang="zh-CN" dirty="0"/>
              <a:t>±inf: infinity (Exponent=11111111, fraction=0)</a:t>
            </a:r>
          </a:p>
          <a:p>
            <a:r>
              <a:rPr kumimoji="1" lang="en-US" altLang="zh-CN" dirty="0"/>
              <a:t>nan: not a number (Exponent=11111111, fraction!=0)</a:t>
            </a:r>
          </a:p>
          <a:p>
            <a:endParaRPr kumimoji="1" lang="en-US" altLang="zh-CN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3391D30-6F65-A346-BD4B-B11B0A1F916E}"/>
              </a:ext>
            </a:extLst>
          </p:cNvPr>
          <p:cNvSpPr/>
          <p:nvPr/>
        </p:nvSpPr>
        <p:spPr>
          <a:xfrm>
            <a:off x="1502365" y="1783671"/>
            <a:ext cx="1261884" cy="40011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" altLang="zh-CN" sz="2000" dirty="0" err="1">
                <a:solidFill>
                  <a:srgbClr val="0000C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nan.cpp</a:t>
            </a:r>
            <a:endParaRPr lang="zh-CN" altLang="en-US" sz="2000" dirty="0">
              <a:solidFill>
                <a:srgbClr val="0000CC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0445392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6FAFA1AD-1EB2-D44A-BD76-2F9542D0D6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Arithmetic Operators</a:t>
            </a:r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92B05F09-50DD-7942-A04D-270E11AE44B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73137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A28B48-84FF-4647-B4DA-B4DFC168F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Constant numbers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11C96E4-DD63-1746-A211-DF67FE6FD7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6995"/>
            <a:ext cx="4199966" cy="4849968"/>
          </a:xfrm>
        </p:spPr>
        <p:txBody>
          <a:bodyPr/>
          <a:lstStyle/>
          <a:p>
            <a:pPr marL="0" indent="0">
              <a:buNone/>
            </a:pPr>
            <a:r>
              <a:rPr lang="en" altLang="zh-CN" dirty="0"/>
              <a:t>95 </a:t>
            </a:r>
            <a:r>
              <a:rPr lang="en" altLang="zh-CN" dirty="0">
                <a:solidFill>
                  <a:srgbClr val="007000"/>
                </a:solidFill>
              </a:rPr>
              <a:t>// decimal</a:t>
            </a:r>
            <a:r>
              <a:rPr lang="en" altLang="zh-CN" dirty="0"/>
              <a:t> </a:t>
            </a:r>
          </a:p>
          <a:p>
            <a:pPr marL="0" indent="0">
              <a:buNone/>
            </a:pPr>
            <a:r>
              <a:rPr lang="en" altLang="zh-CN" dirty="0"/>
              <a:t>0137</a:t>
            </a:r>
            <a:r>
              <a:rPr lang="en" altLang="zh-CN" dirty="0">
                <a:solidFill>
                  <a:srgbClr val="007000"/>
                </a:solidFill>
              </a:rPr>
              <a:t>// octal</a:t>
            </a:r>
            <a:r>
              <a:rPr lang="en" altLang="zh-CN" dirty="0"/>
              <a:t> </a:t>
            </a:r>
          </a:p>
          <a:p>
            <a:pPr marL="0" indent="0">
              <a:buNone/>
            </a:pPr>
            <a:r>
              <a:rPr lang="en" altLang="zh-CN" dirty="0"/>
              <a:t>0x5F </a:t>
            </a:r>
            <a:r>
              <a:rPr lang="en" altLang="zh-CN" dirty="0">
                <a:solidFill>
                  <a:srgbClr val="007000"/>
                </a:solidFill>
              </a:rPr>
              <a:t>// hexadecimal </a:t>
            </a:r>
          </a:p>
          <a:p>
            <a:pPr marL="0" indent="0">
              <a:buNone/>
            </a:pPr>
            <a:endParaRPr kumimoji="1" lang="en" altLang="zh-CN" dirty="0">
              <a:solidFill>
                <a:srgbClr val="007000"/>
              </a:solidFill>
            </a:endParaRPr>
          </a:p>
          <a:p>
            <a:pPr marL="0" indent="0">
              <a:buNone/>
            </a:pPr>
            <a:r>
              <a:rPr lang="en" altLang="zh-CN" dirty="0"/>
              <a:t>95 </a:t>
            </a:r>
            <a:r>
              <a:rPr lang="en" altLang="zh-CN" dirty="0">
                <a:solidFill>
                  <a:srgbClr val="007000"/>
                </a:solidFill>
              </a:rPr>
              <a:t>// int</a:t>
            </a:r>
            <a:r>
              <a:rPr lang="en" altLang="zh-CN" dirty="0"/>
              <a:t> </a:t>
            </a:r>
          </a:p>
          <a:p>
            <a:pPr marL="0" indent="0">
              <a:buNone/>
            </a:pPr>
            <a:r>
              <a:rPr lang="en" altLang="zh-CN" dirty="0"/>
              <a:t>95u </a:t>
            </a:r>
            <a:r>
              <a:rPr lang="en" altLang="zh-CN" dirty="0">
                <a:solidFill>
                  <a:srgbClr val="007000"/>
                </a:solidFill>
              </a:rPr>
              <a:t>// unsigned int</a:t>
            </a:r>
            <a:r>
              <a:rPr lang="en" altLang="zh-CN" dirty="0"/>
              <a:t> </a:t>
            </a:r>
          </a:p>
          <a:p>
            <a:pPr marL="0" indent="0">
              <a:buNone/>
            </a:pPr>
            <a:r>
              <a:rPr lang="en" altLang="zh-CN" dirty="0"/>
              <a:t>95l </a:t>
            </a:r>
            <a:r>
              <a:rPr lang="en" altLang="zh-CN" dirty="0">
                <a:solidFill>
                  <a:srgbClr val="007000"/>
                </a:solidFill>
              </a:rPr>
              <a:t>// long</a:t>
            </a:r>
            <a:r>
              <a:rPr lang="en" altLang="zh-CN" dirty="0"/>
              <a:t> </a:t>
            </a:r>
          </a:p>
          <a:p>
            <a:pPr marL="0" indent="0">
              <a:buNone/>
            </a:pPr>
            <a:r>
              <a:rPr lang="en" altLang="zh-CN" dirty="0"/>
              <a:t>95ul </a:t>
            </a:r>
            <a:r>
              <a:rPr lang="en" altLang="zh-CN" dirty="0">
                <a:solidFill>
                  <a:srgbClr val="007000"/>
                </a:solidFill>
              </a:rPr>
              <a:t>// unsigned long </a:t>
            </a:r>
          </a:p>
          <a:p>
            <a:pPr marL="0" indent="0">
              <a:buNone/>
            </a:pPr>
            <a:r>
              <a:rPr lang="en" altLang="zh-CN" dirty="0"/>
              <a:t>95lu </a:t>
            </a:r>
            <a:r>
              <a:rPr lang="en" altLang="zh-CN" dirty="0">
                <a:solidFill>
                  <a:srgbClr val="007000"/>
                </a:solidFill>
              </a:rPr>
              <a:t>// unsigned long </a:t>
            </a:r>
            <a:endParaRPr kumimoji="1"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D6F4D6D-31E1-D945-9B1C-095DDE70D560}"/>
              </a:ext>
            </a:extLst>
          </p:cNvPr>
          <p:cNvSpPr/>
          <p:nvPr/>
        </p:nvSpPr>
        <p:spPr>
          <a:xfrm>
            <a:off x="5204408" y="1232322"/>
            <a:ext cx="4979498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CN" sz="2800" dirty="0"/>
              <a:t>3.14159 </a:t>
            </a:r>
            <a:r>
              <a:rPr lang="en" altLang="zh-CN" sz="2800" dirty="0">
                <a:solidFill>
                  <a:srgbClr val="007000"/>
                </a:solidFill>
              </a:rPr>
              <a:t>// 3.14159</a:t>
            </a:r>
            <a:r>
              <a:rPr lang="en" altLang="zh-CN" sz="2800" dirty="0"/>
              <a:t> </a:t>
            </a:r>
          </a:p>
          <a:p>
            <a:r>
              <a:rPr lang="en" altLang="zh-CN" sz="2800" dirty="0"/>
              <a:t>6.02e23 </a:t>
            </a:r>
            <a:r>
              <a:rPr lang="en" altLang="zh-CN" sz="2800" dirty="0">
                <a:solidFill>
                  <a:srgbClr val="007000"/>
                </a:solidFill>
              </a:rPr>
              <a:t>// 6.02 x 10^23</a:t>
            </a:r>
            <a:r>
              <a:rPr lang="en" altLang="zh-CN" sz="2800" dirty="0"/>
              <a:t> </a:t>
            </a:r>
          </a:p>
          <a:p>
            <a:r>
              <a:rPr lang="en" altLang="zh-CN" sz="2800" dirty="0"/>
              <a:t>1.6e-19 </a:t>
            </a:r>
            <a:r>
              <a:rPr lang="en" altLang="zh-CN" sz="2800" dirty="0">
                <a:solidFill>
                  <a:srgbClr val="007000"/>
                </a:solidFill>
              </a:rPr>
              <a:t>// 1.6 x 10^-19</a:t>
            </a:r>
            <a:r>
              <a:rPr lang="en" altLang="zh-CN" sz="2800" dirty="0"/>
              <a:t> </a:t>
            </a:r>
          </a:p>
          <a:p>
            <a:r>
              <a:rPr lang="en" altLang="zh-CN" sz="2800" dirty="0"/>
              <a:t>3.0 </a:t>
            </a:r>
            <a:r>
              <a:rPr lang="en" altLang="zh-CN" sz="2800" dirty="0">
                <a:solidFill>
                  <a:srgbClr val="007000"/>
                </a:solidFill>
              </a:rPr>
              <a:t>// 3.0 </a:t>
            </a:r>
            <a:endParaRPr lang="zh-CN" altLang="en-US" sz="28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154743F-0476-1A42-AF4B-E230A560CD2D}"/>
              </a:ext>
            </a:extLst>
          </p:cNvPr>
          <p:cNvSpPr/>
          <p:nvPr/>
        </p:nvSpPr>
        <p:spPr>
          <a:xfrm>
            <a:off x="5177911" y="3751979"/>
            <a:ext cx="3765143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CN" sz="2800" dirty="0"/>
              <a:t>6.02e23L </a:t>
            </a:r>
            <a:r>
              <a:rPr lang="en" altLang="zh-CN" sz="2800" dirty="0">
                <a:solidFill>
                  <a:srgbClr val="007000"/>
                </a:solidFill>
              </a:rPr>
              <a:t>// long double</a:t>
            </a:r>
            <a:r>
              <a:rPr lang="en" altLang="zh-CN" sz="2800" dirty="0"/>
              <a:t> </a:t>
            </a:r>
          </a:p>
          <a:p>
            <a:r>
              <a:rPr lang="en" altLang="zh-CN" sz="2800" dirty="0"/>
              <a:t>6.02e23f </a:t>
            </a:r>
            <a:r>
              <a:rPr lang="en" altLang="zh-CN" sz="2800" dirty="0">
                <a:solidFill>
                  <a:srgbClr val="007000"/>
                </a:solidFill>
              </a:rPr>
              <a:t>// float </a:t>
            </a:r>
          </a:p>
          <a:p>
            <a:r>
              <a:rPr lang="en" altLang="zh-CN" sz="2800" dirty="0"/>
              <a:t>6.02e23 </a:t>
            </a:r>
            <a:r>
              <a:rPr lang="en" altLang="zh-CN" sz="2800" dirty="0">
                <a:solidFill>
                  <a:srgbClr val="007000"/>
                </a:solidFill>
              </a:rPr>
              <a:t>// double</a:t>
            </a:r>
          </a:p>
        </p:txBody>
      </p:sp>
    </p:spTree>
    <p:extLst>
      <p:ext uri="{BB962C8B-B14F-4D97-AF65-F5344CB8AC3E}">
        <p14:creationId xmlns:p14="http://schemas.microsoft.com/office/powerpoint/2010/main" val="3596550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EEAE89-9CA9-114A-B66D-CF0821DDF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const type qualifier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5A4A5CC-F360-F244-866D-D116EEAC34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const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float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pi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3.1415926f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en" altLang="zh-CN">
                <a:solidFill>
                  <a:srgbClr val="001080"/>
                </a:solidFill>
                <a:latin typeface="Menlo" panose="020B0609030804020204" pitchFamily="49" charset="0"/>
              </a:rPr>
              <a:t>pi</a:t>
            </a:r>
            <a:r>
              <a:rPr lang="en" altLang="zh-CN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+=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1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 //error!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endParaRPr kumimoji="1" lang="en-US" altLang="zh-CN" dirty="0"/>
          </a:p>
          <a:p>
            <a:r>
              <a:rPr kumimoji="1" lang="en-US" altLang="zh-CN" dirty="0"/>
              <a:t>If a variable/object is const-qualified, it cannot be modified. </a:t>
            </a:r>
          </a:p>
          <a:p>
            <a:r>
              <a:rPr kumimoji="1" lang="en-US" altLang="zh-CN" dirty="0"/>
              <a:t>It must be initialized when you define it.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43420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E407C1-8B0C-FE45-A45C-592070C37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auto</a:t>
            </a:r>
            <a:r>
              <a:rPr kumimoji="1" lang="en-US" altLang="zh-CN" sz="3200" dirty="0">
                <a:solidFill>
                  <a:schemeClr val="accent6">
                    <a:lumMod val="75000"/>
                  </a:schemeClr>
                </a:solidFill>
              </a:rPr>
              <a:t> (since C++11)</a:t>
            </a:r>
            <a:endParaRPr kumimoji="1" lang="zh-CN" alt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140D858-0047-CC43-89D2-7D3C949284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auto</a:t>
            </a:r>
            <a:r>
              <a:rPr kumimoji="1" lang="en-US" altLang="zh-CN" dirty="0"/>
              <a:t> is</a:t>
            </a:r>
            <a:r>
              <a:rPr lang="en" altLang="zh-CN" dirty="0"/>
              <a:t> placeholder type specifier. </a:t>
            </a:r>
          </a:p>
          <a:p>
            <a:pPr marL="0" indent="0">
              <a:buNone/>
            </a:pPr>
            <a:r>
              <a:rPr lang="en" altLang="zh-CN" dirty="0"/>
              <a:t>The type of the variable will be deduced from its initializer.</a:t>
            </a:r>
            <a:endParaRPr kumimoji="1" lang="en-US" altLang="zh-CN" dirty="0"/>
          </a:p>
          <a:p>
            <a:pPr marL="685800" lvl="1" indent="0">
              <a:buNone/>
            </a:pP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auto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a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2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 // type of a is int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685800" lvl="1" indent="0">
              <a:buNone/>
            </a:pP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auto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bc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2.3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 // type of b is double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685800" lvl="1" indent="0">
              <a:buNone/>
            </a:pP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auto</a:t>
            </a:r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c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;</a:t>
            </a:r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 //valid in C, error in C++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685800" lvl="1" indent="0">
              <a:buNone/>
            </a:pP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auto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d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a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*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1.2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 </a:t>
            </a:r>
          </a:p>
          <a:p>
            <a:endParaRPr kumimoji="1" lang="en-US" altLang="zh-CN" dirty="0"/>
          </a:p>
          <a:p>
            <a:r>
              <a:rPr kumimoji="1" lang="en-US" altLang="zh-CN" dirty="0"/>
              <a:t>Question: </a:t>
            </a:r>
          </a:p>
          <a:p>
            <a:pPr marL="685800" lvl="1" indent="0">
              <a:buNone/>
            </a:pP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auto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a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2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 // type of a is int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685800" lvl="1" indent="0">
              <a:buNone/>
            </a:pPr>
            <a:endParaRPr lang="en" altLang="zh-CN" dirty="0">
              <a:solidFill>
                <a:srgbClr val="008000"/>
              </a:solidFill>
              <a:latin typeface="Menlo" panose="020B0609030804020204" pitchFamily="49" charset="0"/>
            </a:endParaRPr>
          </a:p>
          <a:p>
            <a:pPr marL="685800" lvl="1" indent="0">
              <a:buNone/>
            </a:pPr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// will a be converted to a </a:t>
            </a:r>
            <a:b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</a:br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//   double type variable?</a:t>
            </a:r>
            <a:endParaRPr lang="en" altLang="zh-CN" dirty="0">
              <a:solidFill>
                <a:srgbClr val="001080"/>
              </a:solidFill>
              <a:latin typeface="Menlo" panose="020B0609030804020204" pitchFamily="49" charset="0"/>
            </a:endParaRPr>
          </a:p>
          <a:p>
            <a:pPr marL="685800" lvl="1" indent="0">
              <a:buNone/>
            </a:pP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a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2.3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 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endParaRPr kumimoji="1"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A5D2145-3033-0D41-900A-435015FD939F}"/>
              </a:ext>
            </a:extLst>
          </p:cNvPr>
          <p:cNvSpPr/>
          <p:nvPr/>
        </p:nvSpPr>
        <p:spPr>
          <a:xfrm>
            <a:off x="1376479" y="6009836"/>
            <a:ext cx="7721153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zh-CN" sz="2600" dirty="0">
                <a:solidFill>
                  <a:srgbClr val="FF0000"/>
                </a:solidFill>
              </a:rPr>
              <a:t>No! </a:t>
            </a:r>
            <a:r>
              <a:rPr lang="en" altLang="zh-CN" sz="2600" dirty="0">
                <a:solidFill>
                  <a:prstClr val="black"/>
                </a:solidFill>
              </a:rPr>
              <a:t>2.3 will be converted to a </a:t>
            </a:r>
            <a:r>
              <a:rPr lang="en" altLang="zh-CN" sz="2600" dirty="0">
                <a:solidFill>
                  <a:srgbClr val="0000CC"/>
                </a:solidFill>
                <a:latin typeface="Courier" pitchFamily="2" charset="0"/>
              </a:rPr>
              <a:t>int</a:t>
            </a:r>
            <a:r>
              <a:rPr lang="en" altLang="zh-CN" sz="2600" dirty="0">
                <a:solidFill>
                  <a:prstClr val="black"/>
                </a:solidFill>
              </a:rPr>
              <a:t> 2, then assigned to </a:t>
            </a:r>
            <a:r>
              <a:rPr lang="en" altLang="zh-CN" sz="2600" dirty="0">
                <a:solidFill>
                  <a:srgbClr val="0000CC"/>
                </a:solidFill>
                <a:latin typeface="Courier" pitchFamily="2" charset="0"/>
              </a:rPr>
              <a:t>a</a:t>
            </a:r>
            <a:endParaRPr lang="zh-CN" altLang="en-US" dirty="0">
              <a:solidFill>
                <a:srgbClr val="0000CC"/>
              </a:solidFill>
              <a:latin typeface="Courie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0927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08AADA-DC00-0B43-BDB3-CD74372C4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" altLang="zh-CN" dirty="0"/>
              <a:t>Arithmetic operators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A0DC3E5-D757-7649-BBB1-4AA5D23781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8776" y="1326995"/>
            <a:ext cx="5993302" cy="4849968"/>
          </a:xfrm>
        </p:spPr>
        <p:txBody>
          <a:bodyPr/>
          <a:lstStyle/>
          <a:p>
            <a:r>
              <a:rPr kumimoji="1" lang="en-US" altLang="zh-CN" dirty="0"/>
              <a:t>Operator Precedence</a:t>
            </a:r>
          </a:p>
          <a:p>
            <a:pPr marL="457200" lvl="1" indent="0">
              <a:buNone/>
            </a:pPr>
            <a:r>
              <a:rPr kumimoji="1" lang="en-US" altLang="zh-CN" dirty="0"/>
              <a:t>If you cannot remember the precedence, use parentheses!</a:t>
            </a:r>
          </a:p>
          <a:p>
            <a:pPr lvl="1"/>
            <a:r>
              <a:rPr kumimoji="1" lang="en-US" altLang="zh-CN" dirty="0"/>
              <a:t>a++</a:t>
            </a:r>
            <a:endParaRPr kumimoji="1" lang="zh-CN" altLang="en-US" dirty="0"/>
          </a:p>
          <a:p>
            <a:pPr lvl="1"/>
            <a:r>
              <a:rPr kumimoji="1" lang="en-US" altLang="zh-CN" dirty="0"/>
              <a:t>++a</a:t>
            </a:r>
          </a:p>
          <a:p>
            <a:pPr lvl="1"/>
            <a:r>
              <a:rPr kumimoji="1" lang="en-US" altLang="zh-CN" dirty="0"/>
              <a:t>*   /</a:t>
            </a:r>
          </a:p>
          <a:p>
            <a:pPr lvl="1"/>
            <a:r>
              <a:rPr kumimoji="1" lang="en-US" altLang="zh-CN" dirty="0"/>
              <a:t>+   -</a:t>
            </a:r>
          </a:p>
          <a:p>
            <a:pPr lvl="1"/>
            <a:r>
              <a:rPr kumimoji="1" lang="en-US" altLang="zh-CN" dirty="0"/>
              <a:t>&lt;&lt;   &gt;&gt;</a:t>
            </a:r>
          </a:p>
          <a:p>
            <a:pPr lvl="1"/>
            <a:endParaRPr kumimoji="1" lang="zh-CN" altLang="en-US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23715DBC-81F0-6942-B3E6-E1BDCC7C3A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1803391"/>
              </p:ext>
            </p:extLst>
          </p:nvPr>
        </p:nvGraphicFramePr>
        <p:xfrm>
          <a:off x="1376479" y="1305804"/>
          <a:ext cx="3535452" cy="528797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14590">
                  <a:extLst>
                    <a:ext uri="{9D8B030D-6E8A-4147-A177-3AD203B41FA5}">
                      <a16:colId xmlns:a16="http://schemas.microsoft.com/office/drawing/2014/main" val="1629708644"/>
                    </a:ext>
                  </a:extLst>
                </a:gridCol>
                <a:gridCol w="1320862">
                  <a:extLst>
                    <a:ext uri="{9D8B030D-6E8A-4147-A177-3AD203B41FA5}">
                      <a16:colId xmlns:a16="http://schemas.microsoft.com/office/drawing/2014/main" val="443638805"/>
                    </a:ext>
                  </a:extLst>
                </a:gridCol>
              </a:tblGrid>
              <a:tr h="318768">
                <a:tc>
                  <a:txBody>
                    <a:bodyPr/>
                    <a:lstStyle/>
                    <a:p>
                      <a:pPr algn="l" fontAlgn="ctr"/>
                      <a:r>
                        <a:rPr lang="en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  <a:cs typeface="Arial" panose="020B0604020202020204" pitchFamily="34" charset="0"/>
                        </a:rPr>
                        <a:t>Operator name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等线" panose="02010600030101010101" pitchFamily="2" charset="-122"/>
                          <a:cs typeface="Arial" panose="020B0604020202020204" pitchFamily="34" charset="0"/>
                        </a:rPr>
                        <a:t>Syntax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76450498"/>
                  </a:ext>
                </a:extLst>
              </a:tr>
              <a:tr h="318768">
                <a:tc>
                  <a:txBody>
                    <a:bodyPr/>
                    <a:lstStyle/>
                    <a:p>
                      <a:pPr algn="l" fontAlgn="ctr"/>
                      <a:r>
                        <a:rPr lang="en" sz="2000" u="none" strike="noStrike" dirty="0">
                          <a:effectLst/>
                        </a:rPr>
                        <a:t>unary plus</a:t>
                      </a:r>
                      <a:endParaRPr lang="e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" sz="2000" u="none" strike="noStrike" dirty="0">
                          <a:effectLst/>
                          <a:latin typeface="Courier" pitchFamily="2" charset="0"/>
                        </a:rPr>
                        <a:t>+a</a:t>
                      </a:r>
                      <a:endParaRPr lang="en" sz="2000" b="0" i="0" u="none" strike="noStrike" dirty="0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68626649"/>
                  </a:ext>
                </a:extLst>
              </a:tr>
              <a:tr h="318768">
                <a:tc>
                  <a:txBody>
                    <a:bodyPr/>
                    <a:lstStyle/>
                    <a:p>
                      <a:pPr algn="l" fontAlgn="ctr"/>
                      <a:r>
                        <a:rPr lang="en" sz="2000" u="none" strike="noStrike">
                          <a:effectLst/>
                        </a:rPr>
                        <a:t>unary minus</a:t>
                      </a:r>
                      <a:endParaRPr lang="en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" sz="2000" u="none" strike="noStrike" dirty="0">
                          <a:effectLst/>
                          <a:latin typeface="Courier" pitchFamily="2" charset="0"/>
                        </a:rPr>
                        <a:t>-a</a:t>
                      </a:r>
                      <a:endParaRPr lang="en" sz="2000" b="0" i="0" u="none" strike="noStrike" dirty="0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43784205"/>
                  </a:ext>
                </a:extLst>
              </a:tr>
              <a:tr h="438010">
                <a:tc>
                  <a:txBody>
                    <a:bodyPr/>
                    <a:lstStyle/>
                    <a:p>
                      <a:pPr algn="l" fontAlgn="ctr"/>
                      <a:r>
                        <a:rPr lang="en" sz="2000" u="none" strike="noStrike">
                          <a:effectLst/>
                        </a:rPr>
                        <a:t>addition</a:t>
                      </a:r>
                      <a:endParaRPr lang="en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" sz="2000" u="none" strike="noStrike" dirty="0">
                          <a:effectLst/>
                          <a:latin typeface="Courier" pitchFamily="2" charset="0"/>
                        </a:rPr>
                        <a:t>a + b</a:t>
                      </a:r>
                      <a:endParaRPr lang="en" sz="2000" b="0" i="0" u="none" strike="noStrike" dirty="0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40649179"/>
                  </a:ext>
                </a:extLst>
              </a:tr>
              <a:tr h="318768">
                <a:tc>
                  <a:txBody>
                    <a:bodyPr/>
                    <a:lstStyle/>
                    <a:p>
                      <a:pPr algn="l" fontAlgn="ctr"/>
                      <a:r>
                        <a:rPr lang="en" sz="2000" u="none" strike="noStrike">
                          <a:effectLst/>
                        </a:rPr>
                        <a:t>subtraction</a:t>
                      </a:r>
                      <a:endParaRPr lang="en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" sz="2000" u="none" strike="noStrike" dirty="0">
                          <a:effectLst/>
                          <a:latin typeface="Courier" pitchFamily="2" charset="0"/>
                        </a:rPr>
                        <a:t>a - b</a:t>
                      </a:r>
                      <a:endParaRPr lang="en" sz="2000" b="0" i="0" u="none" strike="noStrike" dirty="0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42410959"/>
                  </a:ext>
                </a:extLst>
              </a:tr>
              <a:tr h="554095">
                <a:tc>
                  <a:txBody>
                    <a:bodyPr/>
                    <a:lstStyle/>
                    <a:p>
                      <a:pPr algn="l" fontAlgn="ctr"/>
                      <a:r>
                        <a:rPr lang="en" sz="2000" u="none" strike="noStrike" dirty="0">
                          <a:effectLst/>
                        </a:rPr>
                        <a:t>multiplication</a:t>
                      </a:r>
                      <a:endParaRPr lang="e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" sz="2000" u="none" strike="noStrike" dirty="0">
                          <a:effectLst/>
                          <a:latin typeface="Courier" pitchFamily="2" charset="0"/>
                        </a:rPr>
                        <a:t>a * b</a:t>
                      </a:r>
                      <a:endParaRPr lang="en" sz="2000" b="0" i="0" u="none" strike="noStrike" dirty="0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19607551"/>
                  </a:ext>
                </a:extLst>
              </a:tr>
              <a:tr h="318768">
                <a:tc>
                  <a:txBody>
                    <a:bodyPr/>
                    <a:lstStyle/>
                    <a:p>
                      <a:pPr algn="l" fontAlgn="ctr"/>
                      <a:r>
                        <a:rPr lang="en" sz="2000" u="none" strike="noStrike" dirty="0">
                          <a:effectLst/>
                        </a:rPr>
                        <a:t>division</a:t>
                      </a:r>
                      <a:endParaRPr lang="e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" sz="2000" u="none" strike="noStrike" dirty="0">
                          <a:effectLst/>
                          <a:latin typeface="Courier" pitchFamily="2" charset="0"/>
                        </a:rPr>
                        <a:t>a / b</a:t>
                      </a:r>
                      <a:endParaRPr lang="en" sz="2000" b="0" i="0" u="none" strike="noStrike" dirty="0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08277480"/>
                  </a:ext>
                </a:extLst>
              </a:tr>
              <a:tr h="318768">
                <a:tc>
                  <a:txBody>
                    <a:bodyPr/>
                    <a:lstStyle/>
                    <a:p>
                      <a:pPr algn="l" fontAlgn="ctr"/>
                      <a:r>
                        <a:rPr lang="en" sz="2000" u="none" strike="noStrike">
                          <a:effectLst/>
                        </a:rPr>
                        <a:t>modulo</a:t>
                      </a:r>
                      <a:endParaRPr lang="en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" sz="2000" u="none" strike="noStrike" dirty="0">
                          <a:effectLst/>
                          <a:latin typeface="Courier" pitchFamily="2" charset="0"/>
                        </a:rPr>
                        <a:t>a % b</a:t>
                      </a:r>
                      <a:endParaRPr lang="en" sz="2000" b="0" i="0" u="none" strike="noStrike" dirty="0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836351966"/>
                  </a:ext>
                </a:extLst>
              </a:tr>
              <a:tr h="318768">
                <a:tc>
                  <a:txBody>
                    <a:bodyPr/>
                    <a:lstStyle/>
                    <a:p>
                      <a:pPr algn="l" fontAlgn="ctr"/>
                      <a:r>
                        <a:rPr lang="en" sz="2000" u="none" strike="noStrike" dirty="0">
                          <a:effectLst/>
                        </a:rPr>
                        <a:t>bitwise NOT</a:t>
                      </a:r>
                      <a:endParaRPr lang="e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" sz="2000" u="none" strike="noStrike" dirty="0">
                          <a:effectLst/>
                          <a:latin typeface="Courier" pitchFamily="2" charset="0"/>
                        </a:rPr>
                        <a:t>~a</a:t>
                      </a:r>
                      <a:endParaRPr lang="en" sz="2000" b="0" i="0" u="none" strike="noStrike" dirty="0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02207341"/>
                  </a:ext>
                </a:extLst>
              </a:tr>
              <a:tr h="318768">
                <a:tc>
                  <a:txBody>
                    <a:bodyPr/>
                    <a:lstStyle/>
                    <a:p>
                      <a:pPr algn="l" fontAlgn="ctr"/>
                      <a:r>
                        <a:rPr lang="en" sz="2000" u="none" strike="noStrike" dirty="0">
                          <a:effectLst/>
                        </a:rPr>
                        <a:t>bitwise AND</a:t>
                      </a:r>
                      <a:endParaRPr lang="e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" sz="2000" u="none" strike="noStrike" dirty="0">
                          <a:effectLst/>
                          <a:latin typeface="Courier" pitchFamily="2" charset="0"/>
                        </a:rPr>
                        <a:t>a &amp; b</a:t>
                      </a:r>
                      <a:endParaRPr lang="en" sz="2000" b="0" i="0" u="none" strike="noStrike" dirty="0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34952485"/>
                  </a:ext>
                </a:extLst>
              </a:tr>
              <a:tr h="318768">
                <a:tc>
                  <a:txBody>
                    <a:bodyPr/>
                    <a:lstStyle/>
                    <a:p>
                      <a:pPr algn="l" fontAlgn="ctr"/>
                      <a:r>
                        <a:rPr lang="en" sz="2000" u="none" strike="noStrike">
                          <a:effectLst/>
                        </a:rPr>
                        <a:t>bitwise OR</a:t>
                      </a:r>
                      <a:endParaRPr lang="en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" sz="2000" u="none" strike="noStrike" dirty="0">
                          <a:effectLst/>
                          <a:latin typeface="Courier" pitchFamily="2" charset="0"/>
                        </a:rPr>
                        <a:t>a | b</a:t>
                      </a:r>
                      <a:endParaRPr lang="en" sz="2000" b="0" i="0" u="none" strike="noStrike" dirty="0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60013906"/>
                  </a:ext>
                </a:extLst>
              </a:tr>
              <a:tr h="318768">
                <a:tc>
                  <a:txBody>
                    <a:bodyPr/>
                    <a:lstStyle/>
                    <a:p>
                      <a:pPr algn="l" fontAlgn="ctr"/>
                      <a:r>
                        <a:rPr lang="en" sz="2000" u="none" strike="noStrike">
                          <a:effectLst/>
                        </a:rPr>
                        <a:t>bitwise XOR</a:t>
                      </a:r>
                      <a:endParaRPr lang="en" sz="2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" sz="2000" u="none" strike="noStrike" dirty="0">
                          <a:effectLst/>
                          <a:latin typeface="Courier" pitchFamily="2" charset="0"/>
                        </a:rPr>
                        <a:t>a ^ b</a:t>
                      </a:r>
                      <a:endParaRPr lang="en" sz="2000" b="0" i="0" u="none" strike="noStrike" dirty="0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8946996"/>
                  </a:ext>
                </a:extLst>
              </a:tr>
              <a:tr h="554095">
                <a:tc>
                  <a:txBody>
                    <a:bodyPr/>
                    <a:lstStyle/>
                    <a:p>
                      <a:pPr algn="l" fontAlgn="ctr"/>
                      <a:r>
                        <a:rPr lang="en" sz="2000" u="none" strike="noStrike" dirty="0">
                          <a:effectLst/>
                        </a:rPr>
                        <a:t>bitwise left shift</a:t>
                      </a:r>
                      <a:endParaRPr lang="e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" sz="2000" u="none" strike="noStrike" dirty="0">
                          <a:effectLst/>
                          <a:latin typeface="Courier" pitchFamily="2" charset="0"/>
                        </a:rPr>
                        <a:t>a &lt;&lt; b</a:t>
                      </a:r>
                      <a:endParaRPr lang="en" sz="2000" b="0" i="0" u="none" strike="noStrike" dirty="0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59329642"/>
                  </a:ext>
                </a:extLst>
              </a:tr>
              <a:tr h="554095">
                <a:tc>
                  <a:txBody>
                    <a:bodyPr/>
                    <a:lstStyle/>
                    <a:p>
                      <a:pPr algn="l" fontAlgn="ctr"/>
                      <a:r>
                        <a:rPr lang="en" sz="2000" u="none" strike="noStrike" dirty="0">
                          <a:effectLst/>
                        </a:rPr>
                        <a:t>bitwise right shift</a:t>
                      </a:r>
                      <a:endParaRPr lang="en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" sz="2000" u="none" strike="noStrike" dirty="0">
                          <a:effectLst/>
                          <a:latin typeface="Courier" pitchFamily="2" charset="0"/>
                        </a:rPr>
                        <a:t>a &gt;&gt; b</a:t>
                      </a:r>
                      <a:endParaRPr lang="en" sz="2000" b="0" i="0" u="none" strike="noStrike" dirty="0">
                        <a:solidFill>
                          <a:srgbClr val="000000"/>
                        </a:solidFill>
                        <a:effectLst/>
                        <a:latin typeface="Courier" pitchFamily="2" charset="0"/>
                        <a:ea typeface="等线" panose="02010600030101010101" pitchFamily="2" charset="-122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549501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128697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EA399C-AB68-5B43-AF46-12F0E2879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CN" dirty="0"/>
              <a:t>Other operators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5261ADE-FAF9-4840-BE4B-B5CC146919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26995"/>
            <a:ext cx="4128248" cy="48499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" altLang="zh-CN" dirty="0">
                <a:latin typeface="Arial" panose="020B0604020202020204" pitchFamily="34" charset="0"/>
                <a:cs typeface="Arial" panose="020B0604020202020204" pitchFamily="34" charset="0"/>
              </a:rPr>
              <a:t>Assignment Operators</a:t>
            </a:r>
          </a:p>
          <a:p>
            <a:pPr marL="0" indent="0">
              <a:buNone/>
            </a:pPr>
            <a:r>
              <a:rPr lang="en" altLang="zh-CN" dirty="0">
                <a:solidFill>
                  <a:srgbClr val="0000CC"/>
                </a:solidFill>
                <a:latin typeface="Courier" pitchFamily="2" charset="0"/>
              </a:rPr>
              <a:t>a = b</a:t>
            </a:r>
            <a:br>
              <a:rPr lang="en" altLang="zh-CN" dirty="0">
                <a:solidFill>
                  <a:srgbClr val="0000CC"/>
                </a:solidFill>
                <a:latin typeface="Courier" pitchFamily="2" charset="0"/>
              </a:rPr>
            </a:br>
            <a:r>
              <a:rPr lang="en" altLang="zh-CN" dirty="0">
                <a:solidFill>
                  <a:srgbClr val="0000CC"/>
                </a:solidFill>
                <a:latin typeface="Courier" pitchFamily="2" charset="0"/>
              </a:rPr>
              <a:t>a += b</a:t>
            </a:r>
            <a:br>
              <a:rPr lang="en" altLang="zh-CN" dirty="0">
                <a:solidFill>
                  <a:srgbClr val="0000CC"/>
                </a:solidFill>
                <a:latin typeface="Courier" pitchFamily="2" charset="0"/>
              </a:rPr>
            </a:br>
            <a:r>
              <a:rPr lang="en" altLang="zh-CN" dirty="0">
                <a:solidFill>
                  <a:srgbClr val="0000CC"/>
                </a:solidFill>
                <a:latin typeface="Courier" pitchFamily="2" charset="0"/>
              </a:rPr>
              <a:t>a -= b</a:t>
            </a:r>
            <a:br>
              <a:rPr lang="en" altLang="zh-CN" dirty="0">
                <a:solidFill>
                  <a:srgbClr val="0000CC"/>
                </a:solidFill>
                <a:latin typeface="Courier" pitchFamily="2" charset="0"/>
              </a:rPr>
            </a:br>
            <a:r>
              <a:rPr lang="en" altLang="zh-CN" dirty="0">
                <a:solidFill>
                  <a:srgbClr val="0000CC"/>
                </a:solidFill>
                <a:latin typeface="Courier" pitchFamily="2" charset="0"/>
              </a:rPr>
              <a:t>a *= b</a:t>
            </a:r>
            <a:br>
              <a:rPr lang="en" altLang="zh-CN" dirty="0">
                <a:solidFill>
                  <a:srgbClr val="0000CC"/>
                </a:solidFill>
                <a:latin typeface="Courier" pitchFamily="2" charset="0"/>
              </a:rPr>
            </a:br>
            <a:r>
              <a:rPr lang="en" altLang="zh-CN" dirty="0">
                <a:solidFill>
                  <a:srgbClr val="0000CC"/>
                </a:solidFill>
                <a:latin typeface="Courier" pitchFamily="2" charset="0"/>
              </a:rPr>
              <a:t>a /= b</a:t>
            </a:r>
            <a:br>
              <a:rPr lang="en" altLang="zh-CN" dirty="0">
                <a:solidFill>
                  <a:srgbClr val="0000CC"/>
                </a:solidFill>
                <a:latin typeface="Courier" pitchFamily="2" charset="0"/>
              </a:rPr>
            </a:br>
            <a:r>
              <a:rPr lang="en" altLang="zh-CN" dirty="0">
                <a:solidFill>
                  <a:srgbClr val="0000CC"/>
                </a:solidFill>
                <a:latin typeface="Courier" pitchFamily="2" charset="0"/>
              </a:rPr>
              <a:t>a %= b</a:t>
            </a:r>
            <a:br>
              <a:rPr lang="en" altLang="zh-CN" dirty="0">
                <a:solidFill>
                  <a:srgbClr val="0000CC"/>
                </a:solidFill>
                <a:latin typeface="Courier" pitchFamily="2" charset="0"/>
              </a:rPr>
            </a:br>
            <a:r>
              <a:rPr lang="en" altLang="zh-CN" dirty="0">
                <a:solidFill>
                  <a:srgbClr val="0000CC"/>
                </a:solidFill>
                <a:latin typeface="Courier" pitchFamily="2" charset="0"/>
              </a:rPr>
              <a:t>a &amp;= b</a:t>
            </a:r>
            <a:br>
              <a:rPr lang="en" altLang="zh-CN" dirty="0">
                <a:solidFill>
                  <a:srgbClr val="0000CC"/>
                </a:solidFill>
                <a:latin typeface="Courier" pitchFamily="2" charset="0"/>
              </a:rPr>
            </a:br>
            <a:r>
              <a:rPr lang="en" altLang="zh-CN" dirty="0">
                <a:solidFill>
                  <a:srgbClr val="0000CC"/>
                </a:solidFill>
                <a:latin typeface="Courier" pitchFamily="2" charset="0"/>
              </a:rPr>
              <a:t>a |= b</a:t>
            </a:r>
            <a:br>
              <a:rPr lang="en" altLang="zh-CN" dirty="0">
                <a:solidFill>
                  <a:srgbClr val="0000CC"/>
                </a:solidFill>
                <a:latin typeface="Courier" pitchFamily="2" charset="0"/>
              </a:rPr>
            </a:br>
            <a:r>
              <a:rPr lang="en" altLang="zh-CN" dirty="0">
                <a:solidFill>
                  <a:srgbClr val="0000CC"/>
                </a:solidFill>
                <a:latin typeface="Courier" pitchFamily="2" charset="0"/>
              </a:rPr>
              <a:t>a ^= b</a:t>
            </a:r>
            <a:br>
              <a:rPr lang="en" altLang="zh-CN" dirty="0">
                <a:solidFill>
                  <a:srgbClr val="0000CC"/>
                </a:solidFill>
                <a:latin typeface="Courier" pitchFamily="2" charset="0"/>
              </a:rPr>
            </a:br>
            <a:r>
              <a:rPr lang="en" altLang="zh-CN" dirty="0">
                <a:solidFill>
                  <a:srgbClr val="0000CC"/>
                </a:solidFill>
                <a:latin typeface="Courier" pitchFamily="2" charset="0"/>
              </a:rPr>
              <a:t>a &lt;&lt;= b</a:t>
            </a:r>
            <a:br>
              <a:rPr lang="en" altLang="zh-CN" dirty="0">
                <a:solidFill>
                  <a:srgbClr val="0000CC"/>
                </a:solidFill>
                <a:latin typeface="Courier" pitchFamily="2" charset="0"/>
              </a:rPr>
            </a:br>
            <a:r>
              <a:rPr lang="en" altLang="zh-CN" dirty="0">
                <a:solidFill>
                  <a:srgbClr val="0000CC"/>
                </a:solidFill>
                <a:latin typeface="Courier" pitchFamily="2" charset="0"/>
              </a:rPr>
              <a:t>a &gt;&gt;= b</a:t>
            </a:r>
            <a:endParaRPr kumimoji="1" lang="zh-CN" altLang="en-US" dirty="0">
              <a:solidFill>
                <a:srgbClr val="0000CC"/>
              </a:solidFill>
              <a:latin typeface="Courier" pitchFamily="2" charset="0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1A94934-167B-4440-9941-3D07EC39117E}"/>
              </a:ext>
            </a:extLst>
          </p:cNvPr>
          <p:cNvSpPr txBox="1">
            <a:spLocks/>
          </p:cNvSpPr>
          <p:nvPr/>
        </p:nvSpPr>
        <p:spPr>
          <a:xfrm>
            <a:off x="5598458" y="1326995"/>
            <a:ext cx="4128248" cy="258557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ü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" altLang="zh-CN" dirty="0">
                <a:latin typeface="Arial" panose="020B0604020202020204" pitchFamily="34" charset="0"/>
                <a:cs typeface="Arial" panose="020B0604020202020204" pitchFamily="34" charset="0"/>
              </a:rPr>
              <a:t>Increment/decrement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" altLang="zh-CN" dirty="0">
                <a:solidFill>
                  <a:srgbClr val="0000CC"/>
                </a:solidFill>
                <a:latin typeface="Courier" pitchFamily="2" charset="0"/>
              </a:rPr>
              <a:t>a++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" altLang="zh-CN" dirty="0">
                <a:solidFill>
                  <a:srgbClr val="0000CC"/>
                </a:solidFill>
                <a:latin typeface="Courier" pitchFamily="2" charset="0"/>
              </a:rPr>
              <a:t>++a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" altLang="zh-CN" dirty="0">
                <a:solidFill>
                  <a:srgbClr val="0000CC"/>
                </a:solidFill>
                <a:latin typeface="Courier" pitchFamily="2" charset="0"/>
              </a:rPr>
              <a:t>a--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" altLang="zh-CN" dirty="0">
                <a:solidFill>
                  <a:srgbClr val="0000CC"/>
                </a:solidFill>
                <a:latin typeface="Courier" pitchFamily="2" charset="0"/>
              </a:rPr>
              <a:t>--a</a:t>
            </a:r>
            <a:br>
              <a:rPr lang="en" altLang="zh-CN" dirty="0">
                <a:solidFill>
                  <a:srgbClr val="0000CC"/>
                </a:solidFill>
                <a:latin typeface="Courier" pitchFamily="2" charset="0"/>
              </a:rPr>
            </a:br>
            <a:endParaRPr kumimoji="1" lang="zh-CN" altLang="en-US" dirty="0">
              <a:solidFill>
                <a:srgbClr val="0000CC"/>
              </a:solidFill>
              <a:latin typeface="Courier" pitchFamily="2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BADC6EE-EEBF-9845-9C80-791A84D8A58C}"/>
              </a:ext>
            </a:extLst>
          </p:cNvPr>
          <p:cNvSpPr/>
          <p:nvPr/>
        </p:nvSpPr>
        <p:spPr>
          <a:xfrm>
            <a:off x="3898795" y="3450904"/>
            <a:ext cx="6096000" cy="92333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a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3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b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a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++;</a:t>
            </a:r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 // What's the value of b?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c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++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a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 // What's the value of c?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574454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56DE4A-216C-F242-83CD-CD7942367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CN" dirty="0"/>
              <a:t>Data type conversions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A713E4D-BB8B-E241-B92D-1A3288F02E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530" y="3747246"/>
            <a:ext cx="7817223" cy="2438681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zh-CN" dirty="0">
                <a:solidFill>
                  <a:srgbClr val="FF0000"/>
                </a:solidFill>
              </a:rPr>
              <a:t>DANGER: </a:t>
            </a:r>
          </a:p>
          <a:p>
            <a:r>
              <a:rPr kumimoji="1" lang="en-US" altLang="zh-CN" dirty="0"/>
              <a:t>The source code can be compiled successfully (even with warning messages) when the data types do not match.</a:t>
            </a:r>
          </a:p>
          <a:p>
            <a:r>
              <a:rPr kumimoji="1" lang="en-US" altLang="zh-CN" dirty="0"/>
              <a:t>Please use explicit conversion if possible</a:t>
            </a:r>
            <a:endParaRPr kumimoji="1"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61A2174-C1F4-AA42-9329-948F1D540E43}"/>
              </a:ext>
            </a:extLst>
          </p:cNvPr>
          <p:cNvSpPr/>
          <p:nvPr/>
        </p:nvSpPr>
        <p:spPr>
          <a:xfrm>
            <a:off x="538278" y="1326995"/>
            <a:ext cx="11653722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num_int1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9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 </a:t>
            </a:r>
            <a:r>
              <a:rPr lang="en" altLang="zh-CN">
                <a:solidFill>
                  <a:srgbClr val="008000"/>
                </a:solidFill>
                <a:latin typeface="Menlo" panose="020B0609030804020204" pitchFamily="49" charset="0"/>
              </a:rPr>
              <a:t>// initializing </a:t>
            </a:r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an int value to num_int1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num_int2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'C'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 // implicit conversion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num_int3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(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'C'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 // explicit conversion, C-style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num_int4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'C'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 // explicit conversion, function style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num_int5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2.8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 //implicit conversion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float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num_float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2.3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 //implicit conversion from double to float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short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num_short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650000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 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767A15E-7D48-5E4C-928D-C7071DDA5640}"/>
              </a:ext>
            </a:extLst>
          </p:cNvPr>
          <p:cNvSpPr/>
          <p:nvPr/>
        </p:nvSpPr>
        <p:spPr>
          <a:xfrm>
            <a:off x="538278" y="932477"/>
            <a:ext cx="2339102" cy="40011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" altLang="zh-CN" sz="2000" dirty="0" err="1">
                <a:solidFill>
                  <a:srgbClr val="0000C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conversion.cpp</a:t>
            </a:r>
            <a:endParaRPr lang="zh-CN" altLang="en-US" sz="2000" dirty="0">
              <a:solidFill>
                <a:srgbClr val="0000CC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175268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4667A6-2FD0-8448-A1CE-A4D98EF4E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Data loss</a:t>
            </a:r>
            <a:endParaRPr kumimoji="1" lang="zh-CN" altLang="en-US" dirty="0"/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A32A1C47-C338-D74C-A4AA-525226DFEC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51734425"/>
              </p:ext>
            </p:extLst>
          </p:nvPr>
        </p:nvGraphicFramePr>
        <p:xfrm>
          <a:off x="2272553" y="1336115"/>
          <a:ext cx="1788459" cy="48498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下箭头 4">
            <a:extLst>
              <a:ext uri="{FF2B5EF4-FFF2-40B4-BE49-F238E27FC236}">
                <a16:creationId xmlns:a16="http://schemas.microsoft.com/office/drawing/2014/main" id="{A79250C9-FAAA-1F4E-97E5-C007513E2C2C}"/>
              </a:ext>
            </a:extLst>
          </p:cNvPr>
          <p:cNvSpPr/>
          <p:nvPr/>
        </p:nvSpPr>
        <p:spPr>
          <a:xfrm>
            <a:off x="2010337" y="1394198"/>
            <a:ext cx="161364" cy="4733646"/>
          </a:xfrm>
          <a:prstGeom prst="downArrow">
            <a:avLst>
              <a:gd name="adj1" fmla="val 50000"/>
              <a:gd name="adj2" fmla="val 23275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下箭头 5">
            <a:extLst>
              <a:ext uri="{FF2B5EF4-FFF2-40B4-BE49-F238E27FC236}">
                <a16:creationId xmlns:a16="http://schemas.microsoft.com/office/drawing/2014/main" id="{753C9C4C-9987-1D4B-A463-34AE4529A560}"/>
              </a:ext>
            </a:extLst>
          </p:cNvPr>
          <p:cNvSpPr/>
          <p:nvPr/>
        </p:nvSpPr>
        <p:spPr>
          <a:xfrm rot="10800000">
            <a:off x="4161864" y="1394198"/>
            <a:ext cx="161364" cy="4733646"/>
          </a:xfrm>
          <a:prstGeom prst="downArrow">
            <a:avLst>
              <a:gd name="adj1" fmla="val 50000"/>
              <a:gd name="adj2" fmla="val 23275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0D666E7-158E-F245-8412-1D14F0A641FD}"/>
              </a:ext>
            </a:extLst>
          </p:cNvPr>
          <p:cNvSpPr/>
          <p:nvPr/>
        </p:nvSpPr>
        <p:spPr>
          <a:xfrm>
            <a:off x="982620" y="2858852"/>
            <a:ext cx="10277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data loss</a:t>
            </a:r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4A368DB-BDB1-AA4A-ABB0-FBE792497CC2}"/>
              </a:ext>
            </a:extLst>
          </p:cNvPr>
          <p:cNvSpPr/>
          <p:nvPr/>
        </p:nvSpPr>
        <p:spPr>
          <a:xfrm>
            <a:off x="4323228" y="2858852"/>
            <a:ext cx="13034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no data loss</a:t>
            </a:r>
            <a:endParaRPr lang="zh-CN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353B2B9-7A75-3F4F-8394-9782034C55F1}"/>
              </a:ext>
            </a:extLst>
          </p:cNvPr>
          <p:cNvSpPr/>
          <p:nvPr/>
        </p:nvSpPr>
        <p:spPr>
          <a:xfrm>
            <a:off x="5961529" y="1984828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num_int1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100000004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float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num_int_float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num_int1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num_int2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(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)(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num_int_float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  <a:endParaRPr lang="en" altLang="zh-CN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F5D4546-38DC-1E4C-8B5E-53EE72C2CADC}"/>
              </a:ext>
            </a:extLst>
          </p:cNvPr>
          <p:cNvSpPr/>
          <p:nvPr/>
        </p:nvSpPr>
        <p:spPr>
          <a:xfrm>
            <a:off x="5729864" y="982172"/>
            <a:ext cx="90441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4000" dirty="0"/>
              <a:t>But</a:t>
            </a:r>
            <a:endParaRPr lang="zh-CN" altLang="en-US" sz="4000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BE5554E-C942-934D-BF57-35140B02AFEC}"/>
              </a:ext>
            </a:extLst>
          </p:cNvPr>
          <p:cNvSpPr/>
          <p:nvPr/>
        </p:nvSpPr>
        <p:spPr>
          <a:xfrm>
            <a:off x="5894144" y="1637388"/>
            <a:ext cx="2339102" cy="40011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" altLang="zh-CN" sz="2000" dirty="0" err="1">
                <a:solidFill>
                  <a:srgbClr val="0000C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conversion.cpp</a:t>
            </a:r>
            <a:endParaRPr lang="zh-CN" altLang="en-US" sz="2000" dirty="0">
              <a:solidFill>
                <a:srgbClr val="0000CC"/>
              </a:solidFill>
              <a:highlight>
                <a:srgbClr val="FFFF00"/>
              </a:highlight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253578D-2719-9C4C-84C6-805FE0C531C6}"/>
              </a:ext>
            </a:extLst>
          </p:cNvPr>
          <p:cNvSpPr/>
          <p:nvPr/>
        </p:nvSpPr>
        <p:spPr>
          <a:xfrm>
            <a:off x="5894144" y="3199302"/>
            <a:ext cx="550896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2000" dirty="0"/>
              <a:t>Will </a:t>
            </a:r>
            <a:r>
              <a:rPr lang="en" altLang="zh-CN" sz="2000" dirty="0">
                <a:solidFill>
                  <a:srgbClr val="001080"/>
                </a:solidFill>
                <a:latin typeface="Menlo" panose="020B0609030804020204" pitchFamily="49" charset="0"/>
              </a:rPr>
              <a:t>num_int2 </a:t>
            </a:r>
            <a:r>
              <a:rPr kumimoji="1" lang="en-US" altLang="zh-CN" sz="2000" dirty="0"/>
              <a:t>be the same with </a:t>
            </a:r>
            <a:r>
              <a:rPr lang="en" altLang="zh-CN" sz="2000" dirty="0">
                <a:solidFill>
                  <a:srgbClr val="001080"/>
                </a:solidFill>
                <a:latin typeface="Menlo" panose="020B0609030804020204" pitchFamily="49" charset="0"/>
              </a:rPr>
              <a:t>num_int1</a:t>
            </a:r>
            <a:r>
              <a:rPr kumimoji="1" lang="en-US" altLang="zh-CN" sz="2000" dirty="0"/>
              <a:t>?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2843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 animBg="1"/>
      <p:bldP spid="12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F2EC8A-D667-1A4E-A587-8D601CE91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Operator Associativity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C0A8BA6-A18F-1F49-8C6B-3BDB7AD52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6995"/>
            <a:ext cx="8977132" cy="3569096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Left-to-right associativity or a right-to-left associativity</a:t>
            </a:r>
          </a:p>
          <a:p>
            <a:pPr lvl="1"/>
            <a:r>
              <a:rPr kumimoji="1" lang="en-US" altLang="zh-CN" dirty="0"/>
              <a:t>Ref: </a:t>
            </a:r>
            <a:r>
              <a:rPr kumimoji="1" lang="en-US" altLang="zh-CN" dirty="0">
                <a:hlinkClick r:id="rId2"/>
              </a:rPr>
              <a:t>https://en.cppreference.com/book/operator_precedence</a:t>
            </a:r>
            <a:r>
              <a:rPr kumimoji="1" lang="en-US" altLang="zh-CN" dirty="0"/>
              <a:t> </a:t>
            </a:r>
          </a:p>
          <a:p>
            <a:r>
              <a:rPr kumimoji="1" lang="en-US" altLang="zh-CN" dirty="0"/>
              <a:t>The following two lines are equivalent.</a:t>
            </a:r>
            <a:endParaRPr lang="en" altLang="zh-CN" dirty="0">
              <a:solidFill>
                <a:srgbClr val="0000FF"/>
              </a:solidFill>
              <a:latin typeface="Menlo" panose="020B0609030804020204" pitchFamily="49" charset="0"/>
            </a:endParaRPr>
          </a:p>
          <a:p>
            <a:pPr marL="685800" lvl="1" indent="0">
              <a:buNone/>
            </a:pP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i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17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/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5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*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5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685800" lvl="1" indent="0">
              <a:buNone/>
            </a:pP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i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(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17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/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5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 *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5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endParaRPr kumimoji="1" lang="en-US" altLang="zh-CN" dirty="0"/>
          </a:p>
          <a:p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46101872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811276-E5B8-C246-A45A-F043B14D6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Divisions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A96CD45-D2B9-314D-AF6B-A8F37DF876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Both operands are integers</a:t>
            </a:r>
          </a:p>
          <a:p>
            <a:pPr lvl="1"/>
            <a:r>
              <a:rPr kumimoji="1" lang="en-US" altLang="zh-CN" dirty="0"/>
              <a:t>Perform </a:t>
            </a:r>
            <a:r>
              <a:rPr kumimoji="1" lang="en-US" altLang="zh-CN" dirty="0">
                <a:solidFill>
                  <a:srgbClr val="FF0000"/>
                </a:solidFill>
              </a:rPr>
              <a:t>integer division</a:t>
            </a:r>
          </a:p>
          <a:p>
            <a:pPr lvl="1"/>
            <a:r>
              <a:rPr kumimoji="1" lang="en-US" altLang="zh-CN" dirty="0"/>
              <a:t>Any fractional part of the answer is discarded to make the result an integer</a:t>
            </a:r>
          </a:p>
          <a:p>
            <a:pPr marL="457200" lvl="1" indent="0">
              <a:buNone/>
            </a:pP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 float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f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17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/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5</a:t>
            </a:r>
            <a:r>
              <a:rPr lang="en" altLang="zh-CN" dirty="0">
                <a:latin typeface="Menlo" panose="020B0609030804020204" pitchFamily="49" charset="0"/>
              </a:rPr>
              <a:t>; // f will be 3.f, not 3.4f.</a:t>
            </a:r>
            <a:endParaRPr kumimoji="1" lang="en-US" altLang="zh-CN" dirty="0"/>
          </a:p>
          <a:p>
            <a:pPr marL="457200" lvl="1" indent="0">
              <a:buNone/>
            </a:pPr>
            <a:endParaRPr kumimoji="1" lang="en-US" altLang="zh-CN" dirty="0"/>
          </a:p>
          <a:p>
            <a:r>
              <a:rPr kumimoji="1" lang="en-US" altLang="zh-CN" dirty="0"/>
              <a:t>One or both operands are floating-point numbers</a:t>
            </a:r>
          </a:p>
          <a:p>
            <a:pPr lvl="1"/>
            <a:r>
              <a:rPr kumimoji="1" lang="en-US" altLang="zh-CN" dirty="0"/>
              <a:t>Perform floating-point division</a:t>
            </a:r>
          </a:p>
          <a:p>
            <a:pPr marL="685800" lvl="2" indent="0">
              <a:buNone/>
            </a:pPr>
            <a:r>
              <a:rPr lang="en" altLang="zh-CN" sz="2200" dirty="0">
                <a:solidFill>
                  <a:srgbClr val="0000FF"/>
                </a:solidFill>
                <a:latin typeface="Menlo" panose="020B0609030804020204" pitchFamily="49" charset="0"/>
              </a:rPr>
              <a:t>  float</a:t>
            </a:r>
            <a:r>
              <a:rPr lang="en" altLang="zh-CN" sz="22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200" dirty="0">
                <a:solidFill>
                  <a:srgbClr val="001080"/>
                </a:solidFill>
                <a:latin typeface="Menlo" panose="020B0609030804020204" pitchFamily="49" charset="0"/>
              </a:rPr>
              <a:t>f</a:t>
            </a:r>
            <a:r>
              <a:rPr lang="en" altLang="zh-CN" sz="2200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sz="2200" dirty="0">
                <a:solidFill>
                  <a:srgbClr val="098658"/>
                </a:solidFill>
                <a:latin typeface="Menlo" panose="020B0609030804020204" pitchFamily="49" charset="0"/>
              </a:rPr>
              <a:t>17</a:t>
            </a:r>
            <a:r>
              <a:rPr lang="en" altLang="zh-CN" sz="2200" dirty="0">
                <a:solidFill>
                  <a:srgbClr val="000000"/>
                </a:solidFill>
                <a:latin typeface="Menlo" panose="020B0609030804020204" pitchFamily="49" charset="0"/>
              </a:rPr>
              <a:t> / </a:t>
            </a:r>
            <a:r>
              <a:rPr lang="en" altLang="zh-CN" sz="2200" dirty="0">
                <a:solidFill>
                  <a:srgbClr val="098658"/>
                </a:solidFill>
                <a:latin typeface="Menlo" panose="020B0609030804020204" pitchFamily="49" charset="0"/>
              </a:rPr>
              <a:t>5.f</a:t>
            </a:r>
            <a:r>
              <a:rPr lang="en" altLang="zh-CN" sz="2200" dirty="0">
                <a:solidFill>
                  <a:prstClr val="black"/>
                </a:solidFill>
                <a:latin typeface="Menlo" panose="020B0609030804020204" pitchFamily="49" charset="0"/>
              </a:rPr>
              <a:t>; // f will be 3.4f.</a:t>
            </a:r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pPr lvl="1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08987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54F50F-5340-D54F-8C28-B1FA3DC43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CN" dirty="0"/>
              <a:t>Distinct Operations for Different Types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4AAA2F5-D8E3-D04A-9C22-734223A7B7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>
                <a:solidFill>
                  <a:srgbClr val="0000CC"/>
                </a:solidFill>
                <a:latin typeface="Courier" pitchFamily="2" charset="0"/>
              </a:rPr>
              <a:t>int, long, float, double</a:t>
            </a:r>
            <a:r>
              <a:rPr kumimoji="1" lang="en-US" altLang="zh-CN" dirty="0"/>
              <a:t>: four kinds of operations</a:t>
            </a:r>
          </a:p>
          <a:p>
            <a:r>
              <a:rPr kumimoji="1" lang="en-US" altLang="zh-CN" dirty="0"/>
              <a:t>If the operands are not the four types, automatic convert their types</a:t>
            </a:r>
          </a:p>
          <a:p>
            <a:pPr marL="457200" lvl="1" indent="0">
              <a:buNone/>
            </a:pP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unsigned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char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a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255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457200" lvl="1" indent="0">
              <a:buNone/>
            </a:pP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unsigned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char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b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1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457200" lvl="1" indent="0">
              <a:buNone/>
            </a:pP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c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a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+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b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 // c = ? 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" altLang="zh-CN" sz="2400" dirty="0">
                <a:solidFill>
                  <a:srgbClr val="000000"/>
                </a:solidFill>
                <a:latin typeface="Menlo" panose="020B0609030804020204" pitchFamily="49" charset="0"/>
              </a:rPr>
              <a:t>The operands will be converted to one of the four types without losing data: </a:t>
            </a:r>
            <a:r>
              <a:rPr kumimoji="1" lang="en-US" altLang="zh-CN" sz="2400" dirty="0">
                <a:solidFill>
                  <a:srgbClr val="0000CC"/>
                </a:solidFill>
                <a:latin typeface="Courier" pitchFamily="2" charset="0"/>
              </a:rPr>
              <a:t>int, long, float, double</a:t>
            </a:r>
            <a:endParaRPr lang="en" altLang="zh-CN" sz="24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lvl="1"/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Ref: </a:t>
            </a:r>
            <a:r>
              <a:rPr lang="en" altLang="zh-CN" sz="1800" dirty="0">
                <a:solidFill>
                  <a:srgbClr val="000000"/>
                </a:solidFill>
                <a:latin typeface="Menlo" panose="020B0609030804020204" pitchFamily="49" charset="0"/>
                <a:hlinkClick r:id="rId2"/>
              </a:rPr>
              <a:t>https://en.cppreference.com/w/cpp/language/implicit_conversion</a:t>
            </a:r>
            <a:r>
              <a:rPr lang="en" altLang="zh-CN" sz="18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</a:p>
          <a:p>
            <a:pPr lvl="1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66440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9CE55F-3988-0343-3314-497EC35E9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Questions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F8C31AE-A32E-DCE8-3FB2-C83113E37B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zh-CN" dirty="0"/>
              <a:t>In OpenCV there is a class </a:t>
            </a:r>
            <a:r>
              <a:rPr kumimoji="1"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cv::Mat </a:t>
            </a:r>
            <a:r>
              <a:rPr kumimoji="1" lang="en-US" altLang="zh-CN" dirty="0"/>
              <a:t>for matrices. Find the answers to the questions from the source code of OpenCV at </a:t>
            </a:r>
            <a:r>
              <a:rPr kumimoji="1" lang="en-US" altLang="zh-CN" dirty="0">
                <a:hlinkClick r:id="rId2"/>
              </a:rPr>
              <a:t>https://github.com/opencv/opencv</a:t>
            </a:r>
            <a:r>
              <a:rPr kumimoji="1" lang="en-US" altLang="zh-CN" dirty="0"/>
              <a:t> </a:t>
            </a:r>
          </a:p>
          <a:p>
            <a:r>
              <a:rPr kumimoji="1" lang="en-US" altLang="zh-CN" dirty="0"/>
              <a:t>How many data types does OpenCV's </a:t>
            </a:r>
            <a:r>
              <a:rPr kumimoji="1"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cv::Mat </a:t>
            </a:r>
            <a:r>
              <a:rPr kumimoji="1" lang="en-US" altLang="zh-CN" dirty="0"/>
              <a:t>class support for matrix elements?</a:t>
            </a:r>
          </a:p>
          <a:p>
            <a:r>
              <a:rPr kumimoji="1" lang="en-US" altLang="zh-CN" dirty="0"/>
              <a:t>How does </a:t>
            </a:r>
            <a:r>
              <a:rPr kumimoji="1"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cv::Mat </a:t>
            </a:r>
            <a:r>
              <a:rPr kumimoji="1" lang="en-US" altLang="zh-CN" dirty="0"/>
              <a:t>handle data types when the size of </a:t>
            </a:r>
            <a:r>
              <a:rPr kumimoji="1"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1" lang="en-US" altLang="zh-CN" dirty="0"/>
              <a:t> may not be 32 bits on different platforms?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8135862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35D745-8654-0E4A-8CA7-FFBDA6ABE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CN" dirty="0"/>
              <a:t>C/C++ Supposes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130D763-3669-8044-8984-05ECF214A6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You (the programmer) are smart enough!</a:t>
            </a:r>
          </a:p>
          <a:p>
            <a:r>
              <a:rPr kumimoji="1" lang="en-US" altLang="zh-CN" dirty="0"/>
              <a:t>You know what exactly the source code means!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373778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11763</TotalTime>
  <Words>2343</Words>
  <Application>Microsoft Macintosh PowerPoint</Application>
  <PresentationFormat>宽屏</PresentationFormat>
  <Paragraphs>479</Paragraphs>
  <Slides>40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40</vt:i4>
      </vt:variant>
    </vt:vector>
  </HeadingPairs>
  <TitlesOfParts>
    <vt:vector size="51" baseType="lpstr">
      <vt:lpstr>等线</vt:lpstr>
      <vt:lpstr>KaiTi</vt:lpstr>
      <vt:lpstr>Arial</vt:lpstr>
      <vt:lpstr>Calibri</vt:lpstr>
      <vt:lpstr>Courier</vt:lpstr>
      <vt:lpstr>Courier New</vt:lpstr>
      <vt:lpstr>Franklin Gothic Demi</vt:lpstr>
      <vt:lpstr>Franklin Gothic Medium</vt:lpstr>
      <vt:lpstr>Menlo</vt:lpstr>
      <vt:lpstr>Wingdings</vt:lpstr>
      <vt:lpstr>Office 主题</vt:lpstr>
      <vt:lpstr>Advanced Programming</vt:lpstr>
      <vt:lpstr>Integer Numbers</vt:lpstr>
      <vt:lpstr>int</vt:lpstr>
      <vt:lpstr>Variable Initialization</vt:lpstr>
      <vt:lpstr>How to initialize</vt:lpstr>
      <vt:lpstr>Overflow</vt:lpstr>
      <vt:lpstr>signed and unsigned</vt:lpstr>
      <vt:lpstr>Different Data Types for Integer</vt:lpstr>
      <vt:lpstr>PowerPoint 演示文稿</vt:lpstr>
      <vt:lpstr>sizeof</vt:lpstr>
      <vt:lpstr>More Integer Types</vt:lpstr>
      <vt:lpstr>char</vt:lpstr>
      <vt:lpstr>Integers and characters</vt:lpstr>
      <vt:lpstr>bool</vt:lpstr>
      <vt:lpstr>bool</vt:lpstr>
      <vt:lpstr>Boolean in C</vt:lpstr>
      <vt:lpstr>size_t</vt:lpstr>
      <vt:lpstr>Fixed width integer types (since C++11)</vt:lpstr>
      <vt:lpstr>Choose appropriate integer types</vt:lpstr>
      <vt:lpstr>Floating-point Numbers</vt:lpstr>
      <vt:lpstr>What’s the output?</vt:lpstr>
      <vt:lpstr>PowerPoint 演示文稿</vt:lpstr>
      <vt:lpstr>Understanding Computing</vt:lpstr>
      <vt:lpstr>Floating-point types</vt:lpstr>
      <vt:lpstr>Floating-point VS integers</vt:lpstr>
      <vt:lpstr>Precision</vt:lpstr>
      <vt:lpstr>inf and nan</vt:lpstr>
      <vt:lpstr>Arithmetic Operators</vt:lpstr>
      <vt:lpstr>Constant numbers</vt:lpstr>
      <vt:lpstr>const type qualifier</vt:lpstr>
      <vt:lpstr>auto (since C++11)</vt:lpstr>
      <vt:lpstr>Arithmetic operators</vt:lpstr>
      <vt:lpstr>Other operators</vt:lpstr>
      <vt:lpstr>Data type conversions</vt:lpstr>
      <vt:lpstr>Data loss</vt:lpstr>
      <vt:lpstr>Operator Associativity</vt:lpstr>
      <vt:lpstr>Divisions</vt:lpstr>
      <vt:lpstr>Distinct Operations for Different Types</vt:lpstr>
      <vt:lpstr>Questions</vt:lpstr>
      <vt:lpstr>C/C++ Supposes</vt:lpstr>
    </vt:vector>
  </TitlesOfParts>
  <Manager/>
  <Company>Southern University of Science and Technology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C/C++ Program Design</dc:title>
  <dc:subject/>
  <dc:creator>Shiqi Yu</dc:creator>
  <cp:keywords/>
  <dc:description/>
  <cp:lastModifiedBy>Shiqi Yu</cp:lastModifiedBy>
  <cp:revision>409</cp:revision>
  <dcterms:created xsi:type="dcterms:W3CDTF">2020-09-05T08:11:12Z</dcterms:created>
  <dcterms:modified xsi:type="dcterms:W3CDTF">2026-03-09T15:27:00Z</dcterms:modified>
  <cp:category/>
</cp:coreProperties>
</file>