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1124" r:id="rId3"/>
    <p:sldId id="481" r:id="rId4"/>
    <p:sldId id="1032" r:id="rId5"/>
    <p:sldId id="1033" r:id="rId6"/>
    <p:sldId id="1019" r:id="rId7"/>
    <p:sldId id="1034" r:id="rId8"/>
    <p:sldId id="1021" r:id="rId9"/>
    <p:sldId id="1022" r:id="rId10"/>
    <p:sldId id="494" r:id="rId11"/>
    <p:sldId id="495" r:id="rId12"/>
    <p:sldId id="496" r:id="rId13"/>
    <p:sldId id="497" r:id="rId14"/>
    <p:sldId id="1035" r:id="rId15"/>
    <p:sldId id="1036" r:id="rId16"/>
    <p:sldId id="1116" r:id="rId17"/>
    <p:sldId id="1118" r:id="rId18"/>
    <p:sldId id="1117" r:id="rId19"/>
    <p:sldId id="1030" r:id="rId20"/>
    <p:sldId id="1029"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776A07E-8D27-4E2A-B36B-72E648096E1D}">
          <p14:sldIdLst>
            <p14:sldId id="256"/>
            <p14:sldId id="1124"/>
          </p14:sldIdLst>
        </p14:section>
        <p14:section name="static library" id="{4365BD4F-51B7-4F3E-AC7C-D77F68060E23}">
          <p14:sldIdLst>
            <p14:sldId id="481"/>
            <p14:sldId id="1032"/>
            <p14:sldId id="1033"/>
            <p14:sldId id="1019"/>
            <p14:sldId id="1034"/>
            <p14:sldId id="1021"/>
            <p14:sldId id="1022"/>
            <p14:sldId id="494"/>
            <p14:sldId id="495"/>
            <p14:sldId id="496"/>
            <p14:sldId id="497"/>
            <p14:sldId id="1035"/>
            <p14:sldId id="1036"/>
            <p14:sldId id="1116"/>
            <p14:sldId id="1118"/>
            <p14:sldId id="1117"/>
          </p14:sldIdLst>
        </p14:section>
        <p14:section name="parameters" id="{CD3D1B64-BCC0-49BE-A975-8BC5A85534D2}">
          <p14:sldIdLst>
            <p14:sldId id="1030"/>
            <p14:sldId id="10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13" autoAdjust="0"/>
    <p:restoredTop sz="94660"/>
  </p:normalViewPr>
  <p:slideViewPr>
    <p:cSldViewPr snapToGrid="0">
      <p:cViewPr varScale="1">
        <p:scale>
          <a:sx n="114" d="100"/>
          <a:sy n="114" d="100"/>
        </p:scale>
        <p:origin x="168"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237EF7-A117-46B7-88A8-1B7FB98FF0F2}" type="datetimeFigureOut">
              <a:rPr lang="zh-CN" altLang="en-US" smtClean="0"/>
              <a:t>2026/4/6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05520-EB74-4E10-9207-DDFEA7EA0F0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534740"/>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987522"/>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4618" t="38788" r="24589" b="40606"/>
          <a:stretch>
            <a:fillRect/>
          </a:stretch>
        </p:blipFill>
        <p:spPr>
          <a:xfrm>
            <a:off x="8610600" y="0"/>
            <a:ext cx="3515893" cy="1007930"/>
          </a:xfrm>
          <a:prstGeom prst="rect">
            <a:avLst/>
          </a:prstGeom>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376479" y="264221"/>
            <a:ext cx="10515600" cy="833631"/>
          </a:xfrm>
        </p:spPr>
        <p:txBody>
          <a:bodyPr/>
          <a:lstStyle/>
          <a:p>
            <a:r>
              <a:rPr lang="zh-CN" altLang="en-US" dirty="0"/>
              <a:t>单击此处编辑母版标题样式</a:t>
            </a:r>
          </a:p>
        </p:txBody>
      </p:sp>
      <p:sp>
        <p:nvSpPr>
          <p:cNvPr id="3" name="内容占位符 2"/>
          <p:cNvSpPr>
            <a:spLocks noGrp="1"/>
          </p:cNvSpPr>
          <p:nvPr>
            <p:ph idx="1"/>
          </p:nvPr>
        </p:nvSpPr>
        <p:spPr>
          <a:xfrm>
            <a:off x="838199" y="1326995"/>
            <a:ext cx="11053879" cy="4849968"/>
          </a:xfrm>
        </p:spPr>
        <p:txBody>
          <a:bodyPr/>
          <a:lstStyle>
            <a:lvl2pPr marL="914400" indent="-457200">
              <a:buFont typeface="Wingdings" panose="05000000000000000000" pitchFamily="2" charset="2"/>
              <a:buChar char="Ø"/>
              <a:defRPr/>
            </a:lvl2pPr>
            <a:lvl3pPr marL="1143000" indent="-228600">
              <a:buFont typeface="Wingdings" panose="05000000000000000000" pitchFamily="2" charset="2"/>
              <a:buChar char="ü"/>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7" name="图片 6"/>
          <p:cNvPicPr/>
          <p:nvPr userDrawn="1"/>
        </p:nvPicPr>
        <p:blipFill>
          <a:blip r:embed="rId2" cstate="print">
            <a:extLst>
              <a:ext uri="{28A0092B-C50C-407E-A947-70E740481C1C}">
                <a14:useLocalDpi xmlns:a14="http://schemas.microsoft.com/office/drawing/2010/main" val="0"/>
              </a:ext>
            </a:extLst>
          </a:blip>
          <a:stretch>
            <a:fillRect/>
          </a:stretch>
        </p:blipFill>
        <p:spPr>
          <a:xfrm>
            <a:off x="113370" y="69174"/>
            <a:ext cx="1112400" cy="1111682"/>
          </a:xfrm>
          <a:prstGeom prst="rect">
            <a:avLst/>
          </a:prstGeom>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124634" y="365125"/>
            <a:ext cx="9229165" cy="1325563"/>
          </a:xfr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9" name="图片 8"/>
          <p:cNvPicPr/>
          <p:nvPr userDrawn="1"/>
        </p:nvPicPr>
        <p:blipFill>
          <a:blip r:embed="rId2" cstate="print">
            <a:extLst>
              <a:ext uri="{28A0092B-C50C-407E-A947-70E740481C1C}">
                <a14:useLocalDpi xmlns:a14="http://schemas.microsoft.com/office/drawing/2010/main" val="0"/>
              </a:ext>
            </a:extLst>
          </a:blip>
          <a:stretch>
            <a:fillRect/>
          </a:stretch>
        </p:blipFill>
        <p:spPr>
          <a:xfrm>
            <a:off x="113370" y="69174"/>
            <a:ext cx="1112400" cy="1111682"/>
          </a:xfrm>
          <a:prstGeom prst="rect">
            <a:avLst/>
          </a:prstGeom>
        </p:spPr>
      </p:pic>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110320" y="365125"/>
            <a:ext cx="9245067"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11" name="图片 10"/>
          <p:cNvPicPr/>
          <p:nvPr userDrawn="1"/>
        </p:nvPicPr>
        <p:blipFill>
          <a:blip r:embed="rId2" cstate="print">
            <a:extLst>
              <a:ext uri="{28A0092B-C50C-407E-A947-70E740481C1C}">
                <a14:useLocalDpi xmlns:a14="http://schemas.microsoft.com/office/drawing/2010/main" val="0"/>
              </a:ext>
            </a:extLst>
          </a:blip>
          <a:stretch>
            <a:fillRect/>
          </a:stretch>
        </p:blipFill>
        <p:spPr>
          <a:xfrm>
            <a:off x="113370" y="69174"/>
            <a:ext cx="1112400" cy="1111682"/>
          </a:xfrm>
          <a:prstGeom prst="rect">
            <a:avLst/>
          </a:prstGeom>
        </p:spPr>
      </p:pic>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8" name="图片 7"/>
          <p:cNvPicPr/>
          <p:nvPr userDrawn="1"/>
        </p:nvPicPr>
        <p:blipFill>
          <a:blip r:embed="rId2" cstate="print">
            <a:extLst>
              <a:ext uri="{28A0092B-C50C-407E-A947-70E740481C1C}">
                <a14:useLocalDpi xmlns:a14="http://schemas.microsoft.com/office/drawing/2010/main" val="0"/>
              </a:ext>
            </a:extLst>
          </a:blip>
          <a:stretch>
            <a:fillRect/>
          </a:stretch>
        </p:blipFill>
        <p:spPr>
          <a:xfrm>
            <a:off x="113370" y="69174"/>
            <a:ext cx="1112400" cy="1111682"/>
          </a:xfrm>
          <a:prstGeom prst="rect">
            <a:avLst/>
          </a:prstGeom>
        </p:spPr>
      </p:pic>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298448" y="365125"/>
            <a:ext cx="10055352" cy="815731"/>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389888"/>
            <a:ext cx="10515600" cy="478707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1517904" y="6356350"/>
            <a:ext cx="206349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19A4FA-3D9A-4114-B0D5-759CBD56F1AB}" type="datetimeFigureOut">
              <a:rPr lang="zh-CN" altLang="en-US" smtClean="0"/>
              <a:t>2026/4/6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6F4176-339E-4C4B-80E4-BBE9C4467EFE}" type="slidenum">
              <a:rPr lang="zh-CN" altLang="en-US" smtClean="0"/>
              <a:t>‹#›</a:t>
            </a:fld>
            <a:endParaRPr lang="zh-CN" altLang="en-US"/>
          </a:p>
        </p:txBody>
      </p:sp>
      <p:pic>
        <p:nvPicPr>
          <p:cNvPr id="1026" name="Picture 2"/>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52950"/>
            <a:ext cx="1152144" cy="40505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07592"/>
            <a:ext cx="9144000" cy="1772603"/>
          </a:xfrm>
        </p:spPr>
        <p:txBody>
          <a:bodyPr>
            <a:noAutofit/>
          </a:bodyPr>
          <a:lstStyle/>
          <a:p>
            <a:r>
              <a:rPr lang="en-US" altLang="zh-CN" b="1" dirty="0">
                <a:latin typeface="Franklin Gothic Demi" panose="020B0703020102020204" pitchFamily="34" charset="0"/>
                <a:sym typeface="+mn-ea"/>
              </a:rPr>
              <a:t>Advanced</a:t>
            </a:r>
            <a:r>
              <a:rPr lang="zh-CN" altLang="en-US" b="1" dirty="0">
                <a:latin typeface="Franklin Gothic Demi" panose="020B0703020102020204" pitchFamily="34" charset="0"/>
                <a:sym typeface="+mn-ea"/>
              </a:rPr>
              <a:t> </a:t>
            </a:r>
            <a:r>
              <a:rPr lang="en-US" altLang="zh-CN" b="1" dirty="0">
                <a:latin typeface="Franklin Gothic Demi" panose="020B0703020102020204" pitchFamily="34" charset="0"/>
                <a:sym typeface="+mn-ea"/>
              </a:rPr>
              <a:t>Programming</a:t>
            </a:r>
            <a:endParaRPr lang="zh-CN" altLang="en-US" b="1" dirty="0">
              <a:latin typeface="Franklin Gothic Demi" panose="020B0703020102020204" pitchFamily="34" charset="0"/>
            </a:endParaRPr>
          </a:p>
        </p:txBody>
      </p:sp>
      <p:sp>
        <p:nvSpPr>
          <p:cNvPr id="3" name="副标题 2"/>
          <p:cNvSpPr>
            <a:spLocks noGrp="1"/>
          </p:cNvSpPr>
          <p:nvPr>
            <p:ph type="subTitle" idx="1"/>
          </p:nvPr>
        </p:nvSpPr>
        <p:spPr>
          <a:xfrm>
            <a:off x="1524000" y="3260035"/>
            <a:ext cx="9144000" cy="2767054"/>
          </a:xfrm>
        </p:spPr>
        <p:txBody>
          <a:bodyPr>
            <a:normAutofit/>
          </a:bodyPr>
          <a:lstStyle/>
          <a:p>
            <a:r>
              <a:rPr lang="en-US" altLang="zh-CN" sz="3600" dirty="0">
                <a:latin typeface="Franklin Gothic Medium" panose="020B0603020102020204" pitchFamily="34" charset="0"/>
                <a:sym typeface="+mn-ea"/>
              </a:rPr>
              <a:t>Lab 6, static library, parameters</a:t>
            </a:r>
            <a:endParaRPr lang="en-US" altLang="zh-CN" sz="3600" dirty="0">
              <a:latin typeface="Franklin Gothic Medium" panose="020B0603020102020204" pitchFamily="34" charset="0"/>
            </a:endParaRPr>
          </a:p>
          <a:p>
            <a:endParaRPr lang="en-US" altLang="zh-CN" sz="3600" dirty="0">
              <a:latin typeface="Franklin Gothic Medium" panose="020B0603020102020204" pitchFamily="34" charset="0"/>
            </a:endParaRPr>
          </a:p>
          <a:p>
            <a:endParaRPr lang="en-US" altLang="zh-CN" dirty="0">
              <a:latin typeface="Franklin Gothic Medium" panose="020B0603020102020204" pitchFamily="34" charset="0"/>
            </a:endParaRPr>
          </a:p>
          <a:p>
            <a:r>
              <a:rPr lang="zh-CN" altLang="en-US" dirty="0">
                <a:latin typeface="Franklin Gothic Medium" panose="020B0603020102020204" pitchFamily="34" charset="0"/>
                <a:sym typeface="+mn-ea"/>
              </a:rPr>
              <a:t>廖琪梅  王大兴  于仕琪</a:t>
            </a:r>
            <a:r>
              <a:rPr lang="en-US" altLang="zh-CN" dirty="0">
                <a:latin typeface="Franklin Gothic Medium" panose="020B0603020102020204" pitchFamily="34" charset="0"/>
                <a:sym typeface="+mn-ea"/>
              </a:rPr>
              <a:t> </a:t>
            </a:r>
            <a:r>
              <a:rPr lang="zh-CN" altLang="en-US" dirty="0">
                <a:latin typeface="Franklin Gothic Medium" panose="020B0603020102020204" pitchFamily="34" charset="0"/>
                <a:sym typeface="+mn-ea"/>
              </a:rPr>
              <a:t>王薇</a:t>
            </a:r>
            <a:endParaRPr lang="en-US" altLang="zh-CN" dirty="0">
              <a:latin typeface="Franklin Gothic Medium" panose="020B0603020102020204" pitchFamily="34" charset="0"/>
            </a:endParaRPr>
          </a:p>
          <a:p>
            <a:endParaRPr lang="en-US" altLang="zh-CN" dirty="0">
              <a:latin typeface="Franklin Gothic Medium" panose="020B0603020102020204" pitchFamily="34" charset="0"/>
            </a:endParaRPr>
          </a:p>
        </p:txBody>
      </p:sp>
      <p:sp>
        <p:nvSpPr>
          <p:cNvPr id="4" name="灯片编号占位符 3"/>
          <p:cNvSpPr>
            <a:spLocks noGrp="1"/>
          </p:cNvSpPr>
          <p:nvPr>
            <p:ph type="sldNum" sz="quarter" idx="12"/>
          </p:nvPr>
        </p:nvSpPr>
        <p:spPr/>
        <p:txBody>
          <a:bodyPr/>
          <a:lstStyle/>
          <a:p>
            <a:fld id="{506F4176-339E-4C4B-80E4-BBE9C4467EFE}" type="slidenum">
              <a:rPr lang="zh-CN" altLang="en-US" smtClean="0"/>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Topic</a:t>
            </a:r>
          </a:p>
        </p:txBody>
      </p:sp>
      <p:sp>
        <p:nvSpPr>
          <p:cNvPr id="3" name="内容占位符 2"/>
          <p:cNvSpPr>
            <a:spLocks noGrp="1"/>
          </p:cNvSpPr>
          <p:nvPr>
            <p:ph idx="1"/>
          </p:nvPr>
        </p:nvSpPr>
        <p:spPr>
          <a:xfrm>
            <a:off x="838200" y="1183640"/>
            <a:ext cx="11054080" cy="5079365"/>
          </a:xfrm>
        </p:spPr>
        <p:txBody>
          <a:bodyPr>
            <a:normAutofit lnSpcReduction="20000"/>
          </a:bodyPr>
          <a:lstStyle/>
          <a:p>
            <a:r>
              <a:rPr lang="en-US" altLang="zh-CN" dirty="0">
                <a:sym typeface="+mn-ea"/>
              </a:rPr>
              <a:t>Static library</a:t>
            </a:r>
          </a:p>
          <a:p>
            <a:pPr lvl="1"/>
            <a:r>
              <a:rPr lang="en-US" altLang="zh-CN" sz="2400" dirty="0">
                <a:sym typeface="+mn-ea"/>
              </a:rPr>
              <a:t>build </a:t>
            </a:r>
          </a:p>
          <a:p>
            <a:pPr lvl="1"/>
            <a:r>
              <a:rPr lang="en-US" altLang="zh-CN" sz="2400" dirty="0">
                <a:sym typeface="+mn-ea"/>
              </a:rPr>
              <a:t>use</a:t>
            </a:r>
          </a:p>
          <a:p>
            <a:pPr lvl="1" algn="l">
              <a:buClrTx/>
              <a:buSzTx/>
            </a:pPr>
            <a:r>
              <a:rPr lang="en-US" altLang="zh-CN" dirty="0">
                <a:sym typeface="+mn-ea"/>
              </a:rPr>
              <a:t>makefile</a:t>
            </a:r>
          </a:p>
          <a:p>
            <a:pPr lvl="1" algn="l">
              <a:buClrTx/>
              <a:buSzTx/>
            </a:pPr>
            <a:r>
              <a:rPr lang="en-US" altLang="zh-CN" dirty="0">
                <a:sym typeface="+mn-ea"/>
              </a:rPr>
              <a:t>CMake</a:t>
            </a:r>
          </a:p>
          <a:p>
            <a:pPr lvl="1"/>
            <a:endParaRPr lang="en-US" altLang="zh-CN" dirty="0">
              <a:sym typeface="+mn-ea"/>
            </a:endParaRPr>
          </a:p>
          <a:p>
            <a:r>
              <a:rPr lang="en-US" altLang="zh-CN" dirty="0"/>
              <a:t>Exercises</a:t>
            </a:r>
            <a:endParaRPr lang="zh-CN" altLang="en-US" dirty="0"/>
          </a:p>
          <a:p>
            <a:pPr lvl="1"/>
            <a:endParaRPr lang="zh-CN" altLang="en-US" dirty="0"/>
          </a:p>
          <a:p>
            <a:pPr marL="457200" lvl="1" indent="0">
              <a:buNone/>
            </a:pPr>
            <a:endParaRPr lang="en-US" altLang="zh-CN" dirty="0">
              <a:highlight>
                <a:srgbClr val="FFFF00"/>
              </a:highlight>
            </a:endParaRPr>
          </a:p>
          <a:p>
            <a:endParaRPr lang="en-US" altLang="zh-CN"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Static library and Dynamic library</a:t>
            </a:r>
            <a:endParaRPr lang="zh-CN" altLang="en-US" dirty="0"/>
          </a:p>
        </p:txBody>
      </p:sp>
      <p:sp>
        <p:nvSpPr>
          <p:cNvPr id="6" name="文本框 5"/>
          <p:cNvSpPr txBox="1"/>
          <p:nvPr/>
        </p:nvSpPr>
        <p:spPr>
          <a:xfrm>
            <a:off x="686333" y="1613094"/>
            <a:ext cx="10819333" cy="1569660"/>
          </a:xfrm>
          <a:prstGeom prst="rect">
            <a:avLst/>
          </a:prstGeom>
          <a:noFill/>
        </p:spPr>
        <p:txBody>
          <a:bodyPr wrap="square">
            <a:spAutoFit/>
          </a:bodyPr>
          <a:lstStyle/>
          <a:p>
            <a:r>
              <a:rPr lang="en-US" altLang="zh-CN" sz="2400" b="1" i="0" dirty="0">
                <a:solidFill>
                  <a:srgbClr val="273239"/>
                </a:solidFill>
                <a:effectLst/>
              </a:rPr>
              <a:t>Static Linking and Static Libraries</a:t>
            </a:r>
            <a:r>
              <a:rPr lang="en-US" altLang="zh-CN" sz="2400" b="0" i="0" dirty="0">
                <a:solidFill>
                  <a:srgbClr val="273239"/>
                </a:solidFill>
                <a:effectLst/>
              </a:rPr>
              <a:t> </a:t>
            </a:r>
            <a:r>
              <a:rPr lang="en-US" altLang="zh-CN" sz="2400" b="0" i="0" dirty="0">
                <a:solidFill>
                  <a:srgbClr val="2D3140"/>
                </a:solidFill>
                <a:effectLst/>
              </a:rPr>
              <a:t> </a:t>
            </a:r>
            <a:r>
              <a:rPr lang="en-US" altLang="zh-CN" sz="2400" dirty="0">
                <a:solidFill>
                  <a:srgbClr val="273239"/>
                </a:solidFill>
              </a:rPr>
              <a:t>(also known as an </a:t>
            </a:r>
            <a:r>
              <a:rPr lang="en-US" altLang="zh-CN" sz="2400" b="1" dirty="0">
                <a:solidFill>
                  <a:srgbClr val="273239"/>
                </a:solidFill>
              </a:rPr>
              <a:t>archive</a:t>
            </a:r>
            <a:r>
              <a:rPr lang="en-US" altLang="zh-CN" sz="2400" dirty="0">
                <a:solidFill>
                  <a:srgbClr val="273239"/>
                </a:solidFill>
              </a:rPr>
              <a:t>) is </a:t>
            </a:r>
            <a:r>
              <a:rPr lang="en-US" altLang="zh-CN" sz="2400" b="0" i="0" dirty="0">
                <a:solidFill>
                  <a:srgbClr val="273239"/>
                </a:solidFill>
                <a:effectLst/>
              </a:rPr>
              <a:t>the result of the linker making copy of all used library functions to the executable file. Static Linking creates larger binary files, and need more space on disk and main memory. Examples of static libraries are, </a:t>
            </a:r>
            <a:r>
              <a:rPr lang="en-US" altLang="zh-CN" sz="2400" b="1" i="1" dirty="0">
                <a:solidFill>
                  <a:srgbClr val="273239"/>
                </a:solidFill>
                <a:effectLst/>
              </a:rPr>
              <a:t>.a</a:t>
            </a:r>
            <a:r>
              <a:rPr lang="en-US" altLang="zh-CN" sz="2400" b="0" i="0" dirty="0">
                <a:solidFill>
                  <a:srgbClr val="273239"/>
                </a:solidFill>
                <a:effectLst/>
              </a:rPr>
              <a:t> files in Linux and </a:t>
            </a:r>
            <a:r>
              <a:rPr lang="en-US" altLang="zh-CN" sz="2400" b="1" i="1" dirty="0">
                <a:solidFill>
                  <a:srgbClr val="273239"/>
                </a:solidFill>
                <a:effectLst/>
              </a:rPr>
              <a:t>.lib </a:t>
            </a:r>
            <a:r>
              <a:rPr lang="en-US" altLang="zh-CN" sz="2400" b="0" i="0" dirty="0">
                <a:solidFill>
                  <a:srgbClr val="273239"/>
                </a:solidFill>
                <a:effectLst/>
              </a:rPr>
              <a:t>files in Windows.</a:t>
            </a:r>
            <a:endParaRPr lang="zh-CN" altLang="en-US" sz="2400" dirty="0"/>
          </a:p>
        </p:txBody>
      </p:sp>
      <p:sp>
        <p:nvSpPr>
          <p:cNvPr id="7" name="文本框 6"/>
          <p:cNvSpPr txBox="1"/>
          <p:nvPr/>
        </p:nvSpPr>
        <p:spPr>
          <a:xfrm>
            <a:off x="686333" y="3579996"/>
            <a:ext cx="10819333" cy="2677656"/>
          </a:xfrm>
          <a:prstGeom prst="rect">
            <a:avLst/>
          </a:prstGeom>
          <a:noFill/>
        </p:spPr>
        <p:txBody>
          <a:bodyPr wrap="square">
            <a:spAutoFit/>
          </a:bodyPr>
          <a:lstStyle/>
          <a:p>
            <a:r>
              <a:rPr lang="en-US" altLang="zh-CN" sz="2400" b="1" i="0" dirty="0">
                <a:solidFill>
                  <a:srgbClr val="273239"/>
                </a:solidFill>
                <a:effectLst/>
              </a:rPr>
              <a:t>Dynamic linking and Dynamic Libraries</a:t>
            </a:r>
            <a:r>
              <a:rPr lang="en-US" altLang="zh-CN" sz="2400" b="0" i="0" dirty="0">
                <a:solidFill>
                  <a:srgbClr val="273239"/>
                </a:solidFill>
                <a:effectLst/>
              </a:rPr>
              <a:t> Dynamic Linking doesn’t require the code to be copied, it is done by just placing name of the library in the binary file. The actual linking happens when the program is run, when both the binary file and the library are in memory. </a:t>
            </a:r>
            <a:r>
              <a:rPr lang="en-US" altLang="zh-CN" sz="2400" dirty="0">
                <a:solidFill>
                  <a:srgbClr val="273239"/>
                </a:solidFill>
              </a:rPr>
              <a:t>If multiple programs in the system link to the same dynamic link library, they all reference the library.  Therefore, this library is shared by multiple programs and is called a "</a:t>
            </a:r>
            <a:r>
              <a:rPr lang="en-US" altLang="zh-CN" sz="2400" b="1" dirty="0">
                <a:solidFill>
                  <a:srgbClr val="273239"/>
                </a:solidFill>
              </a:rPr>
              <a:t>shared library</a:t>
            </a:r>
            <a:r>
              <a:rPr lang="en-US" altLang="zh-CN" sz="2400" dirty="0">
                <a:solidFill>
                  <a:srgbClr val="273239"/>
                </a:solidFill>
              </a:rPr>
              <a:t>" . Examples of Dynamic libraries are, </a:t>
            </a:r>
            <a:r>
              <a:rPr lang="en-US" altLang="zh-CN" sz="2400" b="1" i="1" dirty="0">
                <a:solidFill>
                  <a:srgbClr val="273239"/>
                </a:solidFill>
                <a:effectLst/>
              </a:rPr>
              <a:t>.so</a:t>
            </a:r>
            <a:r>
              <a:rPr lang="en-US" altLang="zh-CN" sz="2400" b="0" i="0" dirty="0">
                <a:solidFill>
                  <a:srgbClr val="273239"/>
                </a:solidFill>
                <a:effectLst/>
              </a:rPr>
              <a:t> in Linux and </a:t>
            </a:r>
            <a:r>
              <a:rPr lang="en-US" altLang="zh-CN" sz="2400" b="1" i="1" dirty="0">
                <a:solidFill>
                  <a:srgbClr val="273239"/>
                </a:solidFill>
                <a:effectLst/>
              </a:rPr>
              <a:t>.</a:t>
            </a:r>
            <a:r>
              <a:rPr lang="en-US" altLang="zh-CN" sz="2400" b="1" i="1" dirty="0" err="1">
                <a:solidFill>
                  <a:srgbClr val="273239"/>
                </a:solidFill>
                <a:effectLst/>
              </a:rPr>
              <a:t>dll</a:t>
            </a:r>
            <a:r>
              <a:rPr lang="en-US" altLang="zh-CN" sz="2400" b="1" i="1" dirty="0">
                <a:solidFill>
                  <a:srgbClr val="273239"/>
                </a:solidFill>
                <a:effectLst/>
              </a:rPr>
              <a:t> </a:t>
            </a:r>
            <a:r>
              <a:rPr lang="en-US" altLang="zh-CN" sz="2400" b="0" i="0" dirty="0">
                <a:solidFill>
                  <a:srgbClr val="273239"/>
                </a:solidFill>
                <a:effectLst/>
              </a:rPr>
              <a:t>in Windows.</a:t>
            </a:r>
            <a:endParaRPr lang="zh-CN" altLang="en-US" sz="2400" dirty="0"/>
          </a:p>
        </p:txBody>
      </p:sp>
      <p:sp>
        <p:nvSpPr>
          <p:cNvPr id="3" name="灯片编号占位符 2"/>
          <p:cNvSpPr>
            <a:spLocks noGrp="1"/>
          </p:cNvSpPr>
          <p:nvPr>
            <p:ph type="sldNum" sz="quarter" idx="12"/>
          </p:nvPr>
        </p:nvSpPr>
        <p:spPr/>
        <p:txBody>
          <a:bodyPr/>
          <a:lstStyle/>
          <a:p>
            <a:fld id="{506F4176-339E-4C4B-80E4-BBE9C4467EFE}" type="slidenum">
              <a:rPr lang="zh-CN" altLang="en-US" smtClean="0"/>
              <a:t>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667000" y="137936"/>
            <a:ext cx="5391150" cy="2704935"/>
          </a:xfrm>
          <a:prstGeom prst="rect">
            <a:avLst/>
          </a:prstGeom>
        </p:spPr>
      </p:pic>
      <p:graphicFrame>
        <p:nvGraphicFramePr>
          <p:cNvPr id="13" name="表格 3"/>
          <p:cNvGraphicFramePr>
            <a:graphicFrameLocks noGrp="1"/>
          </p:cNvGraphicFramePr>
          <p:nvPr/>
        </p:nvGraphicFramePr>
        <p:xfrm>
          <a:off x="191721" y="2890661"/>
          <a:ext cx="11924079" cy="3829886"/>
        </p:xfrm>
        <a:graphic>
          <a:graphicData uri="http://schemas.openxmlformats.org/drawingml/2006/table">
            <a:tbl>
              <a:tblPr firstRow="1" bandRow="1">
                <a:tableStyleId>{5C22544A-7EE6-4342-B048-85BDC9FD1C3A}</a:tableStyleId>
              </a:tblPr>
              <a:tblGrid>
                <a:gridCol w="1607741">
                  <a:extLst>
                    <a:ext uri="{9D8B030D-6E8A-4147-A177-3AD203B41FA5}">
                      <a16:colId xmlns:a16="http://schemas.microsoft.com/office/drawing/2014/main" val="20000"/>
                    </a:ext>
                  </a:extLst>
                </a:gridCol>
                <a:gridCol w="4601338">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600426">
                <a:tc>
                  <a:txBody>
                    <a:bodyPr/>
                    <a:lstStyle/>
                    <a:p>
                      <a:endParaRPr lang="zh-CN" altLang="en-US" sz="1800" dirty="0"/>
                    </a:p>
                  </a:txBody>
                  <a:tcPr marL="92204" marR="92204" marT="46102" marB="46102"/>
                </a:tc>
                <a:tc>
                  <a:txBody>
                    <a:bodyPr/>
                    <a:lstStyle/>
                    <a:p>
                      <a:pPr algn="ctr"/>
                      <a:r>
                        <a:rPr lang="en-US" altLang="zh-CN" sz="1800" dirty="0"/>
                        <a:t>advantages</a:t>
                      </a:r>
                      <a:endParaRPr lang="zh-CN" altLang="en-US" sz="1800" dirty="0"/>
                    </a:p>
                  </a:txBody>
                  <a:tcPr marL="92204" marR="92204" marT="46102" marB="46102"/>
                </a:tc>
                <a:tc>
                  <a:txBody>
                    <a:bodyPr/>
                    <a:lstStyle/>
                    <a:p>
                      <a:pPr algn="ctr"/>
                      <a:r>
                        <a:rPr lang="en-US" altLang="zh-CN" sz="1800" dirty="0"/>
                        <a:t>disadvantages</a:t>
                      </a:r>
                      <a:endParaRPr lang="zh-CN" altLang="en-US" sz="1800" dirty="0"/>
                    </a:p>
                  </a:txBody>
                  <a:tcPr marL="92204" marR="92204" marT="46102" marB="46102"/>
                </a:tc>
                <a:extLst>
                  <a:ext uri="{0D108BD9-81ED-4DB2-BD59-A6C34878D82A}">
                    <a16:rowId xmlns:a16="http://schemas.microsoft.com/office/drawing/2014/main" val="10000"/>
                  </a:ext>
                </a:extLst>
              </a:tr>
              <a:tr h="1751884">
                <a:tc>
                  <a:txBody>
                    <a:bodyPr/>
                    <a:lstStyle/>
                    <a:p>
                      <a:pPr algn="ctr"/>
                      <a:r>
                        <a:rPr lang="en-US" altLang="zh-CN" sz="1800" dirty="0"/>
                        <a:t>Static Library</a:t>
                      </a:r>
                      <a:endParaRPr lang="zh-CN" altLang="en-US" sz="1800" dirty="0"/>
                    </a:p>
                  </a:txBody>
                  <a:tcPr marL="92204" marR="92204" marT="46102" marB="46102"/>
                </a:tc>
                <a:tc>
                  <a:txBody>
                    <a:bodyPr/>
                    <a:lstStyle/>
                    <a:p>
                      <a:r>
                        <a:rPr lang="en-US" altLang="zh-CN" sz="1800" dirty="0"/>
                        <a:t>1. Make the executable has fewer dependencies, has been packaged into the executable file.</a:t>
                      </a:r>
                    </a:p>
                    <a:p>
                      <a:r>
                        <a:rPr lang="en-US" altLang="zh-CN" sz="1800" dirty="0"/>
                        <a:t>2. The link is completed in the compilation stage, and the code is loaded quickly during execution.</a:t>
                      </a:r>
                      <a:endParaRPr lang="zh-CN" altLang="en-US" sz="1800" dirty="0"/>
                    </a:p>
                  </a:txBody>
                  <a:tcPr marL="92204" marR="92204" marT="46102" marB="46102"/>
                </a:tc>
                <a:tc>
                  <a:txBody>
                    <a:bodyPr/>
                    <a:lstStyle/>
                    <a:p>
                      <a:r>
                        <a:rPr lang="en-US" altLang="zh-CN" sz="1800" b="0" i="0" kern="1200" dirty="0">
                          <a:solidFill>
                            <a:schemeClr val="dk1"/>
                          </a:solidFill>
                          <a:effectLst/>
                          <a:latin typeface="+mn-lt"/>
                          <a:ea typeface="+mn-ea"/>
                          <a:cs typeface="+mn-cs"/>
                        </a:rPr>
                        <a:t>1. Make the executable file larger.</a:t>
                      </a:r>
                    </a:p>
                    <a:p>
                      <a:r>
                        <a:rPr lang="en-US" altLang="zh-CN" sz="1800" b="0" i="0" kern="1200" dirty="0">
                          <a:solidFill>
                            <a:schemeClr val="dk1"/>
                          </a:solidFill>
                          <a:effectLst/>
                          <a:latin typeface="+mn-lt"/>
                          <a:ea typeface="+mn-ea"/>
                          <a:cs typeface="+mn-cs"/>
                        </a:rPr>
                        <a:t>2. Being a library dependent on another library will result in redundant copies because it must be packaged with the target file.</a:t>
                      </a:r>
                    </a:p>
                    <a:p>
                      <a:r>
                        <a:rPr lang="en-US" altLang="zh-CN" sz="1800" b="0" i="0" kern="1200" dirty="0">
                          <a:solidFill>
                            <a:schemeClr val="dk1"/>
                          </a:solidFill>
                          <a:effectLst/>
                          <a:latin typeface="+mn-lt"/>
                          <a:ea typeface="+mn-ea"/>
                          <a:cs typeface="+mn-cs"/>
                        </a:rPr>
                        <a:t>3. Upgrade is not convenient and easy. The entire executable needs to be replaced and recompiled.</a:t>
                      </a:r>
                    </a:p>
                  </a:txBody>
                  <a:tcPr marL="92204" marR="92204" marT="46102" marB="46102"/>
                </a:tc>
                <a:extLst>
                  <a:ext uri="{0D108BD9-81ED-4DB2-BD59-A6C34878D82A}">
                    <a16:rowId xmlns:a16="http://schemas.microsoft.com/office/drawing/2014/main" val="10001"/>
                  </a:ext>
                </a:extLst>
              </a:tr>
              <a:tr h="1477576">
                <a:tc>
                  <a:txBody>
                    <a:bodyPr/>
                    <a:lstStyle/>
                    <a:p>
                      <a:r>
                        <a:rPr lang="en-US" altLang="zh-CN" sz="1800" dirty="0"/>
                        <a:t>Dynamic Library</a:t>
                      </a:r>
                      <a:endParaRPr lang="zh-CN" altLang="en-US" sz="1800" dirty="0"/>
                    </a:p>
                  </a:txBody>
                  <a:tcPr marL="92204" marR="92204" marT="46102" marB="46102"/>
                </a:tc>
                <a:tc>
                  <a:txBody>
                    <a:bodyPr/>
                    <a:lstStyle/>
                    <a:p>
                      <a:r>
                        <a:rPr lang="en-US" altLang="zh-CN" sz="1800" b="0" i="0" kern="1200" dirty="0">
                          <a:solidFill>
                            <a:schemeClr val="dk1"/>
                          </a:solidFill>
                          <a:effectLst/>
                          <a:latin typeface="+mn-lt"/>
                          <a:ea typeface="+mn-ea"/>
                          <a:cs typeface="+mn-cs"/>
                        </a:rPr>
                        <a:t>1.Dynamic library can achieve resource sharing between processes, there can be only one library file.</a:t>
                      </a:r>
                    </a:p>
                    <a:p>
                      <a:r>
                        <a:rPr lang="en-US" altLang="zh-CN" sz="1800" b="0" i="0" kern="1200" dirty="0">
                          <a:solidFill>
                            <a:schemeClr val="dk1"/>
                          </a:solidFill>
                          <a:effectLst/>
                          <a:latin typeface="+mn-lt"/>
                          <a:ea typeface="+mn-ea"/>
                          <a:cs typeface="+mn-cs"/>
                        </a:rPr>
                        <a:t>2. The upgrade procedure is simple, do not need to recompile.</a:t>
                      </a:r>
                    </a:p>
                  </a:txBody>
                  <a:tcPr marL="92204" marR="92204" marT="46102" marB="46102"/>
                </a:tc>
                <a:tc>
                  <a:txBody>
                    <a:bodyPr/>
                    <a:lstStyle/>
                    <a:p>
                      <a:r>
                        <a:rPr lang="en-US" altLang="zh-CN" sz="1800" b="0" i="0" kern="1200" dirty="0">
                          <a:solidFill>
                            <a:schemeClr val="dk1"/>
                          </a:solidFill>
                          <a:effectLst/>
                          <a:latin typeface="+mn-lt"/>
                          <a:ea typeface="+mn-ea"/>
                          <a:cs typeface="+mn-cs"/>
                        </a:rPr>
                        <a:t>1. Loading during runtime will slow down the execution speed of code.</a:t>
                      </a:r>
                    </a:p>
                    <a:p>
                      <a:r>
                        <a:rPr lang="en-US" altLang="zh-CN" sz="1800" b="0" i="0" kern="1200" dirty="0">
                          <a:solidFill>
                            <a:schemeClr val="dk1"/>
                          </a:solidFill>
                          <a:effectLst/>
                          <a:latin typeface="+mn-lt"/>
                          <a:ea typeface="+mn-ea"/>
                          <a:cs typeface="+mn-cs"/>
                        </a:rPr>
                        <a:t>2. Add program dependencies that must be accompanied by an executable file.</a:t>
                      </a:r>
                    </a:p>
                    <a:p>
                      <a:endParaRPr lang="zh-CN" altLang="en-US" sz="1800" dirty="0"/>
                    </a:p>
                  </a:txBody>
                  <a:tcPr marL="92204" marR="92204" marT="46102" marB="46102"/>
                </a:tc>
                <a:extLst>
                  <a:ext uri="{0D108BD9-81ED-4DB2-BD59-A6C34878D82A}">
                    <a16:rowId xmlns:a16="http://schemas.microsoft.com/office/drawing/2014/main" val="10002"/>
                  </a:ext>
                </a:extLst>
              </a:tr>
            </a:tbl>
          </a:graphicData>
        </a:graphic>
      </p:graphicFrame>
      <p:sp>
        <p:nvSpPr>
          <p:cNvPr id="2" name="灯片编号占位符 1"/>
          <p:cNvSpPr>
            <a:spLocks noGrp="1"/>
          </p:cNvSpPr>
          <p:nvPr>
            <p:ph type="sldNum" sz="quarter" idx="12"/>
          </p:nvPr>
        </p:nvSpPr>
        <p:spPr/>
        <p:txBody>
          <a:bodyPr/>
          <a:lstStyle/>
          <a:p>
            <a:fld id="{506F4176-339E-4C4B-80E4-BBE9C4467EFE}" type="slidenum">
              <a:rPr lang="zh-CN" altLang="en-US" smtClean="0"/>
              <a:t>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Building a static library</a:t>
            </a:r>
          </a:p>
        </p:txBody>
      </p:sp>
      <p:sp>
        <p:nvSpPr>
          <p:cNvPr id="3" name="内容占位符 2"/>
          <p:cNvSpPr>
            <a:spLocks noGrp="1"/>
          </p:cNvSpPr>
          <p:nvPr>
            <p:ph idx="1"/>
          </p:nvPr>
        </p:nvSpPr>
        <p:spPr>
          <a:xfrm>
            <a:off x="1281541" y="1007709"/>
            <a:ext cx="7400636" cy="620112"/>
          </a:xfrm>
        </p:spPr>
        <p:txBody>
          <a:bodyPr>
            <a:normAutofit/>
          </a:bodyPr>
          <a:lstStyle/>
          <a:p>
            <a:r>
              <a:rPr lang="en-US" altLang="zh-CN" sz="2400" dirty="0"/>
              <a:t>Suppose we have written the following code:</a:t>
            </a:r>
          </a:p>
        </p:txBody>
      </p:sp>
      <p:sp>
        <p:nvSpPr>
          <p:cNvPr id="4" name="文本框 3"/>
          <p:cNvSpPr txBox="1"/>
          <p:nvPr/>
        </p:nvSpPr>
        <p:spPr>
          <a:xfrm>
            <a:off x="1503735" y="2798419"/>
            <a:ext cx="4247443" cy="4031873"/>
          </a:xfrm>
          <a:prstGeom prst="rect">
            <a:avLst/>
          </a:prstGeom>
          <a:solidFill>
            <a:schemeClr val="accent1">
              <a:lumMod val="20000"/>
              <a:lumOff val="80000"/>
            </a:schemeClr>
          </a:solidFill>
          <a:ln>
            <a:solidFill>
              <a:schemeClr val="tx1"/>
            </a:solidFill>
          </a:ln>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8000"/>
                </a:solidFill>
                <a:effectLst/>
                <a:uLnTx/>
                <a:uFillTx/>
                <a:ea typeface="宋体" panose="02010600030101010101" pitchFamily="2" charset="-122"/>
                <a:cs typeface="+mn-cs"/>
              </a:rPr>
              <a:t>// </a:t>
            </a:r>
            <a:r>
              <a:rPr kumimoji="0" lang="en-US" altLang="zh-CN" sz="1600" b="0" i="0" u="none" strike="noStrike" kern="1200" cap="none" spc="0" normalizeH="0" baseline="0" noProof="0" dirty="0" err="1">
                <a:ln>
                  <a:noFill/>
                </a:ln>
                <a:solidFill>
                  <a:srgbClr val="008000"/>
                </a:solidFill>
                <a:effectLst/>
                <a:uLnTx/>
                <a:uFillTx/>
                <a:ea typeface="宋体" panose="02010600030101010101" pitchFamily="2" charset="-122"/>
                <a:cs typeface="+mn-cs"/>
              </a:rPr>
              <a:t>mymath.cpp</a:t>
            </a:r>
            <a:endParaRPr kumimoji="0" lang="en-US" altLang="zh-CN" sz="1600" b="0" i="0" u="none" strike="noStrike" kern="1200" cap="none" spc="0" normalizeH="0" baseline="0" noProof="0" dirty="0">
              <a:ln>
                <a:noFill/>
              </a:ln>
              <a:solidFill>
                <a:srgbClr val="000000"/>
              </a:solidFill>
              <a:effectLst/>
              <a:uLnTx/>
              <a:uFillTx/>
              <a:ea typeface="宋体" panose="02010600030101010101" pitchFamily="2" charset="-122"/>
              <a:cs typeface="+mn-cs"/>
            </a:endParaRPr>
          </a:p>
          <a:p>
            <a:r>
              <a:rPr lang="en-US" altLang="zh-CN" sz="1600" b="0" dirty="0">
                <a:solidFill>
                  <a:srgbClr val="AF00DB"/>
                </a:solidFill>
                <a:effectLst/>
              </a:rPr>
              <a:t>#include</a:t>
            </a:r>
            <a:r>
              <a:rPr lang="en-US" altLang="zh-CN" sz="1600" b="0" dirty="0">
                <a:solidFill>
                  <a:srgbClr val="0000FF"/>
                </a:solidFill>
                <a:effectLst/>
              </a:rPr>
              <a:t> </a:t>
            </a:r>
            <a:r>
              <a:rPr lang="en-US" altLang="zh-CN" sz="1600" b="0" dirty="0">
                <a:solidFill>
                  <a:srgbClr val="A31515"/>
                </a:solidFill>
                <a:effectLst/>
              </a:rPr>
              <a:t>&lt;iostream&gt;</a:t>
            </a:r>
            <a:endParaRPr lang="en-US" altLang="zh-CN" sz="1600" b="0" dirty="0">
              <a:solidFill>
                <a:srgbClr val="000000"/>
              </a:solidFill>
              <a:effectLst/>
            </a:endParaRPr>
          </a:p>
          <a:p>
            <a:r>
              <a:rPr lang="en-US" altLang="zh-CN" sz="1600" b="0" dirty="0">
                <a:solidFill>
                  <a:srgbClr val="AF00DB"/>
                </a:solidFill>
                <a:effectLst/>
              </a:rPr>
              <a:t>#include</a:t>
            </a:r>
            <a:r>
              <a:rPr lang="en-US" altLang="zh-CN" sz="1600" b="0" dirty="0">
                <a:solidFill>
                  <a:srgbClr val="0000FF"/>
                </a:solidFill>
                <a:effectLst/>
              </a:rPr>
              <a:t> </a:t>
            </a:r>
            <a:r>
              <a:rPr lang="en-US" altLang="zh-CN" sz="1600" b="0" dirty="0">
                <a:solidFill>
                  <a:srgbClr val="A31515"/>
                </a:solidFill>
                <a:effectLst/>
              </a:rPr>
              <a:t>"</a:t>
            </a:r>
            <a:r>
              <a:rPr lang="en-US" altLang="zh-CN" sz="1600" b="0" dirty="0" err="1">
                <a:solidFill>
                  <a:srgbClr val="A31515"/>
                </a:solidFill>
                <a:effectLst/>
              </a:rPr>
              <a:t>mymath.h</a:t>
            </a:r>
            <a:r>
              <a:rPr lang="en-US" altLang="zh-CN" sz="1600" b="0" dirty="0">
                <a:solidFill>
                  <a:srgbClr val="A31515"/>
                </a:solidFill>
                <a:effectLst/>
              </a:rPr>
              <a:t>"</a:t>
            </a:r>
            <a:endParaRPr lang="en-US" altLang="zh-CN" sz="1600" b="0" dirty="0">
              <a:solidFill>
                <a:srgbClr val="000000"/>
              </a:solidFill>
              <a:effectLst/>
            </a:endParaRPr>
          </a:p>
          <a:p>
            <a:br>
              <a:rPr lang="en-US" altLang="zh-CN" sz="1600" b="0" dirty="0">
                <a:solidFill>
                  <a:srgbClr val="000000"/>
                </a:solidFill>
                <a:effectLst/>
              </a:rPr>
            </a:br>
            <a:r>
              <a:rPr lang="en-US" altLang="zh-CN" sz="1600" b="0" dirty="0">
                <a:solidFill>
                  <a:srgbClr val="0000FF"/>
                </a:solidFill>
                <a:effectLst/>
              </a:rPr>
              <a:t>float</a:t>
            </a:r>
            <a:r>
              <a:rPr lang="en-US" altLang="zh-CN" sz="1600" b="0" dirty="0">
                <a:solidFill>
                  <a:srgbClr val="000000"/>
                </a:solidFill>
                <a:effectLst/>
              </a:rPr>
              <a:t> </a:t>
            </a:r>
            <a:r>
              <a:rPr lang="en-US" altLang="zh-CN" sz="1600" b="0" dirty="0" err="1">
                <a:solidFill>
                  <a:srgbClr val="795E26"/>
                </a:solidFill>
                <a:effectLst/>
              </a:rPr>
              <a:t>arraySum</a:t>
            </a:r>
            <a:r>
              <a:rPr lang="en-US" altLang="zh-CN" sz="1600" b="0" dirty="0">
                <a:solidFill>
                  <a:srgbClr val="000000"/>
                </a:solidFill>
                <a:effectLst/>
              </a:rPr>
              <a:t>(</a:t>
            </a:r>
            <a:r>
              <a:rPr lang="en-US" altLang="zh-CN" sz="1600" b="0" dirty="0">
                <a:solidFill>
                  <a:srgbClr val="0000FF"/>
                </a:solidFill>
                <a:effectLst/>
              </a:rPr>
              <a:t>const</a:t>
            </a:r>
            <a:r>
              <a:rPr lang="en-US" altLang="zh-CN" sz="1600" b="0" dirty="0">
                <a:solidFill>
                  <a:srgbClr val="000000"/>
                </a:solidFill>
                <a:effectLst/>
              </a:rPr>
              <a:t> </a:t>
            </a:r>
            <a:r>
              <a:rPr lang="en-US" altLang="zh-CN" sz="1600" b="0" dirty="0">
                <a:solidFill>
                  <a:srgbClr val="0000FF"/>
                </a:solidFill>
                <a:effectLst/>
              </a:rPr>
              <a:t>float</a:t>
            </a:r>
            <a:r>
              <a:rPr lang="en-US" altLang="zh-CN" sz="1600" b="0" dirty="0">
                <a:solidFill>
                  <a:srgbClr val="000000"/>
                </a:solidFill>
                <a:effectLst/>
              </a:rPr>
              <a:t> </a:t>
            </a:r>
            <a:r>
              <a:rPr lang="en-US" altLang="zh-CN" sz="1600" b="0" dirty="0">
                <a:solidFill>
                  <a:srgbClr val="0000FF"/>
                </a:solidFill>
                <a:effectLst/>
              </a:rPr>
              <a:t>*</a:t>
            </a:r>
            <a:r>
              <a:rPr lang="en-US" altLang="zh-CN" sz="1600" b="0" dirty="0">
                <a:solidFill>
                  <a:srgbClr val="001080"/>
                </a:solidFill>
                <a:effectLst/>
              </a:rPr>
              <a:t>array</a:t>
            </a:r>
            <a:r>
              <a:rPr lang="en-US" altLang="zh-CN" sz="1600" b="0" dirty="0">
                <a:solidFill>
                  <a:srgbClr val="000000"/>
                </a:solidFill>
                <a:effectLst/>
              </a:rPr>
              <a:t>, </a:t>
            </a:r>
            <a:r>
              <a:rPr lang="en-US" altLang="zh-CN" sz="1600" b="0" dirty="0" err="1">
                <a:solidFill>
                  <a:srgbClr val="267F99"/>
                </a:solidFill>
                <a:effectLst/>
              </a:rPr>
              <a:t>size_t</a:t>
            </a:r>
            <a:r>
              <a:rPr lang="en-US" altLang="zh-CN" sz="1600" b="0" dirty="0">
                <a:solidFill>
                  <a:srgbClr val="000000"/>
                </a:solidFill>
                <a:effectLst/>
              </a:rPr>
              <a:t> </a:t>
            </a:r>
            <a:r>
              <a:rPr lang="en-US" altLang="zh-CN" sz="1600" b="0" dirty="0">
                <a:solidFill>
                  <a:srgbClr val="001080"/>
                </a:solidFill>
                <a:effectLst/>
              </a:rPr>
              <a:t>size</a:t>
            </a:r>
            <a:r>
              <a:rPr lang="en-US" altLang="zh-CN" sz="1600" b="0" dirty="0">
                <a:solidFill>
                  <a:srgbClr val="000000"/>
                </a:solidFill>
                <a:effectLst/>
              </a:rPr>
              <a:t>)</a:t>
            </a:r>
          </a:p>
          <a:p>
            <a:r>
              <a:rPr lang="en-US" altLang="zh-CN" sz="1600" b="0" dirty="0">
                <a:solidFill>
                  <a:srgbClr val="000000"/>
                </a:solidFill>
                <a:effectLst/>
              </a:rPr>
              <a:t>{</a:t>
            </a:r>
          </a:p>
          <a:p>
            <a:r>
              <a:rPr lang="en-US" altLang="zh-CN" sz="1600" b="0" dirty="0">
                <a:solidFill>
                  <a:srgbClr val="AF00DB"/>
                </a:solidFill>
                <a:effectLst/>
              </a:rPr>
              <a:t>    if</a:t>
            </a:r>
            <a:r>
              <a:rPr lang="en-US" altLang="zh-CN" sz="1600" b="0" dirty="0">
                <a:solidFill>
                  <a:srgbClr val="000000"/>
                </a:solidFill>
                <a:effectLst/>
              </a:rPr>
              <a:t>(</a:t>
            </a:r>
            <a:r>
              <a:rPr lang="en-US" altLang="zh-CN" sz="1600" b="0" dirty="0">
                <a:solidFill>
                  <a:srgbClr val="001080"/>
                </a:solidFill>
                <a:effectLst/>
              </a:rPr>
              <a:t>array</a:t>
            </a:r>
            <a:r>
              <a:rPr lang="en-US" altLang="zh-CN" sz="1600" b="0" dirty="0">
                <a:solidFill>
                  <a:srgbClr val="000000"/>
                </a:solidFill>
                <a:effectLst/>
              </a:rPr>
              <a:t> == </a:t>
            </a:r>
            <a:r>
              <a:rPr lang="en-US" altLang="zh-CN" sz="1600" b="0" dirty="0">
                <a:solidFill>
                  <a:srgbClr val="0000FF"/>
                </a:solidFill>
                <a:effectLst/>
              </a:rPr>
              <a:t>NULL</a:t>
            </a:r>
            <a:r>
              <a:rPr lang="en-US" altLang="zh-CN" sz="1600" b="0" dirty="0">
                <a:solidFill>
                  <a:srgbClr val="000000"/>
                </a:solidFill>
                <a:effectLst/>
              </a:rPr>
              <a:t>)</a:t>
            </a:r>
          </a:p>
          <a:p>
            <a:r>
              <a:rPr lang="en-US" altLang="zh-CN" sz="1600" b="0" dirty="0">
                <a:solidFill>
                  <a:srgbClr val="000000"/>
                </a:solidFill>
                <a:effectLst/>
              </a:rPr>
              <a:t>    {</a:t>
            </a:r>
          </a:p>
          <a:p>
            <a:r>
              <a:rPr lang="en-US" altLang="zh-CN" sz="1600" b="0" dirty="0">
                <a:solidFill>
                  <a:srgbClr val="267F99"/>
                </a:solidFill>
                <a:effectLst/>
              </a:rPr>
              <a:t>        std</a:t>
            </a:r>
            <a:r>
              <a:rPr lang="en-US" altLang="zh-CN" sz="1600" b="0" dirty="0">
                <a:solidFill>
                  <a:srgbClr val="000000"/>
                </a:solidFill>
                <a:effectLst/>
              </a:rPr>
              <a:t>::</a:t>
            </a:r>
            <a:r>
              <a:rPr lang="en-US" altLang="zh-CN" sz="1600" b="0" dirty="0" err="1">
                <a:solidFill>
                  <a:srgbClr val="001080"/>
                </a:solidFill>
                <a:effectLst/>
              </a:rPr>
              <a:t>cerr</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A31515"/>
                </a:solidFill>
                <a:effectLst/>
              </a:rPr>
              <a:t>"NULL pointer!"</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267F99"/>
                </a:solidFill>
                <a:effectLst/>
              </a:rPr>
              <a:t>std</a:t>
            </a:r>
            <a:r>
              <a:rPr lang="en-US" altLang="zh-CN" sz="1600" b="0" dirty="0">
                <a:solidFill>
                  <a:srgbClr val="000000"/>
                </a:solidFill>
                <a:effectLst/>
              </a:rPr>
              <a:t>::</a:t>
            </a:r>
            <a:r>
              <a:rPr lang="en-US" altLang="zh-CN" sz="1600" b="0" dirty="0" err="1">
                <a:solidFill>
                  <a:srgbClr val="795E26"/>
                </a:solidFill>
                <a:effectLst/>
              </a:rPr>
              <a:t>endl</a:t>
            </a:r>
            <a:r>
              <a:rPr lang="en-US" altLang="zh-CN" sz="1600" b="0" dirty="0">
                <a:solidFill>
                  <a:srgbClr val="000000"/>
                </a:solidFill>
                <a:effectLst/>
              </a:rPr>
              <a:t>;</a:t>
            </a:r>
          </a:p>
          <a:p>
            <a:r>
              <a:rPr lang="en-US" altLang="zh-CN" sz="1600" b="0" dirty="0">
                <a:solidFill>
                  <a:srgbClr val="AF00DB"/>
                </a:solidFill>
                <a:effectLst/>
              </a:rPr>
              <a:t>        return</a:t>
            </a:r>
            <a:r>
              <a:rPr lang="en-US" altLang="zh-CN" sz="1600" b="0" dirty="0">
                <a:solidFill>
                  <a:srgbClr val="000000"/>
                </a:solidFill>
                <a:effectLst/>
              </a:rPr>
              <a:t> </a:t>
            </a:r>
            <a:r>
              <a:rPr lang="en-US" altLang="zh-CN" sz="1600" b="0" dirty="0">
                <a:solidFill>
                  <a:srgbClr val="098658"/>
                </a:solidFill>
                <a:effectLst/>
              </a:rPr>
              <a:t>0.0f</a:t>
            </a:r>
            <a:r>
              <a:rPr lang="en-US" altLang="zh-CN" sz="1600" b="0" dirty="0">
                <a:solidFill>
                  <a:srgbClr val="000000"/>
                </a:solidFill>
                <a:effectLst/>
              </a:rPr>
              <a:t>;</a:t>
            </a:r>
          </a:p>
          <a:p>
            <a:r>
              <a:rPr lang="en-US" altLang="zh-CN" sz="1600" b="0" dirty="0">
                <a:solidFill>
                  <a:srgbClr val="000000"/>
                </a:solidFill>
                <a:effectLst/>
              </a:rPr>
              <a:t>    }</a:t>
            </a:r>
          </a:p>
          <a:p>
            <a:r>
              <a:rPr lang="en-US" altLang="zh-CN" sz="1600" b="0" dirty="0">
                <a:solidFill>
                  <a:srgbClr val="0000FF"/>
                </a:solidFill>
                <a:effectLst/>
              </a:rPr>
              <a:t>    float</a:t>
            </a:r>
            <a:r>
              <a:rPr lang="en-US" altLang="zh-CN" sz="1600" b="0" dirty="0">
                <a:solidFill>
                  <a:srgbClr val="000000"/>
                </a:solidFill>
                <a:effectLst/>
              </a:rPr>
              <a:t> </a:t>
            </a:r>
            <a:r>
              <a:rPr lang="en-US" altLang="zh-CN" sz="1600" b="0" dirty="0">
                <a:solidFill>
                  <a:srgbClr val="001080"/>
                </a:solidFill>
                <a:effectLst/>
              </a:rPr>
              <a:t>sum</a:t>
            </a:r>
            <a:r>
              <a:rPr lang="en-US" altLang="zh-CN" sz="1600" b="0" dirty="0">
                <a:solidFill>
                  <a:srgbClr val="000000"/>
                </a:solidFill>
                <a:effectLst/>
              </a:rPr>
              <a:t> = </a:t>
            </a:r>
            <a:r>
              <a:rPr lang="en-US" altLang="zh-CN" sz="1600" b="0" dirty="0">
                <a:solidFill>
                  <a:srgbClr val="098658"/>
                </a:solidFill>
                <a:effectLst/>
              </a:rPr>
              <a:t>0.0f</a:t>
            </a:r>
            <a:r>
              <a:rPr lang="en-US" altLang="zh-CN" sz="1600" b="0" dirty="0">
                <a:solidFill>
                  <a:srgbClr val="000000"/>
                </a:solidFill>
                <a:effectLst/>
              </a:rPr>
              <a:t>;</a:t>
            </a:r>
          </a:p>
          <a:p>
            <a:r>
              <a:rPr lang="en-US" altLang="zh-CN" sz="1600" b="0" dirty="0">
                <a:solidFill>
                  <a:srgbClr val="AF00DB"/>
                </a:solidFill>
                <a:effectLst/>
              </a:rPr>
              <a:t>    for</a:t>
            </a:r>
            <a:r>
              <a:rPr lang="en-US" altLang="zh-CN" sz="1600" b="0" dirty="0">
                <a:solidFill>
                  <a:srgbClr val="000000"/>
                </a:solidFill>
                <a:effectLst/>
              </a:rPr>
              <a:t>(</a:t>
            </a:r>
            <a:r>
              <a:rPr lang="en-US" altLang="zh-CN" sz="1600" b="0" dirty="0" err="1">
                <a:solidFill>
                  <a:srgbClr val="267F99"/>
                </a:solidFill>
                <a:effectLst/>
              </a:rPr>
              <a:t>size_t</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 = </a:t>
            </a:r>
            <a:r>
              <a:rPr lang="en-US" altLang="zh-CN" sz="1600" b="0" dirty="0">
                <a:solidFill>
                  <a:srgbClr val="098658"/>
                </a:solidFill>
                <a:effectLst/>
              </a:rPr>
              <a:t>0</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 &lt; </a:t>
            </a:r>
            <a:r>
              <a:rPr lang="en-US" altLang="zh-CN" sz="1600" b="0" dirty="0">
                <a:solidFill>
                  <a:srgbClr val="001080"/>
                </a:solidFill>
                <a:effectLst/>
              </a:rPr>
              <a:t>size</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a:t>
            </a:r>
          </a:p>
          <a:p>
            <a:r>
              <a:rPr lang="en-US" altLang="zh-CN" sz="1600" b="0" dirty="0">
                <a:solidFill>
                  <a:srgbClr val="001080"/>
                </a:solidFill>
                <a:effectLst/>
              </a:rPr>
              <a:t>        sum</a:t>
            </a:r>
            <a:r>
              <a:rPr lang="en-US" altLang="zh-CN" sz="1600" b="0" dirty="0">
                <a:solidFill>
                  <a:srgbClr val="000000"/>
                </a:solidFill>
                <a:effectLst/>
              </a:rPr>
              <a:t> += </a:t>
            </a:r>
            <a:r>
              <a:rPr lang="en-US" altLang="zh-CN" sz="1600" b="0" dirty="0">
                <a:solidFill>
                  <a:srgbClr val="001080"/>
                </a:solidFill>
                <a:effectLst/>
              </a:rPr>
              <a:t>array</a:t>
            </a:r>
            <a:r>
              <a:rPr lang="en-US" altLang="zh-CN" sz="1600" b="0" dirty="0">
                <a:solidFill>
                  <a:srgbClr val="000000"/>
                </a:solidFill>
                <a:effectLst/>
              </a:rPr>
              <a:t>[</a:t>
            </a:r>
            <a:r>
              <a:rPr lang="en-US" altLang="zh-CN" sz="1600" b="0" dirty="0" err="1">
                <a:solidFill>
                  <a:srgbClr val="001080"/>
                </a:solidFill>
                <a:effectLst/>
              </a:rPr>
              <a:t>i</a:t>
            </a:r>
            <a:r>
              <a:rPr lang="en-US" altLang="zh-CN" sz="1600" b="0" dirty="0">
                <a:solidFill>
                  <a:srgbClr val="000000"/>
                </a:solidFill>
                <a:effectLst/>
              </a:rPr>
              <a:t>];</a:t>
            </a:r>
          </a:p>
          <a:p>
            <a:r>
              <a:rPr lang="en-US" altLang="zh-CN" sz="1600" b="0" dirty="0">
                <a:solidFill>
                  <a:srgbClr val="AF00DB"/>
                </a:solidFill>
                <a:effectLst/>
              </a:rPr>
              <a:t>    return</a:t>
            </a:r>
            <a:r>
              <a:rPr lang="en-US" altLang="zh-CN" sz="1600" b="0" dirty="0">
                <a:solidFill>
                  <a:srgbClr val="000000"/>
                </a:solidFill>
                <a:effectLst/>
              </a:rPr>
              <a:t> </a:t>
            </a:r>
            <a:r>
              <a:rPr lang="en-US" altLang="zh-CN" sz="1600" b="0" dirty="0">
                <a:solidFill>
                  <a:srgbClr val="001080"/>
                </a:solidFill>
                <a:effectLst/>
              </a:rPr>
              <a:t>sum</a:t>
            </a:r>
            <a:r>
              <a:rPr lang="en-US" altLang="zh-CN" sz="1600" b="0" dirty="0">
                <a:solidFill>
                  <a:srgbClr val="000000"/>
                </a:solidFill>
                <a:effectLst/>
              </a:rPr>
              <a:t>;</a:t>
            </a:r>
          </a:p>
          <a:p>
            <a:r>
              <a:rPr lang="en-US" altLang="zh-CN" sz="1600" b="0" dirty="0">
                <a:solidFill>
                  <a:srgbClr val="000000"/>
                </a:solidFill>
                <a:effectLst/>
              </a:rPr>
              <a:t>}</a:t>
            </a:r>
          </a:p>
        </p:txBody>
      </p:sp>
      <p:sp>
        <p:nvSpPr>
          <p:cNvPr id="6" name="文本框 5"/>
          <p:cNvSpPr txBox="1"/>
          <p:nvPr/>
        </p:nvSpPr>
        <p:spPr>
          <a:xfrm>
            <a:off x="1515019" y="1417609"/>
            <a:ext cx="4247443" cy="1323439"/>
          </a:xfrm>
          <a:prstGeom prst="rect">
            <a:avLst/>
          </a:prstGeom>
          <a:solidFill>
            <a:schemeClr val="accent1">
              <a:lumMod val="20000"/>
              <a:lumOff val="80000"/>
            </a:schemeClr>
          </a:solidFill>
          <a:ln>
            <a:solidFill>
              <a:schemeClr val="tx1"/>
            </a:solidFill>
          </a:ln>
        </p:spPr>
        <p:txBody>
          <a:bodyPr wrap="square" rtlCol="0" anchor="t">
            <a:spAutoFit/>
          </a:bodyPr>
          <a:lstStyle/>
          <a:p>
            <a:r>
              <a:rPr lang="en-US" altLang="zh-CN" sz="1600" b="0" dirty="0">
                <a:solidFill>
                  <a:srgbClr val="008000"/>
                </a:solidFill>
                <a:effectLst/>
              </a:rPr>
              <a:t>// </a:t>
            </a:r>
            <a:r>
              <a:rPr lang="en-US" altLang="zh-CN" sz="1600" b="0" dirty="0" err="1">
                <a:solidFill>
                  <a:srgbClr val="008000"/>
                </a:solidFill>
                <a:effectLst/>
              </a:rPr>
              <a:t>mymath.h</a:t>
            </a:r>
            <a:endParaRPr lang="en-US" altLang="zh-CN" sz="1600" b="0" dirty="0">
              <a:solidFill>
                <a:srgbClr val="000000"/>
              </a:solidFill>
              <a:effectLst/>
            </a:endParaRPr>
          </a:p>
          <a:p>
            <a:r>
              <a:rPr lang="en-US" altLang="zh-CN" sz="1600" b="0" dirty="0">
                <a:solidFill>
                  <a:srgbClr val="AF00DB"/>
                </a:solidFill>
                <a:effectLst/>
              </a:rPr>
              <a:t>#</a:t>
            </a:r>
            <a:r>
              <a:rPr lang="en-US" altLang="zh-CN" sz="1600" b="0" dirty="0" err="1">
                <a:solidFill>
                  <a:srgbClr val="AF00DB"/>
                </a:solidFill>
                <a:effectLst/>
              </a:rPr>
              <a:t>ifndef</a:t>
            </a:r>
            <a:r>
              <a:rPr lang="en-US" altLang="zh-CN" sz="1600" b="0" dirty="0">
                <a:solidFill>
                  <a:srgbClr val="0000FF"/>
                </a:solidFill>
                <a:effectLst/>
              </a:rPr>
              <a:t> __MY_MATH_H__</a:t>
            </a:r>
            <a:endParaRPr lang="en-US" altLang="zh-CN" sz="1600" b="0" dirty="0">
              <a:solidFill>
                <a:srgbClr val="000000"/>
              </a:solidFill>
              <a:effectLst/>
            </a:endParaRPr>
          </a:p>
          <a:p>
            <a:r>
              <a:rPr lang="en-US" altLang="zh-CN" sz="1600" b="0" dirty="0">
                <a:solidFill>
                  <a:srgbClr val="AF00DB"/>
                </a:solidFill>
                <a:effectLst/>
              </a:rPr>
              <a:t>#define</a:t>
            </a:r>
            <a:r>
              <a:rPr lang="en-US" altLang="zh-CN" sz="1600" b="0" dirty="0">
                <a:solidFill>
                  <a:srgbClr val="0000FF"/>
                </a:solidFill>
                <a:effectLst/>
              </a:rPr>
              <a:t> __MY_MATH_H__</a:t>
            </a:r>
            <a:endParaRPr lang="en-US" altLang="zh-CN" sz="1600" b="0" dirty="0">
              <a:solidFill>
                <a:srgbClr val="000000"/>
              </a:solidFill>
              <a:effectLst/>
            </a:endParaRPr>
          </a:p>
          <a:p>
            <a:r>
              <a:rPr lang="en-US" altLang="zh-CN" sz="1600" b="0" dirty="0">
                <a:solidFill>
                  <a:srgbClr val="0000FF"/>
                </a:solidFill>
                <a:effectLst/>
              </a:rPr>
              <a:t>float</a:t>
            </a:r>
            <a:r>
              <a:rPr lang="en-US" altLang="zh-CN" sz="1600" b="0" dirty="0">
                <a:solidFill>
                  <a:srgbClr val="000000"/>
                </a:solidFill>
                <a:effectLst/>
              </a:rPr>
              <a:t> </a:t>
            </a:r>
            <a:r>
              <a:rPr lang="en-US" altLang="zh-CN" sz="1600" b="0" dirty="0" err="1">
                <a:solidFill>
                  <a:srgbClr val="795E26"/>
                </a:solidFill>
                <a:effectLst/>
              </a:rPr>
              <a:t>arraySum</a:t>
            </a:r>
            <a:r>
              <a:rPr lang="en-US" altLang="zh-CN" sz="1600" b="0" dirty="0">
                <a:solidFill>
                  <a:srgbClr val="000000"/>
                </a:solidFill>
                <a:effectLst/>
              </a:rPr>
              <a:t>(</a:t>
            </a:r>
            <a:r>
              <a:rPr lang="en-US" altLang="zh-CN" sz="1600" b="0" dirty="0">
                <a:solidFill>
                  <a:srgbClr val="0000FF"/>
                </a:solidFill>
                <a:effectLst/>
              </a:rPr>
              <a:t>const</a:t>
            </a:r>
            <a:r>
              <a:rPr lang="en-US" altLang="zh-CN" sz="1600" b="0" dirty="0">
                <a:solidFill>
                  <a:srgbClr val="000000"/>
                </a:solidFill>
                <a:effectLst/>
              </a:rPr>
              <a:t> </a:t>
            </a:r>
            <a:r>
              <a:rPr lang="en-US" altLang="zh-CN" sz="1600" b="0" dirty="0">
                <a:solidFill>
                  <a:srgbClr val="0000FF"/>
                </a:solidFill>
                <a:effectLst/>
              </a:rPr>
              <a:t>float</a:t>
            </a:r>
            <a:r>
              <a:rPr lang="en-US" altLang="zh-CN" sz="1600" b="0" dirty="0">
                <a:solidFill>
                  <a:srgbClr val="000000"/>
                </a:solidFill>
                <a:effectLst/>
              </a:rPr>
              <a:t> </a:t>
            </a:r>
            <a:r>
              <a:rPr lang="en-US" altLang="zh-CN" sz="1600" b="0" dirty="0">
                <a:solidFill>
                  <a:srgbClr val="0000FF"/>
                </a:solidFill>
                <a:effectLst/>
              </a:rPr>
              <a:t>*</a:t>
            </a:r>
            <a:r>
              <a:rPr lang="en-US" altLang="zh-CN" sz="1600" b="0" dirty="0">
                <a:solidFill>
                  <a:srgbClr val="001080"/>
                </a:solidFill>
                <a:effectLst/>
              </a:rPr>
              <a:t>array</a:t>
            </a:r>
            <a:r>
              <a:rPr lang="en-US" altLang="zh-CN" sz="1600" b="0" dirty="0">
                <a:solidFill>
                  <a:srgbClr val="000000"/>
                </a:solidFill>
                <a:effectLst/>
              </a:rPr>
              <a:t>, </a:t>
            </a:r>
            <a:r>
              <a:rPr lang="en-US" altLang="zh-CN" sz="1600" b="0" dirty="0" err="1">
                <a:solidFill>
                  <a:srgbClr val="0000FF"/>
                </a:solidFill>
                <a:effectLst/>
              </a:rPr>
              <a:t>size_t</a:t>
            </a:r>
            <a:r>
              <a:rPr lang="en-US" altLang="zh-CN" sz="1600" b="0" dirty="0">
                <a:solidFill>
                  <a:srgbClr val="000000"/>
                </a:solidFill>
                <a:effectLst/>
              </a:rPr>
              <a:t> </a:t>
            </a:r>
            <a:r>
              <a:rPr lang="en-US" altLang="zh-CN" sz="1600" b="0" dirty="0">
                <a:solidFill>
                  <a:srgbClr val="001080"/>
                </a:solidFill>
                <a:effectLst/>
              </a:rPr>
              <a:t>size</a:t>
            </a:r>
            <a:r>
              <a:rPr lang="en-US" altLang="zh-CN" sz="1600" b="0" dirty="0">
                <a:solidFill>
                  <a:srgbClr val="000000"/>
                </a:solidFill>
                <a:effectLst/>
              </a:rPr>
              <a:t>);</a:t>
            </a:r>
          </a:p>
          <a:p>
            <a:r>
              <a:rPr lang="en-US" altLang="zh-CN" sz="1600" b="0" dirty="0">
                <a:solidFill>
                  <a:srgbClr val="AF00DB"/>
                </a:solidFill>
                <a:effectLst/>
              </a:rPr>
              <a:t>#endif</a:t>
            </a:r>
            <a:endParaRPr lang="en-US" altLang="zh-CN" sz="1600" b="0" dirty="0">
              <a:solidFill>
                <a:srgbClr val="000000"/>
              </a:solidFill>
              <a:effectLst/>
            </a:endParaRPr>
          </a:p>
        </p:txBody>
      </p:sp>
      <p:sp>
        <p:nvSpPr>
          <p:cNvPr id="5" name="文本框 4"/>
          <p:cNvSpPr txBox="1"/>
          <p:nvPr/>
        </p:nvSpPr>
        <p:spPr>
          <a:xfrm>
            <a:off x="6223720" y="1627821"/>
            <a:ext cx="4259553" cy="4524315"/>
          </a:xfrm>
          <a:prstGeom prst="rect">
            <a:avLst/>
          </a:prstGeom>
          <a:solidFill>
            <a:schemeClr val="accent1">
              <a:lumMod val="20000"/>
              <a:lumOff val="80000"/>
            </a:schemeClr>
          </a:solidFill>
          <a:ln>
            <a:solidFill>
              <a:schemeClr val="tx1"/>
            </a:solidFill>
          </a:ln>
        </p:spPr>
        <p:txBody>
          <a:bodyPr wrap="square" rtlCol="0" anchor="t">
            <a:spAutoFit/>
          </a:bodyPr>
          <a:lstStyle/>
          <a:p>
            <a:r>
              <a:rPr kumimoji="0" lang="en-US" altLang="zh-CN" sz="1600" b="0" i="0" u="none" strike="noStrike" kern="1200" cap="none" spc="0" normalizeH="0" baseline="0" noProof="0" dirty="0">
                <a:ln>
                  <a:noFill/>
                </a:ln>
                <a:solidFill>
                  <a:srgbClr val="008000"/>
                </a:solidFill>
                <a:effectLst/>
                <a:uLnTx/>
                <a:uFillTx/>
                <a:ea typeface="宋体" panose="02010600030101010101" pitchFamily="2" charset="-122"/>
                <a:cs typeface="+mn-cs"/>
              </a:rPr>
              <a:t>// </a:t>
            </a:r>
            <a:r>
              <a:rPr kumimoji="0" lang="en-US" altLang="zh-CN" sz="1600" b="0" i="0" u="none" strike="noStrike" kern="1200" cap="none" spc="0" normalizeH="0" baseline="0" noProof="0" dirty="0" err="1">
                <a:ln>
                  <a:noFill/>
                </a:ln>
                <a:solidFill>
                  <a:srgbClr val="008000"/>
                </a:solidFill>
                <a:effectLst/>
                <a:uLnTx/>
                <a:uFillTx/>
                <a:ea typeface="宋体" panose="02010600030101010101" pitchFamily="2" charset="-122"/>
                <a:cs typeface="+mn-cs"/>
              </a:rPr>
              <a:t>main.cpp</a:t>
            </a:r>
            <a:endParaRPr kumimoji="0" lang="en-US" altLang="zh-CN" sz="1600" b="0" i="0" u="none" strike="noStrike" kern="1200" cap="none" spc="0" normalizeH="0" baseline="0" noProof="0" dirty="0">
              <a:ln>
                <a:noFill/>
              </a:ln>
              <a:solidFill>
                <a:srgbClr val="000000"/>
              </a:solidFill>
              <a:effectLst/>
              <a:uLnTx/>
              <a:uFillTx/>
              <a:ea typeface="宋体" panose="02010600030101010101" pitchFamily="2" charset="-122"/>
              <a:cs typeface="+mn-cs"/>
            </a:endParaRPr>
          </a:p>
          <a:p>
            <a:r>
              <a:rPr lang="en-US" altLang="zh-CN" sz="1600" b="0" dirty="0">
                <a:solidFill>
                  <a:srgbClr val="AF00DB"/>
                </a:solidFill>
                <a:effectLst/>
              </a:rPr>
              <a:t>#include</a:t>
            </a:r>
            <a:r>
              <a:rPr lang="en-US" altLang="zh-CN" sz="1600" b="0" dirty="0">
                <a:solidFill>
                  <a:srgbClr val="0000FF"/>
                </a:solidFill>
                <a:effectLst/>
              </a:rPr>
              <a:t> </a:t>
            </a:r>
            <a:r>
              <a:rPr lang="en-US" altLang="zh-CN" sz="1600" b="0" dirty="0">
                <a:solidFill>
                  <a:srgbClr val="A31515"/>
                </a:solidFill>
                <a:effectLst/>
              </a:rPr>
              <a:t>&lt;iostream&gt;</a:t>
            </a:r>
            <a:endParaRPr lang="en-US" altLang="zh-CN" sz="1600" b="0" dirty="0">
              <a:solidFill>
                <a:srgbClr val="000000"/>
              </a:solidFill>
              <a:effectLst/>
            </a:endParaRPr>
          </a:p>
          <a:p>
            <a:r>
              <a:rPr lang="en-US" altLang="zh-CN" sz="1600" b="0" dirty="0">
                <a:solidFill>
                  <a:srgbClr val="AF00DB"/>
                </a:solidFill>
                <a:effectLst/>
              </a:rPr>
              <a:t>#include</a:t>
            </a:r>
            <a:r>
              <a:rPr lang="en-US" altLang="zh-CN" sz="1600" b="0" dirty="0">
                <a:solidFill>
                  <a:srgbClr val="0000FF"/>
                </a:solidFill>
                <a:effectLst/>
              </a:rPr>
              <a:t> </a:t>
            </a:r>
            <a:r>
              <a:rPr lang="en-US" altLang="zh-CN" sz="1600" b="0" dirty="0">
                <a:solidFill>
                  <a:srgbClr val="A31515"/>
                </a:solidFill>
                <a:effectLst/>
              </a:rPr>
              <a:t>"</a:t>
            </a:r>
            <a:r>
              <a:rPr lang="en-US" altLang="zh-CN" sz="1600" b="0" dirty="0" err="1">
                <a:solidFill>
                  <a:srgbClr val="A31515"/>
                </a:solidFill>
                <a:effectLst/>
              </a:rPr>
              <a:t>mymath.h</a:t>
            </a:r>
            <a:r>
              <a:rPr lang="en-US" altLang="zh-CN" sz="1600" b="0" dirty="0">
                <a:solidFill>
                  <a:srgbClr val="A31515"/>
                </a:solidFill>
                <a:effectLst/>
              </a:rPr>
              <a:t>"</a:t>
            </a:r>
            <a:endParaRPr lang="en-US" altLang="zh-CN" sz="1600" b="0" dirty="0">
              <a:solidFill>
                <a:srgbClr val="000000"/>
              </a:solidFill>
              <a:effectLst/>
            </a:endParaRPr>
          </a:p>
          <a:p>
            <a:r>
              <a:rPr lang="en-US" altLang="zh-CN" sz="1600" b="0" dirty="0">
                <a:solidFill>
                  <a:srgbClr val="0000FF"/>
                </a:solidFill>
                <a:effectLst/>
              </a:rPr>
              <a:t>int</a:t>
            </a:r>
            <a:r>
              <a:rPr lang="en-US" altLang="zh-CN" sz="1600" b="0" dirty="0">
                <a:solidFill>
                  <a:srgbClr val="000000"/>
                </a:solidFill>
                <a:effectLst/>
              </a:rPr>
              <a:t> </a:t>
            </a:r>
            <a:r>
              <a:rPr lang="en-US" altLang="zh-CN" sz="1600" b="0" dirty="0">
                <a:solidFill>
                  <a:srgbClr val="795E26"/>
                </a:solidFill>
                <a:effectLst/>
              </a:rPr>
              <a:t>main</a:t>
            </a:r>
            <a:r>
              <a:rPr lang="en-US" altLang="zh-CN" sz="1600" b="0" dirty="0">
                <a:solidFill>
                  <a:srgbClr val="000000"/>
                </a:solidFill>
                <a:effectLst/>
              </a:rPr>
              <a:t>()</a:t>
            </a:r>
          </a:p>
          <a:p>
            <a:r>
              <a:rPr lang="en-US" altLang="zh-CN" sz="1600" b="0" dirty="0">
                <a:solidFill>
                  <a:srgbClr val="000000"/>
                </a:solidFill>
                <a:effectLst/>
              </a:rPr>
              <a:t>{</a:t>
            </a:r>
          </a:p>
          <a:p>
            <a:r>
              <a:rPr lang="en-US" altLang="zh-CN" sz="1600" b="0" dirty="0">
                <a:solidFill>
                  <a:srgbClr val="0000FF"/>
                </a:solidFill>
                <a:effectLst/>
              </a:rPr>
              <a:t>    float</a:t>
            </a:r>
            <a:r>
              <a:rPr lang="en-US" altLang="zh-CN" sz="1600" b="0" dirty="0">
                <a:solidFill>
                  <a:srgbClr val="000000"/>
                </a:solidFill>
                <a:effectLst/>
              </a:rPr>
              <a:t> </a:t>
            </a:r>
            <a:r>
              <a:rPr lang="en-US" altLang="zh-CN" sz="1600" b="0" dirty="0">
                <a:solidFill>
                  <a:srgbClr val="001080"/>
                </a:solidFill>
                <a:effectLst/>
              </a:rPr>
              <a:t>arr1</a:t>
            </a:r>
            <a:r>
              <a:rPr lang="en-US" altLang="zh-CN" sz="1600" b="0" dirty="0">
                <a:solidFill>
                  <a:srgbClr val="000000"/>
                </a:solidFill>
                <a:effectLst/>
              </a:rPr>
              <a:t>[</a:t>
            </a:r>
            <a:r>
              <a:rPr lang="en-US" altLang="zh-CN" sz="1600" b="0" dirty="0">
                <a:solidFill>
                  <a:srgbClr val="098658"/>
                </a:solidFill>
                <a:effectLst/>
              </a:rPr>
              <a:t>8</a:t>
            </a:r>
            <a:r>
              <a:rPr lang="en-US" altLang="zh-CN" sz="1600" b="0" dirty="0">
                <a:solidFill>
                  <a:srgbClr val="000000"/>
                </a:solidFill>
                <a:effectLst/>
              </a:rPr>
              <a:t>]{</a:t>
            </a:r>
            <a:r>
              <a:rPr lang="en-US" altLang="zh-CN" sz="1600" b="0" dirty="0">
                <a:solidFill>
                  <a:srgbClr val="098658"/>
                </a:solidFill>
                <a:effectLst/>
              </a:rPr>
              <a:t>1.f</a:t>
            </a:r>
            <a:r>
              <a:rPr lang="en-US" altLang="zh-CN" sz="1600" b="0" dirty="0">
                <a:solidFill>
                  <a:srgbClr val="000000"/>
                </a:solidFill>
                <a:effectLst/>
              </a:rPr>
              <a:t>, </a:t>
            </a:r>
            <a:r>
              <a:rPr lang="en-US" altLang="zh-CN" sz="1600" b="0" dirty="0">
                <a:solidFill>
                  <a:srgbClr val="098658"/>
                </a:solidFill>
                <a:effectLst/>
              </a:rPr>
              <a:t>2.f</a:t>
            </a:r>
            <a:r>
              <a:rPr lang="en-US" altLang="zh-CN" sz="1600" b="0" dirty="0">
                <a:solidFill>
                  <a:srgbClr val="000000"/>
                </a:solidFill>
                <a:effectLst/>
              </a:rPr>
              <a:t>, </a:t>
            </a:r>
            <a:r>
              <a:rPr lang="en-US" altLang="zh-CN" sz="1600" b="0" dirty="0">
                <a:solidFill>
                  <a:srgbClr val="098658"/>
                </a:solidFill>
                <a:effectLst/>
              </a:rPr>
              <a:t>3.f</a:t>
            </a:r>
            <a:r>
              <a:rPr lang="en-US" altLang="zh-CN" sz="1600" b="0" dirty="0">
                <a:solidFill>
                  <a:srgbClr val="000000"/>
                </a:solidFill>
                <a:effectLst/>
              </a:rPr>
              <a:t>, </a:t>
            </a:r>
            <a:r>
              <a:rPr lang="en-US" altLang="zh-CN" sz="1600" b="0" dirty="0">
                <a:solidFill>
                  <a:srgbClr val="098658"/>
                </a:solidFill>
                <a:effectLst/>
              </a:rPr>
              <a:t>4.f</a:t>
            </a:r>
            <a:r>
              <a:rPr lang="en-US" altLang="zh-CN" sz="1600" b="0" dirty="0">
                <a:solidFill>
                  <a:srgbClr val="000000"/>
                </a:solidFill>
                <a:effectLst/>
              </a:rPr>
              <a:t>, </a:t>
            </a:r>
            <a:r>
              <a:rPr lang="en-US" altLang="zh-CN" sz="1600" b="0" dirty="0">
                <a:solidFill>
                  <a:srgbClr val="098658"/>
                </a:solidFill>
                <a:effectLst/>
              </a:rPr>
              <a:t>5.f</a:t>
            </a:r>
            <a:r>
              <a:rPr lang="en-US" altLang="zh-CN" sz="1600" b="0" dirty="0">
                <a:solidFill>
                  <a:srgbClr val="000000"/>
                </a:solidFill>
                <a:effectLst/>
              </a:rPr>
              <a:t>, </a:t>
            </a:r>
            <a:r>
              <a:rPr lang="en-US" altLang="zh-CN" sz="1600" b="0" dirty="0">
                <a:solidFill>
                  <a:srgbClr val="098658"/>
                </a:solidFill>
                <a:effectLst/>
              </a:rPr>
              <a:t>6.f</a:t>
            </a:r>
            <a:r>
              <a:rPr lang="en-US" altLang="zh-CN" sz="1600" b="0" dirty="0">
                <a:solidFill>
                  <a:srgbClr val="000000"/>
                </a:solidFill>
                <a:effectLst/>
              </a:rPr>
              <a:t>, </a:t>
            </a:r>
            <a:r>
              <a:rPr lang="en-US" altLang="zh-CN" sz="1600" b="0" dirty="0">
                <a:solidFill>
                  <a:srgbClr val="098658"/>
                </a:solidFill>
                <a:effectLst/>
              </a:rPr>
              <a:t>7.f</a:t>
            </a:r>
            <a:r>
              <a:rPr lang="en-US" altLang="zh-CN" sz="1600" b="0" dirty="0">
                <a:solidFill>
                  <a:srgbClr val="000000"/>
                </a:solidFill>
                <a:effectLst/>
              </a:rPr>
              <a:t>, </a:t>
            </a:r>
            <a:r>
              <a:rPr lang="en-US" altLang="zh-CN" sz="1600" b="0" dirty="0">
                <a:solidFill>
                  <a:srgbClr val="098658"/>
                </a:solidFill>
                <a:effectLst/>
              </a:rPr>
              <a:t>8.f</a:t>
            </a:r>
            <a:r>
              <a:rPr lang="en-US" altLang="zh-CN" sz="1600" b="0" dirty="0">
                <a:solidFill>
                  <a:srgbClr val="000000"/>
                </a:solidFill>
                <a:effectLst/>
              </a:rPr>
              <a:t>};</a:t>
            </a:r>
          </a:p>
          <a:p>
            <a:r>
              <a:rPr lang="en-US" altLang="zh-CN" sz="1600" b="0" dirty="0">
                <a:solidFill>
                  <a:srgbClr val="0000FF"/>
                </a:solidFill>
                <a:effectLst/>
              </a:rPr>
              <a:t>    float</a:t>
            </a:r>
            <a:r>
              <a:rPr lang="en-US" altLang="zh-CN" sz="1600" b="0" dirty="0">
                <a:solidFill>
                  <a:srgbClr val="000000"/>
                </a:solidFill>
                <a:effectLst/>
              </a:rPr>
              <a:t> * </a:t>
            </a:r>
            <a:r>
              <a:rPr lang="en-US" altLang="zh-CN" sz="1600" b="0" dirty="0">
                <a:solidFill>
                  <a:srgbClr val="001080"/>
                </a:solidFill>
                <a:effectLst/>
              </a:rPr>
              <a:t>arr2</a:t>
            </a:r>
            <a:r>
              <a:rPr lang="en-US" altLang="zh-CN" sz="1600" b="0" dirty="0">
                <a:solidFill>
                  <a:srgbClr val="000000"/>
                </a:solidFill>
                <a:effectLst/>
              </a:rPr>
              <a:t> = </a:t>
            </a:r>
            <a:r>
              <a:rPr lang="en-US" altLang="zh-CN" sz="1600" b="0" dirty="0">
                <a:solidFill>
                  <a:srgbClr val="0000FF"/>
                </a:solidFill>
                <a:effectLst/>
              </a:rPr>
              <a:t>NULL</a:t>
            </a:r>
            <a:r>
              <a:rPr lang="en-US" altLang="zh-CN" sz="1600" b="0" dirty="0">
                <a:solidFill>
                  <a:srgbClr val="000000"/>
                </a:solidFill>
                <a:effectLst/>
              </a:rPr>
              <a:t>;</a:t>
            </a:r>
          </a:p>
          <a:p>
            <a:br>
              <a:rPr lang="en-US" altLang="zh-CN" sz="1600" b="0" dirty="0">
                <a:solidFill>
                  <a:srgbClr val="000000"/>
                </a:solidFill>
                <a:effectLst/>
              </a:rPr>
            </a:br>
            <a:r>
              <a:rPr lang="en-US" altLang="zh-CN" sz="1600" b="0" dirty="0">
                <a:solidFill>
                  <a:srgbClr val="000000"/>
                </a:solidFill>
                <a:effectLst/>
              </a:rPr>
              <a:t>    </a:t>
            </a:r>
            <a:r>
              <a:rPr lang="en-US" altLang="zh-CN" sz="1600" b="0" dirty="0">
                <a:solidFill>
                  <a:srgbClr val="0000FF"/>
                </a:solidFill>
                <a:effectLst/>
              </a:rPr>
              <a:t>float</a:t>
            </a:r>
            <a:r>
              <a:rPr lang="en-US" altLang="zh-CN" sz="1600" b="0" dirty="0">
                <a:solidFill>
                  <a:srgbClr val="000000"/>
                </a:solidFill>
                <a:effectLst/>
              </a:rPr>
              <a:t> </a:t>
            </a:r>
            <a:r>
              <a:rPr lang="en-US" altLang="zh-CN" sz="1600" b="0" dirty="0">
                <a:solidFill>
                  <a:srgbClr val="001080"/>
                </a:solidFill>
                <a:effectLst/>
              </a:rPr>
              <a:t>sum1</a:t>
            </a:r>
            <a:r>
              <a:rPr lang="en-US" altLang="zh-CN" sz="1600" b="0" dirty="0">
                <a:solidFill>
                  <a:srgbClr val="000000"/>
                </a:solidFill>
                <a:effectLst/>
              </a:rPr>
              <a:t> = </a:t>
            </a:r>
            <a:r>
              <a:rPr lang="en-US" altLang="zh-CN" sz="1600" b="0" dirty="0" err="1">
                <a:solidFill>
                  <a:srgbClr val="795E26"/>
                </a:solidFill>
                <a:effectLst/>
              </a:rPr>
              <a:t>arraySum</a:t>
            </a:r>
            <a:r>
              <a:rPr lang="en-US" altLang="zh-CN" sz="1600" b="0" dirty="0">
                <a:solidFill>
                  <a:srgbClr val="000000"/>
                </a:solidFill>
                <a:effectLst/>
              </a:rPr>
              <a:t>(</a:t>
            </a:r>
            <a:r>
              <a:rPr lang="en-US" altLang="zh-CN" sz="1600" b="0" dirty="0">
                <a:solidFill>
                  <a:srgbClr val="001080"/>
                </a:solidFill>
                <a:effectLst/>
              </a:rPr>
              <a:t>arr1</a:t>
            </a:r>
            <a:r>
              <a:rPr lang="en-US" altLang="zh-CN" sz="1600" b="0" dirty="0">
                <a:solidFill>
                  <a:srgbClr val="000000"/>
                </a:solidFill>
                <a:effectLst/>
              </a:rPr>
              <a:t>, </a:t>
            </a:r>
            <a:r>
              <a:rPr lang="en-US" altLang="zh-CN" sz="1600" b="0" dirty="0">
                <a:solidFill>
                  <a:srgbClr val="098658"/>
                </a:solidFill>
                <a:effectLst/>
              </a:rPr>
              <a:t>8</a:t>
            </a:r>
            <a:r>
              <a:rPr lang="en-US" altLang="zh-CN" sz="1600" b="0" dirty="0">
                <a:solidFill>
                  <a:srgbClr val="000000"/>
                </a:solidFill>
                <a:effectLst/>
              </a:rPr>
              <a:t>);</a:t>
            </a:r>
          </a:p>
          <a:p>
            <a:r>
              <a:rPr lang="en-US" altLang="zh-CN" sz="1600" b="0" dirty="0">
                <a:solidFill>
                  <a:srgbClr val="0000FF"/>
                </a:solidFill>
                <a:effectLst/>
              </a:rPr>
              <a:t>    float</a:t>
            </a:r>
            <a:r>
              <a:rPr lang="en-US" altLang="zh-CN" sz="1600" b="0" dirty="0">
                <a:solidFill>
                  <a:srgbClr val="000000"/>
                </a:solidFill>
                <a:effectLst/>
              </a:rPr>
              <a:t> </a:t>
            </a:r>
            <a:r>
              <a:rPr lang="en-US" altLang="zh-CN" sz="1600" b="0" dirty="0">
                <a:solidFill>
                  <a:srgbClr val="001080"/>
                </a:solidFill>
                <a:effectLst/>
              </a:rPr>
              <a:t>sum2</a:t>
            </a:r>
            <a:r>
              <a:rPr lang="en-US" altLang="zh-CN" sz="1600" b="0" dirty="0">
                <a:solidFill>
                  <a:srgbClr val="000000"/>
                </a:solidFill>
                <a:effectLst/>
              </a:rPr>
              <a:t> = </a:t>
            </a:r>
            <a:r>
              <a:rPr lang="en-US" altLang="zh-CN" sz="1600" b="0" dirty="0" err="1">
                <a:solidFill>
                  <a:srgbClr val="795E26"/>
                </a:solidFill>
                <a:effectLst/>
              </a:rPr>
              <a:t>arraySum</a:t>
            </a:r>
            <a:r>
              <a:rPr lang="en-US" altLang="zh-CN" sz="1600" b="0" dirty="0">
                <a:solidFill>
                  <a:srgbClr val="000000"/>
                </a:solidFill>
                <a:effectLst/>
              </a:rPr>
              <a:t>(</a:t>
            </a:r>
            <a:r>
              <a:rPr lang="en-US" altLang="zh-CN" sz="1600" b="0" dirty="0">
                <a:solidFill>
                  <a:srgbClr val="001080"/>
                </a:solidFill>
                <a:effectLst/>
              </a:rPr>
              <a:t>arr2</a:t>
            </a:r>
            <a:r>
              <a:rPr lang="en-US" altLang="zh-CN" sz="1600" b="0" dirty="0">
                <a:solidFill>
                  <a:srgbClr val="000000"/>
                </a:solidFill>
                <a:effectLst/>
              </a:rPr>
              <a:t>, </a:t>
            </a:r>
            <a:r>
              <a:rPr lang="en-US" altLang="zh-CN" sz="1600" b="0" dirty="0">
                <a:solidFill>
                  <a:srgbClr val="098658"/>
                </a:solidFill>
                <a:effectLst/>
              </a:rPr>
              <a:t>8</a:t>
            </a:r>
            <a:r>
              <a:rPr lang="en-US" altLang="zh-CN" sz="1600" b="0" dirty="0">
                <a:solidFill>
                  <a:srgbClr val="000000"/>
                </a:solidFill>
                <a:effectLst/>
              </a:rPr>
              <a:t>);</a:t>
            </a:r>
          </a:p>
          <a:p>
            <a:br>
              <a:rPr lang="en-US" altLang="zh-CN" sz="1600" b="0" dirty="0">
                <a:solidFill>
                  <a:srgbClr val="000000"/>
                </a:solidFill>
                <a:effectLst/>
              </a:rPr>
            </a:br>
            <a:r>
              <a:rPr lang="en-US" altLang="zh-CN" sz="1600" b="0" dirty="0">
                <a:solidFill>
                  <a:srgbClr val="000000"/>
                </a:solidFill>
                <a:effectLst/>
              </a:rPr>
              <a:t>    </a:t>
            </a:r>
            <a:r>
              <a:rPr lang="en-US" altLang="zh-CN" sz="1600" b="0" dirty="0">
                <a:solidFill>
                  <a:srgbClr val="267F99"/>
                </a:solidFill>
                <a:effectLst/>
              </a:rPr>
              <a:t>std</a:t>
            </a:r>
            <a:r>
              <a:rPr lang="en-US" altLang="zh-CN" sz="1600" b="0" dirty="0">
                <a:solidFill>
                  <a:srgbClr val="000000"/>
                </a:solidFill>
                <a:effectLst/>
              </a:rPr>
              <a:t>::</a:t>
            </a:r>
            <a:r>
              <a:rPr lang="en-US" altLang="zh-CN" sz="1600" b="0" dirty="0" err="1">
                <a:solidFill>
                  <a:srgbClr val="001080"/>
                </a:solidFill>
                <a:effectLst/>
              </a:rPr>
              <a:t>cout</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A31515"/>
                </a:solidFill>
                <a:effectLst/>
              </a:rPr>
              <a:t>"The result1 is "</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001080"/>
                </a:solidFill>
                <a:effectLst/>
              </a:rPr>
              <a:t>sum1</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267F99"/>
                </a:solidFill>
                <a:effectLst/>
              </a:rPr>
              <a:t>std</a:t>
            </a:r>
            <a:r>
              <a:rPr lang="en-US" altLang="zh-CN" sz="1600" b="0" dirty="0">
                <a:solidFill>
                  <a:srgbClr val="000000"/>
                </a:solidFill>
                <a:effectLst/>
              </a:rPr>
              <a:t>::</a:t>
            </a:r>
            <a:r>
              <a:rPr lang="en-US" altLang="zh-CN" sz="1600" b="0" dirty="0" err="1">
                <a:solidFill>
                  <a:srgbClr val="795E26"/>
                </a:solidFill>
                <a:effectLst/>
              </a:rPr>
              <a:t>endl</a:t>
            </a:r>
            <a:r>
              <a:rPr lang="en-US" altLang="zh-CN" sz="1600" b="0" dirty="0">
                <a:solidFill>
                  <a:srgbClr val="000000"/>
                </a:solidFill>
                <a:effectLst/>
              </a:rPr>
              <a:t>;</a:t>
            </a:r>
          </a:p>
          <a:p>
            <a:r>
              <a:rPr lang="en-US" altLang="zh-CN" sz="1600" b="0" dirty="0">
                <a:solidFill>
                  <a:srgbClr val="267F99"/>
                </a:solidFill>
                <a:effectLst/>
              </a:rPr>
              <a:t>    std</a:t>
            </a:r>
            <a:r>
              <a:rPr lang="en-US" altLang="zh-CN" sz="1600" b="0" dirty="0">
                <a:solidFill>
                  <a:srgbClr val="000000"/>
                </a:solidFill>
                <a:effectLst/>
              </a:rPr>
              <a:t>::</a:t>
            </a:r>
            <a:r>
              <a:rPr lang="en-US" altLang="zh-CN" sz="1600" b="0" dirty="0" err="1">
                <a:solidFill>
                  <a:srgbClr val="001080"/>
                </a:solidFill>
                <a:effectLst/>
              </a:rPr>
              <a:t>cout</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A31515"/>
                </a:solidFill>
                <a:effectLst/>
              </a:rPr>
              <a:t>"The result2 is "</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001080"/>
                </a:solidFill>
                <a:effectLst/>
              </a:rPr>
              <a:t>sum2</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267F99"/>
                </a:solidFill>
                <a:effectLst/>
              </a:rPr>
              <a:t>std</a:t>
            </a:r>
            <a:r>
              <a:rPr lang="en-US" altLang="zh-CN" sz="1600" b="0" dirty="0">
                <a:solidFill>
                  <a:srgbClr val="000000"/>
                </a:solidFill>
                <a:effectLst/>
              </a:rPr>
              <a:t>::</a:t>
            </a:r>
            <a:r>
              <a:rPr lang="en-US" altLang="zh-CN" sz="1600" b="0" dirty="0" err="1">
                <a:solidFill>
                  <a:srgbClr val="795E26"/>
                </a:solidFill>
                <a:effectLst/>
              </a:rPr>
              <a:t>endl</a:t>
            </a:r>
            <a:r>
              <a:rPr lang="en-US" altLang="zh-CN" sz="1600" b="0" dirty="0">
                <a:solidFill>
                  <a:srgbClr val="000000"/>
                </a:solidFill>
                <a:effectLst/>
              </a:rPr>
              <a:t>;</a:t>
            </a:r>
          </a:p>
          <a:p>
            <a:br>
              <a:rPr lang="en-US" altLang="zh-CN" sz="1600" b="0" dirty="0">
                <a:solidFill>
                  <a:srgbClr val="000000"/>
                </a:solidFill>
                <a:effectLst/>
              </a:rPr>
            </a:br>
            <a:r>
              <a:rPr lang="en-US" altLang="zh-CN" sz="1600" b="0" dirty="0">
                <a:solidFill>
                  <a:srgbClr val="000000"/>
                </a:solidFill>
                <a:effectLst/>
              </a:rPr>
              <a:t>    </a:t>
            </a:r>
            <a:r>
              <a:rPr lang="en-US" altLang="zh-CN" sz="1600" b="0" dirty="0">
                <a:solidFill>
                  <a:srgbClr val="AF00DB"/>
                </a:solidFill>
                <a:effectLst/>
              </a:rPr>
              <a:t>return</a:t>
            </a:r>
            <a:r>
              <a:rPr lang="en-US" altLang="zh-CN" sz="1600" b="0" dirty="0">
                <a:solidFill>
                  <a:srgbClr val="000000"/>
                </a:solidFill>
                <a:effectLst/>
              </a:rPr>
              <a:t> </a:t>
            </a:r>
            <a:r>
              <a:rPr lang="en-US" altLang="zh-CN" sz="1600" b="0" dirty="0">
                <a:solidFill>
                  <a:srgbClr val="098658"/>
                </a:solidFill>
                <a:effectLst/>
              </a:rPr>
              <a:t>0</a:t>
            </a:r>
            <a:r>
              <a:rPr lang="en-US" altLang="zh-CN" sz="1600" b="0" dirty="0">
                <a:solidFill>
                  <a:srgbClr val="000000"/>
                </a:solidFill>
                <a:effectLst/>
              </a:rPr>
              <a:t>;</a:t>
            </a:r>
          </a:p>
          <a:p>
            <a:r>
              <a:rPr lang="en-US" altLang="zh-CN" sz="1600" b="0" dirty="0">
                <a:solidFill>
                  <a:srgbClr val="000000"/>
                </a:solidFill>
                <a:effectLst/>
              </a:rPr>
              <a:t>}</a:t>
            </a:r>
          </a:p>
        </p:txBody>
      </p:sp>
      <p:sp>
        <p:nvSpPr>
          <p:cNvPr id="7" name="灯片编号占位符 6"/>
          <p:cNvSpPr>
            <a:spLocks noGrp="1"/>
          </p:cNvSpPr>
          <p:nvPr>
            <p:ph type="sldNum" sz="quarter" idx="12"/>
          </p:nvPr>
        </p:nvSpPr>
        <p:spPr/>
        <p:txBody>
          <a:bodyPr/>
          <a:lstStyle/>
          <a:p>
            <a:fld id="{506F4176-339E-4C4B-80E4-BBE9C4467EFE}"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1 Building a static library</a:t>
            </a:r>
            <a:endParaRPr lang="zh-CN" altLang="en-US" dirty="0"/>
          </a:p>
        </p:txBody>
      </p:sp>
      <p:sp>
        <p:nvSpPr>
          <p:cNvPr id="3" name="内容占位符 2"/>
          <p:cNvSpPr>
            <a:spLocks noGrp="1"/>
          </p:cNvSpPr>
          <p:nvPr>
            <p:ph idx="1"/>
          </p:nvPr>
        </p:nvSpPr>
        <p:spPr/>
        <p:txBody>
          <a:bodyPr/>
          <a:lstStyle/>
          <a:p>
            <a:r>
              <a:rPr lang="en-US" altLang="zh-CN" dirty="0"/>
              <a:t>In previous class we do the following:</a:t>
            </a:r>
          </a:p>
          <a:p>
            <a:r>
              <a:rPr lang="en-US" altLang="zh-CN" dirty="0"/>
              <a:t>This will compile the “main.cpp” and “</a:t>
            </a:r>
            <a:r>
              <a:rPr lang="en-US" altLang="zh-CN" dirty="0" err="1"/>
              <a:t>mymath.cpp</a:t>
            </a:r>
            <a:r>
              <a:rPr lang="en-US" altLang="zh-CN" dirty="0"/>
              <a:t>” into “main”</a:t>
            </a:r>
          </a:p>
          <a:p>
            <a:r>
              <a:rPr lang="en-US" altLang="zh-CN" dirty="0"/>
              <a:t>And then run “main”</a:t>
            </a:r>
          </a:p>
        </p:txBody>
      </p:sp>
      <p:pic>
        <p:nvPicPr>
          <p:cNvPr id="6" name="图片 5"/>
          <p:cNvPicPr>
            <a:picLocks noChangeAspect="1"/>
          </p:cNvPicPr>
          <p:nvPr/>
        </p:nvPicPr>
        <p:blipFill>
          <a:blip r:embed="rId2"/>
          <a:stretch>
            <a:fillRect/>
          </a:stretch>
        </p:blipFill>
        <p:spPr>
          <a:xfrm>
            <a:off x="2054991" y="3589502"/>
            <a:ext cx="7556500" cy="1612900"/>
          </a:xfrm>
          <a:prstGeom prst="rect">
            <a:avLst/>
          </a:prstGeom>
        </p:spPr>
      </p:pic>
      <p:sp>
        <p:nvSpPr>
          <p:cNvPr id="4" name="灯片编号占位符 3"/>
          <p:cNvSpPr>
            <a:spLocks noGrp="1"/>
          </p:cNvSpPr>
          <p:nvPr>
            <p:ph type="sldNum" sz="quarter" idx="12"/>
          </p:nvPr>
        </p:nvSpPr>
        <p:spPr/>
        <p:txBody>
          <a:bodyPr/>
          <a:lstStyle/>
          <a:p>
            <a:fld id="{506F4176-339E-4C4B-80E4-BBE9C4467EFE}"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76479" y="3593636"/>
            <a:ext cx="7772400" cy="1696000"/>
          </a:xfrm>
          <a:prstGeom prst="rect">
            <a:avLst/>
          </a:prstGeom>
        </p:spPr>
      </p:pic>
      <p:sp>
        <p:nvSpPr>
          <p:cNvPr id="2" name="标题 1"/>
          <p:cNvSpPr>
            <a:spLocks noGrp="1"/>
          </p:cNvSpPr>
          <p:nvPr>
            <p:ph type="title"/>
          </p:nvPr>
        </p:nvSpPr>
        <p:spPr/>
        <p:txBody>
          <a:bodyPr/>
          <a:lstStyle/>
          <a:p>
            <a:r>
              <a:rPr lang="en-US" altLang="zh-CN" dirty="0">
                <a:sym typeface="+mn-ea"/>
              </a:rPr>
              <a:t>1 Building a static library</a:t>
            </a:r>
            <a:endParaRPr lang="zh-CN" altLang="en-US" dirty="0"/>
          </a:p>
        </p:txBody>
      </p:sp>
      <p:sp>
        <p:nvSpPr>
          <p:cNvPr id="3" name="内容占位符 2"/>
          <p:cNvSpPr>
            <a:spLocks noGrp="1"/>
          </p:cNvSpPr>
          <p:nvPr>
            <p:ph idx="1"/>
          </p:nvPr>
        </p:nvSpPr>
        <p:spPr>
          <a:xfrm>
            <a:off x="428625" y="1326995"/>
            <a:ext cx="11463453" cy="2006755"/>
          </a:xfrm>
        </p:spPr>
        <p:txBody>
          <a:bodyPr/>
          <a:lstStyle/>
          <a:p>
            <a:r>
              <a:rPr lang="en-US" altLang="zh-CN" sz="2800" dirty="0">
                <a:solidFill>
                  <a:prstClr val="black"/>
                </a:solidFill>
                <a:latin typeface="Calibri" panose="020F0502020204030204"/>
                <a:ea typeface="宋体" panose="02010600030101010101" pitchFamily="2" charset="-122"/>
              </a:rPr>
              <a:t>A static library is created by </a:t>
            </a:r>
            <a:r>
              <a:rPr lang="en-US" altLang="zh-CN" sz="2800" b="1" dirty="0">
                <a:solidFill>
                  <a:prstClr val="black"/>
                </a:solidFill>
                <a:latin typeface="Calibri" panose="020F0502020204030204"/>
                <a:ea typeface="宋体" panose="02010600030101010101" pitchFamily="2" charset="-122"/>
              </a:rPr>
              <a:t>.o</a:t>
            </a:r>
            <a:r>
              <a:rPr lang="en-US" altLang="zh-CN" sz="2800" dirty="0">
                <a:solidFill>
                  <a:prstClr val="black"/>
                </a:solidFill>
                <a:latin typeface="Calibri" panose="020F0502020204030204"/>
                <a:ea typeface="宋体" panose="02010600030101010101" pitchFamily="2" charset="-122"/>
              </a:rPr>
              <a:t> file.</a:t>
            </a:r>
            <a:endParaRPr lang="en-US" altLang="zh-CN" dirty="0"/>
          </a:p>
          <a:p>
            <a:r>
              <a:rPr lang="en-US" altLang="zh-CN" dirty="0"/>
              <a:t>Remember to use </a:t>
            </a:r>
            <a:r>
              <a:rPr lang="en-US" altLang="zh-CN" b="1" dirty="0"/>
              <a:t>“</a:t>
            </a:r>
            <a:r>
              <a:rPr lang="en-US" altLang="zh-CN" b="1" dirty="0" err="1"/>
              <a:t>ar</a:t>
            </a:r>
            <a:r>
              <a:rPr lang="en-US" altLang="zh-CN" b="1" dirty="0"/>
              <a:t>” </a:t>
            </a:r>
            <a:r>
              <a:rPr lang="en-US" altLang="zh-CN" dirty="0"/>
              <a:t>command with arguments “</a:t>
            </a:r>
            <a:r>
              <a:rPr lang="en-US" altLang="zh-CN" b="1" dirty="0"/>
              <a:t>-</a:t>
            </a:r>
            <a:r>
              <a:rPr lang="en-US" altLang="zh-CN" b="1" dirty="0" err="1"/>
              <a:t>cr</a:t>
            </a:r>
            <a:r>
              <a:rPr lang="en-US" altLang="zh-CN" dirty="0"/>
              <a:t>” when building it.</a:t>
            </a:r>
          </a:p>
          <a:p>
            <a:r>
              <a:rPr lang="en-US" altLang="zh-CN" dirty="0"/>
              <a:t>Now we should see “</a:t>
            </a:r>
            <a:r>
              <a:rPr lang="en-US" altLang="zh-CN" dirty="0" err="1">
                <a:solidFill>
                  <a:srgbClr val="00B0F0"/>
                </a:solidFill>
              </a:rPr>
              <a:t>libmymath.a</a:t>
            </a:r>
            <a:r>
              <a:rPr lang="en-US" altLang="zh-CN" dirty="0"/>
              <a:t>” in the current directory</a:t>
            </a:r>
          </a:p>
          <a:p>
            <a:endParaRPr lang="en-US" altLang="zh-CN" dirty="0"/>
          </a:p>
        </p:txBody>
      </p:sp>
      <p:grpSp>
        <p:nvGrpSpPr>
          <p:cNvPr id="9" name="组合 8"/>
          <p:cNvGrpSpPr/>
          <p:nvPr/>
        </p:nvGrpSpPr>
        <p:grpSpPr>
          <a:xfrm>
            <a:off x="1938186" y="4454367"/>
            <a:ext cx="2435077" cy="1322638"/>
            <a:chOff x="2622512" y="3819524"/>
            <a:chExt cx="2435077" cy="1322638"/>
          </a:xfrm>
        </p:grpSpPr>
        <p:sp>
          <p:nvSpPr>
            <p:cNvPr id="5" name="矩形 4"/>
            <p:cNvSpPr/>
            <p:nvPr/>
          </p:nvSpPr>
          <p:spPr>
            <a:xfrm>
              <a:off x="4772024" y="3819524"/>
              <a:ext cx="285565" cy="2669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V="1">
              <a:off x="4077022" y="4038600"/>
              <a:ext cx="799211" cy="67829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2622512" y="4772830"/>
              <a:ext cx="2292294" cy="369332"/>
            </a:xfrm>
            <a:prstGeom prst="rect">
              <a:avLst/>
            </a:prstGeom>
            <a:noFill/>
          </p:spPr>
          <p:txBody>
            <a:bodyPr wrap="none" rtlCol="0">
              <a:spAutoFit/>
            </a:bodyPr>
            <a:lstStyle/>
            <a:p>
              <a:r>
                <a:rPr lang="en-US" altLang="zh-CN" b="1" dirty="0" err="1"/>
                <a:t>ar</a:t>
              </a:r>
              <a:r>
                <a:rPr lang="en-US" altLang="zh-CN" dirty="0"/>
                <a:t> is a </a:t>
              </a:r>
              <a:r>
                <a:rPr lang="en-US" altLang="zh-CN" dirty="0" err="1"/>
                <a:t>linux</a:t>
              </a:r>
              <a:r>
                <a:rPr lang="en-US" altLang="zh-CN" dirty="0"/>
                <a:t> command.</a:t>
              </a:r>
              <a:endParaRPr lang="zh-CN" altLang="en-US" dirty="0"/>
            </a:p>
          </p:txBody>
        </p:sp>
      </p:grpSp>
      <p:grpSp>
        <p:nvGrpSpPr>
          <p:cNvPr id="10" name="组合 9"/>
          <p:cNvGrpSpPr/>
          <p:nvPr/>
        </p:nvGrpSpPr>
        <p:grpSpPr>
          <a:xfrm>
            <a:off x="4528467" y="4476852"/>
            <a:ext cx="5551949" cy="1375628"/>
            <a:chOff x="4391025" y="3800475"/>
            <a:chExt cx="5551949" cy="1375628"/>
          </a:xfrm>
        </p:grpSpPr>
        <p:sp>
          <p:nvSpPr>
            <p:cNvPr id="11" name="矩形 10"/>
            <p:cNvSpPr/>
            <p:nvPr/>
          </p:nvSpPr>
          <p:spPr>
            <a:xfrm>
              <a:off x="4391025" y="3800475"/>
              <a:ext cx="404828" cy="22177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箭头连接符 11"/>
            <p:cNvCxnSpPr/>
            <p:nvPr/>
          </p:nvCxnSpPr>
          <p:spPr>
            <a:xfrm flipH="1" flipV="1">
              <a:off x="4688278" y="4037887"/>
              <a:ext cx="1401778" cy="5909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949252" y="4529772"/>
              <a:ext cx="3993722" cy="646331"/>
            </a:xfrm>
            <a:prstGeom prst="rect">
              <a:avLst/>
            </a:prstGeom>
            <a:noFill/>
          </p:spPr>
          <p:txBody>
            <a:bodyPr wrap="none" rtlCol="0">
              <a:spAutoFit/>
            </a:bodyPr>
            <a:lstStyle/>
            <a:p>
              <a:r>
                <a:rPr lang="en-US" altLang="zh-CN" b="1" dirty="0"/>
                <a:t>c</a:t>
              </a:r>
              <a:r>
                <a:rPr lang="en-US" altLang="zh-CN" dirty="0"/>
                <a:t>: create a static library.</a:t>
              </a:r>
            </a:p>
            <a:p>
              <a:r>
                <a:rPr lang="en-US" altLang="zh-CN" b="1" dirty="0"/>
                <a:t>r</a:t>
              </a:r>
              <a:r>
                <a:rPr lang="en-US" altLang="zh-CN" dirty="0"/>
                <a:t>: add the object file to the static library.</a:t>
              </a:r>
              <a:endParaRPr lang="zh-CN" altLang="en-US" dirty="0"/>
            </a:p>
          </p:txBody>
        </p:sp>
      </p:grpSp>
      <p:grpSp>
        <p:nvGrpSpPr>
          <p:cNvPr id="15" name="组合 14"/>
          <p:cNvGrpSpPr/>
          <p:nvPr/>
        </p:nvGrpSpPr>
        <p:grpSpPr>
          <a:xfrm>
            <a:off x="5007076" y="2728136"/>
            <a:ext cx="6587172" cy="1995109"/>
            <a:chOff x="3505200" y="2144921"/>
            <a:chExt cx="6587172" cy="1995109"/>
          </a:xfrm>
        </p:grpSpPr>
        <p:sp>
          <p:nvSpPr>
            <p:cNvPr id="16" name="矩形 15"/>
            <p:cNvSpPr/>
            <p:nvPr/>
          </p:nvSpPr>
          <p:spPr>
            <a:xfrm>
              <a:off x="3505200" y="3848099"/>
              <a:ext cx="1628192" cy="2919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 name="直接箭头连接符 16"/>
            <p:cNvCxnSpPr>
              <a:endCxn id="16" idx="0"/>
            </p:cNvCxnSpPr>
            <p:nvPr/>
          </p:nvCxnSpPr>
          <p:spPr>
            <a:xfrm flipH="1">
              <a:off x="4319296" y="3010421"/>
              <a:ext cx="1530973" cy="83767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5471851" y="2144921"/>
              <a:ext cx="4620521" cy="923330"/>
            </a:xfrm>
            <a:prstGeom prst="rect">
              <a:avLst/>
            </a:prstGeom>
            <a:noFill/>
          </p:spPr>
          <p:txBody>
            <a:bodyPr wrap="square" rtlCol="0">
              <a:spAutoFit/>
            </a:bodyPr>
            <a:lstStyle/>
            <a:p>
              <a:r>
                <a:rPr lang="en-US" altLang="zh-CN" dirty="0"/>
                <a:t>The name of </a:t>
              </a:r>
              <a:r>
                <a:rPr lang="en-US" altLang="zh-CN" b="1" dirty="0"/>
                <a:t>.a</a:t>
              </a:r>
              <a:r>
                <a:rPr lang="en-US" altLang="zh-CN" dirty="0"/>
                <a:t> must be started with “</a:t>
              </a:r>
              <a:r>
                <a:rPr lang="en-US" altLang="zh-CN" b="1" dirty="0"/>
                <a:t>lib</a:t>
              </a:r>
              <a:r>
                <a:rPr lang="en-US" altLang="zh-CN" dirty="0"/>
                <a:t>” followed by the .</a:t>
              </a:r>
              <a:r>
                <a:rPr lang="en-US" altLang="zh-CN" dirty="0" err="1"/>
                <a:t>cpp</a:t>
              </a:r>
              <a:r>
                <a:rPr lang="en-US" altLang="zh-CN" dirty="0"/>
                <a:t> name in which a function is defined. </a:t>
              </a:r>
              <a:endParaRPr lang="zh-CN" altLang="en-US" dirty="0"/>
            </a:p>
          </p:txBody>
        </p:sp>
      </p:grpSp>
      <p:sp>
        <p:nvSpPr>
          <p:cNvPr id="23" name="矩形 22"/>
          <p:cNvSpPr/>
          <p:nvPr/>
        </p:nvSpPr>
        <p:spPr>
          <a:xfrm>
            <a:off x="5685932" y="4097058"/>
            <a:ext cx="1314430" cy="320160"/>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230973" y="4981305"/>
            <a:ext cx="1761222" cy="308331"/>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31" name="组合 30"/>
          <p:cNvGrpSpPr/>
          <p:nvPr/>
        </p:nvGrpSpPr>
        <p:grpSpPr>
          <a:xfrm>
            <a:off x="1712737" y="2891009"/>
            <a:ext cx="4798899" cy="1054499"/>
            <a:chOff x="2322386" y="3333750"/>
            <a:chExt cx="4798899" cy="1054499"/>
          </a:xfrm>
        </p:grpSpPr>
        <p:sp>
          <p:nvSpPr>
            <p:cNvPr id="22" name="矩形 21"/>
            <p:cNvSpPr/>
            <p:nvPr/>
          </p:nvSpPr>
          <p:spPr>
            <a:xfrm>
              <a:off x="4686679" y="4088290"/>
              <a:ext cx="2434606" cy="299959"/>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箭头连接符 28"/>
            <p:cNvCxnSpPr/>
            <p:nvPr/>
          </p:nvCxnSpPr>
          <p:spPr>
            <a:xfrm>
              <a:off x="4761985" y="3739973"/>
              <a:ext cx="540641" cy="337559"/>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2322386" y="3333750"/>
              <a:ext cx="4005392" cy="369332"/>
            </a:xfrm>
            <a:prstGeom prst="rect">
              <a:avLst/>
            </a:prstGeom>
            <a:noFill/>
          </p:spPr>
          <p:txBody>
            <a:bodyPr wrap="none" rtlCol="0">
              <a:spAutoFit/>
            </a:bodyPr>
            <a:lstStyle/>
            <a:p>
              <a:r>
                <a:rPr lang="en-US" altLang="zh-CN" dirty="0"/>
                <a:t>Compile the source file to the object file.</a:t>
              </a:r>
              <a:endParaRPr lang="zh-CN" altLang="en-US" dirty="0"/>
            </a:p>
          </p:txBody>
        </p:sp>
      </p:grpSp>
      <p:sp>
        <p:nvSpPr>
          <p:cNvPr id="6" name="灯片编号占位符 5"/>
          <p:cNvSpPr>
            <a:spLocks noGrp="1"/>
          </p:cNvSpPr>
          <p:nvPr>
            <p:ph type="sldNum" sz="quarter" idx="12"/>
          </p:nvPr>
        </p:nvSpPr>
        <p:spPr/>
        <p:txBody>
          <a:bodyPr/>
          <a:lstStyle/>
          <a:p>
            <a:fld id="{506F4176-339E-4C4B-80E4-BBE9C4467EFE}" type="slidenum">
              <a:rPr lang="zh-CN" altLang="en-US" smtClean="0"/>
              <a:t>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90243" y="2866377"/>
            <a:ext cx="7772400" cy="2122714"/>
          </a:xfrm>
          <a:prstGeom prst="rect">
            <a:avLst/>
          </a:prstGeom>
        </p:spPr>
      </p:pic>
      <p:sp>
        <p:nvSpPr>
          <p:cNvPr id="2" name="标题 1"/>
          <p:cNvSpPr>
            <a:spLocks noGrp="1"/>
          </p:cNvSpPr>
          <p:nvPr>
            <p:ph type="title"/>
          </p:nvPr>
        </p:nvSpPr>
        <p:spPr/>
        <p:txBody>
          <a:bodyPr/>
          <a:lstStyle/>
          <a:p>
            <a:r>
              <a:rPr lang="en-US" altLang="zh-CN" dirty="0"/>
              <a:t>2 Using a static library</a:t>
            </a:r>
          </a:p>
        </p:txBody>
      </p:sp>
      <p:sp>
        <p:nvSpPr>
          <p:cNvPr id="3" name="内容占位符 2"/>
          <p:cNvSpPr>
            <a:spLocks noGrp="1"/>
          </p:cNvSpPr>
          <p:nvPr>
            <p:ph idx="1"/>
          </p:nvPr>
        </p:nvSpPr>
        <p:spPr>
          <a:xfrm>
            <a:off x="838199" y="1326995"/>
            <a:ext cx="11053879" cy="1136818"/>
          </a:xfrm>
        </p:spPr>
        <p:txBody>
          <a:bodyPr/>
          <a:lstStyle/>
          <a:p>
            <a:r>
              <a:rPr lang="en-US" altLang="zh-CN" dirty="0"/>
              <a:t>Now we can use “.a” static library.</a:t>
            </a:r>
          </a:p>
          <a:p>
            <a:r>
              <a:rPr lang="en-US" altLang="zh-CN" dirty="0"/>
              <a:t>Let’s compile “main” again:</a:t>
            </a:r>
          </a:p>
          <a:p>
            <a:endParaRPr lang="en-US" altLang="zh-CN" dirty="0"/>
          </a:p>
          <a:p>
            <a:endParaRPr lang="en-US" altLang="zh-CN" dirty="0"/>
          </a:p>
          <a:p>
            <a:pPr marL="0" indent="0">
              <a:buNone/>
            </a:pPr>
            <a:endParaRPr lang="en-US" altLang="zh-CN" dirty="0"/>
          </a:p>
        </p:txBody>
      </p:sp>
      <p:grpSp>
        <p:nvGrpSpPr>
          <p:cNvPr id="7" name="组合 6"/>
          <p:cNvGrpSpPr/>
          <p:nvPr/>
        </p:nvGrpSpPr>
        <p:grpSpPr>
          <a:xfrm>
            <a:off x="1039414" y="2431582"/>
            <a:ext cx="5594865" cy="983416"/>
            <a:chOff x="927268" y="4321104"/>
            <a:chExt cx="5594865" cy="983416"/>
          </a:xfrm>
        </p:grpSpPr>
        <p:sp>
          <p:nvSpPr>
            <p:cNvPr id="8" name="矩形 7"/>
            <p:cNvSpPr/>
            <p:nvPr/>
          </p:nvSpPr>
          <p:spPr>
            <a:xfrm>
              <a:off x="5624396" y="5080689"/>
              <a:ext cx="412367" cy="2238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a:endCxn id="8" idx="0"/>
            </p:cNvCxnSpPr>
            <p:nvPr/>
          </p:nvCxnSpPr>
          <p:spPr>
            <a:xfrm>
              <a:off x="5394132" y="4611962"/>
              <a:ext cx="436448" cy="46872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927268" y="4321104"/>
              <a:ext cx="5594865" cy="369332"/>
            </a:xfrm>
            <a:prstGeom prst="rect">
              <a:avLst/>
            </a:prstGeom>
            <a:noFill/>
          </p:spPr>
          <p:txBody>
            <a:bodyPr wrap="none" rtlCol="0">
              <a:spAutoFit/>
            </a:bodyPr>
            <a:lstStyle/>
            <a:p>
              <a:r>
                <a:rPr lang="en-US" altLang="zh-CN" b="1" dirty="0"/>
                <a:t>“-L.” </a:t>
              </a:r>
              <a:r>
                <a:rPr lang="en-US" altLang="zh-CN" dirty="0"/>
                <a:t>indicates to find a library file in the current directory.</a:t>
              </a:r>
              <a:endParaRPr lang="zh-CN" altLang="en-US" dirty="0"/>
            </a:p>
          </p:txBody>
        </p:sp>
      </p:grpSp>
      <p:grpSp>
        <p:nvGrpSpPr>
          <p:cNvPr id="11" name="组合 10"/>
          <p:cNvGrpSpPr/>
          <p:nvPr/>
        </p:nvGrpSpPr>
        <p:grpSpPr>
          <a:xfrm>
            <a:off x="6096000" y="1850525"/>
            <a:ext cx="6014147" cy="1578475"/>
            <a:chOff x="4217052" y="2483930"/>
            <a:chExt cx="6014147" cy="1578475"/>
          </a:xfrm>
        </p:grpSpPr>
        <p:sp>
          <p:nvSpPr>
            <p:cNvPr id="12" name="矩形 11"/>
            <p:cNvSpPr/>
            <p:nvPr/>
          </p:nvSpPr>
          <p:spPr>
            <a:xfrm>
              <a:off x="4343400" y="3838574"/>
              <a:ext cx="1192188" cy="2238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 name="直接箭头连接符 12"/>
            <p:cNvCxnSpPr>
              <a:endCxn id="12" idx="0"/>
            </p:cNvCxnSpPr>
            <p:nvPr/>
          </p:nvCxnSpPr>
          <p:spPr>
            <a:xfrm flipH="1">
              <a:off x="4939494" y="2853262"/>
              <a:ext cx="144248" cy="9853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4217052" y="2483930"/>
              <a:ext cx="6014147" cy="369332"/>
            </a:xfrm>
            <a:prstGeom prst="rect">
              <a:avLst/>
            </a:prstGeom>
            <a:noFill/>
          </p:spPr>
          <p:txBody>
            <a:bodyPr wrap="none" rtlCol="0">
              <a:spAutoFit/>
            </a:bodyPr>
            <a:lstStyle/>
            <a:p>
              <a:r>
                <a:rPr lang="en-US" altLang="zh-CN" b="1" dirty="0"/>
                <a:t>“-</a:t>
              </a:r>
              <a:r>
                <a:rPr lang="en-US" altLang="zh-CN" b="1" dirty="0" err="1"/>
                <a:t>lmymath</a:t>
              </a:r>
              <a:r>
                <a:rPr lang="en-US" altLang="zh-CN" b="1" dirty="0"/>
                <a:t>” </a:t>
              </a:r>
              <a:r>
                <a:rPr lang="en-US" altLang="zh-CN" dirty="0"/>
                <a:t>indicates to use “</a:t>
              </a:r>
              <a:r>
                <a:rPr lang="en-US" altLang="zh-CN" dirty="0" err="1"/>
                <a:t>libmymath.a</a:t>
              </a:r>
              <a:r>
                <a:rPr lang="en-US" altLang="zh-CN" dirty="0"/>
                <a:t>” or “</a:t>
              </a:r>
              <a:r>
                <a:rPr lang="en-US" altLang="zh-CN" dirty="0" err="1"/>
                <a:t>libmymath.so</a:t>
              </a:r>
              <a:r>
                <a:rPr lang="en-US" altLang="zh-CN" dirty="0"/>
                <a:t>”</a:t>
              </a:r>
              <a:endParaRPr lang="zh-CN" altLang="en-US" dirty="0"/>
            </a:p>
          </p:txBody>
        </p:sp>
      </p:grpSp>
      <p:sp>
        <p:nvSpPr>
          <p:cNvPr id="20" name="内容占位符 2"/>
          <p:cNvSpPr txBox="1"/>
          <p:nvPr/>
        </p:nvSpPr>
        <p:spPr>
          <a:xfrm>
            <a:off x="576462" y="4963613"/>
            <a:ext cx="11244063" cy="1134784"/>
          </a:xfrm>
          <a:prstGeom prst="rect">
            <a:avLst/>
          </a:prstGeom>
        </p:spPr>
        <p:txBody>
          <a:bodyPr vert="horz" lIns="99096" tIns="49548" rIns="99096" bIns="4954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b="1" dirty="0"/>
              <a:t>-L</a:t>
            </a:r>
            <a:r>
              <a:rPr lang="en-US" altLang="zh-CN" sz="2400" dirty="0"/>
              <a:t>: indicates the directory of libraries</a:t>
            </a:r>
          </a:p>
          <a:p>
            <a:r>
              <a:rPr lang="en-US" altLang="zh-CN" sz="2400" b="1" dirty="0"/>
              <a:t>-l</a:t>
            </a:r>
            <a:r>
              <a:rPr lang="en-US" altLang="zh-CN" sz="2400" dirty="0"/>
              <a:t>: indicates the library name, the compiler can give the “</a:t>
            </a:r>
            <a:r>
              <a:rPr lang="en-US" altLang="zh-CN" sz="2400" b="1" dirty="0">
                <a:solidFill>
                  <a:srgbClr val="00B0F0"/>
                </a:solidFill>
              </a:rPr>
              <a:t>lib</a:t>
            </a:r>
            <a:r>
              <a:rPr lang="en-US" altLang="zh-CN" sz="2400" dirty="0"/>
              <a:t>” prefix to the library name and follows with </a:t>
            </a:r>
            <a:r>
              <a:rPr lang="en-US" altLang="zh-CN" sz="2400" b="1" dirty="0">
                <a:solidFill>
                  <a:srgbClr val="00B0F0"/>
                </a:solidFill>
              </a:rPr>
              <a:t>.a</a:t>
            </a:r>
            <a:r>
              <a:rPr lang="en-US" altLang="zh-CN" sz="2400" dirty="0"/>
              <a:t> as extension name.</a:t>
            </a:r>
          </a:p>
        </p:txBody>
      </p:sp>
      <p:sp>
        <p:nvSpPr>
          <p:cNvPr id="16" name="矩形 15"/>
          <p:cNvSpPr/>
          <p:nvPr/>
        </p:nvSpPr>
        <p:spPr>
          <a:xfrm>
            <a:off x="4035287" y="3480461"/>
            <a:ext cx="5067786" cy="511842"/>
          </a:xfrm>
          <a:prstGeom prst="rect">
            <a:avLst/>
          </a:prstGeom>
          <a:solidFill>
            <a:schemeClr val="accent1">
              <a:alpha val="50124"/>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4035287" y="3215890"/>
            <a:ext cx="5067786" cy="233904"/>
          </a:xfrm>
          <a:prstGeom prst="rect">
            <a:avLst/>
          </a:prstGeom>
          <a:solidFill>
            <a:schemeClr val="accent6">
              <a:alpha val="50124"/>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p:cNvSpPr/>
          <p:nvPr/>
        </p:nvSpPr>
        <p:spPr>
          <a:xfrm>
            <a:off x="4035287" y="2951093"/>
            <a:ext cx="5067786" cy="233904"/>
          </a:xfrm>
          <a:prstGeom prst="rect">
            <a:avLst/>
          </a:prstGeom>
          <a:solidFill>
            <a:schemeClr val="accent4">
              <a:alpha val="50124"/>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p:cNvSpPr txBox="1"/>
          <p:nvPr/>
        </p:nvSpPr>
        <p:spPr>
          <a:xfrm>
            <a:off x="9795805" y="3104809"/>
            <a:ext cx="1702490" cy="646331"/>
          </a:xfrm>
          <a:prstGeom prst="rect">
            <a:avLst/>
          </a:prstGeom>
          <a:noFill/>
        </p:spPr>
        <p:txBody>
          <a:bodyPr wrap="square">
            <a:spAutoFit/>
          </a:bodyPr>
          <a:lstStyle/>
          <a:p>
            <a:r>
              <a:rPr lang="en-US" altLang="zh-CN" dirty="0"/>
              <a:t>The 3 methods </a:t>
            </a:r>
          </a:p>
          <a:p>
            <a:r>
              <a:rPr lang="en-US" altLang="zh-CN" dirty="0"/>
              <a:t>are equivalent. </a:t>
            </a:r>
            <a:endParaRPr lang="zh-CN" altLang="en-US" dirty="0"/>
          </a:p>
        </p:txBody>
      </p:sp>
      <p:sp>
        <p:nvSpPr>
          <p:cNvPr id="23" name="左箭头 22"/>
          <p:cNvSpPr/>
          <p:nvPr/>
        </p:nvSpPr>
        <p:spPr>
          <a:xfrm>
            <a:off x="9236082" y="3289102"/>
            <a:ext cx="556119" cy="3213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灯片编号占位符 4"/>
          <p:cNvSpPr>
            <a:spLocks noGrp="1"/>
          </p:cNvSpPr>
          <p:nvPr>
            <p:ph type="sldNum" sz="quarter" idx="12"/>
          </p:nvPr>
        </p:nvSpPr>
        <p:spPr/>
        <p:txBody>
          <a:bodyPr/>
          <a:lstStyle/>
          <a:p>
            <a:fld id="{506F4176-339E-4C4B-80E4-BBE9C4467EFE}" type="slidenum">
              <a:rPr lang="zh-CN" altLang="en-US" smtClean="0"/>
              <a:t>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105178" y="1971976"/>
            <a:ext cx="7772400" cy="3056561"/>
          </a:xfrm>
          <a:prstGeom prst="rect">
            <a:avLst/>
          </a:prstGeom>
        </p:spPr>
      </p:pic>
      <p:sp>
        <p:nvSpPr>
          <p:cNvPr id="2" name="标题 1"/>
          <p:cNvSpPr>
            <a:spLocks noGrp="1"/>
          </p:cNvSpPr>
          <p:nvPr>
            <p:ph type="title"/>
          </p:nvPr>
        </p:nvSpPr>
        <p:spPr/>
        <p:txBody>
          <a:bodyPr/>
          <a:lstStyle/>
          <a:p>
            <a:r>
              <a:rPr lang="en-US" altLang="zh-CN" dirty="0"/>
              <a:t>2 Using a static library</a:t>
            </a:r>
          </a:p>
        </p:txBody>
      </p:sp>
      <p:sp>
        <p:nvSpPr>
          <p:cNvPr id="25" name="文本框 24"/>
          <p:cNvSpPr txBox="1"/>
          <p:nvPr/>
        </p:nvSpPr>
        <p:spPr>
          <a:xfrm>
            <a:off x="750006" y="1186384"/>
            <a:ext cx="8294604" cy="461665"/>
          </a:xfrm>
          <a:prstGeom prst="rect">
            <a:avLst/>
          </a:prstGeom>
          <a:noFill/>
        </p:spPr>
        <p:txBody>
          <a:bodyPr wrap="square">
            <a:spAutoFit/>
          </a:bodyPr>
          <a:lstStyle/>
          <a:p>
            <a:pPr algn="l" latinLnBrk="1"/>
            <a:r>
              <a:rPr lang="en-US" altLang="zh-CN" sz="2400" dirty="0"/>
              <a:t>If the static library is removed, the program can run normally.</a:t>
            </a:r>
          </a:p>
        </p:txBody>
      </p:sp>
      <p:grpSp>
        <p:nvGrpSpPr>
          <p:cNvPr id="28" name="组合 27"/>
          <p:cNvGrpSpPr/>
          <p:nvPr/>
        </p:nvGrpSpPr>
        <p:grpSpPr>
          <a:xfrm>
            <a:off x="3480631" y="3470636"/>
            <a:ext cx="8218807" cy="625684"/>
            <a:chOff x="1807847" y="4695293"/>
            <a:chExt cx="8218807" cy="625684"/>
          </a:xfrm>
        </p:grpSpPr>
        <p:sp>
          <p:nvSpPr>
            <p:cNvPr id="29" name="矩形 28"/>
            <p:cNvSpPr/>
            <p:nvPr/>
          </p:nvSpPr>
          <p:spPr>
            <a:xfrm>
              <a:off x="1807847" y="5107990"/>
              <a:ext cx="1667606" cy="2129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0" name="直接箭头连接符 29"/>
            <p:cNvCxnSpPr>
              <a:stCxn id="31" idx="1"/>
            </p:cNvCxnSpPr>
            <p:nvPr/>
          </p:nvCxnSpPr>
          <p:spPr>
            <a:xfrm flipH="1">
              <a:off x="3475453" y="4879959"/>
              <a:ext cx="3679646" cy="31166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7155099" y="4695293"/>
              <a:ext cx="2871555" cy="369332"/>
            </a:xfrm>
            <a:prstGeom prst="rect">
              <a:avLst/>
            </a:prstGeom>
            <a:noFill/>
          </p:spPr>
          <p:txBody>
            <a:bodyPr wrap="none" rtlCol="0">
              <a:spAutoFit/>
            </a:bodyPr>
            <a:lstStyle/>
            <a:p>
              <a:r>
                <a:rPr lang="en-US" altLang="zh-CN" dirty="0"/>
                <a:t>remove the static library file.</a:t>
              </a:r>
              <a:endParaRPr lang="zh-CN" altLang="en-US" dirty="0"/>
            </a:p>
          </p:txBody>
        </p:sp>
      </p:grpSp>
      <p:sp>
        <p:nvSpPr>
          <p:cNvPr id="37" name="矩形 36"/>
          <p:cNvSpPr/>
          <p:nvPr/>
        </p:nvSpPr>
        <p:spPr>
          <a:xfrm>
            <a:off x="3480397" y="4106259"/>
            <a:ext cx="939893" cy="2397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851855" y="5381993"/>
            <a:ext cx="10801200" cy="738664"/>
          </a:xfrm>
          <a:prstGeom prst="rect">
            <a:avLst/>
          </a:prstGeom>
          <a:noFill/>
        </p:spPr>
        <p:txBody>
          <a:bodyPr wrap="square">
            <a:spAutoFit/>
          </a:bodyPr>
          <a:lstStyle/>
          <a:p>
            <a:r>
              <a:rPr lang="en-US" altLang="zh-CN" sz="2400" dirty="0"/>
              <a:t>To create a static library from multiple object files:</a:t>
            </a:r>
          </a:p>
          <a:p>
            <a:r>
              <a:rPr lang="en-US" altLang="zh-CN" b="1" dirty="0">
                <a:solidFill>
                  <a:srgbClr val="00B0F0"/>
                </a:solidFill>
                <a:cs typeface="Consolas" panose="020B0609020204030204" pitchFamily="49" charset="0"/>
              </a:rPr>
              <a:t>               </a:t>
            </a:r>
            <a:r>
              <a:rPr lang="en-US" altLang="zh-CN" b="1" dirty="0" err="1">
                <a:solidFill>
                  <a:srgbClr val="00B0F0"/>
                </a:solidFill>
                <a:cs typeface="Consolas" panose="020B0609020204030204" pitchFamily="49" charset="0"/>
              </a:rPr>
              <a:t>ar</a:t>
            </a:r>
            <a:r>
              <a:rPr lang="en-US" altLang="zh-CN" b="1" dirty="0">
                <a:solidFill>
                  <a:srgbClr val="00B0F0"/>
                </a:solidFill>
                <a:cs typeface="Consolas" panose="020B0609020204030204" pitchFamily="49" charset="0"/>
              </a:rPr>
              <a:t> –</a:t>
            </a:r>
            <a:r>
              <a:rPr lang="en-US" altLang="zh-CN" b="1" dirty="0" err="1">
                <a:solidFill>
                  <a:srgbClr val="00B0F0"/>
                </a:solidFill>
                <a:cs typeface="Consolas" panose="020B0609020204030204" pitchFamily="49" charset="0"/>
              </a:rPr>
              <a:t>cr</a:t>
            </a:r>
            <a:r>
              <a:rPr lang="en-US" altLang="zh-CN" b="1" dirty="0">
                <a:solidFill>
                  <a:srgbClr val="00B0F0"/>
                </a:solidFill>
                <a:cs typeface="Consolas" panose="020B0609020204030204" pitchFamily="49" charset="0"/>
              </a:rPr>
              <a:t> </a:t>
            </a:r>
            <a:r>
              <a:rPr lang="en-US" altLang="zh-CN" b="1" dirty="0" err="1">
                <a:solidFill>
                  <a:srgbClr val="00B0F0"/>
                </a:solidFill>
                <a:cs typeface="Consolas" panose="020B0609020204030204" pitchFamily="49" charset="0"/>
              </a:rPr>
              <a:t>libtest.a</a:t>
            </a:r>
            <a:r>
              <a:rPr lang="en-US" altLang="zh-CN" b="1" dirty="0">
                <a:solidFill>
                  <a:srgbClr val="00B0F0"/>
                </a:solidFill>
                <a:cs typeface="Consolas" panose="020B0609020204030204" pitchFamily="49" charset="0"/>
              </a:rPr>
              <a:t> test1.o test2.o</a:t>
            </a:r>
            <a:r>
              <a:rPr lang="en-US" altLang="zh-CN" b="1" i="0" dirty="0">
                <a:solidFill>
                  <a:srgbClr val="00B0F0"/>
                </a:solidFill>
                <a:effectLst/>
                <a:cs typeface="Consolas" panose="020B0609020204030204" pitchFamily="49" charset="0"/>
              </a:rPr>
              <a:t> </a:t>
            </a:r>
            <a:endParaRPr lang="zh-CN" altLang="en-US" b="1" dirty="0">
              <a:solidFill>
                <a:srgbClr val="00B0F0"/>
              </a:solidFill>
              <a:cs typeface="Consolas" panose="020B0609020204030204" pitchFamily="49" charset="0"/>
            </a:endParaRPr>
          </a:p>
        </p:txBody>
      </p:sp>
      <p:sp>
        <p:nvSpPr>
          <p:cNvPr id="4" name="灯片编号占位符 3"/>
          <p:cNvSpPr>
            <a:spLocks noGrp="1"/>
          </p:cNvSpPr>
          <p:nvPr>
            <p:ph type="sldNum" sz="quarter" idx="12"/>
          </p:nvPr>
        </p:nvSpPr>
        <p:spPr/>
        <p:txBody>
          <a:bodyPr/>
          <a:lstStyle/>
          <a:p>
            <a:fld id="{506F4176-339E-4C4B-80E4-BBE9C4467EFE}" type="slidenum">
              <a:rPr lang="zh-CN" altLang="en-US" smtClean="0"/>
              <a:t>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2281237" y="6131029"/>
            <a:ext cx="7629525" cy="428625"/>
          </a:xfrm>
          <a:prstGeom prst="rect">
            <a:avLst/>
          </a:prstGeom>
        </p:spPr>
      </p:pic>
      <p:pic>
        <p:nvPicPr>
          <p:cNvPr id="4" name="图片 3"/>
          <p:cNvPicPr>
            <a:picLocks noChangeAspect="1"/>
          </p:cNvPicPr>
          <p:nvPr/>
        </p:nvPicPr>
        <p:blipFill>
          <a:blip r:embed="rId3"/>
          <a:stretch>
            <a:fillRect/>
          </a:stretch>
        </p:blipFill>
        <p:spPr>
          <a:xfrm>
            <a:off x="2297972" y="5167476"/>
            <a:ext cx="6877050" cy="885825"/>
          </a:xfrm>
          <a:prstGeom prst="rect">
            <a:avLst/>
          </a:prstGeom>
        </p:spPr>
      </p:pic>
      <p:pic>
        <p:nvPicPr>
          <p:cNvPr id="3" name="图片 2"/>
          <p:cNvPicPr>
            <a:picLocks noChangeAspect="1"/>
          </p:cNvPicPr>
          <p:nvPr/>
        </p:nvPicPr>
        <p:blipFill>
          <a:blip r:embed="rId4"/>
          <a:stretch>
            <a:fillRect/>
          </a:stretch>
        </p:blipFill>
        <p:spPr>
          <a:xfrm>
            <a:off x="776304" y="1442912"/>
            <a:ext cx="1296681" cy="1400415"/>
          </a:xfrm>
          <a:prstGeom prst="rect">
            <a:avLst/>
          </a:prstGeom>
        </p:spPr>
      </p:pic>
      <p:pic>
        <p:nvPicPr>
          <p:cNvPr id="9" name="图片 8"/>
          <p:cNvPicPr>
            <a:picLocks noChangeAspect="1"/>
          </p:cNvPicPr>
          <p:nvPr/>
        </p:nvPicPr>
        <p:blipFill>
          <a:blip r:embed="rId5"/>
          <a:stretch>
            <a:fillRect/>
          </a:stretch>
        </p:blipFill>
        <p:spPr>
          <a:xfrm>
            <a:off x="2452350" y="605892"/>
            <a:ext cx="4019710" cy="4538382"/>
          </a:xfrm>
          <a:prstGeom prst="rect">
            <a:avLst/>
          </a:prstGeom>
        </p:spPr>
      </p:pic>
      <p:grpSp>
        <p:nvGrpSpPr>
          <p:cNvPr id="10" name="组合 9"/>
          <p:cNvGrpSpPr/>
          <p:nvPr/>
        </p:nvGrpSpPr>
        <p:grpSpPr>
          <a:xfrm>
            <a:off x="2893762" y="729361"/>
            <a:ext cx="3905058" cy="651392"/>
            <a:chOff x="983903" y="6441350"/>
            <a:chExt cx="4302795" cy="717997"/>
          </a:xfrm>
        </p:grpSpPr>
        <p:sp>
          <p:nvSpPr>
            <p:cNvPr id="11" name="矩形 10"/>
            <p:cNvSpPr/>
            <p:nvPr/>
          </p:nvSpPr>
          <p:spPr>
            <a:xfrm>
              <a:off x="983903" y="6810452"/>
              <a:ext cx="3024336" cy="348895"/>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2085">
                <a:solidFill>
                  <a:prstClr val="white"/>
                </a:solidFill>
                <a:latin typeface="Calibri" panose="020F0502020204030204"/>
                <a:ea typeface="宋体" panose="02010600030101010101" pitchFamily="2" charset="-122"/>
              </a:endParaRPr>
            </a:p>
          </p:txBody>
        </p:sp>
        <p:sp>
          <p:nvSpPr>
            <p:cNvPr id="12" name="Content Placeholder 2"/>
            <p:cNvSpPr txBox="1"/>
            <p:nvPr/>
          </p:nvSpPr>
          <p:spPr bwMode="auto">
            <a:xfrm>
              <a:off x="3432176" y="6441350"/>
              <a:ext cx="1854522" cy="418580"/>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815" dirty="0">
                  <a:solidFill>
                    <a:srgbClr val="FFFF00"/>
                  </a:solidFill>
                  <a:latin typeface="Calibri" panose="020F0502020204030204"/>
                </a:rPr>
                <a:t>three targets</a:t>
              </a:r>
            </a:p>
          </p:txBody>
        </p:sp>
        <p:cxnSp>
          <p:nvCxnSpPr>
            <p:cNvPr id="13" name="直接箭头连接符 12"/>
            <p:cNvCxnSpPr>
              <a:stCxn id="12" idx="1"/>
            </p:cNvCxnSpPr>
            <p:nvPr/>
          </p:nvCxnSpPr>
          <p:spPr>
            <a:xfrm flipH="1">
              <a:off x="3000127" y="6650640"/>
              <a:ext cx="432049" cy="25307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2893762" y="1293820"/>
            <a:ext cx="3578298" cy="543913"/>
            <a:chOff x="983903" y="6559820"/>
            <a:chExt cx="3942754" cy="599527"/>
          </a:xfrm>
        </p:grpSpPr>
        <p:sp>
          <p:nvSpPr>
            <p:cNvPr id="18" name="矩形 17"/>
            <p:cNvSpPr/>
            <p:nvPr/>
          </p:nvSpPr>
          <p:spPr>
            <a:xfrm>
              <a:off x="983903" y="6810452"/>
              <a:ext cx="1656183" cy="348895"/>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1635">
                <a:solidFill>
                  <a:prstClr val="white"/>
                </a:solidFill>
                <a:latin typeface="Calibri" panose="020F0502020204030204"/>
                <a:ea typeface="宋体" panose="02010600030101010101" pitchFamily="2" charset="-122"/>
              </a:endParaRPr>
            </a:p>
          </p:txBody>
        </p:sp>
        <p:sp>
          <p:nvSpPr>
            <p:cNvPr id="19" name="Content Placeholder 2"/>
            <p:cNvSpPr txBox="1"/>
            <p:nvPr/>
          </p:nvSpPr>
          <p:spPr bwMode="auto">
            <a:xfrm>
              <a:off x="2846861" y="6559820"/>
              <a:ext cx="2079796" cy="418580"/>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635" dirty="0">
                  <a:solidFill>
                    <a:srgbClr val="FFFF00"/>
                  </a:solidFill>
                  <a:latin typeface="Calibri" panose="020F0502020204030204"/>
                </a:rPr>
                <a:t>the first target with its </a:t>
              </a:r>
              <a:r>
                <a:rPr lang="en-US" altLang="zh-CN" sz="1635" dirty="0">
                  <a:solidFill>
                    <a:srgbClr val="FFFF00"/>
                  </a:solidFill>
                  <a:latin typeface="Calibri" panose="020F0502020204030204"/>
                  <a:ea typeface="宋体" panose="02010600030101010101" pitchFamily="2" charset="-122"/>
                </a:rPr>
                <a:t>prerequisite</a:t>
              </a:r>
              <a:endParaRPr lang="en-US" sz="1635" dirty="0">
                <a:solidFill>
                  <a:srgbClr val="FFFF00"/>
                </a:solidFill>
                <a:latin typeface="Calibri" panose="020F0502020204030204"/>
              </a:endParaRPr>
            </a:p>
          </p:txBody>
        </p:sp>
        <p:cxnSp>
          <p:nvCxnSpPr>
            <p:cNvPr id="20" name="直接箭头连接符 19"/>
            <p:cNvCxnSpPr/>
            <p:nvPr/>
          </p:nvCxnSpPr>
          <p:spPr>
            <a:xfrm flipH="1">
              <a:off x="2445367" y="6756775"/>
              <a:ext cx="468205" cy="18021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2939587" y="3157127"/>
            <a:ext cx="3613876" cy="837217"/>
            <a:chOff x="983903" y="6236526"/>
            <a:chExt cx="3981956" cy="922821"/>
          </a:xfrm>
        </p:grpSpPr>
        <p:sp>
          <p:nvSpPr>
            <p:cNvPr id="23" name="矩形 22"/>
            <p:cNvSpPr/>
            <p:nvPr/>
          </p:nvSpPr>
          <p:spPr>
            <a:xfrm>
              <a:off x="983903" y="6810452"/>
              <a:ext cx="1929669" cy="348895"/>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1635">
                <a:solidFill>
                  <a:prstClr val="white"/>
                </a:solidFill>
                <a:latin typeface="Calibri" panose="020F0502020204030204"/>
                <a:ea typeface="宋体" panose="02010600030101010101" pitchFamily="2" charset="-122"/>
              </a:endParaRPr>
            </a:p>
          </p:txBody>
        </p:sp>
        <p:sp>
          <p:nvSpPr>
            <p:cNvPr id="24" name="Content Placeholder 2"/>
            <p:cNvSpPr txBox="1"/>
            <p:nvPr/>
          </p:nvSpPr>
          <p:spPr bwMode="auto">
            <a:xfrm>
              <a:off x="2751296" y="6236526"/>
              <a:ext cx="2214563" cy="418580"/>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635" dirty="0">
                  <a:solidFill>
                    <a:srgbClr val="FFFF00"/>
                  </a:solidFill>
                  <a:latin typeface="Calibri" panose="020F0502020204030204"/>
                </a:rPr>
                <a:t>the second target with its </a:t>
              </a:r>
              <a:r>
                <a:rPr lang="en-US" altLang="zh-CN" sz="1635" dirty="0">
                  <a:solidFill>
                    <a:srgbClr val="FFFF00"/>
                  </a:solidFill>
                  <a:latin typeface="Calibri" panose="020F0502020204030204"/>
                  <a:ea typeface="宋体" panose="02010600030101010101" pitchFamily="2" charset="-122"/>
                </a:rPr>
                <a:t>prerequisite</a:t>
              </a:r>
              <a:endParaRPr lang="en-US" sz="1635" dirty="0">
                <a:solidFill>
                  <a:srgbClr val="FFFF00"/>
                </a:solidFill>
                <a:latin typeface="Calibri" panose="020F0502020204030204"/>
              </a:endParaRPr>
            </a:p>
          </p:txBody>
        </p:sp>
        <p:cxnSp>
          <p:nvCxnSpPr>
            <p:cNvPr id="25" name="直接箭头连接符 24"/>
            <p:cNvCxnSpPr/>
            <p:nvPr/>
          </p:nvCxnSpPr>
          <p:spPr>
            <a:xfrm flipH="1">
              <a:off x="2445367" y="6691652"/>
              <a:ext cx="351002" cy="24533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2909814" y="4330277"/>
            <a:ext cx="3447592" cy="578989"/>
            <a:chOff x="983904" y="6521158"/>
            <a:chExt cx="3798736" cy="638191"/>
          </a:xfrm>
        </p:grpSpPr>
        <p:sp>
          <p:nvSpPr>
            <p:cNvPr id="28" name="矩形 27"/>
            <p:cNvSpPr/>
            <p:nvPr/>
          </p:nvSpPr>
          <p:spPr>
            <a:xfrm>
              <a:off x="983904" y="6810452"/>
              <a:ext cx="774402" cy="348895"/>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186180" rtl="0" eaLnBrk="1" latinLnBrk="0" hangingPunct="1">
                <a:defRPr sz="2300" kern="1200">
                  <a:solidFill>
                    <a:schemeClr val="lt1"/>
                  </a:solidFill>
                  <a:latin typeface="+mn-lt"/>
                  <a:ea typeface="+mn-ea"/>
                  <a:cs typeface="+mn-cs"/>
                </a:defRPr>
              </a:lvl1pPr>
              <a:lvl2pPr marL="593090" algn="l" defTabSz="1186180" rtl="0" eaLnBrk="1" latinLnBrk="0" hangingPunct="1">
                <a:defRPr sz="2300" kern="1200">
                  <a:solidFill>
                    <a:schemeClr val="lt1"/>
                  </a:solidFill>
                  <a:latin typeface="+mn-lt"/>
                  <a:ea typeface="+mn-ea"/>
                  <a:cs typeface="+mn-cs"/>
                </a:defRPr>
              </a:lvl2pPr>
              <a:lvl3pPr marL="1186180" algn="l" defTabSz="1186180" rtl="0" eaLnBrk="1" latinLnBrk="0" hangingPunct="1">
                <a:defRPr sz="2300" kern="1200">
                  <a:solidFill>
                    <a:schemeClr val="lt1"/>
                  </a:solidFill>
                  <a:latin typeface="+mn-lt"/>
                  <a:ea typeface="+mn-ea"/>
                  <a:cs typeface="+mn-cs"/>
                </a:defRPr>
              </a:lvl3pPr>
              <a:lvl4pPr marL="1779270" algn="l" defTabSz="1186180" rtl="0" eaLnBrk="1" latinLnBrk="0" hangingPunct="1">
                <a:defRPr sz="2300" kern="1200">
                  <a:solidFill>
                    <a:schemeClr val="lt1"/>
                  </a:solidFill>
                  <a:latin typeface="+mn-lt"/>
                  <a:ea typeface="+mn-ea"/>
                  <a:cs typeface="+mn-cs"/>
                </a:defRPr>
              </a:lvl4pPr>
              <a:lvl5pPr marL="2372360" algn="l" defTabSz="1186180" rtl="0" eaLnBrk="1" latinLnBrk="0" hangingPunct="1">
                <a:defRPr sz="2300" kern="1200">
                  <a:solidFill>
                    <a:schemeClr val="lt1"/>
                  </a:solidFill>
                  <a:latin typeface="+mn-lt"/>
                  <a:ea typeface="+mn-ea"/>
                  <a:cs typeface="+mn-cs"/>
                </a:defRPr>
              </a:lvl5pPr>
              <a:lvl6pPr marL="2966085" algn="l" defTabSz="1186180" rtl="0" eaLnBrk="1" latinLnBrk="0" hangingPunct="1">
                <a:defRPr sz="2300" kern="1200">
                  <a:solidFill>
                    <a:schemeClr val="lt1"/>
                  </a:solidFill>
                  <a:latin typeface="+mn-lt"/>
                  <a:ea typeface="+mn-ea"/>
                  <a:cs typeface="+mn-cs"/>
                </a:defRPr>
              </a:lvl6pPr>
              <a:lvl7pPr marL="3559175" algn="l" defTabSz="1186180" rtl="0" eaLnBrk="1" latinLnBrk="0" hangingPunct="1">
                <a:defRPr sz="2300" kern="1200">
                  <a:solidFill>
                    <a:schemeClr val="lt1"/>
                  </a:solidFill>
                  <a:latin typeface="+mn-lt"/>
                  <a:ea typeface="+mn-ea"/>
                  <a:cs typeface="+mn-cs"/>
                </a:defRPr>
              </a:lvl7pPr>
              <a:lvl8pPr marL="4152265" algn="l" defTabSz="1186180" rtl="0" eaLnBrk="1" latinLnBrk="0" hangingPunct="1">
                <a:defRPr sz="2300" kern="1200">
                  <a:solidFill>
                    <a:schemeClr val="lt1"/>
                  </a:solidFill>
                  <a:latin typeface="+mn-lt"/>
                  <a:ea typeface="+mn-ea"/>
                  <a:cs typeface="+mn-cs"/>
                </a:defRPr>
              </a:lvl8pPr>
              <a:lvl9pPr marL="4745355" algn="l" defTabSz="1186180" rtl="0" eaLnBrk="1" latinLnBrk="0" hangingPunct="1">
                <a:defRPr sz="2300" kern="1200">
                  <a:solidFill>
                    <a:schemeClr val="lt1"/>
                  </a:solidFill>
                  <a:latin typeface="+mn-lt"/>
                  <a:ea typeface="+mn-ea"/>
                  <a:cs typeface="+mn-cs"/>
                </a:defRPr>
              </a:lvl9pPr>
            </a:lstStyle>
            <a:p>
              <a:pPr algn="ctr" defTabSz="1076960"/>
              <a:endParaRPr lang="zh-CN" altLang="en-US" sz="1635" dirty="0">
                <a:solidFill>
                  <a:prstClr val="white"/>
                </a:solidFill>
                <a:latin typeface="Calibri" panose="020F0502020204030204"/>
                <a:ea typeface="宋体" panose="02010600030101010101" pitchFamily="2" charset="-122"/>
              </a:endParaRPr>
            </a:p>
          </p:txBody>
        </p:sp>
        <p:sp>
          <p:nvSpPr>
            <p:cNvPr id="29" name="Content Placeholder 2"/>
            <p:cNvSpPr txBox="1"/>
            <p:nvPr/>
          </p:nvSpPr>
          <p:spPr bwMode="auto">
            <a:xfrm>
              <a:off x="2027433" y="6521158"/>
              <a:ext cx="2755207" cy="638191"/>
            </a:xfrm>
            <a:prstGeom prst="rect">
              <a:avLst/>
            </a:prstGeom>
            <a:noFill/>
            <a:ln w="9525">
              <a:noFill/>
              <a:miter lim="800000"/>
            </a:ln>
          </p:spPr>
          <p:txBody>
            <a:bodyPr vert="horz" wrap="square" lIns="107671" tIns="53836" rIns="107671" bIns="53836" numCol="1" anchor="t" anchorCtr="0" compatLnSpc="1"/>
            <a:lstStyle>
              <a:defPPr>
                <a:defRPr lang="zh-CN"/>
              </a:defPPr>
              <a:lvl1pPr marL="0" algn="l" defTabSz="1186180" rtl="0" eaLnBrk="1" latinLnBrk="0" hangingPunct="1">
                <a:defRPr sz="2300" kern="1200">
                  <a:solidFill>
                    <a:schemeClr val="tx1"/>
                  </a:solidFill>
                  <a:latin typeface="+mn-lt"/>
                  <a:ea typeface="+mn-ea"/>
                  <a:cs typeface="+mn-cs"/>
                </a:defRPr>
              </a:lvl1pPr>
              <a:lvl2pPr marL="593090" algn="l" defTabSz="1186180" rtl="0" eaLnBrk="1" latinLnBrk="0" hangingPunct="1">
                <a:defRPr sz="2300" kern="1200">
                  <a:solidFill>
                    <a:schemeClr val="tx1"/>
                  </a:solidFill>
                  <a:latin typeface="+mn-lt"/>
                  <a:ea typeface="+mn-ea"/>
                  <a:cs typeface="+mn-cs"/>
                </a:defRPr>
              </a:lvl2pPr>
              <a:lvl3pPr marL="1186180" algn="l" defTabSz="1186180" rtl="0" eaLnBrk="1" latinLnBrk="0" hangingPunct="1">
                <a:defRPr sz="2300" kern="1200">
                  <a:solidFill>
                    <a:schemeClr val="tx1"/>
                  </a:solidFill>
                  <a:latin typeface="+mn-lt"/>
                  <a:ea typeface="+mn-ea"/>
                  <a:cs typeface="+mn-cs"/>
                </a:defRPr>
              </a:lvl3pPr>
              <a:lvl4pPr marL="1779270" algn="l" defTabSz="1186180" rtl="0" eaLnBrk="1" latinLnBrk="0" hangingPunct="1">
                <a:defRPr sz="2300" kern="1200">
                  <a:solidFill>
                    <a:schemeClr val="tx1"/>
                  </a:solidFill>
                  <a:latin typeface="+mn-lt"/>
                  <a:ea typeface="+mn-ea"/>
                  <a:cs typeface="+mn-cs"/>
                </a:defRPr>
              </a:lvl4pPr>
              <a:lvl5pPr marL="2372360" algn="l" defTabSz="1186180" rtl="0" eaLnBrk="1" latinLnBrk="0" hangingPunct="1">
                <a:defRPr sz="2300" kern="1200">
                  <a:solidFill>
                    <a:schemeClr val="tx1"/>
                  </a:solidFill>
                  <a:latin typeface="+mn-lt"/>
                  <a:ea typeface="+mn-ea"/>
                  <a:cs typeface="+mn-cs"/>
                </a:defRPr>
              </a:lvl5pPr>
              <a:lvl6pPr marL="2966085" algn="l" defTabSz="1186180" rtl="0" eaLnBrk="1" latinLnBrk="0" hangingPunct="1">
                <a:defRPr sz="2300" kern="1200">
                  <a:solidFill>
                    <a:schemeClr val="tx1"/>
                  </a:solidFill>
                  <a:latin typeface="+mn-lt"/>
                  <a:ea typeface="+mn-ea"/>
                  <a:cs typeface="+mn-cs"/>
                </a:defRPr>
              </a:lvl6pPr>
              <a:lvl7pPr marL="3559175" algn="l" defTabSz="1186180" rtl="0" eaLnBrk="1" latinLnBrk="0" hangingPunct="1">
                <a:defRPr sz="2300" kern="1200">
                  <a:solidFill>
                    <a:schemeClr val="tx1"/>
                  </a:solidFill>
                  <a:latin typeface="+mn-lt"/>
                  <a:ea typeface="+mn-ea"/>
                  <a:cs typeface="+mn-cs"/>
                </a:defRPr>
              </a:lvl7pPr>
              <a:lvl8pPr marL="4152265" algn="l" defTabSz="1186180" rtl="0" eaLnBrk="1" latinLnBrk="0" hangingPunct="1">
                <a:defRPr sz="2300" kern="1200">
                  <a:solidFill>
                    <a:schemeClr val="tx1"/>
                  </a:solidFill>
                  <a:latin typeface="+mn-lt"/>
                  <a:ea typeface="+mn-ea"/>
                  <a:cs typeface="+mn-cs"/>
                </a:defRPr>
              </a:lvl8pPr>
              <a:lvl9pPr marL="4745355" algn="l" defTabSz="1186180" rtl="0" eaLnBrk="1" latinLnBrk="0" hangingPunct="1">
                <a:defRPr sz="2300" kern="1200">
                  <a:solidFill>
                    <a:schemeClr val="tx1"/>
                  </a:solidFill>
                  <a:latin typeface="+mn-lt"/>
                  <a:ea typeface="+mn-ea"/>
                  <a:cs typeface="+mn-cs"/>
                </a:defRPr>
              </a:lvl9pPr>
            </a:lstStyle>
            <a:p>
              <a:pPr marL="0" lvl="1" defTabSz="1076960">
                <a:buClr>
                  <a:srgbClr val="2DA2BF"/>
                </a:buClr>
                <a:buSzPct val="68000"/>
              </a:pPr>
              <a:r>
                <a:rPr lang="en-US" sz="1635" dirty="0">
                  <a:solidFill>
                    <a:srgbClr val="FFFF00"/>
                  </a:solidFill>
                  <a:latin typeface="Calibri" panose="020F0502020204030204"/>
                </a:rPr>
                <a:t>the third target with no </a:t>
              </a:r>
              <a:r>
                <a:rPr lang="en-US" altLang="zh-CN" sz="1635" dirty="0">
                  <a:solidFill>
                    <a:srgbClr val="FFFF00"/>
                  </a:solidFill>
                  <a:latin typeface="Calibri" panose="020F0502020204030204"/>
                  <a:ea typeface="宋体" panose="02010600030101010101" pitchFamily="2" charset="-122"/>
                </a:rPr>
                <a:t>prerequisite</a:t>
              </a:r>
              <a:endParaRPr lang="en-US" sz="1635" dirty="0">
                <a:solidFill>
                  <a:srgbClr val="FFFF00"/>
                </a:solidFill>
                <a:latin typeface="Calibri" panose="020F0502020204030204"/>
              </a:endParaRPr>
            </a:p>
          </p:txBody>
        </p:sp>
        <p:cxnSp>
          <p:nvCxnSpPr>
            <p:cNvPr id="30" name="直接箭头连接符 29"/>
            <p:cNvCxnSpPr/>
            <p:nvPr/>
          </p:nvCxnSpPr>
          <p:spPr>
            <a:xfrm flipH="1">
              <a:off x="1623984" y="6761457"/>
              <a:ext cx="468205" cy="18021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8734703" y="4406365"/>
            <a:ext cx="2924736" cy="1091065"/>
            <a:chOff x="1848000" y="6084183"/>
            <a:chExt cx="3222626" cy="1202625"/>
          </a:xfrm>
        </p:grpSpPr>
        <p:sp>
          <p:nvSpPr>
            <p:cNvPr id="32" name="矩形 31"/>
            <p:cNvSpPr/>
            <p:nvPr/>
          </p:nvSpPr>
          <p:spPr>
            <a:xfrm>
              <a:off x="1848000" y="6937913"/>
              <a:ext cx="474392" cy="348895"/>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1635">
                <a:solidFill>
                  <a:prstClr val="white"/>
                </a:solidFill>
                <a:latin typeface="Calibri" panose="020F0502020204030204"/>
                <a:ea typeface="宋体" panose="02010600030101010101" pitchFamily="2" charset="-122"/>
              </a:endParaRPr>
            </a:p>
          </p:txBody>
        </p:sp>
        <p:sp>
          <p:nvSpPr>
            <p:cNvPr id="33" name="Content Placeholder 2"/>
            <p:cNvSpPr txBox="1"/>
            <p:nvPr/>
          </p:nvSpPr>
          <p:spPr bwMode="auto">
            <a:xfrm>
              <a:off x="2290744" y="6084183"/>
              <a:ext cx="2779882" cy="614107"/>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635" dirty="0">
                  <a:latin typeface="Calibri" panose="020F0502020204030204"/>
                </a:rPr>
                <a:t>By default, the first target can run with only make command.</a:t>
              </a:r>
            </a:p>
          </p:txBody>
        </p:sp>
        <p:cxnSp>
          <p:nvCxnSpPr>
            <p:cNvPr id="34" name="直接箭头连接符 33"/>
            <p:cNvCxnSpPr/>
            <p:nvPr/>
          </p:nvCxnSpPr>
          <p:spPr>
            <a:xfrm flipH="1">
              <a:off x="2115243" y="6725814"/>
              <a:ext cx="351002" cy="24533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8709204" y="5320439"/>
            <a:ext cx="3100110" cy="1030728"/>
            <a:chOff x="1847999" y="6047130"/>
            <a:chExt cx="3415862" cy="1136117"/>
          </a:xfrm>
        </p:grpSpPr>
        <p:sp>
          <p:nvSpPr>
            <p:cNvPr id="36" name="矩形 35"/>
            <p:cNvSpPr/>
            <p:nvPr/>
          </p:nvSpPr>
          <p:spPr>
            <a:xfrm>
              <a:off x="1847999" y="6937912"/>
              <a:ext cx="1323939" cy="245335"/>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1635">
                <a:solidFill>
                  <a:prstClr val="white"/>
                </a:solidFill>
                <a:latin typeface="Calibri" panose="020F0502020204030204"/>
                <a:ea typeface="宋体" panose="02010600030101010101" pitchFamily="2" charset="-122"/>
              </a:endParaRPr>
            </a:p>
          </p:txBody>
        </p:sp>
        <p:sp>
          <p:nvSpPr>
            <p:cNvPr id="37" name="Content Placeholder 2"/>
            <p:cNvSpPr txBox="1"/>
            <p:nvPr/>
          </p:nvSpPr>
          <p:spPr bwMode="auto">
            <a:xfrm>
              <a:off x="2483979" y="6047130"/>
              <a:ext cx="2779882" cy="614107"/>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635" dirty="0">
                  <a:latin typeface="Calibri" panose="020F0502020204030204"/>
                </a:rPr>
                <a:t>The target name followed  make command can run the target.</a:t>
              </a:r>
            </a:p>
          </p:txBody>
        </p:sp>
        <p:cxnSp>
          <p:nvCxnSpPr>
            <p:cNvPr id="38" name="直接箭头连接符 37"/>
            <p:cNvCxnSpPr/>
            <p:nvPr/>
          </p:nvCxnSpPr>
          <p:spPr>
            <a:xfrm flipH="1">
              <a:off x="2115243" y="6725814"/>
              <a:ext cx="351002" cy="24533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39" name="文本框 38"/>
          <p:cNvSpPr txBox="1"/>
          <p:nvPr/>
        </p:nvSpPr>
        <p:spPr>
          <a:xfrm>
            <a:off x="1387700" y="61991"/>
            <a:ext cx="3683188" cy="483209"/>
          </a:xfrm>
          <a:prstGeom prst="rect">
            <a:avLst/>
          </a:prstGeom>
          <a:noFill/>
        </p:spPr>
        <p:txBody>
          <a:bodyPr wrap="none" rtlCol="0">
            <a:spAutoFit/>
          </a:bodyPr>
          <a:lstStyle/>
          <a:p>
            <a:r>
              <a:rPr lang="en-US" altLang="zh-CN" sz="2540" b="1" dirty="0"/>
              <a:t>3 Static library in </a:t>
            </a:r>
            <a:r>
              <a:rPr lang="en-US" altLang="zh-CN" sz="2540" b="1" dirty="0" err="1"/>
              <a:t>makefile</a:t>
            </a:r>
            <a:endParaRPr lang="zh-CN" altLang="en-US" sz="2540" b="1" dirty="0"/>
          </a:p>
        </p:txBody>
      </p:sp>
      <p:grpSp>
        <p:nvGrpSpPr>
          <p:cNvPr id="40" name="组合 39"/>
          <p:cNvGrpSpPr/>
          <p:nvPr/>
        </p:nvGrpSpPr>
        <p:grpSpPr>
          <a:xfrm>
            <a:off x="416497" y="1899891"/>
            <a:ext cx="1746037" cy="1863477"/>
            <a:chOff x="2030042" y="2751560"/>
            <a:chExt cx="1923874" cy="2054017"/>
          </a:xfrm>
        </p:grpSpPr>
        <p:sp>
          <p:nvSpPr>
            <p:cNvPr id="41" name="矩形 40"/>
            <p:cNvSpPr/>
            <p:nvPr/>
          </p:nvSpPr>
          <p:spPr>
            <a:xfrm>
              <a:off x="2513756" y="2751560"/>
              <a:ext cx="990427" cy="1039902"/>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1635">
                <a:solidFill>
                  <a:prstClr val="white"/>
                </a:solidFill>
                <a:latin typeface="Calibri" panose="020F0502020204030204"/>
                <a:ea typeface="宋体" panose="02010600030101010101" pitchFamily="2" charset="-122"/>
              </a:endParaRPr>
            </a:p>
          </p:txBody>
        </p:sp>
        <p:sp>
          <p:nvSpPr>
            <p:cNvPr id="42" name="Content Placeholder 2"/>
            <p:cNvSpPr txBox="1"/>
            <p:nvPr/>
          </p:nvSpPr>
          <p:spPr bwMode="auto">
            <a:xfrm>
              <a:off x="2030042" y="4191470"/>
              <a:ext cx="1923874" cy="614107"/>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635" dirty="0">
                  <a:latin typeface="Calibri" panose="020F0502020204030204"/>
                </a:rPr>
                <a:t>All</a:t>
              </a:r>
              <a:r>
                <a:rPr lang="zh-CN" altLang="en-US" sz="1635" dirty="0">
                  <a:latin typeface="Calibri" panose="020F0502020204030204"/>
                </a:rPr>
                <a:t> </a:t>
              </a:r>
              <a:r>
                <a:rPr lang="en-US" altLang="zh-CN" sz="1635" dirty="0">
                  <a:latin typeface="Calibri" panose="020F0502020204030204"/>
                </a:rPr>
                <a:t>the</a:t>
              </a:r>
              <a:r>
                <a:rPr lang="zh-CN" altLang="en-US" sz="1635" dirty="0">
                  <a:latin typeface="Calibri" panose="020F0502020204030204"/>
                </a:rPr>
                <a:t> </a:t>
              </a:r>
              <a:r>
                <a:rPr lang="en-US" altLang="zh-CN" sz="1635" dirty="0">
                  <a:latin typeface="Calibri" panose="020F0502020204030204"/>
                </a:rPr>
                <a:t>files</a:t>
              </a:r>
              <a:r>
                <a:rPr lang="zh-CN" altLang="en-US" sz="1635" dirty="0">
                  <a:latin typeface="Calibri" panose="020F0502020204030204"/>
                </a:rPr>
                <a:t> </a:t>
              </a:r>
              <a:r>
                <a:rPr lang="en-US" altLang="zh-CN" sz="1635" dirty="0">
                  <a:latin typeface="Calibri" panose="020F0502020204030204"/>
                </a:rPr>
                <a:t>are</a:t>
              </a:r>
              <a:r>
                <a:rPr lang="zh-CN" altLang="en-US" sz="1635" dirty="0">
                  <a:latin typeface="Calibri" panose="020F0502020204030204"/>
                </a:rPr>
                <a:t> </a:t>
              </a:r>
              <a:r>
                <a:rPr lang="en-US" altLang="zh-CN" sz="1635" dirty="0">
                  <a:latin typeface="Calibri" panose="020F0502020204030204"/>
                </a:rPr>
                <a:t>in</a:t>
              </a:r>
            </a:p>
            <a:p>
              <a:pPr marL="0" lvl="1" indent="0" defTabSz="1076960">
                <a:spcBef>
                  <a:spcPts val="0"/>
                </a:spcBef>
                <a:buClr>
                  <a:srgbClr val="2DA2BF"/>
                </a:buClr>
                <a:buSzPct val="68000"/>
                <a:buNone/>
              </a:pPr>
              <a:r>
                <a:rPr lang="en-US" sz="1635" dirty="0">
                  <a:latin typeface="Calibri" panose="020F0502020204030204"/>
                </a:rPr>
                <a:t>the same folder.</a:t>
              </a:r>
            </a:p>
          </p:txBody>
        </p:sp>
        <p:cxnSp>
          <p:nvCxnSpPr>
            <p:cNvPr id="43" name="直接箭头连接符 42"/>
            <p:cNvCxnSpPr/>
            <p:nvPr/>
          </p:nvCxnSpPr>
          <p:spPr>
            <a:xfrm flipV="1">
              <a:off x="3063098" y="3624676"/>
              <a:ext cx="297070" cy="61153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fld id="{506F4176-339E-4C4B-80E4-BBE9C4467EFE}" type="slidenum">
              <a:rPr lang="zh-CN" altLang="en-US" smtClean="0"/>
              <a:t>10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612632" y="1010984"/>
            <a:ext cx="5765907" cy="3397303"/>
          </a:xfrm>
          <a:prstGeom prst="rect">
            <a:avLst/>
          </a:prstGeom>
        </p:spPr>
      </p:pic>
      <p:pic>
        <p:nvPicPr>
          <p:cNvPr id="7" name="图片 6"/>
          <p:cNvPicPr>
            <a:picLocks noChangeAspect="1"/>
          </p:cNvPicPr>
          <p:nvPr/>
        </p:nvPicPr>
        <p:blipFill>
          <a:blip r:embed="rId3"/>
          <a:stretch>
            <a:fillRect/>
          </a:stretch>
        </p:blipFill>
        <p:spPr>
          <a:xfrm>
            <a:off x="1456023" y="2372638"/>
            <a:ext cx="1584855" cy="2091258"/>
          </a:xfrm>
          <a:prstGeom prst="rect">
            <a:avLst/>
          </a:prstGeom>
        </p:spPr>
      </p:pic>
      <p:grpSp>
        <p:nvGrpSpPr>
          <p:cNvPr id="8" name="组合 7"/>
          <p:cNvGrpSpPr/>
          <p:nvPr/>
        </p:nvGrpSpPr>
        <p:grpSpPr>
          <a:xfrm>
            <a:off x="942915" y="1100240"/>
            <a:ext cx="2522918" cy="2608111"/>
            <a:chOff x="2290744" y="6084183"/>
            <a:chExt cx="2779882" cy="2874789"/>
          </a:xfrm>
        </p:grpSpPr>
        <p:sp>
          <p:nvSpPr>
            <p:cNvPr id="9" name="矩形 8"/>
            <p:cNvSpPr/>
            <p:nvPr/>
          </p:nvSpPr>
          <p:spPr>
            <a:xfrm>
              <a:off x="3072135" y="8094564"/>
              <a:ext cx="1224137" cy="864408"/>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1635">
                <a:solidFill>
                  <a:prstClr val="white"/>
                </a:solidFill>
                <a:latin typeface="Calibri" panose="020F0502020204030204"/>
                <a:ea typeface="宋体" panose="02010600030101010101" pitchFamily="2" charset="-122"/>
              </a:endParaRPr>
            </a:p>
          </p:txBody>
        </p:sp>
        <p:sp>
          <p:nvSpPr>
            <p:cNvPr id="10" name="Content Placeholder 2"/>
            <p:cNvSpPr txBox="1"/>
            <p:nvPr/>
          </p:nvSpPr>
          <p:spPr bwMode="auto">
            <a:xfrm>
              <a:off x="2290744" y="6084183"/>
              <a:ext cx="2779882" cy="614107"/>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635" dirty="0">
                  <a:latin typeface="Calibri" panose="020F0502020204030204"/>
                </a:rPr>
                <a:t>This time we put the functions in the “</a:t>
              </a:r>
              <a:r>
                <a:rPr lang="en-US" sz="1635" dirty="0" err="1">
                  <a:latin typeface="Calibri" panose="020F0502020204030204"/>
                </a:rPr>
                <a:t>lib_a</a:t>
              </a:r>
              <a:r>
                <a:rPr lang="en-US" sz="1635" dirty="0">
                  <a:latin typeface="Calibri" panose="020F0502020204030204"/>
                </a:rPr>
                <a:t>” folder, and create a </a:t>
              </a:r>
              <a:r>
                <a:rPr lang="en-US" sz="1635" dirty="0" err="1">
                  <a:latin typeface="Calibri" panose="020F0502020204030204"/>
                </a:rPr>
                <a:t>makefile</a:t>
              </a:r>
              <a:r>
                <a:rPr lang="en-US" sz="1635" dirty="0">
                  <a:latin typeface="Calibri" panose="020F0502020204030204"/>
                </a:rPr>
                <a:t> in this folder.</a:t>
              </a:r>
            </a:p>
          </p:txBody>
        </p:sp>
        <p:cxnSp>
          <p:nvCxnSpPr>
            <p:cNvPr id="11" name="直接箭头连接符 10"/>
            <p:cNvCxnSpPr/>
            <p:nvPr/>
          </p:nvCxnSpPr>
          <p:spPr>
            <a:xfrm>
              <a:off x="2856112" y="7261767"/>
              <a:ext cx="216024" cy="83279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4004743" y="382275"/>
            <a:ext cx="6376928" cy="3242782"/>
            <a:chOff x="1809466" y="6236289"/>
            <a:chExt cx="3553312" cy="2295181"/>
          </a:xfrm>
        </p:grpSpPr>
        <p:sp>
          <p:nvSpPr>
            <p:cNvPr id="15" name="矩形 14"/>
            <p:cNvSpPr/>
            <p:nvPr/>
          </p:nvSpPr>
          <p:spPr>
            <a:xfrm>
              <a:off x="1809466" y="6937913"/>
              <a:ext cx="2510510" cy="1593557"/>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186180" rtl="0" eaLnBrk="1" latinLnBrk="0" hangingPunct="1">
                <a:defRPr sz="2300" kern="1200">
                  <a:solidFill>
                    <a:schemeClr val="lt1"/>
                  </a:solidFill>
                  <a:latin typeface="+mn-lt"/>
                  <a:ea typeface="+mn-ea"/>
                  <a:cs typeface="+mn-cs"/>
                </a:defRPr>
              </a:lvl1pPr>
              <a:lvl2pPr marL="593090" algn="l" defTabSz="1186180" rtl="0" eaLnBrk="1" latinLnBrk="0" hangingPunct="1">
                <a:defRPr sz="2300" kern="1200">
                  <a:solidFill>
                    <a:schemeClr val="lt1"/>
                  </a:solidFill>
                  <a:latin typeface="+mn-lt"/>
                  <a:ea typeface="+mn-ea"/>
                  <a:cs typeface="+mn-cs"/>
                </a:defRPr>
              </a:lvl2pPr>
              <a:lvl3pPr marL="1186180" algn="l" defTabSz="1186180" rtl="0" eaLnBrk="1" latinLnBrk="0" hangingPunct="1">
                <a:defRPr sz="2300" kern="1200">
                  <a:solidFill>
                    <a:schemeClr val="lt1"/>
                  </a:solidFill>
                  <a:latin typeface="+mn-lt"/>
                  <a:ea typeface="+mn-ea"/>
                  <a:cs typeface="+mn-cs"/>
                </a:defRPr>
              </a:lvl3pPr>
              <a:lvl4pPr marL="1779270" algn="l" defTabSz="1186180" rtl="0" eaLnBrk="1" latinLnBrk="0" hangingPunct="1">
                <a:defRPr sz="2300" kern="1200">
                  <a:solidFill>
                    <a:schemeClr val="lt1"/>
                  </a:solidFill>
                  <a:latin typeface="+mn-lt"/>
                  <a:ea typeface="+mn-ea"/>
                  <a:cs typeface="+mn-cs"/>
                </a:defRPr>
              </a:lvl4pPr>
              <a:lvl5pPr marL="2372360" algn="l" defTabSz="1186180" rtl="0" eaLnBrk="1" latinLnBrk="0" hangingPunct="1">
                <a:defRPr sz="2300" kern="1200">
                  <a:solidFill>
                    <a:schemeClr val="lt1"/>
                  </a:solidFill>
                  <a:latin typeface="+mn-lt"/>
                  <a:ea typeface="+mn-ea"/>
                  <a:cs typeface="+mn-cs"/>
                </a:defRPr>
              </a:lvl5pPr>
              <a:lvl6pPr marL="2966085" algn="l" defTabSz="1186180" rtl="0" eaLnBrk="1" latinLnBrk="0" hangingPunct="1">
                <a:defRPr sz="2300" kern="1200">
                  <a:solidFill>
                    <a:schemeClr val="lt1"/>
                  </a:solidFill>
                  <a:latin typeface="+mn-lt"/>
                  <a:ea typeface="+mn-ea"/>
                  <a:cs typeface="+mn-cs"/>
                </a:defRPr>
              </a:lvl6pPr>
              <a:lvl7pPr marL="3559175" algn="l" defTabSz="1186180" rtl="0" eaLnBrk="1" latinLnBrk="0" hangingPunct="1">
                <a:defRPr sz="2300" kern="1200">
                  <a:solidFill>
                    <a:schemeClr val="lt1"/>
                  </a:solidFill>
                  <a:latin typeface="+mn-lt"/>
                  <a:ea typeface="+mn-ea"/>
                  <a:cs typeface="+mn-cs"/>
                </a:defRPr>
              </a:lvl7pPr>
              <a:lvl8pPr marL="4152265" algn="l" defTabSz="1186180" rtl="0" eaLnBrk="1" latinLnBrk="0" hangingPunct="1">
                <a:defRPr sz="2300" kern="1200">
                  <a:solidFill>
                    <a:schemeClr val="lt1"/>
                  </a:solidFill>
                  <a:latin typeface="+mn-lt"/>
                  <a:ea typeface="+mn-ea"/>
                  <a:cs typeface="+mn-cs"/>
                </a:defRPr>
              </a:lvl8pPr>
              <a:lvl9pPr marL="4745355" algn="l" defTabSz="1186180" rtl="0" eaLnBrk="1" latinLnBrk="0" hangingPunct="1">
                <a:defRPr sz="2300" kern="1200">
                  <a:solidFill>
                    <a:schemeClr val="lt1"/>
                  </a:solidFill>
                  <a:latin typeface="+mn-lt"/>
                  <a:ea typeface="+mn-ea"/>
                  <a:cs typeface="+mn-cs"/>
                </a:defRPr>
              </a:lvl9pPr>
            </a:lstStyle>
            <a:p>
              <a:pPr algn="ctr" defTabSz="1076960"/>
              <a:endParaRPr lang="zh-CN" altLang="en-US" sz="1635" dirty="0">
                <a:solidFill>
                  <a:prstClr val="white"/>
                </a:solidFill>
                <a:latin typeface="Calibri" panose="020F0502020204030204"/>
                <a:ea typeface="宋体" panose="02010600030101010101" pitchFamily="2" charset="-122"/>
              </a:endParaRPr>
            </a:p>
          </p:txBody>
        </p:sp>
        <p:sp>
          <p:nvSpPr>
            <p:cNvPr id="16" name="Content Placeholder 2"/>
            <p:cNvSpPr txBox="1"/>
            <p:nvPr/>
          </p:nvSpPr>
          <p:spPr bwMode="auto">
            <a:xfrm>
              <a:off x="2223837" y="6236289"/>
              <a:ext cx="3138941" cy="372622"/>
            </a:xfrm>
            <a:prstGeom prst="rect">
              <a:avLst/>
            </a:prstGeom>
            <a:noFill/>
            <a:ln w="9525">
              <a:noFill/>
              <a:miter lim="800000"/>
            </a:ln>
          </p:spPr>
          <p:txBody>
            <a:bodyPr vert="horz" wrap="square" lIns="107671" tIns="53836" rIns="107671" bIns="53836" numCol="1" anchor="t" anchorCtr="0" compatLnSpc="1"/>
            <a:lstStyle>
              <a:defPPr>
                <a:defRPr lang="zh-CN"/>
              </a:defPPr>
              <a:lvl1pPr marL="0" algn="l" defTabSz="1186180" rtl="0" eaLnBrk="1" latinLnBrk="0" hangingPunct="1">
                <a:defRPr sz="2300" kern="1200">
                  <a:solidFill>
                    <a:schemeClr val="tx1"/>
                  </a:solidFill>
                  <a:latin typeface="+mn-lt"/>
                  <a:ea typeface="+mn-ea"/>
                  <a:cs typeface="+mn-cs"/>
                </a:defRPr>
              </a:lvl1pPr>
              <a:lvl2pPr marL="593090" algn="l" defTabSz="1186180" rtl="0" eaLnBrk="1" latinLnBrk="0" hangingPunct="1">
                <a:defRPr sz="2300" kern="1200">
                  <a:solidFill>
                    <a:schemeClr val="tx1"/>
                  </a:solidFill>
                  <a:latin typeface="+mn-lt"/>
                  <a:ea typeface="+mn-ea"/>
                  <a:cs typeface="+mn-cs"/>
                </a:defRPr>
              </a:lvl2pPr>
              <a:lvl3pPr marL="1186180" algn="l" defTabSz="1186180" rtl="0" eaLnBrk="1" latinLnBrk="0" hangingPunct="1">
                <a:defRPr sz="2300" kern="1200">
                  <a:solidFill>
                    <a:schemeClr val="tx1"/>
                  </a:solidFill>
                  <a:latin typeface="+mn-lt"/>
                  <a:ea typeface="+mn-ea"/>
                  <a:cs typeface="+mn-cs"/>
                </a:defRPr>
              </a:lvl3pPr>
              <a:lvl4pPr marL="1779270" algn="l" defTabSz="1186180" rtl="0" eaLnBrk="1" latinLnBrk="0" hangingPunct="1">
                <a:defRPr sz="2300" kern="1200">
                  <a:solidFill>
                    <a:schemeClr val="tx1"/>
                  </a:solidFill>
                  <a:latin typeface="+mn-lt"/>
                  <a:ea typeface="+mn-ea"/>
                  <a:cs typeface="+mn-cs"/>
                </a:defRPr>
              </a:lvl4pPr>
              <a:lvl5pPr marL="2372360" algn="l" defTabSz="1186180" rtl="0" eaLnBrk="1" latinLnBrk="0" hangingPunct="1">
                <a:defRPr sz="2300" kern="1200">
                  <a:solidFill>
                    <a:schemeClr val="tx1"/>
                  </a:solidFill>
                  <a:latin typeface="+mn-lt"/>
                  <a:ea typeface="+mn-ea"/>
                  <a:cs typeface="+mn-cs"/>
                </a:defRPr>
              </a:lvl5pPr>
              <a:lvl6pPr marL="2966085" algn="l" defTabSz="1186180" rtl="0" eaLnBrk="1" latinLnBrk="0" hangingPunct="1">
                <a:defRPr sz="2300" kern="1200">
                  <a:solidFill>
                    <a:schemeClr val="tx1"/>
                  </a:solidFill>
                  <a:latin typeface="+mn-lt"/>
                  <a:ea typeface="+mn-ea"/>
                  <a:cs typeface="+mn-cs"/>
                </a:defRPr>
              </a:lvl6pPr>
              <a:lvl7pPr marL="3559175" algn="l" defTabSz="1186180" rtl="0" eaLnBrk="1" latinLnBrk="0" hangingPunct="1">
                <a:defRPr sz="2300" kern="1200">
                  <a:solidFill>
                    <a:schemeClr val="tx1"/>
                  </a:solidFill>
                  <a:latin typeface="+mn-lt"/>
                  <a:ea typeface="+mn-ea"/>
                  <a:cs typeface="+mn-cs"/>
                </a:defRPr>
              </a:lvl7pPr>
              <a:lvl8pPr marL="4152265" algn="l" defTabSz="1186180" rtl="0" eaLnBrk="1" latinLnBrk="0" hangingPunct="1">
                <a:defRPr sz="2300" kern="1200">
                  <a:solidFill>
                    <a:schemeClr val="tx1"/>
                  </a:solidFill>
                  <a:latin typeface="+mn-lt"/>
                  <a:ea typeface="+mn-ea"/>
                  <a:cs typeface="+mn-cs"/>
                </a:defRPr>
              </a:lvl8pPr>
              <a:lvl9pPr marL="4745355" algn="l" defTabSz="1186180" rtl="0" eaLnBrk="1" latinLnBrk="0" hangingPunct="1">
                <a:defRPr sz="2300" kern="1200">
                  <a:solidFill>
                    <a:schemeClr val="tx1"/>
                  </a:solidFill>
                  <a:latin typeface="+mn-lt"/>
                  <a:ea typeface="+mn-ea"/>
                  <a:cs typeface="+mn-cs"/>
                </a:defRPr>
              </a:lvl9pPr>
            </a:lstStyle>
            <a:p>
              <a:pPr marL="0" lvl="1" defTabSz="1076960">
                <a:buClr>
                  <a:srgbClr val="2DA2BF"/>
                </a:buClr>
                <a:buSzPct val="68000"/>
              </a:pPr>
              <a:r>
                <a:rPr lang="en-US" sz="1635" b="1" dirty="0">
                  <a:latin typeface="Calibri" panose="020F0502020204030204"/>
                </a:rPr>
                <a:t>The first step</a:t>
              </a:r>
              <a:r>
                <a:rPr lang="en-US" sz="1635" dirty="0">
                  <a:latin typeface="Calibri" panose="020F0502020204030204"/>
                </a:rPr>
                <a:t>, creates a static library file with these two .o files in the </a:t>
              </a:r>
              <a:r>
                <a:rPr lang="en-US" altLang="zh-CN" sz="1635" dirty="0">
                  <a:latin typeface="Calibri" panose="020F0502020204030204"/>
                </a:rPr>
                <a:t>current </a:t>
              </a:r>
              <a:r>
                <a:rPr lang="en-US" sz="1635" dirty="0" err="1">
                  <a:latin typeface="Calibri" panose="020F0502020204030204"/>
                </a:rPr>
                <a:t>makefile</a:t>
              </a:r>
              <a:r>
                <a:rPr lang="en-US" sz="1635" dirty="0">
                  <a:latin typeface="Calibri" panose="020F0502020204030204"/>
                </a:rPr>
                <a:t>.</a:t>
              </a:r>
            </a:p>
          </p:txBody>
        </p:sp>
        <p:cxnSp>
          <p:nvCxnSpPr>
            <p:cNvPr id="17" name="直接箭头连接符 16"/>
            <p:cNvCxnSpPr/>
            <p:nvPr/>
          </p:nvCxnSpPr>
          <p:spPr>
            <a:xfrm flipH="1">
              <a:off x="2115243" y="6602231"/>
              <a:ext cx="365424" cy="36891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pic>
        <p:nvPicPr>
          <p:cNvPr id="6" name="图片 5"/>
          <p:cNvPicPr>
            <a:picLocks noChangeAspect="1"/>
          </p:cNvPicPr>
          <p:nvPr/>
        </p:nvPicPr>
        <p:blipFill>
          <a:blip r:embed="rId4"/>
          <a:stretch>
            <a:fillRect/>
          </a:stretch>
        </p:blipFill>
        <p:spPr>
          <a:xfrm>
            <a:off x="3317730" y="4631937"/>
            <a:ext cx="7496175" cy="1704975"/>
          </a:xfrm>
          <a:prstGeom prst="rect">
            <a:avLst/>
          </a:prstGeom>
        </p:spPr>
      </p:pic>
      <p:sp>
        <p:nvSpPr>
          <p:cNvPr id="12" name="矩形 11"/>
          <p:cNvSpPr/>
          <p:nvPr/>
        </p:nvSpPr>
        <p:spPr>
          <a:xfrm>
            <a:off x="9855200" y="4631937"/>
            <a:ext cx="849745" cy="2263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0321630" y="4858225"/>
            <a:ext cx="510748" cy="22375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329692" y="6105139"/>
            <a:ext cx="965217" cy="31413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506F4176-339E-4C4B-80E4-BBE9C4467EFE}" type="slidenum">
              <a:rPr lang="zh-CN" altLang="en-US" smtClean="0"/>
              <a:t>11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2679044" y="4893456"/>
            <a:ext cx="7562850" cy="1476375"/>
          </a:xfrm>
          <a:prstGeom prst="rect">
            <a:avLst/>
          </a:prstGeom>
        </p:spPr>
      </p:pic>
      <p:pic>
        <p:nvPicPr>
          <p:cNvPr id="3" name="图片 2"/>
          <p:cNvPicPr>
            <a:picLocks noChangeAspect="1"/>
          </p:cNvPicPr>
          <p:nvPr/>
        </p:nvPicPr>
        <p:blipFill>
          <a:blip r:embed="rId3"/>
          <a:stretch>
            <a:fillRect/>
          </a:stretch>
        </p:blipFill>
        <p:spPr>
          <a:xfrm>
            <a:off x="3509955" y="488169"/>
            <a:ext cx="4961965" cy="4062933"/>
          </a:xfrm>
          <a:prstGeom prst="rect">
            <a:avLst/>
          </a:prstGeom>
        </p:spPr>
      </p:pic>
      <p:pic>
        <p:nvPicPr>
          <p:cNvPr id="5" name="图片 4"/>
          <p:cNvPicPr>
            <a:picLocks noChangeAspect="1"/>
          </p:cNvPicPr>
          <p:nvPr/>
        </p:nvPicPr>
        <p:blipFill>
          <a:blip r:embed="rId4"/>
          <a:stretch>
            <a:fillRect/>
          </a:stretch>
        </p:blipFill>
        <p:spPr>
          <a:xfrm>
            <a:off x="1978837" y="1010984"/>
            <a:ext cx="1400415" cy="1901798"/>
          </a:xfrm>
          <a:prstGeom prst="rect">
            <a:avLst/>
          </a:prstGeom>
        </p:spPr>
      </p:pic>
      <p:grpSp>
        <p:nvGrpSpPr>
          <p:cNvPr id="10" name="组合 9"/>
          <p:cNvGrpSpPr/>
          <p:nvPr/>
        </p:nvGrpSpPr>
        <p:grpSpPr>
          <a:xfrm>
            <a:off x="375167" y="2637460"/>
            <a:ext cx="2618784" cy="1058210"/>
            <a:chOff x="2290744" y="5780712"/>
            <a:chExt cx="2885512" cy="1166412"/>
          </a:xfrm>
        </p:grpSpPr>
        <p:sp>
          <p:nvSpPr>
            <p:cNvPr id="11" name="矩形 10"/>
            <p:cNvSpPr/>
            <p:nvPr/>
          </p:nvSpPr>
          <p:spPr>
            <a:xfrm>
              <a:off x="4096136" y="5780712"/>
              <a:ext cx="1080120" cy="295404"/>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1635">
                <a:solidFill>
                  <a:prstClr val="white"/>
                </a:solidFill>
                <a:latin typeface="Calibri" panose="020F0502020204030204"/>
                <a:ea typeface="宋体" panose="02010600030101010101" pitchFamily="2" charset="-122"/>
              </a:endParaRPr>
            </a:p>
          </p:txBody>
        </p:sp>
        <p:sp>
          <p:nvSpPr>
            <p:cNvPr id="12" name="Content Placeholder 2"/>
            <p:cNvSpPr txBox="1"/>
            <p:nvPr/>
          </p:nvSpPr>
          <p:spPr bwMode="auto">
            <a:xfrm>
              <a:off x="2290744" y="6333017"/>
              <a:ext cx="2779882" cy="614107"/>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635" b="1" dirty="0">
                  <a:latin typeface="Calibri" panose="020F0502020204030204"/>
                </a:rPr>
                <a:t>The second step</a:t>
              </a:r>
              <a:r>
                <a:rPr lang="en-US" sz="1635" dirty="0">
                  <a:latin typeface="Calibri" panose="020F0502020204030204"/>
                </a:rPr>
                <a:t>, creates another </a:t>
              </a:r>
              <a:r>
                <a:rPr lang="en-US" sz="1635" dirty="0" err="1">
                  <a:latin typeface="Calibri" panose="020F0502020204030204"/>
                </a:rPr>
                <a:t>makefile</a:t>
              </a:r>
              <a:r>
                <a:rPr lang="en-US" sz="1635" dirty="0">
                  <a:latin typeface="Calibri" panose="020F0502020204030204"/>
                </a:rPr>
                <a:t> in the upper-level folder to link the static library into the executable file.</a:t>
              </a:r>
            </a:p>
          </p:txBody>
        </p:sp>
        <p:cxnSp>
          <p:nvCxnSpPr>
            <p:cNvPr id="13" name="直接箭头连接符 12"/>
            <p:cNvCxnSpPr/>
            <p:nvPr/>
          </p:nvCxnSpPr>
          <p:spPr>
            <a:xfrm flipV="1">
              <a:off x="4201766" y="5987214"/>
              <a:ext cx="117105" cy="38328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4192221" y="2160242"/>
            <a:ext cx="7517166" cy="939243"/>
            <a:chOff x="2023176" y="7853825"/>
            <a:chExt cx="4188669" cy="664779"/>
          </a:xfrm>
        </p:grpSpPr>
        <p:sp>
          <p:nvSpPr>
            <p:cNvPr id="16" name="矩形 15"/>
            <p:cNvSpPr/>
            <p:nvPr/>
          </p:nvSpPr>
          <p:spPr>
            <a:xfrm>
              <a:off x="2023176" y="8353641"/>
              <a:ext cx="2007600" cy="164963"/>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186180" rtl="0" eaLnBrk="1" latinLnBrk="0" hangingPunct="1">
                <a:defRPr sz="2300" kern="1200">
                  <a:solidFill>
                    <a:schemeClr val="lt1"/>
                  </a:solidFill>
                  <a:latin typeface="+mn-lt"/>
                  <a:ea typeface="+mn-ea"/>
                  <a:cs typeface="+mn-cs"/>
                </a:defRPr>
              </a:lvl1pPr>
              <a:lvl2pPr marL="593090" algn="l" defTabSz="1186180" rtl="0" eaLnBrk="1" latinLnBrk="0" hangingPunct="1">
                <a:defRPr sz="2300" kern="1200">
                  <a:solidFill>
                    <a:schemeClr val="lt1"/>
                  </a:solidFill>
                  <a:latin typeface="+mn-lt"/>
                  <a:ea typeface="+mn-ea"/>
                  <a:cs typeface="+mn-cs"/>
                </a:defRPr>
              </a:lvl2pPr>
              <a:lvl3pPr marL="1186180" algn="l" defTabSz="1186180" rtl="0" eaLnBrk="1" latinLnBrk="0" hangingPunct="1">
                <a:defRPr sz="2300" kern="1200">
                  <a:solidFill>
                    <a:schemeClr val="lt1"/>
                  </a:solidFill>
                  <a:latin typeface="+mn-lt"/>
                  <a:ea typeface="+mn-ea"/>
                  <a:cs typeface="+mn-cs"/>
                </a:defRPr>
              </a:lvl3pPr>
              <a:lvl4pPr marL="1779270" algn="l" defTabSz="1186180" rtl="0" eaLnBrk="1" latinLnBrk="0" hangingPunct="1">
                <a:defRPr sz="2300" kern="1200">
                  <a:solidFill>
                    <a:schemeClr val="lt1"/>
                  </a:solidFill>
                  <a:latin typeface="+mn-lt"/>
                  <a:ea typeface="+mn-ea"/>
                  <a:cs typeface="+mn-cs"/>
                </a:defRPr>
              </a:lvl4pPr>
              <a:lvl5pPr marL="2372360" algn="l" defTabSz="1186180" rtl="0" eaLnBrk="1" latinLnBrk="0" hangingPunct="1">
                <a:defRPr sz="2300" kern="1200">
                  <a:solidFill>
                    <a:schemeClr val="lt1"/>
                  </a:solidFill>
                  <a:latin typeface="+mn-lt"/>
                  <a:ea typeface="+mn-ea"/>
                  <a:cs typeface="+mn-cs"/>
                </a:defRPr>
              </a:lvl5pPr>
              <a:lvl6pPr marL="2966085" algn="l" defTabSz="1186180" rtl="0" eaLnBrk="1" latinLnBrk="0" hangingPunct="1">
                <a:defRPr sz="2300" kern="1200">
                  <a:solidFill>
                    <a:schemeClr val="lt1"/>
                  </a:solidFill>
                  <a:latin typeface="+mn-lt"/>
                  <a:ea typeface="+mn-ea"/>
                  <a:cs typeface="+mn-cs"/>
                </a:defRPr>
              </a:lvl6pPr>
              <a:lvl7pPr marL="3559175" algn="l" defTabSz="1186180" rtl="0" eaLnBrk="1" latinLnBrk="0" hangingPunct="1">
                <a:defRPr sz="2300" kern="1200">
                  <a:solidFill>
                    <a:schemeClr val="lt1"/>
                  </a:solidFill>
                  <a:latin typeface="+mn-lt"/>
                  <a:ea typeface="+mn-ea"/>
                  <a:cs typeface="+mn-cs"/>
                </a:defRPr>
              </a:lvl7pPr>
              <a:lvl8pPr marL="4152265" algn="l" defTabSz="1186180" rtl="0" eaLnBrk="1" latinLnBrk="0" hangingPunct="1">
                <a:defRPr sz="2300" kern="1200">
                  <a:solidFill>
                    <a:schemeClr val="lt1"/>
                  </a:solidFill>
                  <a:latin typeface="+mn-lt"/>
                  <a:ea typeface="+mn-ea"/>
                  <a:cs typeface="+mn-cs"/>
                </a:defRPr>
              </a:lvl8pPr>
              <a:lvl9pPr marL="4745355" algn="l" defTabSz="1186180" rtl="0" eaLnBrk="1" latinLnBrk="0" hangingPunct="1">
                <a:defRPr sz="2300" kern="1200">
                  <a:solidFill>
                    <a:schemeClr val="lt1"/>
                  </a:solidFill>
                  <a:latin typeface="+mn-lt"/>
                  <a:ea typeface="+mn-ea"/>
                  <a:cs typeface="+mn-cs"/>
                </a:defRPr>
              </a:lvl9pPr>
            </a:lstStyle>
            <a:p>
              <a:pPr algn="ctr" defTabSz="1076960"/>
              <a:endParaRPr lang="zh-CN" altLang="en-US" sz="1635" dirty="0">
                <a:solidFill>
                  <a:prstClr val="white"/>
                </a:solidFill>
                <a:latin typeface="Calibri" panose="020F0502020204030204"/>
                <a:ea typeface="宋体" panose="02010600030101010101" pitchFamily="2" charset="-122"/>
              </a:endParaRPr>
            </a:p>
          </p:txBody>
        </p:sp>
        <p:sp>
          <p:nvSpPr>
            <p:cNvPr id="17" name="Content Placeholder 2"/>
            <p:cNvSpPr txBox="1"/>
            <p:nvPr/>
          </p:nvSpPr>
          <p:spPr bwMode="auto">
            <a:xfrm>
              <a:off x="4480714" y="7853825"/>
              <a:ext cx="1731131" cy="614107"/>
            </a:xfrm>
            <a:prstGeom prst="rect">
              <a:avLst/>
            </a:prstGeom>
            <a:noFill/>
            <a:ln w="9525">
              <a:noFill/>
              <a:miter lim="800000"/>
            </a:ln>
          </p:spPr>
          <p:txBody>
            <a:bodyPr vert="horz" wrap="square" lIns="107671" tIns="53836" rIns="107671" bIns="53836" numCol="1" anchor="t" anchorCtr="0" compatLnSpc="1"/>
            <a:lstStyle>
              <a:defPPr>
                <a:defRPr lang="zh-CN"/>
              </a:defPPr>
              <a:lvl1pPr marL="0" algn="l" defTabSz="1186180" rtl="0" eaLnBrk="1" latinLnBrk="0" hangingPunct="1">
                <a:defRPr sz="2300" kern="1200">
                  <a:solidFill>
                    <a:schemeClr val="tx1"/>
                  </a:solidFill>
                  <a:latin typeface="+mn-lt"/>
                  <a:ea typeface="+mn-ea"/>
                  <a:cs typeface="+mn-cs"/>
                </a:defRPr>
              </a:lvl1pPr>
              <a:lvl2pPr marL="593090" algn="l" defTabSz="1186180" rtl="0" eaLnBrk="1" latinLnBrk="0" hangingPunct="1">
                <a:defRPr sz="2300" kern="1200">
                  <a:solidFill>
                    <a:schemeClr val="tx1"/>
                  </a:solidFill>
                  <a:latin typeface="+mn-lt"/>
                  <a:ea typeface="+mn-ea"/>
                  <a:cs typeface="+mn-cs"/>
                </a:defRPr>
              </a:lvl2pPr>
              <a:lvl3pPr marL="1186180" algn="l" defTabSz="1186180" rtl="0" eaLnBrk="1" latinLnBrk="0" hangingPunct="1">
                <a:defRPr sz="2300" kern="1200">
                  <a:solidFill>
                    <a:schemeClr val="tx1"/>
                  </a:solidFill>
                  <a:latin typeface="+mn-lt"/>
                  <a:ea typeface="+mn-ea"/>
                  <a:cs typeface="+mn-cs"/>
                </a:defRPr>
              </a:lvl3pPr>
              <a:lvl4pPr marL="1779270" algn="l" defTabSz="1186180" rtl="0" eaLnBrk="1" latinLnBrk="0" hangingPunct="1">
                <a:defRPr sz="2300" kern="1200">
                  <a:solidFill>
                    <a:schemeClr val="tx1"/>
                  </a:solidFill>
                  <a:latin typeface="+mn-lt"/>
                  <a:ea typeface="+mn-ea"/>
                  <a:cs typeface="+mn-cs"/>
                </a:defRPr>
              </a:lvl4pPr>
              <a:lvl5pPr marL="2372360" algn="l" defTabSz="1186180" rtl="0" eaLnBrk="1" latinLnBrk="0" hangingPunct="1">
                <a:defRPr sz="2300" kern="1200">
                  <a:solidFill>
                    <a:schemeClr val="tx1"/>
                  </a:solidFill>
                  <a:latin typeface="+mn-lt"/>
                  <a:ea typeface="+mn-ea"/>
                  <a:cs typeface="+mn-cs"/>
                </a:defRPr>
              </a:lvl5pPr>
              <a:lvl6pPr marL="2966085" algn="l" defTabSz="1186180" rtl="0" eaLnBrk="1" latinLnBrk="0" hangingPunct="1">
                <a:defRPr sz="2300" kern="1200">
                  <a:solidFill>
                    <a:schemeClr val="tx1"/>
                  </a:solidFill>
                  <a:latin typeface="+mn-lt"/>
                  <a:ea typeface="+mn-ea"/>
                  <a:cs typeface="+mn-cs"/>
                </a:defRPr>
              </a:lvl6pPr>
              <a:lvl7pPr marL="3559175" algn="l" defTabSz="1186180" rtl="0" eaLnBrk="1" latinLnBrk="0" hangingPunct="1">
                <a:defRPr sz="2300" kern="1200">
                  <a:solidFill>
                    <a:schemeClr val="tx1"/>
                  </a:solidFill>
                  <a:latin typeface="+mn-lt"/>
                  <a:ea typeface="+mn-ea"/>
                  <a:cs typeface="+mn-cs"/>
                </a:defRPr>
              </a:lvl7pPr>
              <a:lvl8pPr marL="4152265" algn="l" defTabSz="1186180" rtl="0" eaLnBrk="1" latinLnBrk="0" hangingPunct="1">
                <a:defRPr sz="2300" kern="1200">
                  <a:solidFill>
                    <a:schemeClr val="tx1"/>
                  </a:solidFill>
                  <a:latin typeface="+mn-lt"/>
                  <a:ea typeface="+mn-ea"/>
                  <a:cs typeface="+mn-cs"/>
                </a:defRPr>
              </a:lvl8pPr>
              <a:lvl9pPr marL="4745355" algn="l" defTabSz="1186180" rtl="0" eaLnBrk="1" latinLnBrk="0" hangingPunct="1">
                <a:defRPr sz="2300" kern="1200">
                  <a:solidFill>
                    <a:schemeClr val="tx1"/>
                  </a:solidFill>
                  <a:latin typeface="+mn-lt"/>
                  <a:ea typeface="+mn-ea"/>
                  <a:cs typeface="+mn-cs"/>
                </a:defRPr>
              </a:lvl9pPr>
            </a:lstStyle>
            <a:p>
              <a:pPr marL="0" lvl="1" defTabSz="1076960">
                <a:buClr>
                  <a:srgbClr val="2DA2BF"/>
                </a:buClr>
                <a:buSzPct val="68000"/>
              </a:pPr>
              <a:r>
                <a:rPr lang="en-US" sz="1635" dirty="0">
                  <a:latin typeface="Calibri" panose="020F0502020204030204"/>
                </a:rPr>
                <a:t>Links the executable file with the static library. </a:t>
              </a:r>
            </a:p>
          </p:txBody>
        </p:sp>
        <p:cxnSp>
          <p:nvCxnSpPr>
            <p:cNvPr id="18" name="直接箭头连接符 17"/>
            <p:cNvCxnSpPr>
              <a:stCxn id="17" idx="1"/>
            </p:cNvCxnSpPr>
            <p:nvPr/>
          </p:nvCxnSpPr>
          <p:spPr>
            <a:xfrm flipH="1">
              <a:off x="3928105" y="8160878"/>
              <a:ext cx="552609" cy="29442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3943927" y="1902691"/>
            <a:ext cx="2050473" cy="25755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684329" y="4830617"/>
            <a:ext cx="557566" cy="29556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162482" y="5126181"/>
            <a:ext cx="557566" cy="23552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236361" y="5703452"/>
            <a:ext cx="637311" cy="29556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p:cNvSpPr>
            <a:spLocks noGrp="1"/>
          </p:cNvSpPr>
          <p:nvPr>
            <p:ph type="sldNum" sz="quarter" idx="12"/>
          </p:nvPr>
        </p:nvSpPr>
        <p:spPr/>
        <p:txBody>
          <a:bodyPr/>
          <a:lstStyle/>
          <a:p>
            <a:fld id="{506F4176-339E-4C4B-80E4-BBE9C4467EFE}" type="slidenum">
              <a:rPr lang="zh-CN" altLang="en-US" smtClean="0"/>
              <a:t>12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807110" y="4972482"/>
            <a:ext cx="6953250" cy="1457325"/>
          </a:xfrm>
          <a:prstGeom prst="rect">
            <a:avLst/>
          </a:prstGeom>
        </p:spPr>
      </p:pic>
      <p:pic>
        <p:nvPicPr>
          <p:cNvPr id="5" name="图片 4"/>
          <p:cNvPicPr>
            <a:picLocks noChangeAspect="1"/>
          </p:cNvPicPr>
          <p:nvPr/>
        </p:nvPicPr>
        <p:blipFill>
          <a:blip r:embed="rId3"/>
          <a:stretch>
            <a:fillRect/>
          </a:stretch>
        </p:blipFill>
        <p:spPr>
          <a:xfrm>
            <a:off x="1773017" y="292114"/>
            <a:ext cx="5039766" cy="4062933"/>
          </a:xfrm>
          <a:prstGeom prst="rect">
            <a:avLst/>
          </a:prstGeom>
        </p:spPr>
      </p:pic>
      <p:grpSp>
        <p:nvGrpSpPr>
          <p:cNvPr id="12" name="组合 11"/>
          <p:cNvGrpSpPr/>
          <p:nvPr/>
        </p:nvGrpSpPr>
        <p:grpSpPr>
          <a:xfrm>
            <a:off x="3466417" y="2644778"/>
            <a:ext cx="5806837" cy="2915514"/>
            <a:chOff x="2711617" y="2914154"/>
            <a:chExt cx="6398273" cy="3212464"/>
          </a:xfrm>
        </p:grpSpPr>
        <p:grpSp>
          <p:nvGrpSpPr>
            <p:cNvPr id="6" name="组合 5"/>
            <p:cNvGrpSpPr/>
            <p:nvPr/>
          </p:nvGrpSpPr>
          <p:grpSpPr>
            <a:xfrm>
              <a:off x="2711617" y="2914154"/>
              <a:ext cx="2480149" cy="3212464"/>
              <a:chOff x="-4268316" y="7164693"/>
              <a:chExt cx="2480149" cy="3213624"/>
            </a:xfrm>
          </p:grpSpPr>
          <p:sp>
            <p:nvSpPr>
              <p:cNvPr id="7" name="矩形 6"/>
              <p:cNvSpPr/>
              <p:nvPr/>
            </p:nvSpPr>
            <p:spPr>
              <a:xfrm>
                <a:off x="-4268316" y="7164693"/>
                <a:ext cx="2238580" cy="360171"/>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186180" rtl="0" eaLnBrk="1" latinLnBrk="0" hangingPunct="1">
                  <a:defRPr sz="2300" kern="1200">
                    <a:solidFill>
                      <a:schemeClr val="lt1"/>
                    </a:solidFill>
                    <a:latin typeface="+mn-lt"/>
                    <a:ea typeface="+mn-ea"/>
                    <a:cs typeface="+mn-cs"/>
                  </a:defRPr>
                </a:lvl1pPr>
                <a:lvl2pPr marL="593090" algn="l" defTabSz="1186180" rtl="0" eaLnBrk="1" latinLnBrk="0" hangingPunct="1">
                  <a:defRPr sz="2300" kern="1200">
                    <a:solidFill>
                      <a:schemeClr val="lt1"/>
                    </a:solidFill>
                    <a:latin typeface="+mn-lt"/>
                    <a:ea typeface="+mn-ea"/>
                    <a:cs typeface="+mn-cs"/>
                  </a:defRPr>
                </a:lvl2pPr>
                <a:lvl3pPr marL="1186180" algn="l" defTabSz="1186180" rtl="0" eaLnBrk="1" latinLnBrk="0" hangingPunct="1">
                  <a:defRPr sz="2300" kern="1200">
                    <a:solidFill>
                      <a:schemeClr val="lt1"/>
                    </a:solidFill>
                    <a:latin typeface="+mn-lt"/>
                    <a:ea typeface="+mn-ea"/>
                    <a:cs typeface="+mn-cs"/>
                  </a:defRPr>
                </a:lvl3pPr>
                <a:lvl4pPr marL="1779270" algn="l" defTabSz="1186180" rtl="0" eaLnBrk="1" latinLnBrk="0" hangingPunct="1">
                  <a:defRPr sz="2300" kern="1200">
                    <a:solidFill>
                      <a:schemeClr val="lt1"/>
                    </a:solidFill>
                    <a:latin typeface="+mn-lt"/>
                    <a:ea typeface="+mn-ea"/>
                    <a:cs typeface="+mn-cs"/>
                  </a:defRPr>
                </a:lvl4pPr>
                <a:lvl5pPr marL="2372360" algn="l" defTabSz="1186180" rtl="0" eaLnBrk="1" latinLnBrk="0" hangingPunct="1">
                  <a:defRPr sz="2300" kern="1200">
                    <a:solidFill>
                      <a:schemeClr val="lt1"/>
                    </a:solidFill>
                    <a:latin typeface="+mn-lt"/>
                    <a:ea typeface="+mn-ea"/>
                    <a:cs typeface="+mn-cs"/>
                  </a:defRPr>
                </a:lvl5pPr>
                <a:lvl6pPr marL="2966085" algn="l" defTabSz="1186180" rtl="0" eaLnBrk="1" latinLnBrk="0" hangingPunct="1">
                  <a:defRPr sz="2300" kern="1200">
                    <a:solidFill>
                      <a:schemeClr val="lt1"/>
                    </a:solidFill>
                    <a:latin typeface="+mn-lt"/>
                    <a:ea typeface="+mn-ea"/>
                    <a:cs typeface="+mn-cs"/>
                  </a:defRPr>
                </a:lvl6pPr>
                <a:lvl7pPr marL="3559175" algn="l" defTabSz="1186180" rtl="0" eaLnBrk="1" latinLnBrk="0" hangingPunct="1">
                  <a:defRPr sz="2300" kern="1200">
                    <a:solidFill>
                      <a:schemeClr val="lt1"/>
                    </a:solidFill>
                    <a:latin typeface="+mn-lt"/>
                    <a:ea typeface="+mn-ea"/>
                    <a:cs typeface="+mn-cs"/>
                  </a:defRPr>
                </a:lvl7pPr>
                <a:lvl8pPr marL="4152265" algn="l" defTabSz="1186180" rtl="0" eaLnBrk="1" latinLnBrk="0" hangingPunct="1">
                  <a:defRPr sz="2300" kern="1200">
                    <a:solidFill>
                      <a:schemeClr val="lt1"/>
                    </a:solidFill>
                    <a:latin typeface="+mn-lt"/>
                    <a:ea typeface="+mn-ea"/>
                    <a:cs typeface="+mn-cs"/>
                  </a:defRPr>
                </a:lvl8pPr>
                <a:lvl9pPr marL="4745355" algn="l" defTabSz="1186180" rtl="0" eaLnBrk="1" latinLnBrk="0" hangingPunct="1">
                  <a:defRPr sz="2300" kern="1200">
                    <a:solidFill>
                      <a:schemeClr val="lt1"/>
                    </a:solidFill>
                    <a:latin typeface="+mn-lt"/>
                    <a:ea typeface="+mn-ea"/>
                    <a:cs typeface="+mn-cs"/>
                  </a:defRPr>
                </a:lvl9pPr>
              </a:lstStyle>
              <a:p>
                <a:pPr algn="ctr" defTabSz="1076960"/>
                <a:endParaRPr lang="zh-CN" altLang="en-US" sz="1635" dirty="0">
                  <a:solidFill>
                    <a:prstClr val="white"/>
                  </a:solidFill>
                  <a:latin typeface="Calibri" panose="020F0502020204030204"/>
                  <a:ea typeface="宋体" panose="02010600030101010101" pitchFamily="2" charset="-122"/>
                </a:endParaRPr>
              </a:p>
            </p:txBody>
          </p:sp>
          <p:cxnSp>
            <p:nvCxnSpPr>
              <p:cNvPr id="9" name="直接箭头连接符 8"/>
              <p:cNvCxnSpPr/>
              <p:nvPr/>
            </p:nvCxnSpPr>
            <p:spPr>
              <a:xfrm>
                <a:off x="-2965840" y="7553555"/>
                <a:ext cx="1177673" cy="282476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4518149" y="4996803"/>
              <a:ext cx="4591741" cy="378830"/>
            </a:xfrm>
            <a:prstGeom prst="rect">
              <a:avLst/>
            </a:prstGeom>
            <a:noFill/>
          </p:spPr>
          <p:txBody>
            <a:bodyPr wrap="none" rtlCol="0">
              <a:spAutoFit/>
            </a:bodyPr>
            <a:lstStyle/>
            <a:p>
              <a:r>
                <a:rPr lang="en-US" altLang="zh-CN" sz="1635" dirty="0"/>
                <a:t>If you put the flag before $^, it will cause error.</a:t>
              </a:r>
              <a:endParaRPr lang="zh-CN" altLang="en-US" sz="1635" dirty="0"/>
            </a:p>
          </p:txBody>
        </p:sp>
      </p:grpSp>
      <p:sp>
        <p:nvSpPr>
          <p:cNvPr id="2" name="灯片编号占位符 1"/>
          <p:cNvSpPr>
            <a:spLocks noGrp="1"/>
          </p:cNvSpPr>
          <p:nvPr>
            <p:ph type="sldNum" sz="quarter" idx="12"/>
          </p:nvPr>
        </p:nvSpPr>
        <p:spPr/>
        <p:txBody>
          <a:bodyPr/>
          <a:lstStyle/>
          <a:p>
            <a:fld id="{506F4176-339E-4C4B-80E4-BBE9C4467EFE}"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813464" y="5578330"/>
            <a:ext cx="7391400" cy="1095375"/>
          </a:xfrm>
          <a:prstGeom prst="rect">
            <a:avLst/>
          </a:prstGeom>
        </p:spPr>
      </p:pic>
      <p:pic>
        <p:nvPicPr>
          <p:cNvPr id="6" name="图片 5"/>
          <p:cNvPicPr>
            <a:picLocks noChangeAspect="1"/>
          </p:cNvPicPr>
          <p:nvPr/>
        </p:nvPicPr>
        <p:blipFill>
          <a:blip r:embed="rId3"/>
          <a:stretch>
            <a:fillRect/>
          </a:stretch>
        </p:blipFill>
        <p:spPr>
          <a:xfrm>
            <a:off x="1450541" y="1613766"/>
            <a:ext cx="2105025" cy="2152650"/>
          </a:xfrm>
          <a:prstGeom prst="rect">
            <a:avLst/>
          </a:prstGeom>
        </p:spPr>
      </p:pic>
      <p:grpSp>
        <p:nvGrpSpPr>
          <p:cNvPr id="10" name="组合 9"/>
          <p:cNvGrpSpPr/>
          <p:nvPr/>
        </p:nvGrpSpPr>
        <p:grpSpPr>
          <a:xfrm>
            <a:off x="4146551" y="184295"/>
            <a:ext cx="5459268" cy="5272771"/>
            <a:chOff x="4146551" y="184295"/>
            <a:chExt cx="5459268" cy="5272771"/>
          </a:xfrm>
        </p:grpSpPr>
        <p:pic>
          <p:nvPicPr>
            <p:cNvPr id="13" name="图片 12"/>
            <p:cNvPicPr>
              <a:picLocks noChangeAspect="1"/>
            </p:cNvPicPr>
            <p:nvPr/>
          </p:nvPicPr>
          <p:blipFill>
            <a:blip r:embed="rId4"/>
            <a:stretch>
              <a:fillRect/>
            </a:stretch>
          </p:blipFill>
          <p:spPr>
            <a:xfrm>
              <a:off x="4146551" y="184295"/>
              <a:ext cx="5459268" cy="5272771"/>
            </a:xfrm>
            <a:prstGeom prst="rect">
              <a:avLst/>
            </a:prstGeom>
          </p:spPr>
        </p:pic>
        <p:pic>
          <p:nvPicPr>
            <p:cNvPr id="9" name="图片 8"/>
            <p:cNvPicPr>
              <a:picLocks noChangeAspect="1"/>
            </p:cNvPicPr>
            <p:nvPr/>
          </p:nvPicPr>
          <p:blipFill>
            <a:blip r:embed="rId5"/>
            <a:stretch>
              <a:fillRect/>
            </a:stretch>
          </p:blipFill>
          <p:spPr>
            <a:xfrm>
              <a:off x="4565650" y="4684999"/>
              <a:ext cx="2647950" cy="281879"/>
            </a:xfrm>
            <a:prstGeom prst="rect">
              <a:avLst/>
            </a:prstGeom>
          </p:spPr>
        </p:pic>
      </p:grpSp>
      <p:grpSp>
        <p:nvGrpSpPr>
          <p:cNvPr id="11" name="组合 10"/>
          <p:cNvGrpSpPr/>
          <p:nvPr/>
        </p:nvGrpSpPr>
        <p:grpSpPr>
          <a:xfrm>
            <a:off x="218702" y="1945071"/>
            <a:ext cx="2727698" cy="3511995"/>
            <a:chOff x="1574182" y="8105669"/>
            <a:chExt cx="3005519" cy="4222629"/>
          </a:xfrm>
        </p:grpSpPr>
        <p:sp>
          <p:nvSpPr>
            <p:cNvPr id="12" name="矩形 11"/>
            <p:cNvSpPr/>
            <p:nvPr/>
          </p:nvSpPr>
          <p:spPr>
            <a:xfrm>
              <a:off x="3072135" y="8105669"/>
              <a:ext cx="1224138" cy="864408"/>
            </a:xfrm>
            <a:prstGeom prst="rect">
              <a:avLst/>
            </a:prstGeom>
            <a:no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endParaRPr lang="zh-CN" altLang="en-US" sz="1635">
                <a:solidFill>
                  <a:prstClr val="white"/>
                </a:solidFill>
                <a:latin typeface="Calibri" panose="020F0502020204030204"/>
                <a:ea typeface="宋体" panose="02010600030101010101" pitchFamily="2" charset="-122"/>
              </a:endParaRPr>
            </a:p>
          </p:txBody>
        </p:sp>
        <p:sp>
          <p:nvSpPr>
            <p:cNvPr id="14" name="Content Placeholder 2"/>
            <p:cNvSpPr txBox="1"/>
            <p:nvPr/>
          </p:nvSpPr>
          <p:spPr bwMode="auto">
            <a:xfrm>
              <a:off x="1574182" y="10485518"/>
              <a:ext cx="3005519" cy="1842780"/>
            </a:xfrm>
            <a:prstGeom prst="rect">
              <a:avLst/>
            </a:prstGeom>
            <a:noFill/>
            <a:ln w="9525">
              <a:noFill/>
              <a:miter lim="800000"/>
            </a:ln>
          </p:spPr>
          <p:txBody>
            <a:bodyPr vert="horz" wrap="square" lIns="107671" tIns="53836" rIns="107671" bIns="53836" numCol="1" anchor="t" anchorCtr="0" compatLnSpc="1"/>
            <a:lstStyle>
              <a:lvl1pPr marL="473710" indent="-331470" algn="l" rtl="0" eaLnBrk="0" fontAlgn="base" hangingPunct="0">
                <a:spcBef>
                  <a:spcPts val="520"/>
                </a:spcBef>
                <a:spcAft>
                  <a:spcPct val="0"/>
                </a:spcAft>
                <a:buClr>
                  <a:schemeClr val="accent1"/>
                </a:buClr>
                <a:buSzPct val="68000"/>
                <a:buFont typeface="Wingdings 3" pitchFamily="18" charset="2"/>
                <a:buChar char=""/>
                <a:defRPr sz="3500" kern="1200">
                  <a:solidFill>
                    <a:schemeClr val="tx1"/>
                  </a:solidFill>
                  <a:latin typeface="+mn-lt"/>
                  <a:ea typeface="+mn-ea"/>
                  <a:cs typeface="+mn-cs"/>
                </a:defRPr>
              </a:lvl1pPr>
              <a:lvl2pPr marL="805815" indent="-296545" algn="l" rtl="0" eaLnBrk="0" fontAlgn="base" hangingPunct="0">
                <a:spcBef>
                  <a:spcPts val="420"/>
                </a:spcBef>
                <a:spcAft>
                  <a:spcPct val="0"/>
                </a:spcAft>
                <a:buClr>
                  <a:schemeClr val="accent1"/>
                </a:buClr>
                <a:buFont typeface="Wingdings" panose="05000000000000000000" pitchFamily="2" charset="2"/>
                <a:buChar char="§"/>
                <a:defRPr sz="3000" kern="1200">
                  <a:solidFill>
                    <a:schemeClr val="tx1"/>
                  </a:solidFill>
                  <a:latin typeface="+mn-lt"/>
                  <a:ea typeface="+mn-ea"/>
                  <a:cs typeface="+mn-cs"/>
                </a:defRPr>
              </a:lvl2pPr>
              <a:lvl3pPr marL="1114425" indent="-296545" algn="l" rtl="0" eaLnBrk="0" fontAlgn="base" hangingPunct="0">
                <a:spcBef>
                  <a:spcPts val="455"/>
                </a:spcBef>
                <a:spcAft>
                  <a:spcPct val="0"/>
                </a:spcAft>
                <a:buClr>
                  <a:schemeClr val="accent2"/>
                </a:buClr>
                <a:buSzPct val="100000"/>
                <a:buFont typeface="Wingdings 2" pitchFamily="18" charset="2"/>
                <a:buChar char=""/>
                <a:defRPr sz="2700" kern="1200">
                  <a:solidFill>
                    <a:schemeClr val="tx1"/>
                  </a:solidFill>
                  <a:latin typeface="+mn-lt"/>
                  <a:ea typeface="+mn-ea"/>
                  <a:cs typeface="+mn-cs"/>
                </a:defRPr>
              </a:lvl3pPr>
              <a:lvl4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4pPr>
              <a:lvl5pPr marL="1483360" indent="-296545" algn="l" rtl="0" eaLnBrk="0" fontAlgn="base" hangingPunct="0">
                <a:spcBef>
                  <a:spcPts val="455"/>
                </a:spcBef>
                <a:spcAft>
                  <a:spcPct val="0"/>
                </a:spcAft>
                <a:buClr>
                  <a:schemeClr val="accent2"/>
                </a:buClr>
                <a:defRPr sz="2500" kern="1200">
                  <a:solidFill>
                    <a:schemeClr val="tx1"/>
                  </a:solidFill>
                  <a:latin typeface="+mn-lt"/>
                  <a:ea typeface="+mn-ea"/>
                  <a:cs typeface="+mn-cs"/>
                </a:defRPr>
              </a:lvl5pPr>
              <a:lvl6pPr marL="2077085" indent="-296545" algn="l" rtl="0" eaLnBrk="1" latinLnBrk="0" hangingPunct="1">
                <a:spcBef>
                  <a:spcPts val="455"/>
                </a:spcBef>
                <a:buClr>
                  <a:schemeClr val="accent3"/>
                </a:buClr>
                <a:buFont typeface="Wingdings 2"/>
                <a:buChar char=""/>
                <a:defRPr kumimoji="0" sz="2300" kern="1200">
                  <a:solidFill>
                    <a:schemeClr val="tx1"/>
                  </a:solidFill>
                  <a:latin typeface="+mn-lt"/>
                  <a:ea typeface="+mn-ea"/>
                  <a:cs typeface="+mn-cs"/>
                </a:defRPr>
              </a:lvl6pPr>
              <a:lvl7pPr marL="2373630"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7pPr>
              <a:lvl8pPr marL="2670175" indent="-296545" algn="l" rtl="0" eaLnBrk="1" latinLnBrk="0" hangingPunct="1">
                <a:spcBef>
                  <a:spcPts val="455"/>
                </a:spcBef>
                <a:buClr>
                  <a:schemeClr val="accent3"/>
                </a:buClr>
                <a:buFont typeface="Wingdings 2"/>
                <a:buChar char=""/>
                <a:defRPr kumimoji="0" sz="2100" kern="1200">
                  <a:solidFill>
                    <a:schemeClr val="tx1"/>
                  </a:solidFill>
                  <a:latin typeface="+mn-lt"/>
                  <a:ea typeface="+mn-ea"/>
                  <a:cs typeface="+mn-cs"/>
                </a:defRPr>
              </a:lvl8pPr>
              <a:lvl9pPr marL="2966720" indent="-296545" algn="l" rtl="0" eaLnBrk="1" latinLnBrk="0" hangingPunct="1">
                <a:spcBef>
                  <a:spcPts val="455"/>
                </a:spcBef>
                <a:buClr>
                  <a:schemeClr val="accent3"/>
                </a:buClr>
                <a:buFont typeface="Wingdings 2"/>
                <a:buChar char=""/>
                <a:defRPr kumimoji="0" sz="2100" kern="1200" baseline="0">
                  <a:solidFill>
                    <a:schemeClr val="tx1"/>
                  </a:solidFill>
                  <a:latin typeface="+mn-lt"/>
                  <a:ea typeface="+mn-ea"/>
                  <a:cs typeface="+mn-cs"/>
                </a:defRPr>
              </a:lvl9pPr>
            </a:lstStyle>
            <a:p>
              <a:pPr marL="0" lvl="1" indent="0" defTabSz="1076960">
                <a:spcBef>
                  <a:spcPts val="0"/>
                </a:spcBef>
                <a:buClr>
                  <a:srgbClr val="2DA2BF"/>
                </a:buClr>
                <a:buSzPct val="68000"/>
                <a:buNone/>
              </a:pPr>
              <a:r>
                <a:rPr lang="en-US" sz="1800" dirty="0">
                  <a:latin typeface="Calibri" panose="020F0502020204030204"/>
                </a:rPr>
                <a:t>This time we put all the source files in the “</a:t>
              </a:r>
              <a:r>
                <a:rPr lang="en-US" sz="1800" dirty="0" err="1">
                  <a:latin typeface="Calibri" panose="020F0502020204030204"/>
                </a:rPr>
                <a:t>src</a:t>
              </a:r>
              <a:r>
                <a:rPr lang="en-US" sz="1800" dirty="0">
                  <a:latin typeface="Calibri" panose="020F0502020204030204"/>
                </a:rPr>
                <a:t>” folder, the function header file in the “include” folder, and create a </a:t>
              </a:r>
              <a:r>
                <a:rPr lang="en-US" sz="1800" dirty="0" err="1">
                  <a:latin typeface="Calibri" panose="020F0502020204030204"/>
                </a:rPr>
                <a:t>makefile</a:t>
              </a:r>
              <a:r>
                <a:rPr lang="en-US" sz="1800" dirty="0">
                  <a:latin typeface="Calibri" panose="020F0502020204030204"/>
                </a:rPr>
                <a:t> in the current folder.(Only one </a:t>
              </a:r>
              <a:r>
                <a:rPr lang="en-US" sz="1800" dirty="0" err="1">
                  <a:latin typeface="Calibri" panose="020F0502020204030204"/>
                </a:rPr>
                <a:t>makefile</a:t>
              </a:r>
              <a:r>
                <a:rPr lang="en-US" sz="1800" dirty="0">
                  <a:latin typeface="Calibri" panose="020F0502020204030204"/>
                </a:rPr>
                <a:t>)</a:t>
              </a:r>
            </a:p>
          </p:txBody>
        </p:sp>
        <p:cxnSp>
          <p:nvCxnSpPr>
            <p:cNvPr id="15" name="直接箭头连接符 14"/>
            <p:cNvCxnSpPr/>
            <p:nvPr/>
          </p:nvCxnSpPr>
          <p:spPr>
            <a:xfrm flipV="1">
              <a:off x="2198259" y="8679057"/>
              <a:ext cx="873877" cy="184278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8" name="矩形 17"/>
          <p:cNvSpPr/>
          <p:nvPr/>
        </p:nvSpPr>
        <p:spPr>
          <a:xfrm>
            <a:off x="10335491" y="5578330"/>
            <a:ext cx="461818" cy="29599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782271" y="6197600"/>
            <a:ext cx="965220" cy="25400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8709891" y="3036163"/>
            <a:ext cx="3197040" cy="1477328"/>
            <a:chOff x="8709891" y="1613766"/>
            <a:chExt cx="3197040" cy="1477328"/>
          </a:xfrm>
        </p:grpSpPr>
        <p:sp>
          <p:nvSpPr>
            <p:cNvPr id="20" name="文本框 19"/>
            <p:cNvSpPr txBox="1"/>
            <p:nvPr/>
          </p:nvSpPr>
          <p:spPr>
            <a:xfrm>
              <a:off x="9901382" y="1613766"/>
              <a:ext cx="2005549" cy="1477328"/>
            </a:xfrm>
            <a:prstGeom prst="rect">
              <a:avLst/>
            </a:prstGeom>
            <a:noFill/>
          </p:spPr>
          <p:txBody>
            <a:bodyPr wrap="none" rtlCol="0">
              <a:spAutoFit/>
            </a:bodyPr>
            <a:lstStyle/>
            <a:p>
              <a:r>
                <a:rPr lang="en-US" altLang="zh-CN" dirty="0"/>
                <a:t>The</a:t>
              </a:r>
              <a:r>
                <a:rPr lang="zh-CN" altLang="en-US" dirty="0"/>
                <a:t> </a:t>
              </a:r>
              <a:r>
                <a:rPr lang="en-US" altLang="zh-CN" dirty="0"/>
                <a:t>first</a:t>
              </a:r>
              <a:r>
                <a:rPr lang="zh-CN" altLang="en-US" dirty="0"/>
                <a:t> </a:t>
              </a:r>
              <a:r>
                <a:rPr lang="en-US" altLang="zh-CN" dirty="0"/>
                <a:t>part</a:t>
              </a:r>
              <a:r>
                <a:rPr lang="zh-CN" altLang="en-US" dirty="0"/>
                <a:t> </a:t>
              </a:r>
              <a:r>
                <a:rPr lang="en-US" altLang="zh-CN" dirty="0"/>
                <a:t>of the</a:t>
              </a:r>
            </a:p>
            <a:p>
              <a:r>
                <a:rPr lang="en-US" altLang="zh-CN" dirty="0"/>
                <a:t> </a:t>
              </a:r>
              <a:r>
                <a:rPr lang="en-US" altLang="zh-CN" dirty="0" err="1"/>
                <a:t>makefile</a:t>
              </a:r>
              <a:r>
                <a:rPr lang="en-US" altLang="zh-CN" dirty="0"/>
                <a:t> just </a:t>
              </a:r>
            </a:p>
            <a:p>
              <a:r>
                <a:rPr lang="en-US" altLang="zh-CN" dirty="0"/>
                <a:t>creates a static </a:t>
              </a:r>
            </a:p>
            <a:p>
              <a:r>
                <a:rPr lang="en-US" altLang="zh-CN" dirty="0"/>
                <a:t>library named </a:t>
              </a:r>
            </a:p>
            <a:p>
              <a:r>
                <a:rPr lang="en-US" altLang="zh-CN" b="1" dirty="0" err="1"/>
                <a:t>libmath.a</a:t>
              </a:r>
              <a:endParaRPr lang="zh-CN" altLang="en-US" b="1" dirty="0"/>
            </a:p>
          </p:txBody>
        </p:sp>
        <p:cxnSp>
          <p:nvCxnSpPr>
            <p:cNvPr id="22" name="直接箭头连接符 21"/>
            <p:cNvCxnSpPr/>
            <p:nvPr/>
          </p:nvCxnSpPr>
          <p:spPr>
            <a:xfrm flipH="1" flipV="1">
              <a:off x="8709891" y="1613766"/>
              <a:ext cx="1219200" cy="8523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矩形 23"/>
          <p:cNvSpPr/>
          <p:nvPr/>
        </p:nvSpPr>
        <p:spPr>
          <a:xfrm>
            <a:off x="10330871" y="5980107"/>
            <a:ext cx="771237" cy="29599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174834" y="3036163"/>
            <a:ext cx="3288148" cy="73025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p:cNvSpPr>
            <a:spLocks noGrp="1"/>
          </p:cNvSpPr>
          <p:nvPr>
            <p:ph type="sldNum" sz="quarter" idx="12"/>
          </p:nvPr>
        </p:nvSpPr>
        <p:spPr/>
        <p:txBody>
          <a:bodyPr/>
          <a:lstStyle/>
          <a:p>
            <a:fld id="{506F4176-339E-4C4B-80E4-BBE9C4467EFE}" type="slidenum">
              <a:rPr lang="zh-CN" altLang="en-US" smtClean="0"/>
              <a:t>14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4"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2"/>
          <a:stretch>
            <a:fillRect/>
          </a:stretch>
        </p:blipFill>
        <p:spPr>
          <a:xfrm>
            <a:off x="1562347" y="23343"/>
            <a:ext cx="3937188" cy="5056659"/>
          </a:xfrm>
          <a:prstGeom prst="rect">
            <a:avLst/>
          </a:prstGeom>
        </p:spPr>
      </p:pic>
      <p:pic>
        <p:nvPicPr>
          <p:cNvPr id="11" name="图片 10"/>
          <p:cNvPicPr>
            <a:picLocks noChangeAspect="1"/>
          </p:cNvPicPr>
          <p:nvPr/>
        </p:nvPicPr>
        <p:blipFill>
          <a:blip r:embed="rId3"/>
          <a:stretch>
            <a:fillRect/>
          </a:stretch>
        </p:blipFill>
        <p:spPr>
          <a:xfrm>
            <a:off x="921761" y="5130563"/>
            <a:ext cx="6822930" cy="1146039"/>
          </a:xfrm>
          <a:prstGeom prst="rect">
            <a:avLst/>
          </a:prstGeom>
        </p:spPr>
      </p:pic>
      <p:grpSp>
        <p:nvGrpSpPr>
          <p:cNvPr id="20" name="组合 19"/>
          <p:cNvGrpSpPr/>
          <p:nvPr/>
        </p:nvGrpSpPr>
        <p:grpSpPr>
          <a:xfrm>
            <a:off x="5301903" y="4950814"/>
            <a:ext cx="6822931" cy="1828427"/>
            <a:chOff x="5301903" y="4950814"/>
            <a:chExt cx="6822931" cy="1828427"/>
          </a:xfrm>
        </p:grpSpPr>
        <p:pic>
          <p:nvPicPr>
            <p:cNvPr id="16" name="图片 15"/>
            <p:cNvPicPr>
              <a:picLocks noChangeAspect="1"/>
            </p:cNvPicPr>
            <p:nvPr/>
          </p:nvPicPr>
          <p:blipFill>
            <a:blip r:embed="rId4"/>
            <a:stretch>
              <a:fillRect/>
            </a:stretch>
          </p:blipFill>
          <p:spPr>
            <a:xfrm>
              <a:off x="5301903" y="5320146"/>
              <a:ext cx="6822931" cy="1459095"/>
            </a:xfrm>
            <a:prstGeom prst="rect">
              <a:avLst/>
            </a:prstGeom>
          </p:spPr>
        </p:pic>
        <p:sp>
          <p:nvSpPr>
            <p:cNvPr id="19" name="文本框 18"/>
            <p:cNvSpPr txBox="1"/>
            <p:nvPr/>
          </p:nvSpPr>
          <p:spPr>
            <a:xfrm>
              <a:off x="8972102" y="4950814"/>
              <a:ext cx="386644" cy="369332"/>
            </a:xfrm>
            <a:prstGeom prst="rect">
              <a:avLst/>
            </a:prstGeom>
            <a:noFill/>
          </p:spPr>
          <p:txBody>
            <a:bodyPr wrap="none" rtlCol="0">
              <a:spAutoFit/>
            </a:bodyPr>
            <a:lstStyle/>
            <a:p>
              <a:r>
                <a:rPr lang="en-US" altLang="zh-CN" dirty="0"/>
                <a:t>or</a:t>
              </a:r>
              <a:endParaRPr lang="zh-CN" altLang="en-US" dirty="0"/>
            </a:p>
          </p:txBody>
        </p:sp>
      </p:grpSp>
      <p:grpSp>
        <p:nvGrpSpPr>
          <p:cNvPr id="7" name="组合 6"/>
          <p:cNvGrpSpPr/>
          <p:nvPr/>
        </p:nvGrpSpPr>
        <p:grpSpPr>
          <a:xfrm>
            <a:off x="4535055" y="947037"/>
            <a:ext cx="4242968" cy="1477328"/>
            <a:chOff x="8221808" y="1613766"/>
            <a:chExt cx="4242968" cy="1477328"/>
          </a:xfrm>
        </p:grpSpPr>
        <p:sp>
          <p:nvSpPr>
            <p:cNvPr id="8" name="文本框 7"/>
            <p:cNvSpPr txBox="1"/>
            <p:nvPr/>
          </p:nvSpPr>
          <p:spPr>
            <a:xfrm>
              <a:off x="9901382" y="1613766"/>
              <a:ext cx="2563394" cy="1477328"/>
            </a:xfrm>
            <a:prstGeom prst="rect">
              <a:avLst/>
            </a:prstGeom>
            <a:noFill/>
          </p:spPr>
          <p:txBody>
            <a:bodyPr wrap="none" rtlCol="0">
              <a:spAutoFit/>
            </a:bodyPr>
            <a:lstStyle/>
            <a:p>
              <a:r>
                <a:rPr lang="en-US" altLang="zh-CN" dirty="0"/>
                <a:t>The</a:t>
              </a:r>
              <a:r>
                <a:rPr lang="zh-CN" altLang="en-US" dirty="0"/>
                <a:t> </a:t>
              </a:r>
              <a:r>
                <a:rPr lang="en-US" altLang="zh-CN" dirty="0"/>
                <a:t>second</a:t>
              </a:r>
              <a:r>
                <a:rPr lang="zh-CN" altLang="en-US" dirty="0"/>
                <a:t> </a:t>
              </a:r>
              <a:r>
                <a:rPr lang="en-US" altLang="zh-CN" dirty="0"/>
                <a:t>part</a:t>
              </a:r>
              <a:r>
                <a:rPr lang="zh-CN" altLang="en-US" dirty="0"/>
                <a:t> </a:t>
              </a:r>
              <a:r>
                <a:rPr lang="en-US" altLang="zh-CN" dirty="0"/>
                <a:t>of the</a:t>
              </a:r>
            </a:p>
            <a:p>
              <a:r>
                <a:rPr lang="en-US" altLang="zh-CN" dirty="0"/>
                <a:t> </a:t>
              </a:r>
              <a:r>
                <a:rPr lang="en-US" altLang="zh-CN" dirty="0" err="1"/>
                <a:t>makefile</a:t>
              </a:r>
              <a:r>
                <a:rPr lang="en-US" altLang="zh-CN" dirty="0"/>
                <a:t> links the static </a:t>
              </a:r>
            </a:p>
            <a:p>
              <a:r>
                <a:rPr lang="en-US" altLang="zh-CN" dirty="0"/>
                <a:t>library </a:t>
              </a:r>
              <a:r>
                <a:rPr lang="en-US" altLang="zh-CN" b="1" dirty="0" err="1"/>
                <a:t>libmath.a</a:t>
              </a:r>
              <a:r>
                <a:rPr lang="en-US" altLang="zh-CN" b="1" dirty="0"/>
                <a:t> </a:t>
              </a:r>
              <a:r>
                <a:rPr lang="en-US" altLang="zh-CN" dirty="0"/>
                <a:t>to the </a:t>
              </a:r>
            </a:p>
            <a:p>
              <a:r>
                <a:rPr lang="en-US" altLang="zh-CN" dirty="0"/>
                <a:t>executable file </a:t>
              </a:r>
              <a:r>
                <a:rPr lang="en-US" altLang="zh-CN" b="1" dirty="0"/>
                <a:t>test </a:t>
              </a:r>
              <a:r>
                <a:rPr lang="en-US" altLang="zh-CN" dirty="0"/>
                <a:t>in the</a:t>
              </a:r>
            </a:p>
            <a:p>
              <a:r>
                <a:rPr lang="en-US" altLang="zh-CN" dirty="0"/>
                <a:t>“</a:t>
              </a:r>
              <a:r>
                <a:rPr lang="en-US" altLang="zh-CN" dirty="0" err="1"/>
                <a:t>objs</a:t>
              </a:r>
              <a:r>
                <a:rPr lang="en-US" altLang="zh-CN" dirty="0"/>
                <a:t>” folder.</a:t>
              </a:r>
              <a:endParaRPr lang="zh-CN" altLang="en-US" dirty="0"/>
            </a:p>
          </p:txBody>
        </p:sp>
        <p:cxnSp>
          <p:nvCxnSpPr>
            <p:cNvPr id="9" name="直接箭头连接符 8"/>
            <p:cNvCxnSpPr/>
            <p:nvPr/>
          </p:nvCxnSpPr>
          <p:spPr>
            <a:xfrm flipH="1">
              <a:off x="8221808" y="2466108"/>
              <a:ext cx="1707283" cy="3442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矩形 13"/>
          <p:cNvSpPr/>
          <p:nvPr/>
        </p:nvSpPr>
        <p:spPr>
          <a:xfrm>
            <a:off x="6996541" y="5028763"/>
            <a:ext cx="771237" cy="29599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972801" y="5292003"/>
            <a:ext cx="1152032" cy="29599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0972801" y="6164838"/>
            <a:ext cx="988290" cy="29599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011055" y="3177309"/>
            <a:ext cx="1524000" cy="25169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506F4176-339E-4C4B-80E4-BBE9C4467EFE}" type="slidenum">
              <a:rPr lang="zh-CN" altLang="en-US" smtClean="0"/>
              <a:t>15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8"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a:blip r:embed="rId2"/>
          <a:stretch>
            <a:fillRect/>
          </a:stretch>
        </p:blipFill>
        <p:spPr>
          <a:xfrm>
            <a:off x="3520983" y="1991261"/>
            <a:ext cx="8290112" cy="2671162"/>
          </a:xfrm>
          <a:prstGeom prst="rect">
            <a:avLst/>
          </a:prstGeom>
        </p:spPr>
      </p:pic>
      <p:sp>
        <p:nvSpPr>
          <p:cNvPr id="3" name="TextBox 2"/>
          <p:cNvSpPr txBox="1"/>
          <p:nvPr/>
        </p:nvSpPr>
        <p:spPr>
          <a:xfrm>
            <a:off x="1408908" y="73798"/>
            <a:ext cx="10173778" cy="568325"/>
          </a:xfrm>
          <a:prstGeom prst="rect">
            <a:avLst/>
          </a:prstGeom>
          <a:noFill/>
        </p:spPr>
        <p:txBody>
          <a:bodyPr wrap="square" lIns="107667" tIns="53835" rIns="107667" bIns="53835" rtlCol="0">
            <a:spAutoFit/>
          </a:bodyPr>
          <a:lstStyle/>
          <a:p>
            <a:pPr defTabSz="1076960">
              <a:defRPr/>
            </a:pPr>
            <a:r>
              <a:rPr lang="en-US" altLang="zh-CN" sz="3000" b="1" dirty="0">
                <a:solidFill>
                  <a:prstClr val="black"/>
                </a:solidFill>
                <a:latin typeface="Calibri" panose="020F0502020204030204"/>
                <a:ea typeface="宋体" panose="02010600030101010101" pitchFamily="2" charset="-122"/>
              </a:rPr>
              <a:t>4 Creating and linking a static library by </a:t>
            </a:r>
            <a:r>
              <a:rPr lang="en-US" altLang="zh-CN" sz="3000" b="1" dirty="0" err="1">
                <a:solidFill>
                  <a:prstClr val="black"/>
                </a:solidFill>
                <a:latin typeface="Calibri" panose="020F0502020204030204"/>
                <a:ea typeface="宋体" panose="02010600030101010101" pitchFamily="2" charset="-122"/>
              </a:rPr>
              <a:t>CMake</a:t>
            </a:r>
            <a:endParaRPr lang="zh-CN" altLang="en-US" sz="3000" b="1" dirty="0">
              <a:solidFill>
                <a:prstClr val="black"/>
              </a:solidFill>
              <a:latin typeface="Calibri" panose="020F0502020204030204"/>
              <a:ea typeface="宋体" panose="02010600030101010101" pitchFamily="2" charset="-122"/>
            </a:endParaRPr>
          </a:p>
        </p:txBody>
      </p:sp>
      <p:sp>
        <p:nvSpPr>
          <p:cNvPr id="4" name="TextBox 3"/>
          <p:cNvSpPr txBox="1"/>
          <p:nvPr/>
        </p:nvSpPr>
        <p:spPr>
          <a:xfrm>
            <a:off x="1354480" y="679350"/>
            <a:ext cx="10662027" cy="724275"/>
          </a:xfrm>
          <a:prstGeom prst="rect">
            <a:avLst/>
          </a:prstGeom>
          <a:noFill/>
        </p:spPr>
        <p:txBody>
          <a:bodyPr wrap="square" lIns="107667" tIns="53835" rIns="107667" bIns="53835" rtlCol="0">
            <a:spAutoFit/>
          </a:bodyPr>
          <a:lstStyle/>
          <a:p>
            <a:pPr defTabSz="1076960">
              <a:defRPr/>
            </a:pPr>
            <a:r>
              <a:rPr lang="en-US" altLang="zh-CN" sz="2000" dirty="0">
                <a:solidFill>
                  <a:prstClr val="black"/>
                </a:solidFill>
                <a:latin typeface="Calibri" panose="020F0502020204030204"/>
                <a:ea typeface="宋体" panose="02010600030101010101" pitchFamily="2" charset="-122"/>
              </a:rPr>
              <a:t>We want to create a static(or dynamic) library by function.cpp and call the static library in main.cpp. This time we write two CMakeLists.txt files, one in </a:t>
            </a:r>
            <a:r>
              <a:rPr lang="en-US" altLang="zh-CN" sz="2000" b="1" dirty="0">
                <a:solidFill>
                  <a:prstClr val="black"/>
                </a:solidFill>
                <a:latin typeface="Calibri" panose="020F0502020204030204"/>
                <a:ea typeface="宋体" panose="02010600030101010101" pitchFamily="2" charset="-122"/>
              </a:rPr>
              <a:t>CmakeDemo4</a:t>
            </a:r>
            <a:r>
              <a:rPr lang="en-US" altLang="zh-CN" sz="2000" dirty="0">
                <a:solidFill>
                  <a:prstClr val="black"/>
                </a:solidFill>
                <a:latin typeface="Calibri" panose="020F0502020204030204"/>
                <a:ea typeface="宋体" panose="02010600030101010101" pitchFamily="2" charset="-122"/>
              </a:rPr>
              <a:t> folder and another in </a:t>
            </a:r>
            <a:r>
              <a:rPr lang="en-US" altLang="zh-CN" sz="2000" b="1" dirty="0">
                <a:solidFill>
                  <a:prstClr val="black"/>
                </a:solidFill>
                <a:latin typeface="Calibri" panose="020F0502020204030204"/>
                <a:ea typeface="宋体" panose="02010600030101010101" pitchFamily="2" charset="-122"/>
              </a:rPr>
              <a:t>lib</a:t>
            </a:r>
            <a:r>
              <a:rPr lang="en-US" altLang="zh-CN" sz="2000" dirty="0">
                <a:solidFill>
                  <a:prstClr val="black"/>
                </a:solidFill>
                <a:latin typeface="Calibri" panose="020F0502020204030204"/>
                <a:ea typeface="宋体" panose="02010600030101010101" pitchFamily="2" charset="-122"/>
              </a:rPr>
              <a:t> folder.</a:t>
            </a:r>
            <a:endParaRPr lang="zh-CN" altLang="en-US" sz="2000" dirty="0">
              <a:solidFill>
                <a:prstClr val="black"/>
              </a:solidFill>
              <a:latin typeface="Calibri" panose="020F0502020204030204"/>
              <a:ea typeface="宋体" panose="02010600030101010101" pitchFamily="2" charset="-122"/>
            </a:endParaRPr>
          </a:p>
        </p:txBody>
      </p:sp>
      <p:grpSp>
        <p:nvGrpSpPr>
          <p:cNvPr id="15" name="组合 14"/>
          <p:cNvGrpSpPr/>
          <p:nvPr/>
        </p:nvGrpSpPr>
        <p:grpSpPr>
          <a:xfrm>
            <a:off x="3534109" y="3670909"/>
            <a:ext cx="7593980" cy="1962033"/>
            <a:chOff x="2663563" y="73896"/>
            <a:chExt cx="8367442" cy="2161870"/>
          </a:xfrm>
        </p:grpSpPr>
        <p:sp>
          <p:nvSpPr>
            <p:cNvPr id="16" name="TextBox 15"/>
            <p:cNvSpPr txBox="1"/>
            <p:nvPr/>
          </p:nvSpPr>
          <p:spPr>
            <a:xfrm>
              <a:off x="2663563" y="1823573"/>
              <a:ext cx="8303210" cy="412193"/>
            </a:xfrm>
            <a:prstGeom prst="rect">
              <a:avLst/>
            </a:prstGeom>
            <a:noFill/>
          </p:spPr>
          <p:txBody>
            <a:bodyPr wrap="square" lIns="107710" tIns="53855" rIns="107710" bIns="53855" rtlCol="0">
              <a:spAutoFit/>
            </a:bodyPr>
            <a:lstStyle/>
            <a:p>
              <a:pPr defTabSz="1076960">
                <a:defRPr/>
              </a:pPr>
              <a:r>
                <a:rPr lang="en-US" altLang="zh-CN" sz="1725" dirty="0">
                  <a:solidFill>
                    <a:prstClr val="black"/>
                  </a:solidFill>
                  <a:latin typeface="Calibri" panose="020F0502020204030204"/>
                  <a:ea typeface="宋体" panose="02010600030101010101" pitchFamily="2" charset="-122"/>
                </a:rPr>
                <a:t>Create a static library named </a:t>
              </a:r>
              <a:r>
                <a:rPr lang="en-US" altLang="zh-CN" sz="1725" b="1" dirty="0" err="1">
                  <a:solidFill>
                    <a:prstClr val="black"/>
                  </a:solidFill>
                  <a:latin typeface="Calibri" panose="020F0502020204030204"/>
                  <a:ea typeface="宋体" panose="02010600030101010101" pitchFamily="2" charset="-122"/>
                </a:rPr>
                <a:t>libMyFunction.a</a:t>
              </a:r>
              <a:r>
                <a:rPr lang="en-US" altLang="zh-CN" sz="1725" dirty="0">
                  <a:solidFill>
                    <a:prstClr val="black"/>
                  </a:solidFill>
                  <a:latin typeface="Calibri" panose="020F0502020204030204"/>
                  <a:ea typeface="宋体" panose="02010600030101010101" pitchFamily="2" charset="-122"/>
                </a:rPr>
                <a:t> by the files in the current directory.</a:t>
              </a:r>
              <a:endParaRPr lang="zh-CN" altLang="en-US" sz="1725" dirty="0">
                <a:solidFill>
                  <a:prstClr val="black"/>
                </a:solidFill>
                <a:latin typeface="Calibri" panose="020F0502020204030204"/>
                <a:ea typeface="宋体" panose="02010600030101010101" pitchFamily="2" charset="-122"/>
              </a:endParaRPr>
            </a:p>
          </p:txBody>
        </p:sp>
        <p:sp>
          <p:nvSpPr>
            <p:cNvPr id="17" name="矩形 16"/>
            <p:cNvSpPr/>
            <p:nvPr/>
          </p:nvSpPr>
          <p:spPr>
            <a:xfrm>
              <a:off x="6494500" y="73896"/>
              <a:ext cx="4536505" cy="3904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defRPr/>
              </a:pPr>
              <a:endParaRPr lang="zh-CN" altLang="en-US" sz="2085" dirty="0">
                <a:solidFill>
                  <a:prstClr val="white"/>
                </a:solidFill>
                <a:latin typeface="Calibri" panose="020F0502020204030204"/>
                <a:ea typeface="宋体" panose="02010600030101010101" pitchFamily="2" charset="-122"/>
              </a:endParaRPr>
            </a:p>
          </p:txBody>
        </p:sp>
        <p:cxnSp>
          <p:nvCxnSpPr>
            <p:cNvPr id="18" name="直接箭头连接符 17"/>
            <p:cNvCxnSpPr/>
            <p:nvPr/>
          </p:nvCxnSpPr>
          <p:spPr>
            <a:xfrm flipV="1">
              <a:off x="5475413" y="413856"/>
              <a:ext cx="1857046" cy="154335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pic>
        <p:nvPicPr>
          <p:cNvPr id="12" name="图片 11"/>
          <p:cNvPicPr>
            <a:picLocks noChangeAspect="1"/>
          </p:cNvPicPr>
          <p:nvPr/>
        </p:nvPicPr>
        <p:blipFill>
          <a:blip r:embed="rId3"/>
          <a:stretch>
            <a:fillRect/>
          </a:stretch>
        </p:blipFill>
        <p:spPr>
          <a:xfrm>
            <a:off x="393396" y="1991261"/>
            <a:ext cx="2830581" cy="2500591"/>
          </a:xfrm>
          <a:prstGeom prst="rect">
            <a:avLst/>
          </a:prstGeom>
        </p:spPr>
      </p:pic>
      <p:sp>
        <p:nvSpPr>
          <p:cNvPr id="13" name="TextBox 3"/>
          <p:cNvSpPr txBox="1"/>
          <p:nvPr/>
        </p:nvSpPr>
        <p:spPr>
          <a:xfrm>
            <a:off x="3788459" y="1477861"/>
            <a:ext cx="6163298" cy="429900"/>
          </a:xfrm>
          <a:prstGeom prst="rect">
            <a:avLst/>
          </a:prstGeom>
          <a:noFill/>
        </p:spPr>
        <p:txBody>
          <a:bodyPr wrap="square" lIns="107667" tIns="53835" rIns="107667" bIns="53835" rtlCol="0">
            <a:spAutoFit/>
          </a:bodyPr>
          <a:lstStyle/>
          <a:p>
            <a:pPr defTabSz="1076960">
              <a:defRPr/>
            </a:pPr>
            <a:r>
              <a:rPr lang="en-US" altLang="zh-CN" sz="2085" dirty="0">
                <a:solidFill>
                  <a:prstClr val="black"/>
                </a:solidFill>
                <a:latin typeface="Calibri" panose="020F0502020204030204"/>
                <a:ea typeface="宋体" panose="02010600030101010101" pitchFamily="2" charset="-122"/>
              </a:rPr>
              <a:t>The CMakeLists.txt in </a:t>
            </a:r>
            <a:r>
              <a:rPr lang="en-US" altLang="zh-CN" sz="2085" b="1" dirty="0">
                <a:solidFill>
                  <a:prstClr val="black"/>
                </a:solidFill>
                <a:latin typeface="Calibri" panose="020F0502020204030204"/>
                <a:ea typeface="宋体" panose="02010600030101010101" pitchFamily="2" charset="-122"/>
              </a:rPr>
              <a:t>lib</a:t>
            </a:r>
            <a:r>
              <a:rPr lang="en-US" altLang="zh-CN" sz="2085" dirty="0">
                <a:solidFill>
                  <a:prstClr val="black"/>
                </a:solidFill>
                <a:latin typeface="Calibri" panose="020F0502020204030204"/>
                <a:ea typeface="宋体" panose="02010600030101010101" pitchFamily="2" charset="-122"/>
              </a:rPr>
              <a:t> folder </a:t>
            </a:r>
            <a:r>
              <a:rPr lang="en-US" altLang="zh-CN" sz="1635" dirty="0">
                <a:solidFill>
                  <a:prstClr val="black"/>
                </a:solidFill>
                <a:latin typeface="Calibri" panose="020F0502020204030204"/>
                <a:ea typeface="宋体" panose="02010600030101010101" pitchFamily="2" charset="-122"/>
              </a:rPr>
              <a:t>creates a static library</a:t>
            </a:r>
            <a:r>
              <a:rPr lang="en-US" altLang="zh-CN" sz="2085" dirty="0">
                <a:solidFill>
                  <a:prstClr val="black"/>
                </a:solidFill>
                <a:latin typeface="Calibri" panose="020F0502020204030204"/>
                <a:ea typeface="宋体" panose="02010600030101010101" pitchFamily="2" charset="-122"/>
              </a:rPr>
              <a:t>.</a:t>
            </a:r>
            <a:endParaRPr lang="zh-CN" altLang="en-US" sz="2085" dirty="0">
              <a:solidFill>
                <a:prstClr val="black"/>
              </a:solidFill>
              <a:latin typeface="Calibri" panose="020F0502020204030204"/>
              <a:ea typeface="宋体" panose="02010600030101010101" pitchFamily="2" charset="-122"/>
            </a:endParaRPr>
          </a:p>
        </p:txBody>
      </p:sp>
      <p:grpSp>
        <p:nvGrpSpPr>
          <p:cNvPr id="8" name="组合 7"/>
          <p:cNvGrpSpPr/>
          <p:nvPr/>
        </p:nvGrpSpPr>
        <p:grpSpPr>
          <a:xfrm>
            <a:off x="6684166" y="3625055"/>
            <a:ext cx="2437544" cy="1419720"/>
            <a:chOff x="7254453" y="3994274"/>
            <a:chExt cx="2685812" cy="1564321"/>
          </a:xfrm>
        </p:grpSpPr>
        <p:sp>
          <p:nvSpPr>
            <p:cNvPr id="2" name="椭圆 1"/>
            <p:cNvSpPr/>
            <p:nvPr/>
          </p:nvSpPr>
          <p:spPr>
            <a:xfrm>
              <a:off x="8788137" y="3994274"/>
              <a:ext cx="1152128" cy="390483"/>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35"/>
            </a:p>
          </p:txBody>
        </p:sp>
        <p:cxnSp>
          <p:nvCxnSpPr>
            <p:cNvPr id="6" name="直接箭头连接符 5"/>
            <p:cNvCxnSpPr>
              <a:endCxn id="2" idx="4"/>
            </p:cNvCxnSpPr>
            <p:nvPr/>
          </p:nvCxnSpPr>
          <p:spPr>
            <a:xfrm flipV="1">
              <a:off x="8707803" y="4384757"/>
              <a:ext cx="656398" cy="87036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15"/>
            <p:cNvSpPr txBox="1"/>
            <p:nvPr/>
          </p:nvSpPr>
          <p:spPr>
            <a:xfrm>
              <a:off x="7254453" y="5146402"/>
              <a:ext cx="1886113" cy="412193"/>
            </a:xfrm>
            <a:prstGeom prst="rect">
              <a:avLst/>
            </a:prstGeom>
            <a:noFill/>
          </p:spPr>
          <p:txBody>
            <a:bodyPr wrap="square" lIns="107710" tIns="53855" rIns="107710" bIns="53855" rtlCol="0">
              <a:spAutoFit/>
            </a:bodyPr>
            <a:lstStyle/>
            <a:p>
              <a:pPr defTabSz="1076960">
                <a:defRPr/>
              </a:pPr>
              <a:r>
                <a:rPr lang="en-US" altLang="zh-CN" sz="1725" dirty="0">
                  <a:solidFill>
                    <a:prstClr val="black"/>
                  </a:solidFill>
                  <a:latin typeface="Calibri" panose="020F0502020204030204"/>
                  <a:ea typeface="宋体" panose="02010600030101010101" pitchFamily="2" charset="-122"/>
                </a:rPr>
                <a:t>l</a:t>
              </a:r>
              <a:r>
                <a:rPr lang="en-US" altLang="zh-CN" sz="1725" dirty="0" err="1">
                  <a:solidFill>
                    <a:prstClr val="black"/>
                  </a:solidFill>
                  <a:latin typeface="Calibri" panose="020F0502020204030204"/>
                  <a:ea typeface="宋体" panose="02010600030101010101" pitchFamily="2" charset="-122"/>
                </a:rPr>
                <a:t>ibrary</a:t>
              </a:r>
              <a:r>
                <a:rPr lang="en-US" altLang="zh-CN" sz="1725" dirty="0">
                  <a:solidFill>
                    <a:prstClr val="black"/>
                  </a:solidFill>
                  <a:latin typeface="Calibri" panose="020F0502020204030204"/>
                  <a:ea typeface="宋体" panose="02010600030101010101" pitchFamily="2" charset="-122"/>
                </a:rPr>
                <a:t> file name</a:t>
              </a:r>
              <a:endParaRPr lang="zh-CN" altLang="en-US" sz="1725" dirty="0">
                <a:solidFill>
                  <a:prstClr val="black"/>
                </a:solidFill>
                <a:latin typeface="Calibri" panose="020F0502020204030204"/>
                <a:ea typeface="宋体" panose="02010600030101010101" pitchFamily="2" charset="-122"/>
              </a:endParaRPr>
            </a:p>
          </p:txBody>
        </p:sp>
      </p:grpSp>
      <p:grpSp>
        <p:nvGrpSpPr>
          <p:cNvPr id="9" name="组合 8"/>
          <p:cNvGrpSpPr/>
          <p:nvPr/>
        </p:nvGrpSpPr>
        <p:grpSpPr>
          <a:xfrm>
            <a:off x="8357015" y="3625055"/>
            <a:ext cx="1464037" cy="1485072"/>
            <a:chOff x="7967073" y="3994274"/>
            <a:chExt cx="1613152" cy="1636329"/>
          </a:xfrm>
        </p:grpSpPr>
        <p:sp>
          <p:nvSpPr>
            <p:cNvPr id="10" name="椭圆 9"/>
            <p:cNvSpPr/>
            <p:nvPr/>
          </p:nvSpPr>
          <p:spPr>
            <a:xfrm>
              <a:off x="8788137" y="3994274"/>
              <a:ext cx="792088" cy="390483"/>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35"/>
            </a:p>
          </p:txBody>
        </p:sp>
        <p:cxnSp>
          <p:nvCxnSpPr>
            <p:cNvPr id="11" name="直接箭头连接符 10"/>
            <p:cNvCxnSpPr>
              <a:endCxn id="10" idx="4"/>
            </p:cNvCxnSpPr>
            <p:nvPr/>
          </p:nvCxnSpPr>
          <p:spPr>
            <a:xfrm flipV="1">
              <a:off x="8766327" y="4384757"/>
              <a:ext cx="417854" cy="920883"/>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5"/>
            <p:cNvSpPr txBox="1"/>
            <p:nvPr/>
          </p:nvSpPr>
          <p:spPr>
            <a:xfrm>
              <a:off x="7967073" y="5218410"/>
              <a:ext cx="1483117" cy="412193"/>
            </a:xfrm>
            <a:prstGeom prst="rect">
              <a:avLst/>
            </a:prstGeom>
            <a:noFill/>
          </p:spPr>
          <p:txBody>
            <a:bodyPr wrap="square" lIns="107710" tIns="53855" rIns="107710" bIns="53855" rtlCol="0">
              <a:spAutoFit/>
            </a:bodyPr>
            <a:lstStyle/>
            <a:p>
              <a:pPr defTabSz="1076960">
                <a:defRPr/>
              </a:pPr>
              <a:r>
                <a:rPr lang="en-US" altLang="zh-CN" sz="1725" dirty="0">
                  <a:solidFill>
                    <a:prstClr val="black"/>
                  </a:solidFill>
                  <a:latin typeface="Calibri" panose="020F0502020204030204"/>
                  <a:ea typeface="宋体" panose="02010600030101010101" pitchFamily="2" charset="-122"/>
                </a:rPr>
                <a:t>s</a:t>
              </a:r>
              <a:r>
                <a:rPr lang="en-US" altLang="zh-CN" sz="1725" dirty="0" err="1">
                  <a:solidFill>
                    <a:prstClr val="black"/>
                  </a:solidFill>
                  <a:latin typeface="Calibri" panose="020F0502020204030204"/>
                  <a:ea typeface="宋体" panose="02010600030101010101" pitchFamily="2" charset="-122"/>
                </a:rPr>
                <a:t>tatic</a:t>
              </a:r>
              <a:r>
                <a:rPr lang="en-US" altLang="zh-CN" sz="1725" dirty="0">
                  <a:solidFill>
                    <a:prstClr val="black"/>
                  </a:solidFill>
                  <a:latin typeface="Calibri" panose="020F0502020204030204"/>
                  <a:ea typeface="宋体" panose="02010600030101010101" pitchFamily="2" charset="-122"/>
                </a:rPr>
                <a:t> library</a:t>
              </a:r>
              <a:endParaRPr lang="zh-CN" altLang="en-US" sz="1725" dirty="0">
                <a:solidFill>
                  <a:prstClr val="black"/>
                </a:solidFill>
                <a:latin typeface="Calibri" panose="020F0502020204030204"/>
                <a:ea typeface="宋体" panose="02010600030101010101" pitchFamily="2" charset="-122"/>
              </a:endParaRPr>
            </a:p>
          </p:txBody>
        </p:sp>
      </p:grpSp>
      <p:grpSp>
        <p:nvGrpSpPr>
          <p:cNvPr id="20" name="组合 19"/>
          <p:cNvGrpSpPr/>
          <p:nvPr/>
        </p:nvGrpSpPr>
        <p:grpSpPr>
          <a:xfrm>
            <a:off x="9624997" y="3634820"/>
            <a:ext cx="2679424" cy="1675285"/>
            <a:chOff x="8561430" y="3994274"/>
            <a:chExt cx="2952328" cy="1845916"/>
          </a:xfrm>
        </p:grpSpPr>
        <p:sp>
          <p:nvSpPr>
            <p:cNvPr id="21" name="椭圆 20"/>
            <p:cNvSpPr/>
            <p:nvPr/>
          </p:nvSpPr>
          <p:spPr>
            <a:xfrm>
              <a:off x="8788136" y="3994274"/>
              <a:ext cx="1357469" cy="390483"/>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35"/>
            </a:p>
          </p:txBody>
        </p:sp>
        <p:cxnSp>
          <p:nvCxnSpPr>
            <p:cNvPr id="22" name="直接箭头连接符 21"/>
            <p:cNvCxnSpPr>
              <a:endCxn id="21" idx="4"/>
            </p:cNvCxnSpPr>
            <p:nvPr/>
          </p:nvCxnSpPr>
          <p:spPr>
            <a:xfrm flipH="1" flipV="1">
              <a:off x="9466871" y="4384757"/>
              <a:ext cx="69360" cy="87036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15"/>
            <p:cNvSpPr txBox="1"/>
            <p:nvPr/>
          </p:nvSpPr>
          <p:spPr>
            <a:xfrm>
              <a:off x="8561430" y="5135644"/>
              <a:ext cx="2952328" cy="704546"/>
            </a:xfrm>
            <a:prstGeom prst="rect">
              <a:avLst/>
            </a:prstGeom>
            <a:noFill/>
          </p:spPr>
          <p:txBody>
            <a:bodyPr wrap="square" lIns="107710" tIns="53855" rIns="107710" bIns="53855" rtlCol="0">
              <a:spAutoFit/>
            </a:bodyPr>
            <a:lstStyle/>
            <a:p>
              <a:pPr defTabSz="1076960">
                <a:defRPr/>
              </a:pPr>
              <a:r>
                <a:rPr lang="en-US" altLang="zh-CN" sz="1725" dirty="0">
                  <a:solidFill>
                    <a:prstClr val="black"/>
                  </a:solidFill>
                  <a:latin typeface="Calibri" panose="020F0502020204030204"/>
                  <a:ea typeface="宋体" panose="02010600030101010101" pitchFamily="2" charset="-122"/>
                </a:rPr>
                <a:t>The directory from which</a:t>
              </a:r>
            </a:p>
            <a:p>
              <a:pPr defTabSz="1076960">
                <a:defRPr/>
              </a:pPr>
              <a:r>
                <a:rPr lang="en-US" altLang="zh-CN" sz="1725" dirty="0">
                  <a:solidFill>
                    <a:prstClr val="black"/>
                  </a:solidFill>
                  <a:latin typeface="Calibri" panose="020F0502020204030204"/>
                  <a:ea typeface="宋体" panose="02010600030101010101" pitchFamily="2" charset="-122"/>
                </a:rPr>
                <a:t>the library file originates.</a:t>
              </a:r>
              <a:endParaRPr lang="zh-CN" altLang="en-US" sz="1725" dirty="0">
                <a:solidFill>
                  <a:prstClr val="black"/>
                </a:solidFill>
                <a:latin typeface="Calibri" panose="020F0502020204030204"/>
                <a:ea typeface="宋体" panose="02010600030101010101" pitchFamily="2" charset="-122"/>
              </a:endParaRPr>
            </a:p>
          </p:txBody>
        </p:sp>
      </p:grpSp>
      <p:sp>
        <p:nvSpPr>
          <p:cNvPr id="5" name="灯片编号占位符 4"/>
          <p:cNvSpPr>
            <a:spLocks noGrp="1"/>
          </p:cNvSpPr>
          <p:nvPr>
            <p:ph type="sldNum" sz="quarter" idx="12"/>
          </p:nvPr>
        </p:nvSpPr>
        <p:spPr/>
        <p:txBody>
          <a:bodyPr/>
          <a:lstStyle/>
          <a:p>
            <a:fld id="{506F4176-339E-4C4B-80E4-BBE9C4467EFE}" type="slidenum">
              <a:rPr lang="zh-CN" altLang="en-US" smtClean="0"/>
              <a:t>16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018574" y="556972"/>
            <a:ext cx="8350624" cy="5325035"/>
          </a:xfrm>
          <a:prstGeom prst="rect">
            <a:avLst/>
          </a:prstGeom>
        </p:spPr>
      </p:pic>
      <p:grpSp>
        <p:nvGrpSpPr>
          <p:cNvPr id="4" name="组合 3"/>
          <p:cNvGrpSpPr/>
          <p:nvPr/>
        </p:nvGrpSpPr>
        <p:grpSpPr>
          <a:xfrm>
            <a:off x="1018575" y="4145275"/>
            <a:ext cx="5871190" cy="1703331"/>
            <a:chOff x="2539114" y="785777"/>
            <a:chExt cx="6469182" cy="1876818"/>
          </a:xfrm>
        </p:grpSpPr>
        <p:sp>
          <p:nvSpPr>
            <p:cNvPr id="5" name="TextBox 8"/>
            <p:cNvSpPr txBox="1"/>
            <p:nvPr/>
          </p:nvSpPr>
          <p:spPr>
            <a:xfrm>
              <a:off x="2539114" y="788636"/>
              <a:ext cx="4675752" cy="1873959"/>
            </a:xfrm>
            <a:prstGeom prst="rect">
              <a:avLst/>
            </a:prstGeom>
            <a:noFill/>
          </p:spPr>
          <p:txBody>
            <a:bodyPr wrap="square" lIns="107710" tIns="53855" rIns="107710" bIns="53855" rtlCol="0">
              <a:spAutoFit/>
            </a:bodyPr>
            <a:lstStyle/>
            <a:p>
              <a:pPr defTabSz="1076960">
                <a:defRPr/>
              </a:pPr>
              <a:r>
                <a:rPr lang="en-US" altLang="zh-CN" sz="1725" b="1" dirty="0">
                  <a:solidFill>
                    <a:srgbClr val="FFFF00"/>
                  </a:solidFill>
                  <a:latin typeface="Calibri" panose="020F0502020204030204"/>
                  <a:ea typeface="宋体" panose="02010600030101010101" pitchFamily="2" charset="-122"/>
                </a:rPr>
                <a:t>a</a:t>
              </a:r>
              <a:r>
                <a:rPr lang="en-US" altLang="zh-CN" sz="1725" b="1" dirty="0" err="1">
                  <a:solidFill>
                    <a:srgbClr val="FFFF00"/>
                  </a:solidFill>
                  <a:latin typeface="Calibri" panose="020F0502020204030204"/>
                  <a:ea typeface="宋体" panose="02010600030101010101" pitchFamily="2" charset="-122"/>
                </a:rPr>
                <a:t>dd_subdirectory</a:t>
              </a:r>
              <a:r>
                <a:rPr lang="en-US" altLang="zh-CN" sz="1725" b="1" dirty="0">
                  <a:solidFill>
                    <a:srgbClr val="FFFF00"/>
                  </a:solidFill>
                  <a:latin typeface="Calibri" panose="020F0502020204030204"/>
                  <a:ea typeface="宋体" panose="02010600030101010101" pitchFamily="2" charset="-122"/>
                </a:rPr>
                <a:t> </a:t>
              </a:r>
              <a:r>
                <a:rPr lang="en-US" altLang="zh-CN" sz="1725" dirty="0">
                  <a:solidFill>
                    <a:schemeClr val="bg1"/>
                  </a:solidFill>
                  <a:latin typeface="Calibri" panose="020F0502020204030204"/>
                  <a:ea typeface="宋体" panose="02010600030101010101" pitchFamily="2" charset="-122"/>
                </a:rPr>
                <a:t>command </a:t>
              </a:r>
            </a:p>
            <a:p>
              <a:pPr defTabSz="1076960">
                <a:defRPr/>
              </a:pPr>
              <a:r>
                <a:rPr lang="en-US" altLang="zh-CN" sz="1725" dirty="0">
                  <a:solidFill>
                    <a:schemeClr val="bg1"/>
                  </a:solidFill>
                  <a:latin typeface="Calibri" panose="020F0502020204030204"/>
                  <a:ea typeface="宋体" panose="02010600030101010101" pitchFamily="2" charset="-122"/>
                </a:rPr>
                <a:t>indicates there is a subdirectory</a:t>
              </a:r>
            </a:p>
            <a:p>
              <a:pPr defTabSz="1076960">
                <a:defRPr/>
              </a:pPr>
              <a:r>
                <a:rPr lang="en-US" altLang="zh-CN" sz="1725" dirty="0" err="1">
                  <a:solidFill>
                    <a:schemeClr val="bg1"/>
                  </a:solidFill>
                  <a:latin typeface="Calibri" panose="020F0502020204030204"/>
                  <a:ea typeface="宋体" panose="02010600030101010101" pitchFamily="2" charset="-122"/>
                </a:rPr>
                <a:t>i</a:t>
              </a:r>
              <a:r>
                <a:rPr lang="en-US" altLang="zh-CN" sz="1725" dirty="0">
                  <a:solidFill>
                    <a:schemeClr val="bg1"/>
                  </a:solidFill>
                  <a:latin typeface="Calibri" panose="020F0502020204030204"/>
                  <a:ea typeface="宋体" panose="02010600030101010101" pitchFamily="2" charset="-122"/>
                </a:rPr>
                <a:t>n the project. When running the</a:t>
              </a:r>
            </a:p>
            <a:p>
              <a:pPr defTabSz="1076960">
                <a:defRPr/>
              </a:pPr>
              <a:r>
                <a:rPr lang="en-US" altLang="zh-CN" sz="1725" dirty="0">
                  <a:solidFill>
                    <a:schemeClr val="bg1"/>
                  </a:solidFill>
                  <a:latin typeface="Calibri" panose="020F0502020204030204"/>
                  <a:ea typeface="宋体" panose="02010600030101010101" pitchFamily="2" charset="-122"/>
                </a:rPr>
                <a:t>command, it will execute the </a:t>
              </a:r>
            </a:p>
            <a:p>
              <a:pPr defTabSz="1076960">
                <a:defRPr/>
              </a:pPr>
              <a:r>
                <a:rPr lang="en-US" altLang="zh-CN" sz="1725" dirty="0" err="1">
                  <a:solidFill>
                    <a:schemeClr val="bg1"/>
                  </a:solidFill>
                  <a:latin typeface="Calibri" panose="020F0502020204030204"/>
                  <a:ea typeface="宋体" panose="02010600030101010101" pitchFamily="2" charset="-122"/>
                </a:rPr>
                <a:t>CMakeList</a:t>
              </a:r>
              <a:r>
                <a:rPr lang="en-US" altLang="zh-CN" sz="1725" dirty="0">
                  <a:solidFill>
                    <a:schemeClr val="bg1"/>
                  </a:solidFill>
                  <a:latin typeface="Calibri" panose="020F0502020204030204"/>
                  <a:ea typeface="宋体" panose="02010600030101010101" pitchFamily="2" charset="-122"/>
                </a:rPr>
                <a:t>s.txt in the subdirectory</a:t>
              </a:r>
            </a:p>
            <a:p>
              <a:pPr defTabSz="1076960">
                <a:defRPr/>
              </a:pPr>
              <a:r>
                <a:rPr lang="en-US" altLang="zh-CN" sz="1725" dirty="0">
                  <a:solidFill>
                    <a:schemeClr val="bg1"/>
                  </a:solidFill>
                  <a:latin typeface="Calibri" panose="020F0502020204030204"/>
                  <a:ea typeface="宋体" panose="02010600030101010101" pitchFamily="2" charset="-122"/>
                </a:rPr>
                <a:t>a</a:t>
              </a:r>
              <a:r>
                <a:rPr lang="en-US" altLang="zh-CN" sz="1725" dirty="0" err="1">
                  <a:solidFill>
                    <a:schemeClr val="bg1"/>
                  </a:solidFill>
                  <a:latin typeface="Calibri" panose="020F0502020204030204"/>
                  <a:ea typeface="宋体" panose="02010600030101010101" pitchFamily="2" charset="-122"/>
                </a:rPr>
                <a:t>utomatically</a:t>
              </a:r>
              <a:r>
                <a:rPr lang="en-US" altLang="zh-CN" sz="1725" dirty="0">
                  <a:solidFill>
                    <a:schemeClr val="bg1"/>
                  </a:solidFill>
                  <a:latin typeface="Calibri" panose="020F0502020204030204"/>
                  <a:ea typeface="宋体" panose="02010600030101010101" pitchFamily="2" charset="-122"/>
                </a:rPr>
                <a:t>.</a:t>
              </a:r>
              <a:endParaRPr lang="zh-CN" altLang="en-US" sz="1725" dirty="0">
                <a:solidFill>
                  <a:schemeClr val="bg1"/>
                </a:solidFill>
                <a:latin typeface="Calibri" panose="020F0502020204030204"/>
                <a:ea typeface="宋体" panose="02010600030101010101" pitchFamily="2" charset="-122"/>
              </a:endParaRPr>
            </a:p>
          </p:txBody>
        </p:sp>
        <p:sp>
          <p:nvSpPr>
            <p:cNvPr id="6" name="矩形 5"/>
            <p:cNvSpPr/>
            <p:nvPr/>
          </p:nvSpPr>
          <p:spPr>
            <a:xfrm>
              <a:off x="6370346" y="785777"/>
              <a:ext cx="2637950" cy="2908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defRPr/>
              </a:pPr>
              <a:endParaRPr lang="zh-CN" altLang="en-US" sz="2085" dirty="0">
                <a:solidFill>
                  <a:prstClr val="white"/>
                </a:solidFill>
                <a:latin typeface="Calibri" panose="020F0502020204030204"/>
                <a:ea typeface="宋体" panose="02010600030101010101" pitchFamily="2" charset="-122"/>
              </a:endParaRPr>
            </a:p>
          </p:txBody>
        </p:sp>
        <p:cxnSp>
          <p:nvCxnSpPr>
            <p:cNvPr id="7" name="直接箭头连接符 6"/>
            <p:cNvCxnSpPr/>
            <p:nvPr/>
          </p:nvCxnSpPr>
          <p:spPr>
            <a:xfrm flipV="1">
              <a:off x="5650266" y="1027048"/>
              <a:ext cx="720080" cy="40966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8" name="TextBox 3"/>
          <p:cNvSpPr txBox="1"/>
          <p:nvPr/>
        </p:nvSpPr>
        <p:spPr>
          <a:xfrm>
            <a:off x="1667237" y="68174"/>
            <a:ext cx="8333334" cy="385720"/>
          </a:xfrm>
          <a:prstGeom prst="rect">
            <a:avLst/>
          </a:prstGeom>
          <a:noFill/>
        </p:spPr>
        <p:txBody>
          <a:bodyPr wrap="square" lIns="107667" tIns="53835" rIns="107667" bIns="53835" rtlCol="0">
            <a:spAutoFit/>
          </a:bodyPr>
          <a:lstStyle/>
          <a:p>
            <a:pPr defTabSz="1076960">
              <a:defRPr/>
            </a:pPr>
            <a:r>
              <a:rPr lang="en-US" altLang="zh-CN" dirty="0">
                <a:solidFill>
                  <a:prstClr val="black"/>
                </a:solidFill>
                <a:latin typeface="Calibri" panose="020F0502020204030204"/>
                <a:ea typeface="宋体" panose="02010600030101010101" pitchFamily="2" charset="-122"/>
              </a:rPr>
              <a:t>The CMakeLists.txt in </a:t>
            </a:r>
            <a:r>
              <a:rPr lang="en-US" altLang="zh-CN" b="1" dirty="0">
                <a:solidFill>
                  <a:prstClr val="black"/>
                </a:solidFill>
                <a:latin typeface="Calibri" panose="020F0502020204030204"/>
                <a:ea typeface="宋体" panose="02010600030101010101" pitchFamily="2" charset="-122"/>
              </a:rPr>
              <a:t>CMakeDemo4</a:t>
            </a:r>
            <a:r>
              <a:rPr lang="en-US" altLang="zh-CN" dirty="0">
                <a:solidFill>
                  <a:prstClr val="black"/>
                </a:solidFill>
                <a:latin typeface="Calibri" panose="020F0502020204030204"/>
                <a:ea typeface="宋体" panose="02010600030101010101" pitchFamily="2" charset="-122"/>
              </a:rPr>
              <a:t> folder creates the project.</a:t>
            </a:r>
            <a:endParaRPr lang="zh-CN" altLang="en-US" dirty="0">
              <a:solidFill>
                <a:prstClr val="black"/>
              </a:solidFill>
              <a:latin typeface="Calibri" panose="020F0502020204030204"/>
              <a:ea typeface="宋体" panose="02010600030101010101" pitchFamily="2" charset="-122"/>
            </a:endParaRPr>
          </a:p>
        </p:txBody>
      </p:sp>
      <p:grpSp>
        <p:nvGrpSpPr>
          <p:cNvPr id="14" name="组合 13"/>
          <p:cNvGrpSpPr/>
          <p:nvPr/>
        </p:nvGrpSpPr>
        <p:grpSpPr>
          <a:xfrm>
            <a:off x="4454864" y="4017166"/>
            <a:ext cx="7556252" cy="1876699"/>
            <a:chOff x="3402925" y="-808590"/>
            <a:chExt cx="8325872" cy="2067844"/>
          </a:xfrm>
        </p:grpSpPr>
        <p:sp>
          <p:nvSpPr>
            <p:cNvPr id="15" name="TextBox 15"/>
            <p:cNvSpPr txBox="1"/>
            <p:nvPr/>
          </p:nvSpPr>
          <p:spPr>
            <a:xfrm>
              <a:off x="8896229" y="-808590"/>
              <a:ext cx="2832568" cy="1581606"/>
            </a:xfrm>
            <a:prstGeom prst="rect">
              <a:avLst/>
            </a:prstGeom>
            <a:noFill/>
          </p:spPr>
          <p:txBody>
            <a:bodyPr wrap="square" lIns="107710" tIns="53855" rIns="107710" bIns="53855" rtlCol="0">
              <a:spAutoFit/>
            </a:bodyPr>
            <a:lstStyle/>
            <a:p>
              <a:pPr defTabSz="1076960">
                <a:defRPr/>
              </a:pPr>
              <a:r>
                <a:rPr lang="en-US" altLang="zh-CN" sz="1725" dirty="0">
                  <a:solidFill>
                    <a:prstClr val="black"/>
                  </a:solidFill>
                  <a:latin typeface="Calibri" panose="020F0502020204030204"/>
                  <a:ea typeface="宋体" panose="02010600030101010101" pitchFamily="2" charset="-122"/>
                </a:rPr>
                <a:t>Indicates that the project needs link a library named </a:t>
              </a:r>
              <a:r>
                <a:rPr lang="en-US" altLang="zh-CN" sz="1725" b="1" dirty="0" err="1">
                  <a:solidFill>
                    <a:prstClr val="black"/>
                  </a:solidFill>
                  <a:latin typeface="Calibri" panose="020F0502020204030204"/>
                  <a:ea typeface="宋体" panose="02010600030101010101" pitchFamily="2" charset="-122"/>
                </a:rPr>
                <a:t>MyFunction</a:t>
              </a:r>
              <a:r>
                <a:rPr lang="en-US" altLang="zh-CN" sz="1725" dirty="0">
                  <a:solidFill>
                    <a:prstClr val="black"/>
                  </a:solidFill>
                  <a:latin typeface="Calibri" panose="020F0502020204030204"/>
                  <a:ea typeface="宋体" panose="02010600030101010101" pitchFamily="2" charset="-122"/>
                </a:rPr>
                <a:t>, </a:t>
              </a:r>
              <a:r>
                <a:rPr lang="en-US" altLang="zh-CN" sz="1725" dirty="0" err="1">
                  <a:solidFill>
                    <a:prstClr val="black"/>
                  </a:solidFill>
                  <a:latin typeface="Calibri" panose="020F0502020204030204"/>
                  <a:ea typeface="宋体" panose="02010600030101010101" pitchFamily="2" charset="-122"/>
                </a:rPr>
                <a:t>MyFunction</a:t>
              </a:r>
              <a:r>
                <a:rPr lang="en-US" altLang="zh-CN" sz="1725" dirty="0">
                  <a:solidFill>
                    <a:prstClr val="black"/>
                  </a:solidFill>
                  <a:latin typeface="Calibri" panose="020F0502020204030204"/>
                  <a:ea typeface="宋体" panose="02010600030101010101" pitchFamily="2" charset="-122"/>
                </a:rPr>
                <a:t> can be a static library file or a dynamic library file. </a:t>
              </a:r>
              <a:endParaRPr lang="zh-CN" altLang="en-US" sz="1725" dirty="0">
                <a:solidFill>
                  <a:prstClr val="black"/>
                </a:solidFill>
                <a:latin typeface="Calibri" panose="020F0502020204030204"/>
                <a:ea typeface="宋体" panose="02010600030101010101" pitchFamily="2" charset="-122"/>
              </a:endParaRPr>
            </a:p>
          </p:txBody>
        </p:sp>
        <p:sp>
          <p:nvSpPr>
            <p:cNvPr id="16" name="矩形 15"/>
            <p:cNvSpPr/>
            <p:nvPr/>
          </p:nvSpPr>
          <p:spPr>
            <a:xfrm>
              <a:off x="3402925" y="868770"/>
              <a:ext cx="4869487" cy="3904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76960">
                <a:defRPr/>
              </a:pPr>
              <a:endParaRPr lang="zh-CN" altLang="en-US" sz="2085">
                <a:solidFill>
                  <a:prstClr val="white"/>
                </a:solidFill>
                <a:latin typeface="Calibri" panose="020F0502020204030204"/>
                <a:ea typeface="宋体" panose="02010600030101010101" pitchFamily="2" charset="-122"/>
              </a:endParaRPr>
            </a:p>
          </p:txBody>
        </p:sp>
        <p:cxnSp>
          <p:nvCxnSpPr>
            <p:cNvPr id="17" name="直接箭头连接符 16"/>
            <p:cNvCxnSpPr>
              <a:stCxn id="15" idx="1"/>
            </p:cNvCxnSpPr>
            <p:nvPr/>
          </p:nvCxnSpPr>
          <p:spPr>
            <a:xfrm flipH="1">
              <a:off x="5608116" y="-17787"/>
              <a:ext cx="3288114" cy="92345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5142033" y="5492426"/>
            <a:ext cx="2480740" cy="856241"/>
            <a:chOff x="7206855" y="3994274"/>
            <a:chExt cx="2733410" cy="943450"/>
          </a:xfrm>
        </p:grpSpPr>
        <p:sp>
          <p:nvSpPr>
            <p:cNvPr id="12" name="椭圆 11"/>
            <p:cNvSpPr/>
            <p:nvPr/>
          </p:nvSpPr>
          <p:spPr>
            <a:xfrm>
              <a:off x="8788137" y="3994274"/>
              <a:ext cx="1152128" cy="390483"/>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35"/>
            </a:p>
          </p:txBody>
        </p:sp>
        <p:cxnSp>
          <p:nvCxnSpPr>
            <p:cNvPr id="13" name="直接箭头连接符 12"/>
            <p:cNvCxnSpPr>
              <a:endCxn id="12" idx="4"/>
            </p:cNvCxnSpPr>
            <p:nvPr/>
          </p:nvCxnSpPr>
          <p:spPr>
            <a:xfrm flipV="1">
              <a:off x="8787564" y="4384757"/>
              <a:ext cx="576637" cy="281946"/>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5"/>
            <p:cNvSpPr txBox="1"/>
            <p:nvPr/>
          </p:nvSpPr>
          <p:spPr>
            <a:xfrm>
              <a:off x="7206855" y="4525531"/>
              <a:ext cx="1886112" cy="412193"/>
            </a:xfrm>
            <a:prstGeom prst="rect">
              <a:avLst/>
            </a:prstGeom>
            <a:noFill/>
          </p:spPr>
          <p:txBody>
            <a:bodyPr wrap="square" lIns="107710" tIns="53855" rIns="107710" bIns="53855" rtlCol="0">
              <a:spAutoFit/>
            </a:bodyPr>
            <a:lstStyle/>
            <a:p>
              <a:pPr defTabSz="1076960">
                <a:defRPr/>
              </a:pPr>
              <a:r>
                <a:rPr lang="en-US" altLang="zh-CN" sz="1725" dirty="0">
                  <a:solidFill>
                    <a:prstClr val="black"/>
                  </a:solidFill>
                  <a:latin typeface="Calibri" panose="020F0502020204030204"/>
                  <a:ea typeface="宋体" panose="02010600030101010101" pitchFamily="2" charset="-122"/>
                </a:rPr>
                <a:t>project name</a:t>
              </a:r>
              <a:endParaRPr lang="zh-CN" altLang="en-US" sz="1725" dirty="0">
                <a:solidFill>
                  <a:prstClr val="black"/>
                </a:solidFill>
                <a:latin typeface="Calibri" panose="020F0502020204030204"/>
                <a:ea typeface="宋体" panose="02010600030101010101" pitchFamily="2" charset="-122"/>
              </a:endParaRPr>
            </a:p>
          </p:txBody>
        </p:sp>
      </p:grpSp>
      <p:grpSp>
        <p:nvGrpSpPr>
          <p:cNvPr id="20" name="组合 19"/>
          <p:cNvGrpSpPr/>
          <p:nvPr/>
        </p:nvGrpSpPr>
        <p:grpSpPr>
          <a:xfrm>
            <a:off x="7006038" y="5510494"/>
            <a:ext cx="5351954" cy="1412858"/>
            <a:chOff x="8496669" y="3994274"/>
            <a:chExt cx="5897060" cy="1556760"/>
          </a:xfrm>
        </p:grpSpPr>
        <p:sp>
          <p:nvSpPr>
            <p:cNvPr id="21" name="椭圆 20"/>
            <p:cNvSpPr/>
            <p:nvPr/>
          </p:nvSpPr>
          <p:spPr>
            <a:xfrm>
              <a:off x="9164684" y="3994274"/>
              <a:ext cx="1306902" cy="390483"/>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35"/>
            </a:p>
          </p:txBody>
        </p:sp>
        <p:cxnSp>
          <p:nvCxnSpPr>
            <p:cNvPr id="22" name="直接箭头连接符 21"/>
            <p:cNvCxnSpPr>
              <a:endCxn id="21" idx="4"/>
            </p:cNvCxnSpPr>
            <p:nvPr/>
          </p:nvCxnSpPr>
          <p:spPr>
            <a:xfrm flipH="1" flipV="1">
              <a:off x="9818135" y="4384757"/>
              <a:ext cx="335727" cy="32696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15"/>
            <p:cNvSpPr txBox="1"/>
            <p:nvPr/>
          </p:nvSpPr>
          <p:spPr>
            <a:xfrm>
              <a:off x="8496669" y="4554135"/>
              <a:ext cx="5897060" cy="996899"/>
            </a:xfrm>
            <a:prstGeom prst="rect">
              <a:avLst/>
            </a:prstGeom>
            <a:noFill/>
          </p:spPr>
          <p:txBody>
            <a:bodyPr wrap="square" lIns="107710" tIns="53855" rIns="107710" bIns="53855" rtlCol="0">
              <a:spAutoFit/>
            </a:bodyPr>
            <a:lstStyle/>
            <a:p>
              <a:pPr defTabSz="1076960">
                <a:defRPr/>
              </a:pPr>
              <a:r>
                <a:rPr lang="en-US" altLang="zh-CN" sz="1725" dirty="0">
                  <a:solidFill>
                    <a:prstClr val="black"/>
                  </a:solidFill>
                  <a:latin typeface="Calibri" panose="020F0502020204030204"/>
                  <a:ea typeface="宋体" panose="02010600030101010101" pitchFamily="2" charset="-122"/>
                </a:rPr>
                <a:t>library file name</a:t>
              </a:r>
            </a:p>
            <a:p>
              <a:pPr defTabSz="1076960">
                <a:defRPr/>
              </a:pPr>
              <a:r>
                <a:rPr lang="en-US" altLang="zh-CN" sz="1725" dirty="0">
                  <a:solidFill>
                    <a:prstClr val="black"/>
                  </a:solidFill>
                  <a:latin typeface="Calibri" panose="020F0502020204030204"/>
                  <a:ea typeface="宋体" panose="02010600030101010101" pitchFamily="2" charset="-122"/>
                </a:rPr>
                <a:t>If there are more than one file, list them using space as the separator.</a:t>
              </a:r>
              <a:endParaRPr lang="zh-CN" altLang="en-US" sz="1725" dirty="0">
                <a:solidFill>
                  <a:prstClr val="black"/>
                </a:solidFill>
                <a:latin typeface="Calibri" panose="020F0502020204030204"/>
                <a:ea typeface="宋体" panose="02010600030101010101" pitchFamily="2" charset="-122"/>
              </a:endParaRPr>
            </a:p>
          </p:txBody>
        </p:sp>
      </p:grpSp>
      <p:sp>
        <p:nvSpPr>
          <p:cNvPr id="2" name="灯片编号占位符 1"/>
          <p:cNvSpPr>
            <a:spLocks noGrp="1"/>
          </p:cNvSpPr>
          <p:nvPr>
            <p:ph type="sldNum" sz="quarter" idx="12"/>
          </p:nvPr>
        </p:nvSpPr>
        <p:spPr/>
        <p:txBody>
          <a:bodyPr/>
          <a:lstStyle/>
          <a:p>
            <a:fld id="{506F4176-339E-4C4B-80E4-BBE9C4467EFE}" type="slidenum">
              <a:rPr lang="zh-CN" altLang="en-US" smtClean="0"/>
              <a:t>17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276833" y="5028149"/>
            <a:ext cx="6143069" cy="1712158"/>
          </a:xfrm>
          <a:prstGeom prst="rect">
            <a:avLst/>
          </a:prstGeom>
        </p:spPr>
      </p:pic>
      <p:pic>
        <p:nvPicPr>
          <p:cNvPr id="7" name="图片 6"/>
          <p:cNvPicPr>
            <a:picLocks noChangeAspect="1"/>
          </p:cNvPicPr>
          <p:nvPr/>
        </p:nvPicPr>
        <p:blipFill>
          <a:blip r:embed="rId3"/>
          <a:stretch>
            <a:fillRect/>
          </a:stretch>
        </p:blipFill>
        <p:spPr>
          <a:xfrm>
            <a:off x="2219930" y="3951815"/>
            <a:ext cx="6509386" cy="972556"/>
          </a:xfrm>
          <a:prstGeom prst="rect">
            <a:avLst/>
          </a:prstGeom>
        </p:spPr>
      </p:pic>
      <p:pic>
        <p:nvPicPr>
          <p:cNvPr id="9" name="图片 8"/>
          <p:cNvPicPr>
            <a:picLocks noChangeAspect="1"/>
          </p:cNvPicPr>
          <p:nvPr/>
        </p:nvPicPr>
        <p:blipFill>
          <a:blip r:embed="rId4"/>
          <a:stretch>
            <a:fillRect/>
          </a:stretch>
        </p:blipFill>
        <p:spPr>
          <a:xfrm>
            <a:off x="2219929" y="96059"/>
            <a:ext cx="5677159" cy="3753800"/>
          </a:xfrm>
          <a:prstGeom prst="rect">
            <a:avLst/>
          </a:prstGeom>
        </p:spPr>
      </p:pic>
      <p:sp>
        <p:nvSpPr>
          <p:cNvPr id="10" name="矩形 9"/>
          <p:cNvSpPr/>
          <p:nvPr/>
        </p:nvSpPr>
        <p:spPr>
          <a:xfrm>
            <a:off x="6282819" y="96059"/>
            <a:ext cx="1241684" cy="2491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82954" tIns="41478" rIns="82954" bIns="41478" rtlCol="0" anchor="ctr"/>
          <a:lstStyle/>
          <a:p>
            <a:pPr algn="ctr"/>
            <a:endParaRPr lang="zh-CN" altLang="en-US" sz="1635"/>
          </a:p>
        </p:txBody>
      </p:sp>
      <p:sp>
        <p:nvSpPr>
          <p:cNvPr id="11" name="矩形 10"/>
          <p:cNvSpPr/>
          <p:nvPr/>
        </p:nvSpPr>
        <p:spPr>
          <a:xfrm>
            <a:off x="6982163" y="4343925"/>
            <a:ext cx="784222" cy="39211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82954" tIns="41478" rIns="82954" bIns="41478" rtlCol="0" anchor="ctr"/>
          <a:lstStyle/>
          <a:p>
            <a:pPr algn="ctr"/>
            <a:endParaRPr lang="zh-CN" altLang="en-US" sz="1635"/>
          </a:p>
        </p:txBody>
      </p:sp>
      <p:sp>
        <p:nvSpPr>
          <p:cNvPr id="12" name="矩形 11"/>
          <p:cNvSpPr/>
          <p:nvPr/>
        </p:nvSpPr>
        <p:spPr>
          <a:xfrm>
            <a:off x="2164078" y="3595766"/>
            <a:ext cx="5733010" cy="2491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82954" tIns="41478" rIns="82954" bIns="41478" rtlCol="0" anchor="ctr"/>
          <a:lstStyle/>
          <a:p>
            <a:pPr algn="ctr"/>
            <a:endParaRPr lang="zh-CN" altLang="en-US" sz="1635"/>
          </a:p>
        </p:txBody>
      </p:sp>
      <p:sp>
        <p:nvSpPr>
          <p:cNvPr id="13" name="矩形 12"/>
          <p:cNvSpPr/>
          <p:nvPr/>
        </p:nvSpPr>
        <p:spPr>
          <a:xfrm>
            <a:off x="6786107" y="452108"/>
            <a:ext cx="980277" cy="2491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82954" tIns="41478" rIns="82954" bIns="41478" rtlCol="0" anchor="ctr"/>
          <a:lstStyle/>
          <a:p>
            <a:pPr algn="ctr"/>
            <a:endParaRPr lang="zh-CN" altLang="en-US" sz="1635"/>
          </a:p>
        </p:txBody>
      </p:sp>
      <p:sp>
        <p:nvSpPr>
          <p:cNvPr id="14" name="矩形 13"/>
          <p:cNvSpPr/>
          <p:nvPr/>
        </p:nvSpPr>
        <p:spPr>
          <a:xfrm>
            <a:off x="5936534" y="4670684"/>
            <a:ext cx="1372388" cy="2536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82954" tIns="41478" rIns="82954" bIns="41478" rtlCol="0" anchor="ctr"/>
          <a:lstStyle/>
          <a:p>
            <a:pPr algn="ctr"/>
            <a:endParaRPr lang="zh-CN" altLang="en-US" sz="1635"/>
          </a:p>
        </p:txBody>
      </p:sp>
      <p:sp>
        <p:nvSpPr>
          <p:cNvPr id="15" name="矩形 14"/>
          <p:cNvSpPr/>
          <p:nvPr/>
        </p:nvSpPr>
        <p:spPr>
          <a:xfrm>
            <a:off x="6916811" y="5000437"/>
            <a:ext cx="522814" cy="2536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82954" tIns="41478" rIns="82954" bIns="41478" rtlCol="0" anchor="ctr"/>
          <a:lstStyle>
            <a:defPPr>
              <a:defRPr lang="zh-CN"/>
            </a:defPPr>
            <a:lvl1pPr marL="0" algn="l" defTabSz="1186180" rtl="0" eaLnBrk="1" latinLnBrk="0" hangingPunct="1">
              <a:defRPr sz="2300" kern="1200">
                <a:solidFill>
                  <a:schemeClr val="lt1"/>
                </a:solidFill>
                <a:latin typeface="+mn-lt"/>
                <a:ea typeface="+mn-ea"/>
                <a:cs typeface="+mn-cs"/>
              </a:defRPr>
            </a:lvl1pPr>
            <a:lvl2pPr marL="593090" algn="l" defTabSz="1186180" rtl="0" eaLnBrk="1" latinLnBrk="0" hangingPunct="1">
              <a:defRPr sz="2300" kern="1200">
                <a:solidFill>
                  <a:schemeClr val="lt1"/>
                </a:solidFill>
                <a:latin typeface="+mn-lt"/>
                <a:ea typeface="+mn-ea"/>
                <a:cs typeface="+mn-cs"/>
              </a:defRPr>
            </a:lvl2pPr>
            <a:lvl3pPr marL="1186180" algn="l" defTabSz="1186180" rtl="0" eaLnBrk="1" latinLnBrk="0" hangingPunct="1">
              <a:defRPr sz="2300" kern="1200">
                <a:solidFill>
                  <a:schemeClr val="lt1"/>
                </a:solidFill>
                <a:latin typeface="+mn-lt"/>
                <a:ea typeface="+mn-ea"/>
                <a:cs typeface="+mn-cs"/>
              </a:defRPr>
            </a:lvl3pPr>
            <a:lvl4pPr marL="1779270" algn="l" defTabSz="1186180" rtl="0" eaLnBrk="1" latinLnBrk="0" hangingPunct="1">
              <a:defRPr sz="2300" kern="1200">
                <a:solidFill>
                  <a:schemeClr val="lt1"/>
                </a:solidFill>
                <a:latin typeface="+mn-lt"/>
                <a:ea typeface="+mn-ea"/>
                <a:cs typeface="+mn-cs"/>
              </a:defRPr>
            </a:lvl4pPr>
            <a:lvl5pPr marL="2372360" algn="l" defTabSz="1186180" rtl="0" eaLnBrk="1" latinLnBrk="0" hangingPunct="1">
              <a:defRPr sz="2300" kern="1200">
                <a:solidFill>
                  <a:schemeClr val="lt1"/>
                </a:solidFill>
                <a:latin typeface="+mn-lt"/>
                <a:ea typeface="+mn-ea"/>
                <a:cs typeface="+mn-cs"/>
              </a:defRPr>
            </a:lvl5pPr>
            <a:lvl6pPr marL="2966085" algn="l" defTabSz="1186180" rtl="0" eaLnBrk="1" latinLnBrk="0" hangingPunct="1">
              <a:defRPr sz="2300" kern="1200">
                <a:solidFill>
                  <a:schemeClr val="lt1"/>
                </a:solidFill>
                <a:latin typeface="+mn-lt"/>
                <a:ea typeface="+mn-ea"/>
                <a:cs typeface="+mn-cs"/>
              </a:defRPr>
            </a:lvl6pPr>
            <a:lvl7pPr marL="3559175" algn="l" defTabSz="1186180" rtl="0" eaLnBrk="1" latinLnBrk="0" hangingPunct="1">
              <a:defRPr sz="2300" kern="1200">
                <a:solidFill>
                  <a:schemeClr val="lt1"/>
                </a:solidFill>
                <a:latin typeface="+mn-lt"/>
                <a:ea typeface="+mn-ea"/>
                <a:cs typeface="+mn-cs"/>
              </a:defRPr>
            </a:lvl7pPr>
            <a:lvl8pPr marL="4152265" algn="l" defTabSz="1186180" rtl="0" eaLnBrk="1" latinLnBrk="0" hangingPunct="1">
              <a:defRPr sz="2300" kern="1200">
                <a:solidFill>
                  <a:schemeClr val="lt1"/>
                </a:solidFill>
                <a:latin typeface="+mn-lt"/>
                <a:ea typeface="+mn-ea"/>
                <a:cs typeface="+mn-cs"/>
              </a:defRPr>
            </a:lvl8pPr>
            <a:lvl9pPr marL="4745355" algn="l" defTabSz="1186180" rtl="0" eaLnBrk="1" latinLnBrk="0" hangingPunct="1">
              <a:defRPr sz="2300" kern="1200">
                <a:solidFill>
                  <a:schemeClr val="lt1"/>
                </a:solidFill>
                <a:latin typeface="+mn-lt"/>
                <a:ea typeface="+mn-ea"/>
                <a:cs typeface="+mn-cs"/>
              </a:defRPr>
            </a:lvl9pPr>
          </a:lstStyle>
          <a:p>
            <a:pPr algn="ctr"/>
            <a:endParaRPr lang="zh-CN" altLang="en-US" sz="2085"/>
          </a:p>
        </p:txBody>
      </p:sp>
      <p:sp>
        <p:nvSpPr>
          <p:cNvPr id="16" name="椭圆 15"/>
          <p:cNvSpPr/>
          <p:nvPr/>
        </p:nvSpPr>
        <p:spPr>
          <a:xfrm>
            <a:off x="2799648" y="5492630"/>
            <a:ext cx="3921108" cy="35438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35"/>
          </a:p>
        </p:txBody>
      </p:sp>
      <p:sp>
        <p:nvSpPr>
          <p:cNvPr id="2" name="灯片编号占位符 1"/>
          <p:cNvSpPr>
            <a:spLocks noGrp="1"/>
          </p:cNvSpPr>
          <p:nvPr>
            <p:ph type="sldNum" sz="quarter" idx="12"/>
          </p:nvPr>
        </p:nvSpPr>
        <p:spPr/>
        <p:txBody>
          <a:bodyPr/>
          <a:lstStyle/>
          <a:p>
            <a:fld id="{506F4176-339E-4C4B-80E4-BBE9C4467EFE}" type="slidenum">
              <a:rPr lang="zh-CN" altLang="en-US" smtClean="0"/>
              <a:t>18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65722" y="115059"/>
            <a:ext cx="7358730" cy="833631"/>
          </a:xfrm>
        </p:spPr>
        <p:txBody>
          <a:bodyPr/>
          <a:lstStyle/>
          <a:p>
            <a:r>
              <a:rPr lang="en-US" altLang="zh-CN" dirty="0">
                <a:sym typeface="+mn-ea"/>
              </a:rPr>
              <a:t>Exercise 1</a:t>
            </a:r>
            <a:endParaRPr lang="zh-CN" altLang="en-US" dirty="0"/>
          </a:p>
        </p:txBody>
      </p:sp>
      <p:sp>
        <p:nvSpPr>
          <p:cNvPr id="7" name="文本框 6"/>
          <p:cNvSpPr txBox="1"/>
          <p:nvPr/>
        </p:nvSpPr>
        <p:spPr>
          <a:xfrm>
            <a:off x="1232453" y="1191439"/>
            <a:ext cx="4466383" cy="4647426"/>
          </a:xfrm>
          <a:prstGeom prst="rect">
            <a:avLst/>
          </a:prstGeom>
          <a:solidFill>
            <a:schemeClr val="bg2"/>
          </a:solidFill>
          <a:ln>
            <a:solidFill>
              <a:schemeClr val="tx1"/>
            </a:solidFill>
          </a:ln>
        </p:spPr>
        <p:txBody>
          <a:bodyPr wrap="square">
            <a:spAutoFit/>
          </a:bodyPr>
          <a:lstStyle/>
          <a:p>
            <a:r>
              <a:rPr lang="en-US" altLang="zh-CN" sz="1600" b="0" dirty="0">
                <a:solidFill>
                  <a:srgbClr val="AF00DB"/>
                </a:solidFill>
                <a:effectLst/>
              </a:rPr>
              <a:t>#include</a:t>
            </a:r>
            <a:r>
              <a:rPr lang="en-US" altLang="zh-CN" sz="1600" b="0" dirty="0">
                <a:solidFill>
                  <a:srgbClr val="0000FF"/>
                </a:solidFill>
                <a:effectLst/>
              </a:rPr>
              <a:t> </a:t>
            </a:r>
            <a:r>
              <a:rPr lang="en-US" altLang="zh-CN" sz="1600" b="0" dirty="0">
                <a:solidFill>
                  <a:srgbClr val="A31515"/>
                </a:solidFill>
                <a:effectLst/>
              </a:rPr>
              <a:t>&lt;iostream&gt;</a:t>
            </a:r>
            <a:endParaRPr lang="en-US" altLang="zh-CN" sz="1600" b="0" dirty="0">
              <a:solidFill>
                <a:srgbClr val="000000"/>
              </a:solidFill>
              <a:effectLst/>
            </a:endParaRPr>
          </a:p>
          <a:p>
            <a:r>
              <a:rPr lang="en-US" altLang="zh-CN" sz="1600" b="0" dirty="0">
                <a:solidFill>
                  <a:srgbClr val="AF00DB"/>
                </a:solidFill>
                <a:effectLst/>
              </a:rPr>
              <a:t>using</a:t>
            </a:r>
            <a:r>
              <a:rPr lang="en-US" altLang="zh-CN" sz="1600" b="0" dirty="0">
                <a:solidFill>
                  <a:srgbClr val="000000"/>
                </a:solidFill>
                <a:effectLst/>
              </a:rPr>
              <a:t> </a:t>
            </a:r>
            <a:r>
              <a:rPr lang="en-US" altLang="zh-CN" sz="1600" b="0" dirty="0">
                <a:solidFill>
                  <a:srgbClr val="0000FF"/>
                </a:solidFill>
                <a:effectLst/>
              </a:rPr>
              <a:t>namespace</a:t>
            </a:r>
            <a:r>
              <a:rPr lang="en-US" altLang="zh-CN" sz="1600" b="0" dirty="0">
                <a:solidFill>
                  <a:srgbClr val="000000"/>
                </a:solidFill>
                <a:effectLst/>
              </a:rPr>
              <a:t> </a:t>
            </a:r>
            <a:r>
              <a:rPr lang="en-US" altLang="zh-CN" sz="1600" b="0" dirty="0">
                <a:solidFill>
                  <a:srgbClr val="267F99"/>
                </a:solidFill>
                <a:effectLst/>
              </a:rPr>
              <a:t>std</a:t>
            </a:r>
            <a:r>
              <a:rPr lang="en-US" altLang="zh-CN" sz="1600" b="0" dirty="0">
                <a:solidFill>
                  <a:srgbClr val="000000"/>
                </a:solidFill>
                <a:effectLst/>
              </a:rPr>
              <a:t>;</a:t>
            </a:r>
          </a:p>
          <a:p>
            <a:r>
              <a:rPr lang="en-US" altLang="zh-CN" sz="1600" b="0" dirty="0">
                <a:solidFill>
                  <a:srgbClr val="0000FF"/>
                </a:solidFill>
                <a:effectLst/>
              </a:rPr>
              <a:t>int</a:t>
            </a:r>
            <a:r>
              <a:rPr lang="en-US" altLang="zh-CN" sz="1600" b="0" dirty="0">
                <a:solidFill>
                  <a:srgbClr val="000000"/>
                </a:solidFill>
                <a:effectLst/>
              </a:rPr>
              <a:t> </a:t>
            </a:r>
            <a:r>
              <a:rPr lang="en-US" altLang="zh-CN" sz="1600" b="0" dirty="0">
                <a:solidFill>
                  <a:srgbClr val="0000FF"/>
                </a:solidFill>
                <a:effectLst/>
              </a:rPr>
              <a:t>*</a:t>
            </a:r>
            <a:r>
              <a:rPr lang="en-US" altLang="zh-CN" sz="1600" b="0" dirty="0">
                <a:solidFill>
                  <a:srgbClr val="000000"/>
                </a:solidFill>
                <a:effectLst/>
              </a:rPr>
              <a:t> </a:t>
            </a:r>
            <a:r>
              <a:rPr lang="en-US" altLang="zh-CN" sz="1600" b="0" dirty="0" err="1">
                <a:solidFill>
                  <a:srgbClr val="795E26"/>
                </a:solidFill>
                <a:effectLst/>
              </a:rPr>
              <a:t>create_array</a:t>
            </a:r>
            <a:r>
              <a:rPr lang="en-US" altLang="zh-CN" sz="1600" b="0" dirty="0">
                <a:solidFill>
                  <a:srgbClr val="000000"/>
                </a:solidFill>
                <a:effectLst/>
              </a:rPr>
              <a:t>(</a:t>
            </a:r>
            <a:r>
              <a:rPr lang="en-US" altLang="zh-CN" sz="1600" b="0" dirty="0">
                <a:solidFill>
                  <a:srgbClr val="0000FF"/>
                </a:solidFill>
                <a:effectLst/>
              </a:rPr>
              <a:t>int</a:t>
            </a:r>
            <a:r>
              <a:rPr lang="en-US" altLang="zh-CN" sz="1600" b="0" dirty="0">
                <a:solidFill>
                  <a:srgbClr val="000000"/>
                </a:solidFill>
                <a:effectLst/>
              </a:rPr>
              <a:t> </a:t>
            </a:r>
            <a:r>
              <a:rPr lang="en-US" altLang="zh-CN" sz="1600" b="0" dirty="0">
                <a:solidFill>
                  <a:srgbClr val="001080"/>
                </a:solidFill>
                <a:effectLst/>
              </a:rPr>
              <a:t>size</a:t>
            </a:r>
            <a:r>
              <a:rPr lang="en-US" altLang="zh-CN" sz="1600" b="0" dirty="0">
                <a:solidFill>
                  <a:srgbClr val="000000"/>
                </a:solidFill>
                <a:effectLst/>
              </a:rPr>
              <a:t>)</a:t>
            </a:r>
          </a:p>
          <a:p>
            <a:r>
              <a:rPr lang="en-US" altLang="zh-CN" sz="1600" b="0" dirty="0">
                <a:solidFill>
                  <a:srgbClr val="000000"/>
                </a:solidFill>
                <a:effectLst/>
              </a:rPr>
              <a:t>{</a:t>
            </a:r>
          </a:p>
          <a:p>
            <a:r>
              <a:rPr lang="en-US" altLang="zh-CN" sz="1600" b="0" dirty="0">
                <a:solidFill>
                  <a:srgbClr val="0000FF"/>
                </a:solidFill>
                <a:effectLst/>
              </a:rPr>
              <a:t>    int</a:t>
            </a:r>
            <a:r>
              <a:rPr lang="en-US" altLang="zh-CN" sz="1600" b="0" dirty="0">
                <a:solidFill>
                  <a:srgbClr val="000000"/>
                </a:solidFill>
                <a:effectLst/>
              </a:rPr>
              <a:t> </a:t>
            </a:r>
            <a:r>
              <a:rPr lang="en-US" altLang="zh-CN" sz="1600" b="0" dirty="0" err="1">
                <a:solidFill>
                  <a:srgbClr val="001080"/>
                </a:solidFill>
                <a:effectLst/>
              </a:rPr>
              <a:t>arr</a:t>
            </a:r>
            <a:r>
              <a:rPr lang="en-US" altLang="zh-CN" sz="1600" b="0" dirty="0">
                <a:solidFill>
                  <a:srgbClr val="000000"/>
                </a:solidFill>
                <a:effectLst/>
              </a:rPr>
              <a:t>[</a:t>
            </a:r>
            <a:r>
              <a:rPr lang="en-US" altLang="zh-CN" sz="1600" b="0" dirty="0">
                <a:solidFill>
                  <a:srgbClr val="001080"/>
                </a:solidFill>
                <a:effectLst/>
              </a:rPr>
              <a:t>size</a:t>
            </a:r>
            <a:r>
              <a:rPr lang="en-US" altLang="zh-CN" sz="1600" b="0" dirty="0">
                <a:solidFill>
                  <a:srgbClr val="000000"/>
                </a:solidFill>
                <a:effectLst/>
              </a:rPr>
              <a:t>];</a:t>
            </a:r>
          </a:p>
          <a:p>
            <a:br>
              <a:rPr lang="en-US" altLang="zh-CN" sz="1600" b="0" dirty="0">
                <a:solidFill>
                  <a:srgbClr val="000000"/>
                </a:solidFill>
                <a:effectLst/>
              </a:rPr>
            </a:br>
            <a:r>
              <a:rPr lang="en-US" altLang="zh-CN" sz="1600" b="0" dirty="0">
                <a:solidFill>
                  <a:srgbClr val="000000"/>
                </a:solidFill>
                <a:effectLst/>
              </a:rPr>
              <a:t>    </a:t>
            </a:r>
            <a:r>
              <a:rPr lang="en-US" altLang="zh-CN" sz="1600" b="0" dirty="0">
                <a:solidFill>
                  <a:srgbClr val="AF00DB"/>
                </a:solidFill>
                <a:effectLst/>
              </a:rPr>
              <a:t>for</a:t>
            </a:r>
            <a:r>
              <a:rPr lang="en-US" altLang="zh-CN" sz="1600" b="0" dirty="0">
                <a:solidFill>
                  <a:srgbClr val="000000"/>
                </a:solidFill>
                <a:effectLst/>
              </a:rPr>
              <a:t>(</a:t>
            </a:r>
            <a:r>
              <a:rPr lang="en-US" altLang="zh-CN" sz="1600" b="0" dirty="0">
                <a:solidFill>
                  <a:srgbClr val="0000FF"/>
                </a:solidFill>
                <a:effectLst/>
              </a:rPr>
              <a:t>int</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 = </a:t>
            </a:r>
            <a:r>
              <a:rPr lang="en-US" altLang="zh-CN" sz="1600" b="0" dirty="0">
                <a:solidFill>
                  <a:srgbClr val="098658"/>
                </a:solidFill>
                <a:effectLst/>
              </a:rPr>
              <a:t>0</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 &lt; </a:t>
            </a:r>
            <a:r>
              <a:rPr lang="en-US" altLang="zh-CN" sz="1600" b="0" dirty="0">
                <a:solidFill>
                  <a:srgbClr val="001080"/>
                </a:solidFill>
                <a:effectLst/>
              </a:rPr>
              <a:t>size</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a:t>
            </a:r>
          </a:p>
          <a:p>
            <a:r>
              <a:rPr lang="en-US" altLang="zh-CN" sz="1600" b="0" dirty="0">
                <a:solidFill>
                  <a:srgbClr val="001080"/>
                </a:solidFill>
                <a:effectLst/>
              </a:rPr>
              <a:t>        </a:t>
            </a:r>
            <a:r>
              <a:rPr lang="en-US" altLang="zh-CN" sz="1600" b="0" dirty="0" err="1">
                <a:solidFill>
                  <a:srgbClr val="001080"/>
                </a:solidFill>
                <a:effectLst/>
              </a:rPr>
              <a:t>arr</a:t>
            </a:r>
            <a:r>
              <a:rPr lang="en-US" altLang="zh-CN" sz="1600" b="0" dirty="0">
                <a:solidFill>
                  <a:srgbClr val="000000"/>
                </a:solidFill>
                <a:effectLst/>
              </a:rPr>
              <a:t>[</a:t>
            </a:r>
            <a:r>
              <a:rPr lang="en-US" altLang="zh-CN" sz="1600" b="0" dirty="0" err="1">
                <a:solidFill>
                  <a:srgbClr val="001080"/>
                </a:solidFill>
                <a:effectLst/>
              </a:rPr>
              <a:t>i</a:t>
            </a:r>
            <a:r>
              <a:rPr lang="en-US" altLang="zh-CN" sz="1600" b="0" dirty="0">
                <a:solidFill>
                  <a:srgbClr val="000000"/>
                </a:solidFill>
                <a:effectLst/>
              </a:rPr>
              <a:t>] = </a:t>
            </a:r>
            <a:r>
              <a:rPr lang="en-US" altLang="zh-CN" sz="1600" b="0" dirty="0" err="1">
                <a:solidFill>
                  <a:srgbClr val="001080"/>
                </a:solidFill>
                <a:effectLst/>
              </a:rPr>
              <a:t>i</a:t>
            </a:r>
            <a:r>
              <a:rPr lang="en-US" altLang="zh-CN" sz="1600" b="0" dirty="0">
                <a:solidFill>
                  <a:srgbClr val="000000"/>
                </a:solidFill>
                <a:effectLst/>
              </a:rPr>
              <a:t> * </a:t>
            </a:r>
            <a:r>
              <a:rPr lang="en-US" altLang="zh-CN" sz="1600" b="0" dirty="0">
                <a:solidFill>
                  <a:srgbClr val="098658"/>
                </a:solidFill>
                <a:effectLst/>
              </a:rPr>
              <a:t>10</a:t>
            </a:r>
            <a:r>
              <a:rPr lang="en-US" altLang="zh-CN" sz="1600" b="0" dirty="0">
                <a:solidFill>
                  <a:srgbClr val="000000"/>
                </a:solidFill>
                <a:effectLst/>
              </a:rPr>
              <a:t>;</a:t>
            </a:r>
          </a:p>
          <a:p>
            <a:r>
              <a:rPr lang="en-US" altLang="zh-CN" sz="1600" b="0" dirty="0">
                <a:solidFill>
                  <a:srgbClr val="AF00DB"/>
                </a:solidFill>
                <a:effectLst/>
              </a:rPr>
              <a:t>    return</a:t>
            </a:r>
            <a:r>
              <a:rPr lang="en-US" altLang="zh-CN" sz="1600" b="0" dirty="0">
                <a:solidFill>
                  <a:srgbClr val="000000"/>
                </a:solidFill>
                <a:effectLst/>
              </a:rPr>
              <a:t> </a:t>
            </a:r>
            <a:r>
              <a:rPr lang="en-US" altLang="zh-CN" sz="1600" b="0" dirty="0" err="1">
                <a:solidFill>
                  <a:srgbClr val="001080"/>
                </a:solidFill>
                <a:effectLst/>
              </a:rPr>
              <a:t>arr</a:t>
            </a:r>
            <a:r>
              <a:rPr lang="en-US" altLang="zh-CN" sz="1600" b="0" dirty="0">
                <a:solidFill>
                  <a:srgbClr val="000000"/>
                </a:solidFill>
                <a:effectLst/>
              </a:rPr>
              <a:t>;</a:t>
            </a:r>
          </a:p>
          <a:p>
            <a:r>
              <a:rPr lang="en-US" altLang="zh-CN" sz="1600" b="0" dirty="0">
                <a:solidFill>
                  <a:srgbClr val="000000"/>
                </a:solidFill>
                <a:effectLst/>
              </a:rPr>
              <a:t>}</a:t>
            </a:r>
          </a:p>
          <a:p>
            <a:r>
              <a:rPr lang="en-US" altLang="zh-CN" sz="1600" b="0" dirty="0">
                <a:solidFill>
                  <a:srgbClr val="0000FF"/>
                </a:solidFill>
                <a:effectLst/>
              </a:rPr>
              <a:t>int</a:t>
            </a:r>
            <a:r>
              <a:rPr lang="en-US" altLang="zh-CN" sz="1600" b="0" dirty="0">
                <a:solidFill>
                  <a:srgbClr val="000000"/>
                </a:solidFill>
                <a:effectLst/>
              </a:rPr>
              <a:t> </a:t>
            </a:r>
            <a:r>
              <a:rPr lang="en-US" altLang="zh-CN" sz="1600" b="0" dirty="0">
                <a:solidFill>
                  <a:srgbClr val="795E26"/>
                </a:solidFill>
                <a:effectLst/>
              </a:rPr>
              <a:t>main</a:t>
            </a:r>
            <a:r>
              <a:rPr lang="en-US" altLang="zh-CN" sz="1600" b="0" dirty="0">
                <a:solidFill>
                  <a:srgbClr val="000000"/>
                </a:solidFill>
                <a:effectLst/>
              </a:rPr>
              <a:t>()</a:t>
            </a:r>
          </a:p>
          <a:p>
            <a:r>
              <a:rPr lang="en-US" altLang="zh-CN" sz="1600" b="0" dirty="0">
                <a:solidFill>
                  <a:srgbClr val="000000"/>
                </a:solidFill>
                <a:effectLst/>
              </a:rPr>
              <a:t>{</a:t>
            </a:r>
          </a:p>
          <a:p>
            <a:r>
              <a:rPr lang="en-US" altLang="zh-CN" sz="1600" b="0" dirty="0">
                <a:solidFill>
                  <a:srgbClr val="0000FF"/>
                </a:solidFill>
                <a:effectLst/>
              </a:rPr>
              <a:t>    int</a:t>
            </a:r>
            <a:r>
              <a:rPr lang="en-US" altLang="zh-CN" sz="1600" b="0" dirty="0">
                <a:solidFill>
                  <a:srgbClr val="000000"/>
                </a:solidFill>
                <a:effectLst/>
              </a:rPr>
              <a:t> </a:t>
            </a:r>
            <a:r>
              <a:rPr lang="en-US" altLang="zh-CN" sz="1600" b="0" dirty="0" err="1">
                <a:solidFill>
                  <a:srgbClr val="001080"/>
                </a:solidFill>
                <a:effectLst/>
              </a:rPr>
              <a:t>len</a:t>
            </a:r>
            <a:r>
              <a:rPr lang="en-US" altLang="zh-CN" sz="1600" b="0" dirty="0">
                <a:solidFill>
                  <a:srgbClr val="000000"/>
                </a:solidFill>
                <a:effectLst/>
              </a:rPr>
              <a:t> = </a:t>
            </a:r>
            <a:r>
              <a:rPr lang="en-US" altLang="zh-CN" sz="1600" b="0" dirty="0">
                <a:solidFill>
                  <a:srgbClr val="098658"/>
                </a:solidFill>
                <a:effectLst/>
              </a:rPr>
              <a:t>16</a:t>
            </a:r>
            <a:r>
              <a:rPr lang="en-US" altLang="zh-CN" sz="1600" b="0" dirty="0">
                <a:solidFill>
                  <a:srgbClr val="000000"/>
                </a:solidFill>
                <a:effectLst/>
              </a:rPr>
              <a:t>;</a:t>
            </a:r>
          </a:p>
          <a:p>
            <a:r>
              <a:rPr lang="en-US" altLang="zh-CN" sz="1600" b="0" dirty="0">
                <a:solidFill>
                  <a:srgbClr val="0000FF"/>
                </a:solidFill>
                <a:effectLst/>
              </a:rPr>
              <a:t>    int</a:t>
            </a:r>
            <a:r>
              <a:rPr lang="en-US" altLang="zh-CN" sz="1600" b="0" dirty="0">
                <a:solidFill>
                  <a:srgbClr val="000000"/>
                </a:solidFill>
                <a:effectLst/>
              </a:rPr>
              <a:t> *</a:t>
            </a:r>
            <a:r>
              <a:rPr lang="en-US" altLang="zh-CN" sz="1600" b="0" dirty="0" err="1">
                <a:solidFill>
                  <a:srgbClr val="001080"/>
                </a:solidFill>
                <a:effectLst/>
              </a:rPr>
              <a:t>ptr</a:t>
            </a:r>
            <a:r>
              <a:rPr lang="en-US" altLang="zh-CN" sz="1600" b="0" dirty="0">
                <a:solidFill>
                  <a:srgbClr val="000000"/>
                </a:solidFill>
                <a:effectLst/>
              </a:rPr>
              <a:t> = </a:t>
            </a:r>
            <a:r>
              <a:rPr lang="en-US" altLang="zh-CN" sz="1600" b="0" dirty="0" err="1">
                <a:solidFill>
                  <a:srgbClr val="795E26"/>
                </a:solidFill>
                <a:effectLst/>
              </a:rPr>
              <a:t>create_array</a:t>
            </a:r>
            <a:r>
              <a:rPr lang="en-US" altLang="zh-CN" sz="1600" b="0" dirty="0">
                <a:solidFill>
                  <a:srgbClr val="000000"/>
                </a:solidFill>
                <a:effectLst/>
              </a:rPr>
              <a:t>(</a:t>
            </a:r>
            <a:r>
              <a:rPr lang="en-US" altLang="zh-CN" sz="1600" b="0" dirty="0" err="1">
                <a:solidFill>
                  <a:srgbClr val="001080"/>
                </a:solidFill>
                <a:effectLst/>
              </a:rPr>
              <a:t>len</a:t>
            </a:r>
            <a:r>
              <a:rPr lang="en-US" altLang="zh-CN" sz="1600" b="0" dirty="0">
                <a:solidFill>
                  <a:srgbClr val="000000"/>
                </a:solidFill>
                <a:effectLst/>
              </a:rPr>
              <a:t>);</a:t>
            </a:r>
          </a:p>
          <a:p>
            <a:r>
              <a:rPr lang="en-US" altLang="zh-CN" sz="1600" b="0" dirty="0">
                <a:solidFill>
                  <a:srgbClr val="AF00DB"/>
                </a:solidFill>
                <a:effectLst/>
              </a:rPr>
              <a:t>    for</a:t>
            </a:r>
            <a:r>
              <a:rPr lang="en-US" altLang="zh-CN" sz="1600" b="0" dirty="0">
                <a:solidFill>
                  <a:srgbClr val="000000"/>
                </a:solidFill>
                <a:effectLst/>
              </a:rPr>
              <a:t>(</a:t>
            </a:r>
            <a:r>
              <a:rPr lang="en-US" altLang="zh-CN" sz="1600" b="0" dirty="0">
                <a:solidFill>
                  <a:srgbClr val="0000FF"/>
                </a:solidFill>
                <a:effectLst/>
              </a:rPr>
              <a:t>int</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 = </a:t>
            </a:r>
            <a:r>
              <a:rPr lang="en-US" altLang="zh-CN" sz="1600" b="0" dirty="0">
                <a:solidFill>
                  <a:srgbClr val="098658"/>
                </a:solidFill>
                <a:effectLst/>
              </a:rPr>
              <a:t>0</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 &lt; </a:t>
            </a:r>
            <a:r>
              <a:rPr lang="en-US" altLang="zh-CN" sz="1600" b="0" dirty="0" err="1">
                <a:solidFill>
                  <a:srgbClr val="001080"/>
                </a:solidFill>
                <a:effectLst/>
              </a:rPr>
              <a:t>len</a:t>
            </a:r>
            <a:r>
              <a:rPr lang="en-US" altLang="zh-CN" sz="1600" b="0" dirty="0">
                <a:solidFill>
                  <a:srgbClr val="000000"/>
                </a:solidFill>
                <a:effectLst/>
              </a:rPr>
              <a:t>; </a:t>
            </a:r>
            <a:r>
              <a:rPr lang="en-US" altLang="zh-CN" sz="1600" b="0" dirty="0" err="1">
                <a:solidFill>
                  <a:srgbClr val="001080"/>
                </a:solidFill>
                <a:effectLst/>
              </a:rPr>
              <a:t>i</a:t>
            </a:r>
            <a:r>
              <a:rPr lang="en-US" altLang="zh-CN" sz="1600" b="0" dirty="0">
                <a:solidFill>
                  <a:srgbClr val="000000"/>
                </a:solidFill>
                <a:effectLst/>
              </a:rPr>
              <a:t>++)</a:t>
            </a:r>
          </a:p>
          <a:p>
            <a:r>
              <a:rPr lang="en-US" altLang="zh-CN" sz="1600" b="0" dirty="0">
                <a:solidFill>
                  <a:srgbClr val="001080"/>
                </a:solidFill>
                <a:effectLst/>
              </a:rPr>
              <a:t>        </a:t>
            </a:r>
            <a:r>
              <a:rPr lang="en-US" altLang="zh-CN" sz="1600" b="0" dirty="0" err="1">
                <a:solidFill>
                  <a:srgbClr val="001080"/>
                </a:solidFill>
                <a:effectLst/>
              </a:rPr>
              <a:t>cout</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err="1">
                <a:solidFill>
                  <a:srgbClr val="001080"/>
                </a:solidFill>
                <a:effectLst/>
              </a:rPr>
              <a:t>ptr</a:t>
            </a:r>
            <a:r>
              <a:rPr lang="en-US" altLang="zh-CN" sz="1600" b="0" dirty="0">
                <a:solidFill>
                  <a:srgbClr val="000000"/>
                </a:solidFill>
                <a:effectLst/>
              </a:rPr>
              <a:t>[</a:t>
            </a:r>
            <a:r>
              <a:rPr lang="en-US" altLang="zh-CN" sz="1600" b="0" dirty="0" err="1">
                <a:solidFill>
                  <a:srgbClr val="001080"/>
                </a:solidFill>
                <a:effectLst/>
              </a:rPr>
              <a:t>i</a:t>
            </a:r>
            <a:r>
              <a:rPr lang="en-US" altLang="zh-CN" sz="1600" b="0" dirty="0">
                <a:solidFill>
                  <a:srgbClr val="000000"/>
                </a:solidFill>
                <a:effectLst/>
              </a:rPr>
              <a:t>] </a:t>
            </a:r>
            <a:r>
              <a:rPr lang="en-US" altLang="zh-CN" sz="1600" b="0" dirty="0">
                <a:solidFill>
                  <a:srgbClr val="795E26"/>
                </a:solidFill>
                <a:effectLst/>
              </a:rPr>
              <a:t>&lt;&lt;</a:t>
            </a:r>
            <a:r>
              <a:rPr lang="en-US" altLang="zh-CN" sz="1600" b="0" dirty="0">
                <a:solidFill>
                  <a:srgbClr val="000000"/>
                </a:solidFill>
                <a:effectLst/>
              </a:rPr>
              <a:t> </a:t>
            </a:r>
            <a:r>
              <a:rPr lang="en-US" altLang="zh-CN" sz="1600" b="0" dirty="0">
                <a:solidFill>
                  <a:srgbClr val="A31515"/>
                </a:solidFill>
                <a:effectLst/>
              </a:rPr>
              <a:t>" "</a:t>
            </a:r>
            <a:r>
              <a:rPr lang="en-US" altLang="zh-CN" sz="1600" b="0" dirty="0">
                <a:solidFill>
                  <a:srgbClr val="000000"/>
                </a:solidFill>
                <a:effectLst/>
              </a:rPr>
              <a:t>;</a:t>
            </a:r>
          </a:p>
          <a:p>
            <a:r>
              <a:rPr lang="en-US" altLang="zh-CN" sz="1600" b="0" dirty="0">
                <a:solidFill>
                  <a:srgbClr val="AF00DB"/>
                </a:solidFill>
                <a:effectLst/>
              </a:rPr>
              <a:t>    return</a:t>
            </a:r>
            <a:r>
              <a:rPr lang="en-US" altLang="zh-CN" sz="1600" b="0" dirty="0">
                <a:solidFill>
                  <a:srgbClr val="000000"/>
                </a:solidFill>
                <a:effectLst/>
              </a:rPr>
              <a:t> </a:t>
            </a:r>
            <a:r>
              <a:rPr lang="en-US" altLang="zh-CN" sz="1600" b="0" dirty="0">
                <a:solidFill>
                  <a:srgbClr val="098658"/>
                </a:solidFill>
                <a:effectLst/>
              </a:rPr>
              <a:t>0</a:t>
            </a:r>
            <a:r>
              <a:rPr lang="en-US" altLang="zh-CN" sz="1600" b="0" dirty="0">
                <a:solidFill>
                  <a:srgbClr val="000000"/>
                </a:solidFill>
                <a:effectLst/>
              </a:rPr>
              <a:t>;</a:t>
            </a:r>
          </a:p>
          <a:p>
            <a:r>
              <a:rPr lang="en-US" altLang="zh-CN" sz="1600" b="0" dirty="0">
                <a:solidFill>
                  <a:srgbClr val="000000"/>
                </a:solidFill>
                <a:effectLst/>
              </a:rPr>
              <a:t>}</a:t>
            </a:r>
          </a:p>
        </p:txBody>
      </p:sp>
      <p:sp>
        <p:nvSpPr>
          <p:cNvPr id="8" name="文本框 7"/>
          <p:cNvSpPr txBox="1"/>
          <p:nvPr/>
        </p:nvSpPr>
        <p:spPr>
          <a:xfrm>
            <a:off x="6225094" y="1598902"/>
            <a:ext cx="5649111" cy="2308324"/>
          </a:xfrm>
          <a:prstGeom prst="rect">
            <a:avLst/>
          </a:prstGeom>
          <a:noFill/>
        </p:spPr>
        <p:txBody>
          <a:bodyPr wrap="none" rtlCol="0">
            <a:spAutoFit/>
          </a:bodyPr>
          <a:lstStyle/>
          <a:p>
            <a:r>
              <a:rPr lang="en-US" altLang="zh-CN" sz="2400" dirty="0"/>
              <a:t>What compilation warnings occur when </a:t>
            </a:r>
          </a:p>
          <a:p>
            <a:r>
              <a:rPr lang="en-US" altLang="zh-CN" sz="2400" dirty="0"/>
              <a:t>you compile the program? Why?</a:t>
            </a:r>
          </a:p>
          <a:p>
            <a:r>
              <a:rPr lang="en-US" altLang="zh-CN" sz="2400" dirty="0"/>
              <a:t>What will happen if you ignore the warning </a:t>
            </a:r>
          </a:p>
          <a:p>
            <a:r>
              <a:rPr lang="en-US" altLang="zh-CN" sz="2400" dirty="0"/>
              <a:t>and run the program?</a:t>
            </a:r>
          </a:p>
          <a:p>
            <a:r>
              <a:rPr lang="en-US" altLang="zh-CN" sz="2400" dirty="0"/>
              <a:t>Fix bugs of the program and run it correctly </a:t>
            </a:r>
          </a:p>
          <a:p>
            <a:r>
              <a:rPr lang="en-US" altLang="zh-CN" sz="2400" dirty="0"/>
              <a:t>without memory leak.</a:t>
            </a:r>
            <a:endParaRPr lang="zh-CN" altLang="en-US" sz="2400" dirty="0"/>
          </a:p>
        </p:txBody>
      </p:sp>
      <p:sp>
        <p:nvSpPr>
          <p:cNvPr id="3" name="灯片编号占位符 2"/>
          <p:cNvSpPr>
            <a:spLocks noGrp="1"/>
          </p:cNvSpPr>
          <p:nvPr>
            <p:ph type="sldNum" sz="quarter" idx="12"/>
          </p:nvPr>
        </p:nvSpPr>
        <p:spPr/>
        <p:txBody>
          <a:bodyPr/>
          <a:lstStyle/>
          <a:p>
            <a:fld id="{506F4176-339E-4C4B-80E4-BBE9C4467EFE}"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Exercise 2</a:t>
            </a:r>
            <a:endParaRPr lang="zh-CN" altLang="en-US" dirty="0"/>
          </a:p>
        </p:txBody>
      </p:sp>
      <p:sp>
        <p:nvSpPr>
          <p:cNvPr id="3" name="内容占位符 2"/>
          <p:cNvSpPr>
            <a:spLocks noGrp="1"/>
          </p:cNvSpPr>
          <p:nvPr>
            <p:ph idx="1"/>
          </p:nvPr>
        </p:nvSpPr>
        <p:spPr/>
        <p:txBody>
          <a:bodyPr/>
          <a:lstStyle/>
          <a:p>
            <a:pPr marL="109220" lvl="1" indent="0">
              <a:spcBef>
                <a:spcPts val="1200"/>
              </a:spcBef>
              <a:buSzPct val="68000"/>
              <a:buNone/>
            </a:pPr>
            <a:r>
              <a:rPr lang="en-US" altLang="zh-CN" sz="2800" dirty="0"/>
              <a:t>Define a function that swaps two values of integers. Write a test program to call the function and display the result.</a:t>
            </a:r>
          </a:p>
          <a:p>
            <a:pPr marL="109220" lvl="1" indent="0">
              <a:spcBef>
                <a:spcPts val="1200"/>
              </a:spcBef>
              <a:buSzPct val="68000"/>
              <a:buNone/>
            </a:pPr>
            <a:endParaRPr lang="zh-CN" altLang="en-US" dirty="0"/>
          </a:p>
          <a:p>
            <a:pPr marL="109220" lvl="1" indent="0">
              <a:spcBef>
                <a:spcPts val="1200"/>
              </a:spcBef>
              <a:buSzPct val="68000"/>
              <a:buNone/>
            </a:pPr>
            <a:r>
              <a:rPr lang="en-US" altLang="zh-CN" dirty="0"/>
              <a:t>You are required to compile the function into a static library “</a:t>
            </a:r>
            <a:r>
              <a:rPr lang="en-US" altLang="zh-CN" dirty="0" err="1"/>
              <a:t>libswap.a</a:t>
            </a:r>
            <a:r>
              <a:rPr lang="en-US" altLang="zh-CN" dirty="0"/>
              <a:t>”, and then compile and run your program with this static library.</a:t>
            </a:r>
          </a:p>
        </p:txBody>
      </p:sp>
      <p:sp>
        <p:nvSpPr>
          <p:cNvPr id="4" name="灯片编号占位符 3"/>
          <p:cNvSpPr>
            <a:spLocks noGrp="1"/>
          </p:cNvSpPr>
          <p:nvPr>
            <p:ph type="sldNum" sz="quarter" idx="12"/>
          </p:nvPr>
        </p:nvSpPr>
        <p:spPr/>
        <p:txBody>
          <a:bodyPr/>
          <a:lstStyle/>
          <a:p>
            <a:fld id="{506F4176-339E-4C4B-80E4-BBE9C4467EFE}" type="slidenum">
              <a:rPr lang="zh-CN" altLang="en-US" smtClean="0"/>
              <a:t>20</a:t>
            </a:fld>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1535</Words>
  <Application>Microsoft Macintosh PowerPoint</Application>
  <PresentationFormat>宽屏</PresentationFormat>
  <Paragraphs>186</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等线</vt:lpstr>
      <vt:lpstr>宋体</vt:lpstr>
      <vt:lpstr>Arial</vt:lpstr>
      <vt:lpstr>Calibri</vt:lpstr>
      <vt:lpstr>Consolas</vt:lpstr>
      <vt:lpstr>Franklin Gothic Demi</vt:lpstr>
      <vt:lpstr>Franklin Gothic Medium</vt:lpstr>
      <vt:lpstr>Wingdings</vt:lpstr>
      <vt:lpstr>Office 主题</vt:lpstr>
      <vt:lpstr>Advanced Programming</vt:lpstr>
      <vt:lpstr>Topic</vt:lpstr>
      <vt:lpstr>Static library and Dynamic library</vt:lpstr>
      <vt:lpstr>PowerPoint 演示文稿</vt:lpstr>
      <vt:lpstr>1 Building a static library</vt:lpstr>
      <vt:lpstr>1 Building a static library</vt:lpstr>
      <vt:lpstr>1 Building a static library</vt:lpstr>
      <vt:lpstr>2 Using a static library</vt:lpstr>
      <vt:lpstr>2 Using a static library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Exercise 1</vt:lpstr>
      <vt:lpstr>Exercise 2</vt:lpstr>
    </vt:vector>
  </TitlesOfParts>
  <Company>Southern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 Program Design</dc:title>
  <dc:creator>Shiqi Yu</dc:creator>
  <cp:lastModifiedBy>Shiqi Yu</cp:lastModifiedBy>
  <cp:revision>633</cp:revision>
  <dcterms:created xsi:type="dcterms:W3CDTF">2020-09-05T08:11:00Z</dcterms:created>
  <dcterms:modified xsi:type="dcterms:W3CDTF">2026-04-06T09:23:35Z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07FCF8865BD9424694F6F33B64F7C496_13</vt:lpwstr>
  </property>
  <property fmtid="{D5CDD505-2E9C-101B-9397-08002B2CF9AE}" pid="3" name="KSOProductBuildVer">
    <vt:lpwstr>2052-12.1.0.20305</vt:lpwstr>
  </property>
</Properties>
</file>